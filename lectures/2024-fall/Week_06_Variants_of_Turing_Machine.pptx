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8" r:id="rId8"/>
    <p:sldId id="279" r:id="rId9"/>
    <p:sldId id="283" r:id="rId10"/>
    <p:sldId id="281" r:id="rId11"/>
    <p:sldId id="284" r:id="rId12"/>
    <p:sldId id="285" r:id="rId13"/>
    <p:sldId id="286" r:id="rId14"/>
    <p:sldId id="287" r:id="rId15"/>
    <p:sldId id="291" r:id="rId16"/>
    <p:sldId id="288" r:id="rId17"/>
    <p:sldId id="289" r:id="rId18"/>
    <p:sldId id="290" r:id="rId19"/>
  </p:sldIdLst>
  <p:sldSz cx="12192000" cy="6858000"/>
  <p:notesSz cx="6858000" cy="9144000"/>
  <p:embeddedFontLst>
    <p:embeddedFont>
      <p:font typeface="Times" pitchFamily="18" charset="0"/>
      <p:regular r:id="rId20"/>
      <p:bold r:id="rId21"/>
      <p:italic r:id="rId22"/>
      <p:boldItalic r:id="rId23"/>
    </p:embeddedFont>
    <p:embeddedFont>
      <p:font typeface="Calibri Light" pitchFamily="34" charset="0"/>
      <p:regular r:id="rId24"/>
      <p:italic r:id="rId25"/>
    </p:embeddedFont>
    <p:embeddedFont>
      <p:font typeface="Calibri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5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5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0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3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0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6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7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7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3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83A6C7-8FDD-4021-8B74-0D868FC8B703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0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5059" y="1972370"/>
            <a:ext cx="9144000" cy="16981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Part II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Computability Theory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Chapter 3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651" y="4558651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C00000"/>
                </a:solidFill>
              </a:rPr>
              <a:t>CHURCH TURING THESIS</a:t>
            </a:r>
            <a:endParaRPr lang="en-US" sz="4000" dirty="0">
              <a:solidFill>
                <a:srgbClr val="C00000"/>
              </a:solidFill>
            </a:endParaRPr>
          </a:p>
        </p:txBody>
      </p:sp>
      <p:pic>
        <p:nvPicPr>
          <p:cNvPr id="3078" name="Picture 6" descr="Alan Turing Joke | Alan turing, Computer jokes, Science carto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961" y="3117224"/>
            <a:ext cx="3102779" cy="232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28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49769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052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Description of Turing Machines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Element Distinctness Problem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Variants of Turing Machines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 smtClean="0"/>
              <a:t>TM which can “stay put”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 smtClean="0"/>
              <a:t>Multi-tape TM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 smtClean="0"/>
              <a:t>Non deterministic TM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Turing Machines for Function Computation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Turing Machine as Enumerators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Universal TM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The Church-Turing Thesis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Hilbert's Tenth Problem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07188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1589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escription  of 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127" y="1845734"/>
            <a:ext cx="10318553" cy="402336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Let C  </a:t>
            </a:r>
            <a:r>
              <a:rPr lang="en-US" sz="2400" dirty="0"/>
              <a:t>=  {</a:t>
            </a:r>
            <a:r>
              <a:rPr lang="en-US" sz="2400" dirty="0" err="1"/>
              <a:t>a</a:t>
            </a:r>
            <a:r>
              <a:rPr lang="en-US" sz="2400" baseline="30000" dirty="0" err="1"/>
              <a:t>i</a:t>
            </a:r>
            <a:r>
              <a:rPr lang="en-US" sz="2400" dirty="0" err="1"/>
              <a:t>b</a:t>
            </a:r>
            <a:r>
              <a:rPr lang="en-US" sz="2400" baseline="30000" dirty="0" err="1"/>
              <a:t>j</a:t>
            </a:r>
            <a:r>
              <a:rPr lang="en-US" sz="2400" baseline="30000" dirty="0"/>
              <a:t> </a:t>
            </a:r>
            <a:r>
              <a:rPr lang="en-US" sz="2400" dirty="0" err="1" smtClean="0"/>
              <a:t>c</a:t>
            </a:r>
            <a:r>
              <a:rPr lang="en-US" sz="2400" baseline="30000" dirty="0" err="1" smtClean="0"/>
              <a:t>k</a:t>
            </a:r>
            <a:r>
              <a:rPr lang="en-US" sz="2400" dirty="0" smtClean="0"/>
              <a:t>   </a:t>
            </a:r>
            <a:r>
              <a:rPr lang="en-US" sz="2400" dirty="0"/>
              <a:t>|  </a:t>
            </a:r>
            <a:r>
              <a:rPr lang="en-US" sz="2400" dirty="0" err="1"/>
              <a:t>i</a:t>
            </a:r>
            <a:r>
              <a:rPr lang="en-US" sz="2400" dirty="0"/>
              <a:t> × j  =  k   and   </a:t>
            </a:r>
            <a:r>
              <a:rPr lang="en-US" sz="2400" dirty="0" err="1"/>
              <a:t>i</a:t>
            </a:r>
            <a:r>
              <a:rPr lang="en-US" sz="2400" dirty="0"/>
              <a:t>, j, k  ≥  1}.    </a:t>
            </a:r>
            <a:endParaRPr lang="en-US" sz="2400" dirty="0" smtClean="0"/>
          </a:p>
          <a:p>
            <a:r>
              <a:rPr lang="en-US" sz="2400" dirty="0" smtClean="0"/>
              <a:t>A   decider (TM)   M    </a:t>
            </a:r>
            <a:r>
              <a:rPr lang="en-US" sz="2400" dirty="0"/>
              <a:t>for   C :</a:t>
            </a:r>
          </a:p>
          <a:p>
            <a:pPr marL="749808" lvl="4" indent="0">
              <a:buNone/>
            </a:pPr>
            <a:r>
              <a:rPr lang="en-US" sz="2000" dirty="0"/>
              <a:t>1.    Scan   the   input   to   be   sure   that   it   is   a   member   of    </a:t>
            </a:r>
            <a:r>
              <a:rPr lang="en-US" sz="2000" dirty="0" err="1"/>
              <a:t>aa∗bb∗cc</a:t>
            </a:r>
            <a:r>
              <a:rPr lang="en-US" sz="2000" dirty="0"/>
              <a:t>∗ </a:t>
            </a:r>
            <a:r>
              <a:rPr lang="en-US" sz="2000" dirty="0" smtClean="0"/>
              <a:t>and   </a:t>
            </a:r>
            <a:r>
              <a:rPr lang="en-US" sz="2000" dirty="0"/>
              <a:t>reject    if   it   isn’t.</a:t>
            </a:r>
          </a:p>
          <a:p>
            <a:pPr marL="749808" lvl="4" indent="0">
              <a:buNone/>
            </a:pPr>
            <a:r>
              <a:rPr lang="en-US" sz="2000" dirty="0"/>
              <a:t>2.    Return   the   head   to   the   left-hand   end   of   the   tape.</a:t>
            </a:r>
          </a:p>
          <a:p>
            <a:pPr marL="749808" lvl="4" indent="0">
              <a:buNone/>
            </a:pPr>
            <a:r>
              <a:rPr lang="en-US" sz="2000" dirty="0"/>
              <a:t>3. </a:t>
            </a:r>
            <a:r>
              <a:rPr lang="en-US" sz="2000" dirty="0" smtClean="0"/>
              <a:t>   Cross </a:t>
            </a:r>
            <a:r>
              <a:rPr lang="en-US" sz="2000" dirty="0"/>
              <a:t>oﬀ an a and scan to the right until a b occurs. Shuttle </a:t>
            </a:r>
            <a:r>
              <a:rPr lang="en-US" sz="2000" dirty="0" smtClean="0"/>
              <a:t>between </a:t>
            </a:r>
            <a:r>
              <a:rPr lang="en-US" sz="2000" dirty="0"/>
              <a:t>the b’s and c’s, crossing oﬀ one of each until all b’s </a:t>
            </a:r>
            <a:r>
              <a:rPr lang="en-US" sz="2000" dirty="0" smtClean="0"/>
              <a:t>are </a:t>
            </a:r>
            <a:r>
              <a:rPr lang="en-US" sz="2000" dirty="0"/>
              <a:t>gone.</a:t>
            </a:r>
          </a:p>
          <a:p>
            <a:pPr marL="749808" lvl="4" indent="0">
              <a:buNone/>
            </a:pPr>
            <a:r>
              <a:rPr lang="en-US" sz="2000" dirty="0" smtClean="0"/>
              <a:t>4.    Restore    the    crossed    oﬀ    b’s    and    repeat    Stage    3    if    there    is another   a   to   cross   oﬀ.</a:t>
            </a:r>
          </a:p>
          <a:p>
            <a:pPr marL="749808" lvl="4" indent="0">
              <a:buNone/>
            </a:pPr>
            <a:r>
              <a:rPr lang="en-US" sz="2000" dirty="0" smtClean="0"/>
              <a:t>5</a:t>
            </a:r>
            <a:r>
              <a:rPr lang="en-US" sz="2000" dirty="0"/>
              <a:t>.    If   all   a’s   and   c’s   are   crossed   oﬀ,   accept ;   otherwise,   reject.</a:t>
            </a:r>
          </a:p>
        </p:txBody>
      </p:sp>
    </p:spTree>
    <p:extLst>
      <p:ext uri="{BB962C8B-B14F-4D97-AF65-F5344CB8AC3E}">
        <p14:creationId xmlns:p14="http://schemas.microsoft.com/office/powerpoint/2010/main" val="1793390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Simulating Tape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771441"/>
              </p:ext>
            </p:extLst>
          </p:nvPr>
        </p:nvGraphicFramePr>
        <p:xfrm>
          <a:off x="1096963" y="1846263"/>
          <a:ext cx="1005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Down Arrow 5"/>
          <p:cNvSpPr/>
          <p:nvPr/>
        </p:nvSpPr>
        <p:spPr>
          <a:xfrm rot="10800000">
            <a:off x="2665728" y="2221901"/>
            <a:ext cx="246284" cy="3384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1097280" y="2691807"/>
            <a:ext cx="10058400" cy="415566"/>
            <a:chOff x="1097280" y="2691807"/>
            <a:chExt cx="10058400" cy="415566"/>
          </a:xfrm>
        </p:grpSpPr>
        <p:graphicFrame>
          <p:nvGraphicFramePr>
            <p:cNvPr id="5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53331813"/>
                </p:ext>
              </p:extLst>
            </p:nvPr>
          </p:nvGraphicFramePr>
          <p:xfrm>
            <a:off x="1097280" y="2691807"/>
            <a:ext cx="10058400" cy="37084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0292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4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5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6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7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8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9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0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1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2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3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4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5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6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7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8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9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a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a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  <p:cxnSp>
          <p:nvCxnSpPr>
            <p:cNvPr id="13" name="Straight Connector 12"/>
            <p:cNvCxnSpPr/>
            <p:nvPr/>
          </p:nvCxnSpPr>
          <p:spPr>
            <a:xfrm flipV="1">
              <a:off x="2630659" y="2699410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1097280" y="3213653"/>
            <a:ext cx="10058400" cy="470453"/>
            <a:chOff x="1097280" y="3213653"/>
            <a:chExt cx="10058400" cy="470453"/>
          </a:xfrm>
        </p:grpSpPr>
        <p:graphicFrame>
          <p:nvGraphicFramePr>
            <p:cNvPr id="20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65384707"/>
                </p:ext>
              </p:extLst>
            </p:nvPr>
          </p:nvGraphicFramePr>
          <p:xfrm>
            <a:off x="1097280" y="3263300"/>
            <a:ext cx="10058400" cy="37084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0292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4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5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6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7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8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9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0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1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2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3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4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5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6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7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8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9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X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a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  <p:cxnSp>
          <p:nvCxnSpPr>
            <p:cNvPr id="22" name="Straight Connector 21"/>
            <p:cNvCxnSpPr/>
            <p:nvPr/>
          </p:nvCxnSpPr>
          <p:spPr>
            <a:xfrm flipV="1">
              <a:off x="3641189" y="3271494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4176933" y="3244738"/>
              <a:ext cx="325901" cy="40796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4656993" y="3213653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5079022" y="3276143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5659314" y="3248823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6126480" y="3271494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794431"/>
              </p:ext>
            </p:extLst>
          </p:nvPr>
        </p:nvGraphicFramePr>
        <p:xfrm>
          <a:off x="1097280" y="3752565"/>
          <a:ext cx="1005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49" name="Group 48"/>
          <p:cNvGrpSpPr/>
          <p:nvPr/>
        </p:nvGrpSpPr>
        <p:grpSpPr>
          <a:xfrm>
            <a:off x="1097280" y="4254683"/>
            <a:ext cx="10058400" cy="654941"/>
            <a:chOff x="1097280" y="4254683"/>
            <a:chExt cx="10058400" cy="654941"/>
          </a:xfrm>
        </p:grpSpPr>
        <p:sp>
          <p:nvSpPr>
            <p:cNvPr id="35" name="Down Arrow 34"/>
            <p:cNvSpPr/>
            <p:nvPr/>
          </p:nvSpPr>
          <p:spPr>
            <a:xfrm rot="10800000">
              <a:off x="3193362" y="4662645"/>
              <a:ext cx="263819" cy="24697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1097280" y="4254683"/>
              <a:ext cx="10058400" cy="407963"/>
              <a:chOff x="1097280" y="4254683"/>
              <a:chExt cx="10058400" cy="407963"/>
            </a:xfrm>
          </p:grpSpPr>
          <p:graphicFrame>
            <p:nvGraphicFramePr>
              <p:cNvPr id="34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71700395"/>
                  </p:ext>
                </p:extLst>
              </p:nvPr>
            </p:nvGraphicFramePr>
            <p:xfrm>
              <a:off x="1097280" y="4265197"/>
              <a:ext cx="100584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8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09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0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1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2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3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4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5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6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7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8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="" val="200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Z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Z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Z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  <p:cxnSp>
            <p:nvCxnSpPr>
              <p:cNvPr id="37" name="Straight Connector 36"/>
              <p:cNvCxnSpPr/>
              <p:nvPr/>
            </p:nvCxnSpPr>
            <p:spPr>
              <a:xfrm flipV="1">
                <a:off x="3175829" y="4254683"/>
                <a:ext cx="281353" cy="407963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/>
          <p:cNvGrpSpPr/>
          <p:nvPr/>
        </p:nvGrpSpPr>
        <p:grpSpPr>
          <a:xfrm>
            <a:off x="1097280" y="5009609"/>
            <a:ext cx="10058400" cy="424414"/>
            <a:chOff x="1097280" y="5009609"/>
            <a:chExt cx="10058400" cy="424414"/>
          </a:xfrm>
        </p:grpSpPr>
        <p:graphicFrame>
          <p:nvGraphicFramePr>
            <p:cNvPr id="36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74970942"/>
                </p:ext>
              </p:extLst>
            </p:nvPr>
          </p:nvGraphicFramePr>
          <p:xfrm>
            <a:off x="1097280" y="5032820"/>
            <a:ext cx="10058400" cy="37084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0292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4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5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6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7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8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09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0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1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2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3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4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5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6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7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8"/>
                      </a:ext>
                    </a:extLst>
                  </a:gridCol>
                  <a:gridCol w="502920">
                    <a:extLst>
                      <a:ext uri="{9D8B030D-6E8A-4147-A177-3AD203B41FA5}">
                        <a16:colId xmlns:a16="http://schemas.microsoft.com/office/drawing/2014/main" xmlns="" val="20019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X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X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Z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Z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Z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c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en-US" dirty="0" smtClean="0"/>
                          <a:t>B</a:t>
                        </a:r>
                        <a:endParaRPr lang="en-US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  <p:cxnSp>
          <p:nvCxnSpPr>
            <p:cNvPr id="38" name="Straight Connector 37"/>
            <p:cNvCxnSpPr/>
            <p:nvPr/>
          </p:nvCxnSpPr>
          <p:spPr>
            <a:xfrm flipV="1">
              <a:off x="3641189" y="5009609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V="1">
              <a:off x="4174589" y="5026060"/>
              <a:ext cx="328245" cy="358727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4671062" y="5009609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6682739" y="5026060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7122354" y="5026060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V="1">
              <a:off x="7665719" y="5026060"/>
              <a:ext cx="281353" cy="407963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88525"/>
              </p:ext>
            </p:extLst>
          </p:nvPr>
        </p:nvGraphicFramePr>
        <p:xfrm>
          <a:off x="1097280" y="5478181"/>
          <a:ext cx="1005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45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 Distinctness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It is </a:t>
            </a:r>
            <a:r>
              <a:rPr lang="en-US" sz="2800" dirty="0" smtClean="0"/>
              <a:t>given a </a:t>
            </a:r>
            <a:r>
              <a:rPr lang="en-US" sz="2800" dirty="0"/>
              <a:t>list of strings over {0,1} separated by #s and its job is to accept if all the </a:t>
            </a:r>
            <a:r>
              <a:rPr lang="en-US" sz="2800" dirty="0" smtClean="0"/>
              <a:t>strings are </a:t>
            </a:r>
            <a:r>
              <a:rPr lang="en-US" sz="2800" dirty="0"/>
              <a:t>different. The language </a:t>
            </a:r>
            <a:r>
              <a:rPr lang="en-US" sz="2800" dirty="0" smtClean="0"/>
              <a:t>is:</a:t>
            </a:r>
          </a:p>
          <a:p>
            <a:r>
              <a:rPr lang="en-US" sz="2800" dirty="0" smtClean="0"/>
              <a:t>E  =  </a:t>
            </a:r>
            <a:r>
              <a:rPr lang="en-US" sz="2800" dirty="0"/>
              <a:t>{#x</a:t>
            </a:r>
            <a:r>
              <a:rPr lang="en-US" sz="2800" baseline="-25000" dirty="0"/>
              <a:t>1</a:t>
            </a:r>
            <a:r>
              <a:rPr lang="en-US" sz="2800" dirty="0"/>
              <a:t>#x</a:t>
            </a:r>
            <a:r>
              <a:rPr lang="en-US" sz="2800" baseline="-25000" dirty="0"/>
              <a:t>2</a:t>
            </a:r>
            <a:r>
              <a:rPr lang="en-US" sz="2800" dirty="0"/>
              <a:t># · · · #x</a:t>
            </a:r>
            <a:r>
              <a:rPr lang="en-US" sz="2800" baseline="-25000" dirty="0"/>
              <a:t>l</a:t>
            </a:r>
            <a:r>
              <a:rPr lang="en-US" sz="2800" dirty="0"/>
              <a:t>   |     x</a:t>
            </a:r>
            <a:r>
              <a:rPr lang="en-US" sz="2800" baseline="-25000" dirty="0"/>
              <a:t>i</a:t>
            </a:r>
            <a:r>
              <a:rPr lang="en-US" sz="2800" dirty="0"/>
              <a:t>   ∈  {0, 1}∗    and   x</a:t>
            </a:r>
            <a:r>
              <a:rPr lang="en-US" sz="2800" baseline="-25000" dirty="0"/>
              <a:t>i</a:t>
            </a:r>
            <a:r>
              <a:rPr lang="en-US" sz="2800" dirty="0"/>
              <a:t>   </a:t>
            </a:r>
            <a:r>
              <a:rPr lang="en-US" sz="2800" dirty="0" smtClean="0"/>
              <a:t>&lt;&gt; </a:t>
            </a:r>
            <a:r>
              <a:rPr lang="en-US" sz="2800" dirty="0" err="1" smtClean="0"/>
              <a:t>x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    </a:t>
            </a:r>
            <a:r>
              <a:rPr lang="en-US" sz="2800" dirty="0"/>
              <a:t>(</a:t>
            </a:r>
            <a:r>
              <a:rPr lang="en-US" sz="2800" dirty="0" smtClean="0"/>
              <a:t>for </a:t>
            </a:r>
            <a:r>
              <a:rPr lang="en-US" sz="2800" dirty="0" err="1" smtClean="0"/>
              <a:t>i</a:t>
            </a:r>
            <a:r>
              <a:rPr lang="en-US" sz="2800" dirty="0" smtClean="0"/>
              <a:t>  &lt;&gt;  </a:t>
            </a:r>
            <a:r>
              <a:rPr lang="en-US" sz="2800" dirty="0"/>
              <a:t>j)}.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All languages are Decidable so they are all Turing </a:t>
            </a:r>
            <a:r>
              <a:rPr lang="en-US" sz="2800" dirty="0" smtClean="0"/>
              <a:t>Recognizable 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5903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62369"/>
          </a:xfrm>
        </p:spPr>
        <p:txBody>
          <a:bodyPr/>
          <a:lstStyle/>
          <a:p>
            <a:r>
              <a:rPr lang="en-US" dirty="0"/>
              <a:t>High-level description  of 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1</a:t>
            </a:r>
            <a:r>
              <a:rPr lang="en-US" sz="2400" dirty="0"/>
              <a:t>.    Place    a    mark    on    top    of    the    leftmost    tape    symbol.      If    that </a:t>
            </a:r>
            <a:r>
              <a:rPr lang="en-US" sz="2400" dirty="0" smtClean="0"/>
              <a:t>symbol   </a:t>
            </a:r>
            <a:r>
              <a:rPr lang="en-US" sz="2400" dirty="0"/>
              <a:t>was   not   a   #,   reject.</a:t>
            </a:r>
          </a:p>
          <a:p>
            <a:r>
              <a:rPr lang="en-US" sz="2400" dirty="0"/>
              <a:t>2.    Scan   right   to   the   next   #   and   place   a   second   mark   on   top   of </a:t>
            </a:r>
            <a:r>
              <a:rPr lang="en-US" sz="2400" dirty="0" smtClean="0"/>
              <a:t>it</a:t>
            </a:r>
            <a:r>
              <a:rPr lang="en-US" sz="2400" dirty="0"/>
              <a:t>.    If   no   #   occurs   before   a   blank,   accept.</a:t>
            </a:r>
          </a:p>
          <a:p>
            <a:r>
              <a:rPr lang="en-US" sz="2400" dirty="0"/>
              <a:t>3.    Compare,   by   </a:t>
            </a:r>
            <a:r>
              <a:rPr lang="en-US" sz="2400" dirty="0" err="1"/>
              <a:t>zig-zagging</a:t>
            </a:r>
            <a:r>
              <a:rPr lang="en-US" sz="2400" dirty="0"/>
              <a:t>,   the   two   strings   to   the   right   of   the </a:t>
            </a:r>
            <a:r>
              <a:rPr lang="en-US" sz="2400" dirty="0" smtClean="0"/>
              <a:t>marked   </a:t>
            </a:r>
            <a:r>
              <a:rPr lang="en-US" sz="2400" dirty="0"/>
              <a:t>#’s.    If   they   are   equal,   reject.</a:t>
            </a:r>
          </a:p>
          <a:p>
            <a:r>
              <a:rPr lang="en-US" sz="2400" dirty="0"/>
              <a:t>4. Move the second mark to the next # symbol. If not doable, </a:t>
            </a:r>
            <a:r>
              <a:rPr lang="en-US" sz="2400" dirty="0" smtClean="0"/>
              <a:t>move </a:t>
            </a:r>
            <a:r>
              <a:rPr lang="en-US" sz="2400" dirty="0"/>
              <a:t>the ﬁrst mark to the next # to its right and the second </a:t>
            </a:r>
            <a:r>
              <a:rPr lang="en-US" sz="2400" dirty="0" smtClean="0"/>
              <a:t>mark </a:t>
            </a:r>
            <a:r>
              <a:rPr lang="en-US" sz="2400" dirty="0"/>
              <a:t>to the # after that. If not doable, accept.</a:t>
            </a:r>
          </a:p>
          <a:p>
            <a:r>
              <a:rPr lang="en-US" sz="2400" dirty="0"/>
              <a:t>5.    Go   to   </a:t>
            </a:r>
            <a:r>
              <a:rPr lang="en-US" sz="2400" dirty="0" smtClean="0"/>
              <a:t>Stage 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7925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Variants of Turing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Alternative deﬁnitions of Turing machines abound, including </a:t>
            </a:r>
            <a:r>
              <a:rPr lang="en-US" sz="2400" dirty="0" smtClean="0"/>
              <a:t>versions </a:t>
            </a:r>
            <a:r>
              <a:rPr lang="en-US" sz="2400" dirty="0"/>
              <a:t>with multiple tapes or with </a:t>
            </a:r>
            <a:r>
              <a:rPr lang="en-US" sz="2400" dirty="0" smtClean="0"/>
              <a:t>non-determinism</a:t>
            </a:r>
            <a:r>
              <a:rPr lang="en-US" sz="2400" dirty="0"/>
              <a:t>. They are </a:t>
            </a:r>
            <a:r>
              <a:rPr lang="en-US" sz="2400" dirty="0" smtClean="0"/>
              <a:t>called </a:t>
            </a:r>
            <a:r>
              <a:rPr lang="en-US" sz="2400" dirty="0"/>
              <a:t>variants of the Turing machine model.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  original   model   and   its   reasonable   variants   all   have   the   same </a:t>
            </a:r>
            <a:r>
              <a:rPr lang="en-US" sz="2400" dirty="0" smtClean="0"/>
              <a:t>power—they   </a:t>
            </a:r>
            <a:r>
              <a:rPr lang="en-US" sz="2400" dirty="0"/>
              <a:t>recognize   the   same   class   of   languages.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To  show  that  two  models  are  equivalent,  we  simply  need  to  show </a:t>
            </a:r>
            <a:r>
              <a:rPr lang="en-US" sz="2400" dirty="0" smtClean="0"/>
              <a:t>that   </a:t>
            </a:r>
            <a:r>
              <a:rPr lang="en-US" sz="2400" dirty="0"/>
              <a:t>we   can   simulate   one   by   the   other.</a:t>
            </a:r>
          </a:p>
        </p:txBody>
      </p:sp>
    </p:spTree>
    <p:extLst>
      <p:ext uri="{BB962C8B-B14F-4D97-AF65-F5344CB8AC3E}">
        <p14:creationId xmlns:p14="http://schemas.microsoft.com/office/powerpoint/2010/main" val="194877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Multitape</a:t>
            </a:r>
            <a:r>
              <a:rPr lang="en-US" dirty="0" smtClean="0"/>
              <a:t> 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  </a:t>
            </a:r>
            <a:r>
              <a:rPr lang="en-US" dirty="0" err="1" smtClean="0"/>
              <a:t>multitape</a:t>
            </a:r>
            <a:r>
              <a:rPr lang="en-US" dirty="0" smtClean="0"/>
              <a:t>   Turing   machine    is   like   an   ordinary   Turing   machine with   </a:t>
            </a:r>
            <a:r>
              <a:rPr lang="en-US" dirty="0"/>
              <a:t>several   tapes.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Each   tape   has   its   own   head   for   reading   and   writing.   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Initially   the input   </a:t>
            </a:r>
            <a:r>
              <a:rPr lang="en-US" dirty="0"/>
              <a:t>appears   on   tape   1   and   the   others   start   out   blank.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transition function is changed to allow for reading, writing, </a:t>
            </a:r>
            <a:r>
              <a:rPr lang="en-US" dirty="0" smtClean="0"/>
              <a:t>and </a:t>
            </a:r>
            <a:r>
              <a:rPr lang="en-US" dirty="0"/>
              <a:t>moving the heads on all the tapes simultaneously. Formally,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δ  </a:t>
            </a:r>
            <a:r>
              <a:rPr lang="en-US" dirty="0"/>
              <a:t>:  Q × </a:t>
            </a:r>
            <a:r>
              <a:rPr lang="en-US" dirty="0" err="1"/>
              <a:t>Γ</a:t>
            </a:r>
            <a:r>
              <a:rPr lang="en-US" baseline="30000" dirty="0" err="1"/>
              <a:t>k</a:t>
            </a:r>
            <a:r>
              <a:rPr lang="en-US" dirty="0"/>
              <a:t>   −→  Q × </a:t>
            </a:r>
            <a:r>
              <a:rPr lang="en-US" dirty="0" err="1"/>
              <a:t>Γ</a:t>
            </a:r>
            <a:r>
              <a:rPr lang="en-US" baseline="30000" dirty="0" err="1"/>
              <a:t>k</a:t>
            </a:r>
            <a:r>
              <a:rPr lang="en-US" dirty="0"/>
              <a:t>  × {L, R}</a:t>
            </a:r>
            <a:r>
              <a:rPr lang="en-US" baseline="30000" dirty="0"/>
              <a:t>k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smtClean="0"/>
              <a:t>  where   </a:t>
            </a:r>
            <a:r>
              <a:rPr lang="en-US" dirty="0"/>
              <a:t>k   is   the   number   of   tapes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71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Diagram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192" y="1994940"/>
            <a:ext cx="612457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8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87651"/>
          </a:xfrm>
        </p:spPr>
        <p:txBody>
          <a:bodyPr/>
          <a:lstStyle/>
          <a:p>
            <a:r>
              <a:rPr lang="en-US" dirty="0" smtClean="0"/>
              <a:t>Simulating </a:t>
            </a:r>
            <a:r>
              <a:rPr lang="en-US" dirty="0" err="1" smtClean="0"/>
              <a:t>Multitape</a:t>
            </a:r>
            <a:r>
              <a:rPr lang="en-US" dirty="0" smtClean="0"/>
              <a:t> 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Every  </a:t>
            </a:r>
            <a:r>
              <a:rPr lang="en-US" b="1" dirty="0" err="1" smtClean="0"/>
              <a:t>multitape</a:t>
            </a:r>
            <a:r>
              <a:rPr lang="en-US" b="1" dirty="0" smtClean="0"/>
              <a:t>  Turing  machine  has  an  equivalent  single  tape Turing   machine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A   single   tape   TM   S   can   simulate   a   k-tape   M :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1.    S   puts   its   tape   into   the   format   that   represent   all   k   tapes   of M: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2. To </a:t>
            </a:r>
            <a:r>
              <a:rPr lang="en-US" dirty="0"/>
              <a:t>simulate a single move of M , S scans its tape to </a:t>
            </a:r>
            <a:r>
              <a:rPr lang="en-US" dirty="0" smtClean="0"/>
              <a:t>determine </a:t>
            </a:r>
            <a:r>
              <a:rPr lang="en-US" dirty="0"/>
              <a:t>the symbols under the virtual heads. Then S makes a </a:t>
            </a:r>
            <a:r>
              <a:rPr lang="en-US" dirty="0" smtClean="0"/>
              <a:t>second </a:t>
            </a:r>
            <a:r>
              <a:rPr lang="en-US" dirty="0"/>
              <a:t>pass to update the tapes according to M ’s transition </a:t>
            </a:r>
            <a:r>
              <a:rPr lang="en-US" dirty="0" smtClean="0"/>
              <a:t>function.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350" y="3670479"/>
            <a:ext cx="4122850" cy="66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6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3. If at any point S moves one of the virtual heads to the right onto a #, this action signifies that M has moved the corresponding head onto the previously unread blank portion of that tape. So S writes a blank symbol on this tape cell and shifts the tape contents</a:t>
            </a:r>
            <a:r>
              <a:rPr lang="en-US" sz="2400" dirty="0"/>
              <a:t>, from this cell until the rightmost #, one unit to </a:t>
            </a:r>
            <a:r>
              <a:rPr lang="en-US" sz="2400" dirty="0" smtClean="0"/>
              <a:t>the right</a:t>
            </a:r>
            <a:r>
              <a:rPr lang="en-US" sz="2400" dirty="0"/>
              <a:t>. Then it continues the simulation as before.</a:t>
            </a:r>
            <a:r>
              <a:rPr lang="en-US" sz="2400" b="1" dirty="0"/>
              <a:t>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264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deterministic Turing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 nondeterministic   Turing   machine  is  deﬁned  in  the  </a:t>
            </a:r>
            <a:r>
              <a:rPr lang="en-US" dirty="0" smtClean="0"/>
              <a:t>expected way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transition function of a nondeterministic TM has the form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                                       δ  :  Q × Γ  −→  P (Q × Γ × {L, R}).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    computation     of     a     nondeterministic     TM     is     a     tree     whose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branches   correspond   to   diﬀerent   possibilities   for   the   machine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If  some  branch  of  the  computation  leads  to  the  accept  state,  the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machine   accepts   its   input</a:t>
            </a:r>
          </a:p>
        </p:txBody>
      </p:sp>
    </p:spTree>
    <p:extLst>
      <p:ext uri="{BB962C8B-B14F-4D97-AF65-F5344CB8AC3E}">
        <p14:creationId xmlns:p14="http://schemas.microsoft.com/office/powerpoint/2010/main" val="77031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Simulating NDTM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030807"/>
          </a:xfrm>
        </p:spPr>
        <p:txBody>
          <a:bodyPr/>
          <a:lstStyle/>
          <a:p>
            <a:r>
              <a:rPr lang="en-US" b="1" dirty="0"/>
              <a:t>Every </a:t>
            </a:r>
            <a:r>
              <a:rPr lang="en-US" b="1" dirty="0" smtClean="0"/>
              <a:t> Nondeterministic Turing  </a:t>
            </a:r>
            <a:r>
              <a:rPr lang="en-US" b="1" dirty="0"/>
              <a:t>machine  has  an  equivalent  </a:t>
            </a:r>
            <a:r>
              <a:rPr lang="en-US" b="1" dirty="0" smtClean="0"/>
              <a:t>Deterministic </a:t>
            </a:r>
            <a:r>
              <a:rPr lang="en-US" b="1" dirty="0"/>
              <a:t>Turing   machine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 idea  is  to  have  a  deterministic  TM  D  try  all  possible  branches </a:t>
            </a:r>
            <a:r>
              <a:rPr lang="en-US" dirty="0" smtClean="0"/>
              <a:t>of   </a:t>
            </a:r>
            <a:r>
              <a:rPr lang="en-US" dirty="0"/>
              <a:t>the   given   nondeterministic   TM   N ’s   computation.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   searches,   in   a   breadth   ﬁrst   manner,   N ’s   computation   tree   for </a:t>
            </a:r>
            <a:r>
              <a:rPr lang="en-US" dirty="0" smtClean="0"/>
              <a:t>an   </a:t>
            </a:r>
            <a:r>
              <a:rPr lang="en-US" dirty="0"/>
              <a:t>accepting   </a:t>
            </a:r>
            <a:r>
              <a:rPr lang="en-US" dirty="0" smtClean="0"/>
              <a:t>conﬁguration.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721" y="3568789"/>
            <a:ext cx="61626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6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Simulating NDTM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   has   three   tapes: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Tape   1   always   contains   the   input   string   and   is   never   altered.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Tape    </a:t>
            </a:r>
            <a:r>
              <a:rPr lang="en-US" dirty="0"/>
              <a:t>2    maintains    a    copy    of    N ’s    tape    on    some    branch    of    </a:t>
            </a:r>
            <a:r>
              <a:rPr lang="en-US" dirty="0" smtClean="0"/>
              <a:t>its nondeterministic   </a:t>
            </a:r>
            <a:r>
              <a:rPr lang="en-US" dirty="0"/>
              <a:t>computation.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Tape  </a:t>
            </a:r>
            <a:r>
              <a:rPr lang="en-US" dirty="0"/>
              <a:t>3  keeps  track  of  D’s  location  in  N ’s  nondeterministic  </a:t>
            </a:r>
            <a:r>
              <a:rPr lang="en-US" dirty="0" smtClean="0"/>
              <a:t>computation   </a:t>
            </a:r>
            <a:r>
              <a:rPr lang="en-US" dirty="0"/>
              <a:t>tree.</a:t>
            </a:r>
          </a:p>
        </p:txBody>
      </p:sp>
    </p:spTree>
    <p:extLst>
      <p:ext uri="{BB962C8B-B14F-4D97-AF65-F5344CB8AC3E}">
        <p14:creationId xmlns:p14="http://schemas.microsoft.com/office/powerpoint/2010/main" val="88542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Simulating NDTM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Adding non determinism </a:t>
            </a:r>
            <a:r>
              <a:rPr lang="en-US" dirty="0"/>
              <a:t>to Turing </a:t>
            </a:r>
            <a:r>
              <a:rPr lang="en-US" dirty="0" smtClean="0"/>
              <a:t>machines does </a:t>
            </a:r>
            <a:r>
              <a:rPr lang="en-US" dirty="0"/>
              <a:t>not allow them to </a:t>
            </a:r>
            <a:r>
              <a:rPr lang="en-US" dirty="0" err="1"/>
              <a:t>recognise</a:t>
            </a:r>
            <a:r>
              <a:rPr lang="en-US" dirty="0"/>
              <a:t> any more </a:t>
            </a:r>
          </a:p>
          <a:p>
            <a:r>
              <a:rPr lang="en-US" dirty="0" smtClean="0"/>
              <a:t>languages.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A </a:t>
            </a:r>
            <a:r>
              <a:rPr lang="en-US" dirty="0"/>
              <a:t>nondeterministic Turing machine that halts on </a:t>
            </a:r>
            <a:r>
              <a:rPr lang="en-US" dirty="0" smtClean="0"/>
              <a:t>every </a:t>
            </a:r>
            <a:r>
              <a:rPr lang="en-US" dirty="0"/>
              <a:t>branch of its computation on all inputs is </a:t>
            </a:r>
          </a:p>
          <a:p>
            <a:r>
              <a:rPr lang="en-US" dirty="0"/>
              <a:t>called a decider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language is decidable </a:t>
            </a:r>
            <a:r>
              <a:rPr lang="en-US" dirty="0" err="1"/>
              <a:t>iﬀ</a:t>
            </a:r>
            <a:r>
              <a:rPr lang="en-US" dirty="0"/>
              <a:t> some </a:t>
            </a:r>
            <a:r>
              <a:rPr lang="en-US" dirty="0" smtClean="0"/>
              <a:t>NDTM decides </a:t>
            </a:r>
            <a:r>
              <a:rPr lang="en-US" dirty="0"/>
              <a:t>it.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63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Turing Machines for Computing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Kindly check the link turingmachine.io on Yammer for better understanding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sz="1800" dirty="0" smtClean="0"/>
              <a:t>Unary </a:t>
            </a:r>
            <a:r>
              <a:rPr lang="en-US" sz="1800" dirty="0"/>
              <a:t>representation is used in order to do any arithmetic operations on a TM.</a:t>
            </a:r>
          </a:p>
          <a:p>
            <a:pPr marL="1134555">
              <a:lnSpc>
                <a:spcPct val="80000"/>
              </a:lnSpc>
              <a:defRPr/>
            </a:pPr>
            <a:r>
              <a:rPr lang="en-US" dirty="0"/>
              <a:t>Unary representation looks as follows</a:t>
            </a:r>
          </a:p>
          <a:p>
            <a:pPr marL="1427163" lvl="1">
              <a:lnSpc>
                <a:spcPct val="80000"/>
              </a:lnSpc>
              <a:buNone/>
              <a:defRPr/>
            </a:pPr>
            <a:r>
              <a:rPr lang="en-US" sz="1600" dirty="0"/>
              <a:t>	</a:t>
            </a:r>
            <a:r>
              <a:rPr lang="en-US" sz="1400" dirty="0"/>
              <a:t>0  </a:t>
            </a:r>
            <a:r>
              <a:rPr lang="en-US" sz="1400" dirty="0">
                <a:sym typeface="Symbol" panose="05050102010706020507" pitchFamily="18" charset="2"/>
              </a:rPr>
              <a:t> 1</a:t>
            </a:r>
            <a:endParaRPr lang="en-US" sz="1400" dirty="0"/>
          </a:p>
          <a:p>
            <a:pPr marL="1427163" lvl="1">
              <a:lnSpc>
                <a:spcPct val="80000"/>
              </a:lnSpc>
              <a:buNone/>
              <a:defRPr/>
            </a:pPr>
            <a:r>
              <a:rPr lang="en-US" sz="1400" dirty="0"/>
              <a:t>	1  </a:t>
            </a:r>
            <a:r>
              <a:rPr lang="en-US" sz="1400" dirty="0">
                <a:sym typeface="Symbol" panose="05050102010706020507" pitchFamily="18" charset="2"/>
              </a:rPr>
              <a:t> 11</a:t>
            </a:r>
            <a:endParaRPr lang="en-US" sz="1400" dirty="0"/>
          </a:p>
          <a:p>
            <a:pPr marL="1427163" lvl="1">
              <a:lnSpc>
                <a:spcPct val="80000"/>
              </a:lnSpc>
              <a:buNone/>
              <a:defRPr/>
            </a:pPr>
            <a:r>
              <a:rPr lang="en-US" sz="1400" dirty="0"/>
              <a:t>	2  </a:t>
            </a:r>
            <a:r>
              <a:rPr lang="en-US" sz="1400" dirty="0">
                <a:sym typeface="Symbol" panose="05050102010706020507" pitchFamily="18" charset="2"/>
              </a:rPr>
              <a:t> 111</a:t>
            </a:r>
            <a:endParaRPr lang="en-US" sz="1400" dirty="0"/>
          </a:p>
          <a:p>
            <a:pPr marL="1427163" lvl="1">
              <a:lnSpc>
                <a:spcPct val="80000"/>
              </a:lnSpc>
              <a:buNone/>
              <a:defRPr/>
            </a:pPr>
            <a:r>
              <a:rPr lang="en-US" sz="1400" dirty="0"/>
              <a:t>	3  </a:t>
            </a:r>
            <a:r>
              <a:rPr lang="en-US" sz="1400" dirty="0">
                <a:sym typeface="Symbol" panose="05050102010706020507" pitchFamily="18" charset="2"/>
              </a:rPr>
              <a:t> 1111</a:t>
            </a:r>
            <a:endParaRPr lang="en-US" sz="1400" dirty="0"/>
          </a:p>
          <a:p>
            <a:pPr marL="1427163" lvl="1">
              <a:lnSpc>
                <a:spcPct val="80000"/>
              </a:lnSpc>
              <a:buNone/>
              <a:defRPr/>
            </a:pPr>
            <a:r>
              <a:rPr lang="en-US" sz="1400" dirty="0"/>
              <a:t>	4  </a:t>
            </a:r>
            <a:r>
              <a:rPr lang="en-US" sz="1400" dirty="0">
                <a:sym typeface="Symbol" panose="05050102010706020507" pitchFamily="18" charset="2"/>
              </a:rPr>
              <a:t> 11111</a:t>
            </a:r>
            <a:endParaRPr lang="en-US" sz="1400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27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Example: Adding two non-zero numbers</a:t>
            </a:r>
          </a:p>
        </p:txBody>
      </p:sp>
      <p:sp>
        <p:nvSpPr>
          <p:cNvPr id="215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084401" y="1845734"/>
            <a:ext cx="10058400" cy="4023360"/>
          </a:xfrm>
        </p:spPr>
        <p:txBody>
          <a:bodyPr/>
          <a:lstStyle/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endParaRPr lang="en-US" sz="1600" dirty="0"/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r>
              <a:rPr lang="en-US" sz="1600" dirty="0"/>
              <a:t>  	</a:t>
            </a:r>
            <a:r>
              <a:rPr lang="en-US" sz="1600" dirty="0" smtClean="0"/>
              <a:t>Input Tape</a:t>
            </a:r>
            <a:r>
              <a:rPr lang="en-US" sz="1600" dirty="0"/>
              <a:t>		</a:t>
            </a:r>
            <a:r>
              <a:rPr lang="en-US" sz="1600" b="1" dirty="0">
                <a:latin typeface="Courier New" panose="02070309020205020404" pitchFamily="49" charset="0"/>
              </a:rPr>
              <a:t>. . b 1 1 1 b 1 1 b . . 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Output </a:t>
            </a:r>
            <a:r>
              <a:rPr lang="en-US" sz="1600" dirty="0"/>
              <a:t>should be:	</a:t>
            </a:r>
            <a:r>
              <a:rPr lang="en-US" sz="1600" b="1" dirty="0">
                <a:latin typeface="Courier New" panose="02070309020205020404" pitchFamily="49" charset="0"/>
              </a:rPr>
              <a:t>. . b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1 1 1 1 b . .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endParaRPr lang="en-US" sz="1600" b="1" dirty="0"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(1,1,b,R,2): Erase leftmost 1 and move right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(2,1,b,R,3): Erase second 1 and move right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(3,1,1,R,3): pass over any 1’s until a blank is found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r>
              <a:rPr lang="en-US" sz="1600" b="1" dirty="0" smtClean="0">
                <a:latin typeface="Courier New" panose="02070309020205020404" pitchFamily="49" charset="0"/>
              </a:rPr>
              <a:t>(3,b,1,R,4): write 1 over the blank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r>
              <a:rPr lang="en-US" sz="1600" b="1" dirty="0" smtClean="0">
                <a:latin typeface="Courier New" panose="02070309020205020404" pitchFamily="49" charset="0"/>
              </a:rPr>
              <a:t>(4,1,1,R,4): pass over remaining 1’s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/>
            </a:pPr>
            <a:r>
              <a:rPr lang="en-US" sz="1600" b="1" dirty="0" smtClean="0">
                <a:latin typeface="Courier New" panose="02070309020205020404" pitchFamily="49" charset="0"/>
              </a:rPr>
              <a:t>(</a:t>
            </a:r>
            <a:r>
              <a:rPr lang="en-US" sz="1600" b="1" dirty="0">
                <a:latin typeface="Courier New" panose="02070309020205020404" pitchFamily="49" charset="0"/>
              </a:rPr>
              <a:t>4,b,b,R,5): halt</a:t>
            </a:r>
            <a:endParaRPr lang="en-US" dirty="0" smtClean="0"/>
          </a:p>
        </p:txBody>
      </p:sp>
      <p:grpSp>
        <p:nvGrpSpPr>
          <p:cNvPr id="10244" name="Group 1028"/>
          <p:cNvGrpSpPr>
            <a:grpSpLocks/>
          </p:cNvGrpSpPr>
          <p:nvPr/>
        </p:nvGrpSpPr>
        <p:grpSpPr bwMode="auto">
          <a:xfrm>
            <a:off x="2118575" y="4452870"/>
            <a:ext cx="4100513" cy="993775"/>
            <a:chOff x="3024" y="3360"/>
            <a:chExt cx="2583" cy="626"/>
          </a:xfrm>
        </p:grpSpPr>
        <p:grpSp>
          <p:nvGrpSpPr>
            <p:cNvPr id="10246" name="Group 1029"/>
            <p:cNvGrpSpPr>
              <a:grpSpLocks/>
            </p:cNvGrpSpPr>
            <p:nvPr/>
          </p:nvGrpSpPr>
          <p:grpSpPr bwMode="auto">
            <a:xfrm>
              <a:off x="3024" y="3360"/>
              <a:ext cx="2352" cy="626"/>
              <a:chOff x="1200" y="3216"/>
              <a:chExt cx="2352" cy="626"/>
            </a:xfrm>
          </p:grpSpPr>
          <p:sp>
            <p:nvSpPr>
              <p:cNvPr id="10248" name="Oval 1030"/>
              <p:cNvSpPr>
                <a:spLocks noChangeArrowheads="1"/>
              </p:cNvSpPr>
              <p:nvPr/>
            </p:nvSpPr>
            <p:spPr bwMode="auto">
              <a:xfrm>
                <a:off x="1200" y="355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/>
                  <a:t>1</a:t>
                </a:r>
              </a:p>
            </p:txBody>
          </p:sp>
          <p:sp>
            <p:nvSpPr>
              <p:cNvPr id="10249" name="Oval 1031"/>
              <p:cNvSpPr>
                <a:spLocks noChangeArrowheads="1"/>
              </p:cNvSpPr>
              <p:nvPr/>
            </p:nvSpPr>
            <p:spPr bwMode="auto">
              <a:xfrm>
                <a:off x="1728" y="355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2</a:t>
                </a:r>
              </a:p>
            </p:txBody>
          </p:sp>
          <p:sp>
            <p:nvSpPr>
              <p:cNvPr id="10250" name="Line 1032"/>
              <p:cNvSpPr>
                <a:spLocks noChangeShapeType="1"/>
              </p:cNvSpPr>
              <p:nvPr/>
            </p:nvSpPr>
            <p:spPr bwMode="auto">
              <a:xfrm>
                <a:off x="1392" y="364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1" name="Text Box 1033"/>
              <p:cNvSpPr txBox="1">
                <a:spLocks noChangeArrowheads="1"/>
              </p:cNvSpPr>
              <p:nvPr/>
            </p:nvSpPr>
            <p:spPr bwMode="auto">
              <a:xfrm>
                <a:off x="1392" y="3456"/>
                <a:ext cx="39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400" b="1" dirty="0" smtClean="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1;b,R</a:t>
                </a:r>
              </a:p>
              <a:p>
                <a:pPr eaLnBrk="1" hangingPunct="1"/>
                <a:endParaRPr lang="en-US" sz="1400" b="1" dirty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253" name="Oval 1035"/>
              <p:cNvSpPr>
                <a:spLocks noChangeArrowheads="1"/>
              </p:cNvSpPr>
              <p:nvPr/>
            </p:nvSpPr>
            <p:spPr bwMode="auto">
              <a:xfrm>
                <a:off x="2256" y="355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/>
                  <a:t>3</a:t>
                </a:r>
              </a:p>
            </p:txBody>
          </p:sp>
          <p:sp>
            <p:nvSpPr>
              <p:cNvPr id="10254" name="Line 1036"/>
              <p:cNvSpPr>
                <a:spLocks noChangeShapeType="1"/>
              </p:cNvSpPr>
              <p:nvPr/>
            </p:nvSpPr>
            <p:spPr bwMode="auto">
              <a:xfrm>
                <a:off x="1920" y="364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5" name="Text Box 1037"/>
              <p:cNvSpPr txBox="1">
                <a:spLocks noChangeArrowheads="1"/>
              </p:cNvSpPr>
              <p:nvPr/>
            </p:nvSpPr>
            <p:spPr bwMode="auto">
              <a:xfrm>
                <a:off x="1920" y="3456"/>
                <a:ext cx="39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400" b="1" dirty="0" smtClean="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1;b,R</a:t>
                </a:r>
              </a:p>
              <a:p>
                <a:pPr eaLnBrk="1" hangingPunct="1"/>
                <a:endParaRPr lang="en-US" sz="1400" b="1" dirty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257" name="Oval 1039"/>
              <p:cNvSpPr>
                <a:spLocks noChangeArrowheads="1"/>
              </p:cNvSpPr>
              <p:nvPr/>
            </p:nvSpPr>
            <p:spPr bwMode="auto">
              <a:xfrm>
                <a:off x="2784" y="355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/>
                  <a:t>4</a:t>
                </a:r>
              </a:p>
            </p:txBody>
          </p:sp>
          <p:sp>
            <p:nvSpPr>
              <p:cNvPr id="10258" name="Line 1040"/>
              <p:cNvSpPr>
                <a:spLocks noChangeShapeType="1"/>
              </p:cNvSpPr>
              <p:nvPr/>
            </p:nvSpPr>
            <p:spPr bwMode="auto">
              <a:xfrm>
                <a:off x="2448" y="364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9" name="Text Box 1041"/>
              <p:cNvSpPr txBox="1">
                <a:spLocks noChangeArrowheads="1"/>
              </p:cNvSpPr>
              <p:nvPr/>
            </p:nvSpPr>
            <p:spPr bwMode="auto">
              <a:xfrm>
                <a:off x="2448" y="3456"/>
                <a:ext cx="39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400" b="1" dirty="0" smtClean="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b;1,R</a:t>
                </a:r>
              </a:p>
              <a:p>
                <a:pPr eaLnBrk="1" hangingPunct="1"/>
                <a:endParaRPr lang="en-US" sz="1400" b="1" dirty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261" name="Oval 1043"/>
              <p:cNvSpPr>
                <a:spLocks noChangeArrowheads="1"/>
              </p:cNvSpPr>
              <p:nvPr/>
            </p:nvSpPr>
            <p:spPr bwMode="auto">
              <a:xfrm>
                <a:off x="3360" y="355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5</a:t>
                </a:r>
              </a:p>
            </p:txBody>
          </p:sp>
          <p:sp>
            <p:nvSpPr>
              <p:cNvPr id="10262" name="Line 1044"/>
              <p:cNvSpPr>
                <a:spLocks noChangeShapeType="1"/>
              </p:cNvSpPr>
              <p:nvPr/>
            </p:nvSpPr>
            <p:spPr bwMode="auto">
              <a:xfrm>
                <a:off x="3024" y="364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3" name="Text Box 1045"/>
              <p:cNvSpPr txBox="1">
                <a:spLocks noChangeArrowheads="1"/>
              </p:cNvSpPr>
              <p:nvPr/>
            </p:nvSpPr>
            <p:spPr bwMode="auto">
              <a:xfrm>
                <a:off x="3024" y="3456"/>
                <a:ext cx="404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400" b="1" dirty="0" err="1" smtClean="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b;b,R</a:t>
                </a:r>
                <a:endParaRPr lang="en-US" sz="1400" b="1" dirty="0" smtClean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pPr eaLnBrk="1" hangingPunct="1"/>
                <a:endParaRPr lang="en-US" sz="1400" b="1" dirty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264" name="Text Box 1046"/>
              <p:cNvSpPr txBox="1">
                <a:spLocks noChangeArrowheads="1"/>
              </p:cNvSpPr>
              <p:nvPr/>
            </p:nvSpPr>
            <p:spPr bwMode="auto">
              <a:xfrm>
                <a:off x="3072" y="3648"/>
                <a:ext cx="11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sz="1400" b="1" dirty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265" name="Arc 1047"/>
              <p:cNvSpPr>
                <a:spLocks/>
              </p:cNvSpPr>
              <p:nvPr/>
            </p:nvSpPr>
            <p:spPr bwMode="auto">
              <a:xfrm rot="5400000" flipH="1" flipV="1">
                <a:off x="2232" y="3384"/>
                <a:ext cx="192" cy="14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144 h 43200"/>
                  <a:gd name="T4" fmla="*/ 0 w 21600"/>
                  <a:gd name="T5" fmla="*/ 7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200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200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6" name="Arc 1048"/>
              <p:cNvSpPr>
                <a:spLocks/>
              </p:cNvSpPr>
              <p:nvPr/>
            </p:nvSpPr>
            <p:spPr bwMode="auto">
              <a:xfrm rot="5400000" flipH="1" flipV="1">
                <a:off x="2760" y="3384"/>
                <a:ext cx="192" cy="144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144 h 43200"/>
                  <a:gd name="T4" fmla="*/ 0 w 21600"/>
                  <a:gd name="T5" fmla="*/ 7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200"/>
                      <a:pt x="0" y="43200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200"/>
                      <a:pt x="0" y="432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7" name="Text Box 1049"/>
              <p:cNvSpPr txBox="1">
                <a:spLocks noChangeArrowheads="1"/>
              </p:cNvSpPr>
              <p:nvPr/>
            </p:nvSpPr>
            <p:spPr bwMode="auto">
              <a:xfrm>
                <a:off x="2736" y="3216"/>
                <a:ext cx="3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400" b="1" dirty="0" smtClean="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1;1,R</a:t>
                </a:r>
                <a:endParaRPr lang="en-US" sz="1400" b="1" dirty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268" name="Text Box 1050"/>
              <p:cNvSpPr txBox="1">
                <a:spLocks noChangeArrowheads="1"/>
              </p:cNvSpPr>
              <p:nvPr/>
            </p:nvSpPr>
            <p:spPr bwMode="auto">
              <a:xfrm>
                <a:off x="2160" y="3216"/>
                <a:ext cx="3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sz="1400" b="1" dirty="0" smtClean="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1;1,R</a:t>
                </a:r>
                <a:endParaRPr lang="en-US" sz="1400" b="1" dirty="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247" name="Rectangle 1051"/>
            <p:cNvSpPr>
              <a:spLocks noChangeArrowheads="1"/>
            </p:cNvSpPr>
            <p:nvPr/>
          </p:nvSpPr>
          <p:spPr bwMode="auto">
            <a:xfrm>
              <a:off x="5280" y="3504"/>
              <a:ext cx="32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sz="1400" b="1">
                  <a:solidFill>
                    <a:schemeClr val="accent2"/>
                  </a:solidFill>
                  <a:latin typeface="Arial" panose="020B0604020202020204" pitchFamily="34" charset="0"/>
                </a:rPr>
                <a:t>Halt</a:t>
              </a:r>
            </a:p>
          </p:txBody>
        </p:sp>
      </p:grpSp>
      <p:sp>
        <p:nvSpPr>
          <p:cNvPr id="10245" name="Rectangle 1052"/>
          <p:cNvSpPr>
            <a:spLocks noChangeArrowheads="1"/>
          </p:cNvSpPr>
          <p:nvPr/>
        </p:nvSpPr>
        <p:spPr bwMode="auto">
          <a:xfrm>
            <a:off x="6931875" y="3572601"/>
            <a:ext cx="3352800" cy="237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S1</a:t>
            </a:r>
            <a:r>
              <a:rPr lang="en-US" sz="1600" b="1" dirty="0">
                <a:latin typeface="Courier New" panose="02070309020205020404" pitchFamily="49" charset="0"/>
              </a:rPr>
              <a:t>... b </a:t>
            </a:r>
            <a:r>
              <a:rPr lang="en-US" sz="1600" b="1" u="sng" dirty="0">
                <a:latin typeface="Courier New" panose="02070309020205020404" pitchFamily="49" charset="0"/>
              </a:rPr>
              <a:t>1</a:t>
            </a:r>
            <a:r>
              <a:rPr lang="en-US" sz="1600" b="1" dirty="0">
                <a:latin typeface="Courier New" panose="02070309020205020404" pitchFamily="49" charset="0"/>
              </a:rPr>
              <a:t> 1 1 b 1 1 b...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S2</a:t>
            </a:r>
            <a:r>
              <a:rPr lang="en-US" sz="1600" b="1" dirty="0">
                <a:latin typeface="Courier New" panose="02070309020205020404" pitchFamily="49" charset="0"/>
              </a:rPr>
              <a:t>... b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u="sng" dirty="0">
                <a:latin typeface="Courier New" panose="02070309020205020404" pitchFamily="49" charset="0"/>
              </a:rPr>
              <a:t>1</a:t>
            </a:r>
            <a:r>
              <a:rPr lang="en-US" sz="1600" b="1" dirty="0">
                <a:latin typeface="Courier New" panose="02070309020205020404" pitchFamily="49" charset="0"/>
              </a:rPr>
              <a:t> 1 b 1 1 b...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S3</a:t>
            </a:r>
            <a:r>
              <a:rPr lang="en-US" sz="1600" b="1" dirty="0">
                <a:latin typeface="Courier New" panose="02070309020205020404" pitchFamily="49" charset="0"/>
              </a:rPr>
              <a:t>... b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u="sng" dirty="0">
                <a:latin typeface="Courier New" panose="02070309020205020404" pitchFamily="49" charset="0"/>
              </a:rPr>
              <a:t>1</a:t>
            </a:r>
            <a:r>
              <a:rPr lang="en-US" sz="1600" b="1" dirty="0">
                <a:latin typeface="Courier New" panose="02070309020205020404" pitchFamily="49" charset="0"/>
              </a:rPr>
              <a:t> b 1 1 b...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S3</a:t>
            </a:r>
            <a:r>
              <a:rPr lang="en-US" sz="1600" b="1" dirty="0">
                <a:latin typeface="Courier New" panose="02070309020205020404" pitchFamily="49" charset="0"/>
              </a:rPr>
              <a:t>... b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1 </a:t>
            </a:r>
            <a:r>
              <a:rPr lang="en-US" sz="1600" b="1" u="sng" dirty="0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1 1 b...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S4</a:t>
            </a:r>
            <a:r>
              <a:rPr lang="en-US" sz="1600" b="1" dirty="0">
                <a:latin typeface="Courier New" panose="02070309020205020404" pitchFamily="49" charset="0"/>
              </a:rPr>
              <a:t>... b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1 1 </a:t>
            </a:r>
            <a:r>
              <a:rPr lang="en-US" sz="1600" b="1" u="sng" dirty="0">
                <a:latin typeface="Courier New" panose="02070309020205020404" pitchFamily="49" charset="0"/>
              </a:rPr>
              <a:t>1</a:t>
            </a:r>
            <a:r>
              <a:rPr lang="en-US" sz="1600" b="1" dirty="0">
                <a:latin typeface="Courier New" panose="02070309020205020404" pitchFamily="49" charset="0"/>
              </a:rPr>
              <a:t> 1 b...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S4</a:t>
            </a:r>
            <a:r>
              <a:rPr lang="en-US" sz="1600" b="1" dirty="0">
                <a:latin typeface="Courier New" panose="02070309020205020404" pitchFamily="49" charset="0"/>
              </a:rPr>
              <a:t>... b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1 1 1 </a:t>
            </a:r>
            <a:r>
              <a:rPr lang="en-US" sz="1600" b="1" u="sng" dirty="0">
                <a:latin typeface="Courier New" panose="02070309020205020404" pitchFamily="49" charset="0"/>
              </a:rPr>
              <a:t>1</a:t>
            </a:r>
            <a:r>
              <a:rPr lang="en-US" sz="1600" b="1" dirty="0">
                <a:latin typeface="Courier New" panose="02070309020205020404" pitchFamily="49" charset="0"/>
              </a:rPr>
              <a:t> b...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S4</a:t>
            </a:r>
            <a:r>
              <a:rPr lang="en-US" sz="1600" b="1" dirty="0">
                <a:latin typeface="Courier New" panose="02070309020205020404" pitchFamily="49" charset="0"/>
              </a:rPr>
              <a:t>... b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 1 1 1 1 </a:t>
            </a:r>
            <a:r>
              <a:rPr lang="en-US" sz="1600" b="1" u="sng" dirty="0">
                <a:latin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74987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More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Successor Function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Zero Function 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Predecessor Function</a:t>
            </a:r>
          </a:p>
          <a:p>
            <a:endParaRPr 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390919" y="2132527"/>
            <a:ext cx="69545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defTabSz="379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defTabSz="379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defTabSz="379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defTabSz="379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 smtClean="0">
                <a:sym typeface="Symbol" panose="05050102010706020507" pitchFamily="18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s</a:t>
            </a:r>
            <a:r>
              <a:rPr lang="en-US" sz="2000" dirty="0">
                <a:sym typeface="Symbol" panose="05050102010706020507" pitchFamily="18" charset="2"/>
              </a:rPr>
              <a:t> : </a:t>
            </a:r>
            <a:r>
              <a:rPr lang="en-US" sz="2000" b="1" dirty="0">
                <a:sym typeface="Symbol" panose="05050102010706020507" pitchFamily="18" charset="2"/>
              </a:rPr>
              <a:t>N</a:t>
            </a:r>
            <a:r>
              <a:rPr lang="en-US" sz="2000" dirty="0">
                <a:sym typeface="Symbol" panose="05050102010706020507" pitchFamily="18" charset="2"/>
              </a:rPr>
              <a:t>  </a:t>
            </a:r>
            <a:r>
              <a:rPr lang="en-US" sz="2000" b="1" dirty="0">
                <a:sym typeface="Symbol" panose="05050102010706020507" pitchFamily="18" charset="2"/>
              </a:rPr>
              <a:t>N</a:t>
            </a:r>
            <a:r>
              <a:rPr lang="en-US" sz="2000" dirty="0">
                <a:sym typeface="Symbol" panose="05050102010706020507" pitchFamily="18" charset="2"/>
              </a:rPr>
              <a:t> has </a:t>
            </a:r>
            <a:r>
              <a:rPr lang="en-US" sz="2000" i="1" dirty="0">
                <a:sym typeface="Symbol" panose="05050102010706020507" pitchFamily="18" charset="2"/>
              </a:rPr>
              <a:t>s</a:t>
            </a:r>
            <a:r>
              <a:rPr lang="en-US" sz="2000" dirty="0">
                <a:sym typeface="Symbol" panose="05050102010706020507" pitchFamily="18" charset="2"/>
              </a:rPr>
              <a:t>(n) = n+1 for all inputs n: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37" y="2747962"/>
            <a:ext cx="4048125" cy="1362075"/>
          </a:xfrm>
          <a:prstGeom prst="rect">
            <a:avLst/>
          </a:prstGeom>
        </p:spPr>
      </p:pic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3086099" y="4527034"/>
            <a:ext cx="601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 smtClean="0"/>
              <a:t>z</a:t>
            </a:r>
            <a:r>
              <a:rPr lang="en-US" sz="2000" dirty="0" smtClean="0"/>
              <a:t> </a:t>
            </a:r>
            <a:r>
              <a:rPr lang="en-US" sz="2000" dirty="0"/>
              <a:t>: </a:t>
            </a:r>
            <a:r>
              <a:rPr lang="en-US" sz="2000" b="1" dirty="0"/>
              <a:t>N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 </a:t>
            </a:r>
            <a:r>
              <a:rPr lang="en-US" sz="2000" b="1" dirty="0">
                <a:sym typeface="Symbol" panose="05050102010706020507" pitchFamily="18" charset="2"/>
              </a:rPr>
              <a:t>N</a:t>
            </a:r>
            <a:r>
              <a:rPr lang="en-US" sz="2000" dirty="0">
                <a:sym typeface="Symbol" panose="05050102010706020507" pitchFamily="18" charset="2"/>
              </a:rPr>
              <a:t> has </a:t>
            </a:r>
            <a:r>
              <a:rPr lang="en-US" sz="2000" i="1" dirty="0">
                <a:sym typeface="Symbol" panose="05050102010706020507" pitchFamily="18" charset="2"/>
              </a:rPr>
              <a:t>z</a:t>
            </a:r>
            <a:r>
              <a:rPr lang="en-US" sz="2000" dirty="0">
                <a:sym typeface="Symbol" panose="05050102010706020507" pitchFamily="18" charset="2"/>
              </a:rPr>
              <a:t>(n) = 0 for all inputs n:</a:t>
            </a:r>
            <a:endParaRPr lang="en-US" sz="2000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554310" y="5289174"/>
            <a:ext cx="67957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defTabSz="37941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defTabSz="379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defTabSz="379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defTabSz="379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defTabSz="379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 smtClean="0">
                <a:sym typeface="Symbol" panose="05050102010706020507" pitchFamily="18" charset="2"/>
              </a:rPr>
              <a:t> </a:t>
            </a:r>
            <a:r>
              <a:rPr lang="en-US" sz="2000" i="1" dirty="0" err="1">
                <a:sym typeface="Symbol" panose="05050102010706020507" pitchFamily="18" charset="2"/>
              </a:rPr>
              <a:t>pred</a:t>
            </a:r>
            <a:r>
              <a:rPr lang="en-US" sz="2000" dirty="0">
                <a:sym typeface="Symbol" panose="05050102010706020507" pitchFamily="18" charset="2"/>
              </a:rPr>
              <a:t> : </a:t>
            </a:r>
            <a:r>
              <a:rPr lang="en-US" sz="2000" b="1" dirty="0">
                <a:sym typeface="Symbol" panose="05050102010706020507" pitchFamily="18" charset="2"/>
              </a:rPr>
              <a:t>N</a:t>
            </a:r>
            <a:r>
              <a:rPr lang="en-US" sz="2000" dirty="0">
                <a:sym typeface="Symbol" panose="05050102010706020507" pitchFamily="18" charset="2"/>
              </a:rPr>
              <a:t>  </a:t>
            </a:r>
            <a:r>
              <a:rPr lang="en-US" sz="2000" b="1" dirty="0">
                <a:sym typeface="Symbol" panose="05050102010706020507" pitchFamily="18" charset="2"/>
              </a:rPr>
              <a:t>N</a:t>
            </a:r>
            <a:r>
              <a:rPr lang="en-US" sz="2000" dirty="0">
                <a:sym typeface="Symbol" panose="05050102010706020507" pitchFamily="18" charset="2"/>
              </a:rPr>
              <a:t> has </a:t>
            </a:r>
            <a:r>
              <a:rPr lang="en-US" sz="2000" i="1" dirty="0" err="1">
                <a:sym typeface="Symbol" panose="05050102010706020507" pitchFamily="18" charset="2"/>
              </a:rPr>
              <a:t>pred</a:t>
            </a:r>
            <a:r>
              <a:rPr lang="en-US" sz="2000" dirty="0">
                <a:sym typeface="Symbol" panose="05050102010706020507" pitchFamily="18" charset="2"/>
              </a:rPr>
              <a:t>(n) = n-1 if n&gt;0 and has </a:t>
            </a:r>
            <a:r>
              <a:rPr lang="en-US" sz="2000" i="1" dirty="0" err="1">
                <a:sym typeface="Symbol" panose="05050102010706020507" pitchFamily="18" charset="2"/>
              </a:rPr>
              <a:t>pred</a:t>
            </a:r>
            <a:r>
              <a:rPr lang="en-US" sz="2000" dirty="0">
                <a:sym typeface="Symbol" panose="05050102010706020507" pitchFamily="18" charset="2"/>
              </a:rPr>
              <a:t>(0) = 0:</a:t>
            </a:r>
          </a:p>
        </p:txBody>
      </p:sp>
    </p:spTree>
    <p:extLst>
      <p:ext uri="{BB962C8B-B14F-4D97-AF65-F5344CB8AC3E}">
        <p14:creationId xmlns:p14="http://schemas.microsoft.com/office/powerpoint/2010/main" val="402466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5078</TotalTime>
  <Words>1278</Words>
  <Application>Microsoft Office PowerPoint</Application>
  <PresentationFormat>Custom</PresentationFormat>
  <Paragraphs>270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Wingdings</vt:lpstr>
      <vt:lpstr>Times</vt:lpstr>
      <vt:lpstr>Calibri Light</vt:lpstr>
      <vt:lpstr>Times New Roman</vt:lpstr>
      <vt:lpstr>Symbol</vt:lpstr>
      <vt:lpstr>Calibri</vt:lpstr>
      <vt:lpstr>Courier New</vt:lpstr>
      <vt:lpstr>Retrospect</vt:lpstr>
      <vt:lpstr>Part II Computability Theory Chapter 3</vt:lpstr>
      <vt:lpstr>Agenda</vt:lpstr>
      <vt:lpstr>Description  of TM</vt:lpstr>
      <vt:lpstr>Simulating Tape </vt:lpstr>
      <vt:lpstr>Element Distinctness Problem</vt:lpstr>
      <vt:lpstr>High-level description  of TM</vt:lpstr>
      <vt:lpstr>Variants of Turing Machine</vt:lpstr>
      <vt:lpstr>Multitape TM</vt:lpstr>
      <vt:lpstr>Diagram</vt:lpstr>
      <vt:lpstr>Simulating Multitape TM</vt:lpstr>
      <vt:lpstr>PowerPoint Presentation</vt:lpstr>
      <vt:lpstr>Non deterministic Turing Machine</vt:lpstr>
      <vt:lpstr>Simulating NDTM</vt:lpstr>
      <vt:lpstr>Simulating NDTM</vt:lpstr>
      <vt:lpstr>Simulating NDTM</vt:lpstr>
      <vt:lpstr>Turing Machines for Computing Functions</vt:lpstr>
      <vt:lpstr>Example: Adding two non-zero numbers</vt:lpstr>
      <vt:lpstr>Some More Examples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Turing Machines</dc:title>
  <dc:creator>LALIES</dc:creator>
  <cp:lastModifiedBy>larkana computers</cp:lastModifiedBy>
  <cp:revision>113</cp:revision>
  <dcterms:created xsi:type="dcterms:W3CDTF">2021-10-26T15:03:57Z</dcterms:created>
  <dcterms:modified xsi:type="dcterms:W3CDTF">2023-07-09T19:46:23Z</dcterms:modified>
</cp:coreProperties>
</file>