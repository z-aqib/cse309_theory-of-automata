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8" r:id="rId1"/>
  </p:sldMasterIdLst>
  <p:sldIdLst>
    <p:sldId id="256" r:id="rId2"/>
    <p:sldId id="272" r:id="rId3"/>
    <p:sldId id="273" r:id="rId4"/>
    <p:sldId id="274" r:id="rId5"/>
    <p:sldId id="277" r:id="rId6"/>
    <p:sldId id="281" r:id="rId7"/>
    <p:sldId id="278" r:id="rId8"/>
    <p:sldId id="279" r:id="rId9"/>
    <p:sldId id="283" r:id="rId10"/>
    <p:sldId id="284" r:id="rId11"/>
    <p:sldId id="285" r:id="rId12"/>
    <p:sldId id="286" r:id="rId13"/>
    <p:sldId id="287" r:id="rId14"/>
    <p:sldId id="288" r:id="rId15"/>
    <p:sldId id="289" r:id="rId16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1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855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55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0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30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0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6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083A6C7-8FDD-4021-8B74-0D868FC8B70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7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7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831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A6C7-8FDD-4021-8B74-0D868FC8B70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2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083A6C7-8FDD-4021-8B74-0D868FC8B703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1777DE1-6C6C-47BA-83C5-FE98A3ABA31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06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5059" y="1972370"/>
            <a:ext cx="9144000" cy="16981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Part II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>
                <a:solidFill>
                  <a:srgbClr val="C00000"/>
                </a:solidFill>
              </a:rPr>
              <a:t>Computability Theory</a:t>
            </a:r>
            <a:br>
              <a:rPr lang="en-US" dirty="0" smtClean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651" y="4558651"/>
            <a:ext cx="100584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C00000"/>
                </a:solidFill>
              </a:rPr>
              <a:t>decidability</a:t>
            </a:r>
            <a:endParaRPr lang="en-US" sz="4000" dirty="0">
              <a:solidFill>
                <a:srgbClr val="C00000"/>
              </a:solidFill>
            </a:endParaRPr>
          </a:p>
        </p:txBody>
      </p:sp>
      <p:pic>
        <p:nvPicPr>
          <p:cNvPr id="3078" name="Picture 6" descr="Alan Turing Joke | Alan turing, Computer jokes, Science carto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961" y="3117224"/>
            <a:ext cx="3102779" cy="2327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283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49769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05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err="1" smtClean="0"/>
              <a:t>Undecidability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err="1" smtClean="0"/>
              <a:t>Diagonalization</a:t>
            </a:r>
            <a:r>
              <a:rPr lang="en-US" sz="2800" dirty="0" smtClean="0"/>
              <a:t> Method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Example </a:t>
            </a:r>
            <a:r>
              <a:rPr lang="en-US" sz="2800" dirty="0"/>
              <a:t>of an undecidable language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Turing unrecognizable language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sz="2800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sz="2800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sz="2800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07188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Undecidability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Unsolvable problems are not necessarily esoteric. Some ordinary </a:t>
            </a:r>
            <a:r>
              <a:rPr lang="en-US" sz="2800" dirty="0" smtClean="0"/>
              <a:t>problems </a:t>
            </a:r>
            <a:r>
              <a:rPr lang="en-US" sz="2800" dirty="0"/>
              <a:t>that people want to solve may turn out to be </a:t>
            </a:r>
            <a:r>
              <a:rPr lang="en-US" sz="2800" dirty="0" smtClean="0"/>
              <a:t>unsolvable</a:t>
            </a:r>
            <a:r>
              <a:rPr lang="en-US" sz="28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For   </a:t>
            </a:r>
            <a:r>
              <a:rPr lang="en-US" sz="2800" dirty="0"/>
              <a:t>example,   the   general   problem   of   software   veriﬁcation   is   not </a:t>
            </a:r>
            <a:r>
              <a:rPr lang="en-US" sz="2800" dirty="0" smtClean="0"/>
              <a:t>solvable   </a:t>
            </a:r>
            <a:r>
              <a:rPr lang="en-US" sz="2800" dirty="0"/>
              <a:t>by   computer.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The </a:t>
            </a:r>
            <a:r>
              <a:rPr lang="en-US" sz="2800" dirty="0"/>
              <a:t>speciﬁc problem that we will prove algorithmically unsolvable </a:t>
            </a:r>
            <a:r>
              <a:rPr lang="en-US" sz="2800" dirty="0" smtClean="0"/>
              <a:t>is </a:t>
            </a:r>
            <a:r>
              <a:rPr lang="en-US" sz="2800" dirty="0"/>
              <a:t>the one of testing whether a Turing machine accepts a given </a:t>
            </a:r>
            <a:r>
              <a:rPr lang="en-US" sz="2800" dirty="0" smtClean="0"/>
              <a:t>input </a:t>
            </a:r>
            <a:r>
              <a:rPr lang="en-US" sz="2800" dirty="0"/>
              <a:t>string.</a:t>
            </a:r>
          </a:p>
        </p:txBody>
      </p:sp>
    </p:spTree>
    <p:extLst>
      <p:ext uri="{BB962C8B-B14F-4D97-AF65-F5344CB8AC3E}">
        <p14:creationId xmlns:p14="http://schemas.microsoft.com/office/powerpoint/2010/main" val="284832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Acceptance Problem for TM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3200" dirty="0" smtClean="0"/>
          </a:p>
          <a:p>
            <a:pPr algn="ctr"/>
            <a:r>
              <a:rPr lang="en-US" sz="3200" dirty="0" smtClean="0"/>
              <a:t>A</a:t>
            </a:r>
            <a:r>
              <a:rPr lang="en-US" sz="3200" baseline="-25000" dirty="0" smtClean="0"/>
              <a:t>TM</a:t>
            </a:r>
            <a:r>
              <a:rPr lang="en-US" sz="3200" dirty="0" smtClean="0"/>
              <a:t>  </a:t>
            </a:r>
            <a:r>
              <a:rPr lang="en-US" sz="3200" dirty="0"/>
              <a:t>=  </a:t>
            </a:r>
            <a:r>
              <a:rPr lang="en-US" sz="3200" dirty="0" smtClean="0"/>
              <a:t>{&lt;M</a:t>
            </a:r>
            <a:r>
              <a:rPr lang="en-US" sz="3200" dirty="0"/>
              <a:t>, </a:t>
            </a:r>
            <a:r>
              <a:rPr lang="en-US" sz="3200" dirty="0" smtClean="0"/>
              <a:t>w&gt;  </a:t>
            </a:r>
            <a:r>
              <a:rPr lang="en-US" sz="3200" dirty="0"/>
              <a:t>|  </a:t>
            </a:r>
            <a:r>
              <a:rPr lang="en-US" sz="3200" dirty="0" smtClean="0"/>
              <a:t>M    is   </a:t>
            </a:r>
            <a:r>
              <a:rPr lang="en-US" sz="3200" dirty="0"/>
              <a:t>a   TM   and   M    accepts   w</a:t>
            </a:r>
            <a:r>
              <a:rPr lang="en-US" sz="3200" dirty="0" smtClean="0"/>
              <a:t>}</a:t>
            </a:r>
            <a:endParaRPr lang="en-US" sz="3200" dirty="0"/>
          </a:p>
          <a:p>
            <a:pPr algn="ctr"/>
            <a:endParaRPr lang="en-US" sz="3200" dirty="0" smtClean="0"/>
          </a:p>
          <a:p>
            <a:pPr algn="ctr"/>
            <a:r>
              <a:rPr lang="en-US" sz="3200" dirty="0" smtClean="0"/>
              <a:t>Undecidable ????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237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Proof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 </a:t>
            </a:r>
            <a:r>
              <a:rPr lang="en-US" sz="2400" dirty="0" smtClean="0"/>
              <a:t>U=   </a:t>
            </a:r>
            <a:r>
              <a:rPr lang="en-US" sz="2400" dirty="0"/>
              <a:t>“On   input   </a:t>
            </a:r>
            <a:r>
              <a:rPr lang="en-US" sz="2400" dirty="0" smtClean="0"/>
              <a:t>&lt;M</a:t>
            </a:r>
            <a:r>
              <a:rPr lang="en-US" sz="2400" dirty="0"/>
              <a:t>, </a:t>
            </a:r>
            <a:r>
              <a:rPr lang="en-US" sz="2400" dirty="0" smtClean="0"/>
              <a:t>w&gt;,   </a:t>
            </a:r>
            <a:r>
              <a:rPr lang="en-US" sz="2400" dirty="0"/>
              <a:t>where   M    is   a   TM   and   w   is   a   string:</a:t>
            </a:r>
          </a:p>
          <a:p>
            <a:r>
              <a:rPr lang="en-US" sz="2400" dirty="0"/>
              <a:t>1.    Simulate   M    on   input   w.</a:t>
            </a:r>
          </a:p>
          <a:p>
            <a:r>
              <a:rPr lang="en-US" sz="2400" dirty="0"/>
              <a:t>2.    If  M   ever  enters  its  accept  state,   accept ;   if  M   ever  enters  its </a:t>
            </a:r>
          </a:p>
          <a:p>
            <a:r>
              <a:rPr lang="en-US" sz="2400" dirty="0"/>
              <a:t>reject   state,   reject.”</a:t>
            </a:r>
          </a:p>
          <a:p>
            <a:r>
              <a:rPr lang="en-US" sz="2400" dirty="0"/>
              <a:t>Note: The Turing machine U is an example of the universal </a:t>
            </a:r>
            <a:r>
              <a:rPr lang="en-US" sz="2400" dirty="0" smtClean="0"/>
              <a:t>Turing </a:t>
            </a:r>
            <a:r>
              <a:rPr lang="en-US" sz="2400" dirty="0"/>
              <a:t>machine, as it is capable of simulating any other Turing </a:t>
            </a:r>
            <a:r>
              <a:rPr lang="en-US" sz="2400" dirty="0" smtClean="0"/>
              <a:t>machine </a:t>
            </a:r>
            <a:r>
              <a:rPr lang="en-US" sz="2400" dirty="0"/>
              <a:t>from the description of that machine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However</a:t>
            </a:r>
            <a:r>
              <a:rPr lang="en-US" sz="2400" dirty="0"/>
              <a:t>,   ATM    is   Turing-recognizable.</a:t>
            </a:r>
          </a:p>
        </p:txBody>
      </p:sp>
    </p:spTree>
    <p:extLst>
      <p:ext uri="{BB962C8B-B14F-4D97-AF65-F5344CB8AC3E}">
        <p14:creationId xmlns:p14="http://schemas.microsoft.com/office/powerpoint/2010/main" val="3895446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Diagonalization</a:t>
            </a:r>
            <a:r>
              <a:rPr lang="en-US" dirty="0" smtClean="0"/>
              <a:t>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George Cantor 1873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Concerned with the problem of measuring infinite sets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If two infinite sets which one is larger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Pairing of finite sets can be extended to infinite sets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17664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Preliminaries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 smtClean="0"/>
              <a:t>1. Given </a:t>
            </a:r>
            <a:r>
              <a:rPr lang="en-US" sz="2800" dirty="0"/>
              <a:t>two sets A and B, a function f : A →  </a:t>
            </a:r>
            <a:r>
              <a:rPr lang="en-US" sz="2800" dirty="0" smtClean="0"/>
              <a:t>B  is </a:t>
            </a:r>
            <a:r>
              <a:rPr lang="en-US" sz="2800" dirty="0"/>
              <a:t>called </a:t>
            </a:r>
            <a:r>
              <a:rPr lang="en-US" sz="2800" b="1" dirty="0"/>
              <a:t>one-to-one</a:t>
            </a:r>
            <a:r>
              <a:rPr lang="en-US" sz="2800" dirty="0"/>
              <a:t>, </a:t>
            </a:r>
            <a:r>
              <a:rPr lang="en-US" sz="2800" dirty="0" smtClean="0"/>
              <a:t>if                </a:t>
            </a:r>
            <a:r>
              <a:rPr lang="en-US" sz="2800" b="1" dirty="0" smtClean="0"/>
              <a:t>∀</a:t>
            </a:r>
            <a:r>
              <a:rPr lang="en-US" sz="2800" b="1" dirty="0"/>
              <a:t>x, y ∈  A, x </a:t>
            </a:r>
            <a:r>
              <a:rPr lang="en-US" sz="2800" b="1" dirty="0" smtClean="0"/>
              <a:t>&lt;&gt;y</a:t>
            </a:r>
            <a:r>
              <a:rPr lang="en-US" sz="2800" b="1" dirty="0"/>
              <a:t>, f(x) </a:t>
            </a:r>
            <a:r>
              <a:rPr lang="en-US" sz="2800" b="1" dirty="0" smtClean="0"/>
              <a:t>&lt;&gt; f(y)</a:t>
            </a:r>
          </a:p>
          <a:p>
            <a:endParaRPr lang="en-US" sz="2800" b="1" dirty="0"/>
          </a:p>
          <a:p>
            <a:r>
              <a:rPr lang="en-US" sz="2800" dirty="0" smtClean="0"/>
              <a:t>2</a:t>
            </a:r>
            <a:r>
              <a:rPr lang="en-US" sz="2800" dirty="0"/>
              <a:t>. Given two sets A and B, a function f : A →  B </a:t>
            </a:r>
            <a:r>
              <a:rPr lang="en-US" sz="2800" dirty="0" smtClean="0"/>
              <a:t>is </a:t>
            </a:r>
            <a:r>
              <a:rPr lang="en-US" sz="2800" dirty="0"/>
              <a:t>called </a:t>
            </a:r>
            <a:r>
              <a:rPr lang="en-US" sz="2800" b="1" dirty="0"/>
              <a:t>onto</a:t>
            </a:r>
            <a:r>
              <a:rPr lang="en-US" sz="2800" dirty="0"/>
              <a:t>, </a:t>
            </a:r>
            <a:endParaRPr lang="en-US" sz="2800" dirty="0" smtClean="0"/>
          </a:p>
          <a:p>
            <a:r>
              <a:rPr lang="en-US" sz="2800" dirty="0" smtClean="0"/>
              <a:t>If                </a:t>
            </a:r>
            <a:r>
              <a:rPr lang="en-US" sz="2800" b="1" dirty="0" smtClean="0"/>
              <a:t>∀</a:t>
            </a:r>
            <a:r>
              <a:rPr lang="en-US" sz="2800" b="1" dirty="0"/>
              <a:t>y ∈  B, ∃x ∈  A, f(x) = </a:t>
            </a:r>
            <a:r>
              <a:rPr lang="en-US" sz="2800" b="1" dirty="0" smtClean="0"/>
              <a:t>y</a:t>
            </a:r>
          </a:p>
          <a:p>
            <a:endParaRPr lang="en-US" sz="2800" dirty="0" smtClean="0"/>
          </a:p>
          <a:p>
            <a:r>
              <a:rPr lang="en-US" sz="2800" dirty="0" smtClean="0"/>
              <a:t>3.</a:t>
            </a:r>
            <a:r>
              <a:rPr lang="en-US" sz="2800" b="1" dirty="0" smtClean="0"/>
              <a:t> </a:t>
            </a:r>
            <a:r>
              <a:rPr lang="en-US" sz="2800" dirty="0"/>
              <a:t>Two sets A and B are called of the same size, or of the same cardinality, if there exists a one-to-one, onto </a:t>
            </a:r>
            <a:r>
              <a:rPr lang="en-US" sz="2800" dirty="0" smtClean="0"/>
              <a:t>function </a:t>
            </a:r>
            <a:r>
              <a:rPr lang="en-US" sz="2800" dirty="0"/>
              <a:t>f : A → B.</a:t>
            </a:r>
          </a:p>
          <a:p>
            <a:endParaRPr lang="en-US" sz="2800" b="1" dirty="0" smtClean="0"/>
          </a:p>
          <a:p>
            <a:endParaRPr lang="en-US" sz="2800" b="1" dirty="0" smtClean="0"/>
          </a:p>
          <a:p>
            <a:pPr marL="0" indent="0" algn="ctr">
              <a:buNone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1552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Preliminaries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3974" y="1846263"/>
            <a:ext cx="6164378" cy="4022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10800000" flipH="1" flipV="1">
            <a:off x="9148427" y="2494345"/>
            <a:ext cx="1566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Injective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 rot="10800000" flipH="1" flipV="1">
            <a:off x="9148427" y="3700990"/>
            <a:ext cx="1566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</a:t>
            </a:r>
            <a:r>
              <a:rPr lang="en-US" b="1" dirty="0" err="1" smtClean="0"/>
              <a:t>urjective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 rot="10800000" flipH="1" flipV="1">
            <a:off x="9208352" y="5194615"/>
            <a:ext cx="1566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Bijective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94710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9859" y="1828800"/>
            <a:ext cx="8496345" cy="420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18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4.13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653" y="1968254"/>
            <a:ext cx="799147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301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Countable vs. Uncountable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  set   A   is   </a:t>
            </a:r>
            <a:r>
              <a:rPr lang="en-US" sz="3200" b="1" dirty="0"/>
              <a:t>countable</a:t>
            </a:r>
            <a:r>
              <a:rPr lang="en-US" sz="3200" dirty="0"/>
              <a:t>   if   either   it   is   ﬁnite   or   it   has   the   same   size </a:t>
            </a:r>
            <a:r>
              <a:rPr lang="en-US" sz="3200" dirty="0" smtClean="0"/>
              <a:t>as   </a:t>
            </a:r>
            <a:r>
              <a:rPr lang="en-US" sz="3200" dirty="0"/>
              <a:t>N   =  {1, 2, 3, · · </a:t>
            </a:r>
            <a:r>
              <a:rPr lang="en-US" sz="3200" dirty="0" smtClean="0"/>
              <a:t>·}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It   </a:t>
            </a:r>
            <a:r>
              <a:rPr lang="en-US" sz="3200" dirty="0"/>
              <a:t>is   </a:t>
            </a:r>
            <a:r>
              <a:rPr lang="en-US" sz="3200" b="1" dirty="0"/>
              <a:t>uncountable</a:t>
            </a:r>
            <a:r>
              <a:rPr lang="en-US" sz="3200" dirty="0"/>
              <a:t>,   otherwise</a:t>
            </a:r>
            <a:r>
              <a:rPr lang="en-US" sz="3200" dirty="0" smtClean="0"/>
              <a:t>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endParaRPr lang="en-US" sz="32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Let </a:t>
            </a:r>
            <a:r>
              <a:rPr lang="en-US" sz="3200" dirty="0"/>
              <a:t>Q  be the set of positive rational numbers. </a:t>
            </a:r>
            <a:r>
              <a:rPr lang="en-US" sz="3200" b="1" dirty="0"/>
              <a:t>Then </a:t>
            </a:r>
            <a:r>
              <a:rPr lang="en-US" sz="3200" b="1" dirty="0" smtClean="0"/>
              <a:t>Q  </a:t>
            </a:r>
            <a:r>
              <a:rPr lang="en-US" sz="3200" b="1" dirty="0"/>
              <a:t>is countable.</a:t>
            </a:r>
          </a:p>
        </p:txBody>
      </p:sp>
    </p:spTree>
    <p:extLst>
      <p:ext uri="{BB962C8B-B14F-4D97-AF65-F5344CB8AC3E}">
        <p14:creationId xmlns:p14="http://schemas.microsoft.com/office/powerpoint/2010/main" val="2274446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Proof Q is countable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483" y="1827512"/>
            <a:ext cx="64484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53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Uncountable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  real   number   is   one   that   has   a   (possibly   inﬁnite)   decimal   </a:t>
            </a:r>
            <a:r>
              <a:rPr lang="en-US" dirty="0" smtClean="0"/>
              <a:t>representation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Let   R   be   the   set   of   real   numbers</a:t>
            </a:r>
            <a:r>
              <a:rPr lang="en-US" dirty="0" smtClean="0"/>
              <a:t>. R is uncountable.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Assume   that   a   correspondence   f    existed   between   N    and   R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We can ﬁnd an x, 0 &lt; x &lt; 1, so that the </a:t>
            </a:r>
            <a:endParaRPr lang="en-US" dirty="0" smtClean="0"/>
          </a:p>
          <a:p>
            <a:r>
              <a:rPr lang="en-US" dirty="0" err="1" smtClean="0"/>
              <a:t>i-th</a:t>
            </a:r>
            <a:r>
              <a:rPr lang="en-US" dirty="0" smtClean="0"/>
              <a:t> digit </a:t>
            </a:r>
            <a:r>
              <a:rPr lang="en-US" dirty="0"/>
              <a:t>following the </a:t>
            </a:r>
            <a:r>
              <a:rPr lang="en-US" dirty="0" smtClean="0"/>
              <a:t> decimal point of x is diﬀerent </a:t>
            </a:r>
          </a:p>
          <a:p>
            <a:r>
              <a:rPr lang="en-US" dirty="0" smtClean="0"/>
              <a:t>from that of f (</a:t>
            </a:r>
            <a:r>
              <a:rPr lang="en-US" dirty="0" err="1" smtClean="0"/>
              <a:t>i</a:t>
            </a:r>
            <a:r>
              <a:rPr lang="en-US" dirty="0" smtClean="0"/>
              <a:t>); for example, x </a:t>
            </a:r>
            <a:r>
              <a:rPr lang="en-US" dirty="0"/>
              <a:t>= 0.4641 · · </a:t>
            </a:r>
            <a:r>
              <a:rPr lang="en-US" dirty="0" smtClean="0"/>
              <a:t>·</a:t>
            </a:r>
          </a:p>
          <a:p>
            <a:r>
              <a:rPr lang="en-US" dirty="0" smtClean="0"/>
              <a:t> </a:t>
            </a:r>
            <a:r>
              <a:rPr lang="en-US" dirty="0"/>
              <a:t>is a possible choice.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307" y="3052294"/>
            <a:ext cx="4269373" cy="200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60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Existence of Turing-unrecognizable 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sz="28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The </a:t>
            </a:r>
            <a:r>
              <a:rPr lang="en-US" sz="2800" dirty="0"/>
              <a:t>main claim of this section is that there are languages </a:t>
            </a:r>
            <a:r>
              <a:rPr lang="en-US" sz="2800" dirty="0" smtClean="0"/>
              <a:t>that are </a:t>
            </a:r>
            <a:r>
              <a:rPr lang="en-US" sz="2800" dirty="0"/>
              <a:t>not accepted by any Turing machine. 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The </a:t>
            </a:r>
            <a:r>
              <a:rPr lang="en-US" sz="2800" dirty="0"/>
              <a:t>method </a:t>
            </a:r>
            <a:r>
              <a:rPr lang="en-US" sz="2800" dirty="0" smtClean="0"/>
              <a:t>by Cantor is </a:t>
            </a:r>
            <a:r>
              <a:rPr lang="en-US" sz="2800" dirty="0"/>
              <a:t>used for counting, or </a:t>
            </a:r>
            <a:r>
              <a:rPr lang="en-US" sz="2800" dirty="0" smtClean="0"/>
              <a:t>measuring inﬁnite </a:t>
            </a:r>
            <a:r>
              <a:rPr lang="en-US" sz="2800" dirty="0"/>
              <a:t>sets. 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It </a:t>
            </a:r>
            <a:r>
              <a:rPr lang="en-US" sz="2800" dirty="0"/>
              <a:t>turns out there are diﬀerent kinds of inﬁnite </a:t>
            </a:r>
            <a:r>
              <a:rPr lang="en-US" sz="2800" dirty="0" smtClean="0"/>
              <a:t>sets although </a:t>
            </a:r>
            <a:r>
              <a:rPr lang="en-US" sz="2800" dirty="0"/>
              <a:t>there are inﬁnite number of TMs and an inﬁnite </a:t>
            </a:r>
            <a:r>
              <a:rPr lang="en-US" sz="2800" dirty="0" smtClean="0"/>
              <a:t>number of </a:t>
            </a:r>
            <a:r>
              <a:rPr lang="en-US" sz="2800" dirty="0"/>
              <a:t>languages, still there are more languages than Turing machines.</a:t>
            </a:r>
          </a:p>
        </p:txBody>
      </p:sp>
    </p:spTree>
    <p:extLst>
      <p:ext uri="{BB962C8B-B14F-4D97-AF65-F5344CB8AC3E}">
        <p14:creationId xmlns:p14="http://schemas.microsoft.com/office/powerpoint/2010/main" val="101998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Cantor’s set Theory to Turing Computation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b="1" dirty="0" smtClean="0"/>
              <a:t>Corollary 4.18: Some Languages are not Turing-recognizable</a:t>
            </a:r>
          </a:p>
          <a:p>
            <a:r>
              <a:rPr lang="en-US" sz="2400" b="1" dirty="0" smtClean="0"/>
              <a:t>Proof:</a:t>
            </a:r>
          </a:p>
          <a:p>
            <a:r>
              <a:rPr lang="en-US" sz="2400" dirty="0"/>
              <a:t> Since every Turing machine can be encoded as a ﬁnite </a:t>
            </a:r>
            <a:r>
              <a:rPr lang="en-US" sz="2400" dirty="0" smtClean="0"/>
              <a:t>string over </a:t>
            </a:r>
            <a:r>
              <a:rPr lang="en-US" sz="2400" dirty="0"/>
              <a:t>a ﬁnite alphabet</a:t>
            </a:r>
          </a:p>
          <a:p>
            <a:r>
              <a:rPr lang="en-US" sz="2400" dirty="0" smtClean="0"/>
              <a:t>                   Q </a:t>
            </a:r>
            <a:r>
              <a:rPr lang="en-US" sz="2400" dirty="0"/>
              <a:t>∪ Σ ∪ Γ ∪ {R, L</a:t>
            </a:r>
            <a:r>
              <a:rPr lang="en-US" sz="2400" dirty="0" smtClean="0"/>
              <a:t>},  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set of all Turing machines is countable.</a:t>
            </a:r>
          </a:p>
          <a:p>
            <a:r>
              <a:rPr lang="en-US" sz="2400" dirty="0"/>
              <a:t>On the other hand, every language over Σ is uniquely described </a:t>
            </a:r>
            <a:r>
              <a:rPr lang="en-US" sz="2400" dirty="0" smtClean="0"/>
              <a:t>as an </a:t>
            </a:r>
            <a:r>
              <a:rPr lang="en-US" sz="2400" dirty="0"/>
              <a:t>inﬁnite 0,1-sequence. Indeed, let the countable set of all ﬁnite </a:t>
            </a:r>
            <a:r>
              <a:rPr lang="en-US" sz="2400" dirty="0" smtClean="0"/>
              <a:t>strings </a:t>
            </a:r>
            <a:r>
              <a:rPr lang="en-US" sz="2400" dirty="0"/>
              <a:t>over Σ </a:t>
            </a:r>
            <a:r>
              <a:rPr lang="en-US" sz="2400" dirty="0" smtClean="0"/>
              <a:t>be w1</a:t>
            </a:r>
            <a:r>
              <a:rPr lang="en-US" sz="2400" dirty="0"/>
              <a:t>, w2, w3, . . </a:t>
            </a:r>
            <a:r>
              <a:rPr lang="en-US" sz="2400" dirty="0" smtClean="0"/>
              <a:t>..</a:t>
            </a:r>
          </a:p>
          <a:p>
            <a:r>
              <a:rPr lang="en-US" sz="2400" dirty="0"/>
              <a:t>Then, a language L ⊆  Σ∗   is given by a </a:t>
            </a:r>
            <a:r>
              <a:rPr lang="en-US" sz="2400" dirty="0" smtClean="0"/>
              <a:t>sequence  (</a:t>
            </a:r>
            <a:r>
              <a:rPr lang="en-US" sz="2400" dirty="0"/>
              <a:t>δ1, δ2, . . .), where </a:t>
            </a:r>
            <a:r>
              <a:rPr lang="en-US" sz="2400" dirty="0" err="1"/>
              <a:t>δi</a:t>
            </a:r>
            <a:r>
              <a:rPr lang="en-US" sz="2400" dirty="0"/>
              <a:t> = 1 </a:t>
            </a:r>
            <a:r>
              <a:rPr lang="en-US" sz="2400" dirty="0" smtClean="0"/>
              <a:t>if </a:t>
            </a:r>
            <a:r>
              <a:rPr lang="en-US" sz="2400" dirty="0" err="1"/>
              <a:t>wi</a:t>
            </a:r>
            <a:r>
              <a:rPr lang="en-US" sz="2400" dirty="0"/>
              <a:t> ∈  </a:t>
            </a:r>
            <a:r>
              <a:rPr lang="en-US" sz="2400" dirty="0" smtClean="0"/>
              <a:t>L. </a:t>
            </a:r>
            <a:endParaRPr lang="en-US" sz="2400" dirty="0"/>
          </a:p>
          <a:p>
            <a:r>
              <a:rPr lang="en-US" sz="2400" dirty="0"/>
              <a:t>Since the set of 0,1-sequences is uncountable and the set of </a:t>
            </a:r>
            <a:r>
              <a:rPr lang="en-US" sz="2400" dirty="0" smtClean="0"/>
              <a:t>Turing machines </a:t>
            </a:r>
            <a:r>
              <a:rPr lang="en-US" sz="2400" dirty="0"/>
              <a:t>is countable, we obtain the result.</a:t>
            </a:r>
          </a:p>
        </p:txBody>
      </p:sp>
    </p:spTree>
    <p:extLst>
      <p:ext uri="{BB962C8B-B14F-4D97-AF65-F5344CB8AC3E}">
        <p14:creationId xmlns:p14="http://schemas.microsoft.com/office/powerpoint/2010/main" val="287458520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7246</TotalTime>
  <Words>704</Words>
  <Application>Microsoft Office PowerPoint</Application>
  <PresentationFormat>Widescreen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Calibri Light</vt:lpstr>
      <vt:lpstr>Wingdings</vt:lpstr>
      <vt:lpstr>Retrospect</vt:lpstr>
      <vt:lpstr>Part II Computability Theory </vt:lpstr>
      <vt:lpstr>Agenda</vt:lpstr>
      <vt:lpstr>Undecidability</vt:lpstr>
      <vt:lpstr>The Acceptance Problem for TM</vt:lpstr>
      <vt:lpstr>Proof</vt:lpstr>
      <vt:lpstr>Diagonalization Method</vt:lpstr>
      <vt:lpstr>Some Preliminaries</vt:lpstr>
      <vt:lpstr>Some Preliminaries</vt:lpstr>
      <vt:lpstr>PowerPoint Presentation</vt:lpstr>
      <vt:lpstr>Example 4.13</vt:lpstr>
      <vt:lpstr>Countable vs. Uncountable</vt:lpstr>
      <vt:lpstr>Proof Q is countable</vt:lpstr>
      <vt:lpstr>Uncountable sets</vt:lpstr>
      <vt:lpstr>Existence of Turing-unrecognizable Languages</vt:lpstr>
      <vt:lpstr>Application of Cantor’s set Theory to Turing Computation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Turing Machines</dc:title>
  <dc:creator>LALIES</dc:creator>
  <cp:lastModifiedBy>Dell</cp:lastModifiedBy>
  <cp:revision>148</cp:revision>
  <dcterms:created xsi:type="dcterms:W3CDTF">2021-10-26T15:03:57Z</dcterms:created>
  <dcterms:modified xsi:type="dcterms:W3CDTF">2022-11-05T05:16:44Z</dcterms:modified>
</cp:coreProperties>
</file>