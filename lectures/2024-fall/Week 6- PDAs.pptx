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9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4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0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9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1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1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7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8B9D1-CC74-4FD1-AB48-1AA24939DCEA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8D6D4-DA25-4A33-9558-1B5A8FB5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843" y="-32987"/>
            <a:ext cx="4471240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109" dirty="0"/>
              <a:t>Pushdown</a:t>
            </a:r>
            <a:r>
              <a:rPr spc="178" dirty="0"/>
              <a:t> </a:t>
            </a:r>
            <a:r>
              <a:rPr spc="159" dirty="0"/>
              <a:t>Automata</a:t>
            </a:r>
            <a:r>
              <a:rPr spc="188" dirty="0"/>
              <a:t> </a:t>
            </a:r>
            <a:r>
              <a:rPr spc="149" dirty="0"/>
              <a:t>(PDA)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8" rIns="0" bIns="0" rtlCol="0">
            <a:spAutoFit/>
          </a:bodyPr>
          <a:lstStyle/>
          <a:p>
            <a:pPr marL="570305" marR="581635" indent="-263121">
              <a:lnSpc>
                <a:spcPct val="102600"/>
              </a:lnSpc>
              <a:spcBef>
                <a:spcPts val="109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b="1" spc="-89" dirty="0">
                <a:latin typeface="Georgia"/>
                <a:cs typeface="Georgia"/>
              </a:rPr>
              <a:t>Pushdown</a:t>
            </a:r>
            <a:r>
              <a:rPr sz="2200" b="1" spc="278" dirty="0">
                <a:latin typeface="Georgia"/>
                <a:cs typeface="Georgia"/>
              </a:rPr>
              <a:t> </a:t>
            </a:r>
            <a:r>
              <a:rPr sz="2200" b="1" spc="-59" dirty="0">
                <a:latin typeface="Georgia"/>
                <a:cs typeface="Georgia"/>
              </a:rPr>
              <a:t>automata</a:t>
            </a:r>
            <a:r>
              <a:rPr sz="2200" b="1" spc="226" dirty="0">
                <a:latin typeface="Georgia"/>
                <a:cs typeface="Georgia"/>
              </a:rPr>
              <a:t> </a:t>
            </a:r>
            <a:r>
              <a:rPr sz="2200" spc="-59" dirty="0"/>
              <a:t>are</a:t>
            </a:r>
            <a:r>
              <a:rPr sz="2200" spc="208" dirty="0"/>
              <a:t> </a:t>
            </a:r>
            <a:r>
              <a:rPr sz="2200" spc="-69" dirty="0"/>
              <a:t>like</a:t>
            </a:r>
            <a:r>
              <a:rPr sz="2200" spc="198" dirty="0"/>
              <a:t> </a:t>
            </a:r>
            <a:r>
              <a:rPr sz="2200" spc="-69" dirty="0"/>
              <a:t>nondeterministic</a:t>
            </a:r>
            <a:r>
              <a:rPr sz="2200" spc="208" dirty="0"/>
              <a:t> </a:t>
            </a:r>
            <a:r>
              <a:rPr sz="2200" spc="-59" dirty="0"/>
              <a:t>finite </a:t>
            </a:r>
            <a:r>
              <a:rPr sz="2200" spc="-496" dirty="0"/>
              <a:t> </a:t>
            </a:r>
            <a:r>
              <a:rPr sz="2200" spc="-20" dirty="0"/>
              <a:t>automata</a:t>
            </a:r>
            <a:r>
              <a:rPr sz="2200" spc="178" dirty="0"/>
              <a:t> </a:t>
            </a:r>
            <a:r>
              <a:rPr sz="2200" spc="-20" dirty="0"/>
              <a:t>with</a:t>
            </a:r>
            <a:r>
              <a:rPr sz="2200" spc="188" dirty="0"/>
              <a:t> </a:t>
            </a:r>
            <a:r>
              <a:rPr sz="2200" spc="-59" dirty="0"/>
              <a:t>an</a:t>
            </a:r>
            <a:r>
              <a:rPr sz="2200" spc="188" dirty="0"/>
              <a:t> </a:t>
            </a:r>
            <a:r>
              <a:rPr sz="2200" spc="-10" dirty="0"/>
              <a:t>extra</a:t>
            </a:r>
            <a:r>
              <a:rPr sz="2200" spc="188" dirty="0"/>
              <a:t> </a:t>
            </a:r>
            <a:r>
              <a:rPr sz="2200" spc="-69" dirty="0"/>
              <a:t>component</a:t>
            </a:r>
            <a:r>
              <a:rPr sz="2200" spc="178" dirty="0"/>
              <a:t> </a:t>
            </a:r>
            <a:r>
              <a:rPr sz="2200" b="1" spc="-79" dirty="0">
                <a:latin typeface="Georgia"/>
                <a:cs typeface="Georgia"/>
              </a:rPr>
              <a:t>stack</a:t>
            </a:r>
            <a:endParaRPr sz="2200">
              <a:latin typeface="Georgia"/>
              <a:cs typeface="Georgia"/>
            </a:endParaRPr>
          </a:p>
          <a:p>
            <a:pPr marL="570305" indent="-263121">
              <a:spcBef>
                <a:spcPts val="66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spc="-20" dirty="0"/>
              <a:t>Computational</a:t>
            </a:r>
            <a:r>
              <a:rPr sz="2200" spc="178" dirty="0"/>
              <a:t> </a:t>
            </a:r>
            <a:r>
              <a:rPr sz="2200" spc="-79" dirty="0"/>
              <a:t>power</a:t>
            </a:r>
            <a:r>
              <a:rPr sz="2200" spc="178" dirty="0"/>
              <a:t> </a:t>
            </a:r>
            <a:r>
              <a:rPr sz="2200" spc="-79" dirty="0"/>
              <a:t>of</a:t>
            </a:r>
            <a:r>
              <a:rPr sz="2200" spc="178" dirty="0"/>
              <a:t> </a:t>
            </a:r>
            <a:r>
              <a:rPr sz="2200" spc="79" dirty="0"/>
              <a:t>PDA</a:t>
            </a:r>
            <a:r>
              <a:rPr sz="2200" spc="188" dirty="0"/>
              <a:t> </a:t>
            </a:r>
            <a:r>
              <a:rPr sz="2200" spc="-69" dirty="0"/>
              <a:t>is</a:t>
            </a:r>
            <a:r>
              <a:rPr sz="2200" spc="178" dirty="0"/>
              <a:t> </a:t>
            </a:r>
            <a:r>
              <a:rPr sz="2200" spc="-59" dirty="0"/>
              <a:t>equivalent</a:t>
            </a:r>
            <a:r>
              <a:rPr sz="2200" spc="178" dirty="0"/>
              <a:t> </a:t>
            </a:r>
            <a:r>
              <a:rPr sz="2200" spc="-10" dirty="0"/>
              <a:t>to</a:t>
            </a:r>
            <a:r>
              <a:rPr sz="2200" spc="178" dirty="0"/>
              <a:t> </a:t>
            </a:r>
            <a:r>
              <a:rPr sz="2200" spc="99" dirty="0"/>
              <a:t>CFG</a:t>
            </a:r>
            <a:endParaRPr sz="2200"/>
          </a:p>
          <a:p>
            <a:pPr marL="570305" marR="171217" indent="-263121">
              <a:lnSpc>
                <a:spcPct val="102600"/>
              </a:lnSpc>
              <a:spcBef>
                <a:spcPts val="59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spc="-99" dirty="0"/>
              <a:t>We</a:t>
            </a:r>
            <a:r>
              <a:rPr sz="2200" spc="198" dirty="0"/>
              <a:t> </a:t>
            </a:r>
            <a:r>
              <a:rPr sz="2200" spc="-50" dirty="0"/>
              <a:t>can</a:t>
            </a:r>
            <a:r>
              <a:rPr sz="2200" spc="198" dirty="0"/>
              <a:t> </a:t>
            </a:r>
            <a:r>
              <a:rPr sz="2200" spc="-59" dirty="0"/>
              <a:t>similar</a:t>
            </a:r>
            <a:r>
              <a:rPr sz="2200" spc="198" dirty="0"/>
              <a:t> </a:t>
            </a:r>
            <a:r>
              <a:rPr sz="2200" spc="-50" dirty="0"/>
              <a:t>result</a:t>
            </a:r>
            <a:r>
              <a:rPr sz="2200" spc="198" dirty="0"/>
              <a:t> </a:t>
            </a:r>
            <a:r>
              <a:rPr sz="2200" spc="-69" dirty="0"/>
              <a:t>like</a:t>
            </a:r>
            <a:r>
              <a:rPr sz="2200" spc="208" dirty="0"/>
              <a:t> </a:t>
            </a:r>
            <a:r>
              <a:rPr sz="2200" spc="-20" dirty="0"/>
              <a:t>a</a:t>
            </a:r>
            <a:r>
              <a:rPr sz="2200" spc="198" dirty="0"/>
              <a:t> </a:t>
            </a:r>
            <a:r>
              <a:rPr sz="2200" spc="-59" dirty="0"/>
              <a:t>language</a:t>
            </a:r>
            <a:r>
              <a:rPr sz="2200" spc="198" dirty="0"/>
              <a:t> </a:t>
            </a:r>
            <a:r>
              <a:rPr sz="2200" spc="-69" dirty="0"/>
              <a:t>is</a:t>
            </a:r>
            <a:r>
              <a:rPr sz="2200" spc="198" dirty="0"/>
              <a:t> </a:t>
            </a:r>
            <a:r>
              <a:rPr sz="2200" spc="-59" dirty="0"/>
              <a:t>context-free</a:t>
            </a:r>
            <a:r>
              <a:rPr sz="2200" spc="208" dirty="0"/>
              <a:t> </a:t>
            </a:r>
            <a:r>
              <a:rPr sz="2200" spc="-50" dirty="0"/>
              <a:t>if</a:t>
            </a:r>
            <a:r>
              <a:rPr sz="2200" spc="198" dirty="0"/>
              <a:t> </a:t>
            </a:r>
            <a:r>
              <a:rPr sz="2200" spc="-59" dirty="0"/>
              <a:t>and </a:t>
            </a:r>
            <a:r>
              <a:rPr sz="2200" spc="-496" dirty="0"/>
              <a:t> </a:t>
            </a:r>
            <a:r>
              <a:rPr sz="2200" spc="-40" dirty="0"/>
              <a:t>only</a:t>
            </a:r>
            <a:r>
              <a:rPr sz="2200" spc="178" dirty="0"/>
              <a:t> </a:t>
            </a:r>
            <a:r>
              <a:rPr sz="2200" spc="-50" dirty="0"/>
              <a:t>if</a:t>
            </a:r>
            <a:r>
              <a:rPr sz="2200" spc="188" dirty="0"/>
              <a:t> </a:t>
            </a:r>
            <a:r>
              <a:rPr sz="2200" spc="-59" dirty="0"/>
              <a:t>there</a:t>
            </a:r>
            <a:r>
              <a:rPr sz="2200" spc="188" dirty="0"/>
              <a:t> </a:t>
            </a:r>
            <a:r>
              <a:rPr sz="2200" spc="-69" dirty="0"/>
              <a:t>is</a:t>
            </a:r>
            <a:r>
              <a:rPr sz="2200" spc="188" dirty="0"/>
              <a:t> </a:t>
            </a:r>
            <a:r>
              <a:rPr sz="2200" spc="-20" dirty="0"/>
              <a:t>a</a:t>
            </a:r>
            <a:r>
              <a:rPr sz="2200" spc="188" dirty="0"/>
              <a:t> </a:t>
            </a:r>
            <a:r>
              <a:rPr sz="2200" spc="79" dirty="0"/>
              <a:t>PDA</a:t>
            </a:r>
            <a:r>
              <a:rPr sz="2200" spc="188" dirty="0"/>
              <a:t> </a:t>
            </a:r>
            <a:r>
              <a:rPr sz="2200" spc="10" dirty="0"/>
              <a:t>that</a:t>
            </a:r>
            <a:r>
              <a:rPr sz="2200" spc="178" dirty="0"/>
              <a:t> </a:t>
            </a:r>
            <a:r>
              <a:rPr sz="2200" spc="-69" dirty="0"/>
              <a:t>recognizes</a:t>
            </a:r>
            <a:r>
              <a:rPr sz="2200" spc="188" dirty="0"/>
              <a:t> </a:t>
            </a:r>
            <a:r>
              <a:rPr sz="2200" spc="10" dirty="0"/>
              <a:t>it</a:t>
            </a:r>
            <a:endParaRPr sz="2200"/>
          </a:p>
          <a:p>
            <a:pPr marL="570305" indent="-263121">
              <a:spcBef>
                <a:spcPts val="65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spc="79" dirty="0"/>
              <a:t>PDA</a:t>
            </a:r>
            <a:r>
              <a:rPr sz="2200" spc="178" dirty="0"/>
              <a:t> </a:t>
            </a:r>
            <a:r>
              <a:rPr sz="2200" spc="-50" dirty="0"/>
              <a:t>can</a:t>
            </a:r>
            <a:r>
              <a:rPr sz="2200" spc="188" dirty="0"/>
              <a:t> </a:t>
            </a:r>
            <a:r>
              <a:rPr sz="2200" spc="-59" dirty="0"/>
              <a:t>read</a:t>
            </a:r>
            <a:r>
              <a:rPr sz="2200" spc="178" dirty="0"/>
              <a:t> </a:t>
            </a:r>
            <a:r>
              <a:rPr sz="2200" spc="-59" dirty="0"/>
              <a:t>and</a:t>
            </a:r>
            <a:r>
              <a:rPr sz="2200" spc="188" dirty="0"/>
              <a:t> </a:t>
            </a:r>
            <a:r>
              <a:rPr sz="2200" spc="-30" dirty="0"/>
              <a:t>write</a:t>
            </a:r>
            <a:r>
              <a:rPr sz="2200" spc="188" dirty="0"/>
              <a:t> </a:t>
            </a:r>
            <a:r>
              <a:rPr sz="2200" spc="-59" dirty="0"/>
              <a:t>symbols</a:t>
            </a:r>
            <a:r>
              <a:rPr sz="2200" spc="178" dirty="0"/>
              <a:t> </a:t>
            </a:r>
            <a:r>
              <a:rPr sz="2200" spc="-50" dirty="0"/>
              <a:t>from/to</a:t>
            </a:r>
            <a:r>
              <a:rPr sz="2200" spc="188" dirty="0"/>
              <a:t> </a:t>
            </a:r>
            <a:r>
              <a:rPr sz="2200" spc="-40" dirty="0"/>
              <a:t>the</a:t>
            </a:r>
            <a:r>
              <a:rPr sz="2200" spc="178" dirty="0"/>
              <a:t> </a:t>
            </a:r>
            <a:r>
              <a:rPr sz="2200" spc="-30" dirty="0"/>
              <a:t>stack</a:t>
            </a:r>
            <a:endParaRPr sz="2200"/>
          </a:p>
          <a:p>
            <a:pPr marL="570305" indent="-263121">
              <a:spcBef>
                <a:spcPts val="66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spc="-59" dirty="0"/>
              <a:t>Interestingly,</a:t>
            </a:r>
            <a:r>
              <a:rPr sz="2200" spc="178" dirty="0"/>
              <a:t> </a:t>
            </a:r>
            <a:r>
              <a:rPr sz="2200" spc="-69" dirty="0"/>
              <a:t>nondeterministic</a:t>
            </a:r>
            <a:r>
              <a:rPr sz="2200" spc="178" dirty="0"/>
              <a:t> </a:t>
            </a:r>
            <a:r>
              <a:rPr sz="2200" spc="-89" dirty="0"/>
              <a:t>pushdown</a:t>
            </a:r>
            <a:r>
              <a:rPr sz="2200" spc="169" dirty="0"/>
              <a:t> </a:t>
            </a:r>
            <a:r>
              <a:rPr sz="2200" spc="-20" dirty="0"/>
              <a:t>automata</a:t>
            </a:r>
            <a:r>
              <a:rPr sz="2200" spc="178" dirty="0"/>
              <a:t> </a:t>
            </a:r>
            <a:r>
              <a:rPr sz="2200" spc="-59" dirty="0"/>
              <a:t>are</a:t>
            </a:r>
            <a:r>
              <a:rPr sz="2200" spc="198" dirty="0"/>
              <a:t> </a:t>
            </a:r>
            <a:r>
              <a:rPr sz="2200" b="1" spc="-69" dirty="0">
                <a:latin typeface="Georgia"/>
                <a:cs typeface="Georgia"/>
              </a:rPr>
              <a:t>not</a:t>
            </a:r>
            <a:endParaRPr sz="2200">
              <a:latin typeface="Georgia"/>
              <a:cs typeface="Georgia"/>
            </a:endParaRPr>
          </a:p>
          <a:p>
            <a:pPr marL="570305">
              <a:spcBef>
                <a:spcPts val="69"/>
              </a:spcBef>
            </a:pPr>
            <a:r>
              <a:rPr spc="-59" dirty="0"/>
              <a:t>equivalent</a:t>
            </a:r>
            <a:r>
              <a:rPr spc="198" dirty="0"/>
              <a:t> </a:t>
            </a:r>
            <a:r>
              <a:rPr spc="-10" dirty="0"/>
              <a:t>to</a:t>
            </a:r>
            <a:r>
              <a:rPr spc="208" dirty="0"/>
              <a:t> </a:t>
            </a:r>
            <a:r>
              <a:rPr spc="-59" dirty="0"/>
              <a:t>deterministic</a:t>
            </a:r>
            <a:r>
              <a:rPr spc="208" dirty="0"/>
              <a:t> </a:t>
            </a:r>
            <a:r>
              <a:rPr spc="-89" dirty="0"/>
              <a:t>pushdown</a:t>
            </a:r>
            <a:r>
              <a:rPr spc="208" dirty="0"/>
              <a:t> </a:t>
            </a:r>
            <a:r>
              <a:rPr spc="-20" dirty="0"/>
              <a:t>automata</a:t>
            </a:r>
            <a:r>
              <a:rPr spc="208" dirty="0"/>
              <a:t> </a:t>
            </a:r>
            <a:r>
              <a:rPr spc="-69" dirty="0"/>
              <a:t>in</a:t>
            </a:r>
            <a:r>
              <a:rPr spc="208" dirty="0"/>
              <a:t> </a:t>
            </a:r>
            <a:r>
              <a:rPr spc="-89" dirty="0"/>
              <a:t>power</a:t>
            </a:r>
          </a:p>
          <a:p>
            <a:pPr marL="570305" marR="372649" indent="-263121">
              <a:lnSpc>
                <a:spcPct val="102600"/>
              </a:lnSpc>
              <a:spcBef>
                <a:spcPts val="59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571564" algn="l"/>
              </a:tabLst>
            </a:pPr>
            <a:r>
              <a:rPr sz="2200" spc="50" dirty="0"/>
              <a:t>That </a:t>
            </a:r>
            <a:r>
              <a:rPr sz="2200" spc="-69" dirty="0"/>
              <a:t>is</a:t>
            </a:r>
            <a:r>
              <a:rPr sz="2200" spc="-59" dirty="0"/>
              <a:t> </a:t>
            </a:r>
            <a:r>
              <a:rPr sz="2200" spc="50" dirty="0"/>
              <a:t>NPDA </a:t>
            </a:r>
            <a:r>
              <a:rPr sz="2200" spc="-50" dirty="0"/>
              <a:t>can </a:t>
            </a:r>
            <a:r>
              <a:rPr sz="2200" spc="-69" dirty="0"/>
              <a:t>recognize</a:t>
            </a:r>
            <a:r>
              <a:rPr sz="2200" spc="-59" dirty="0"/>
              <a:t> </a:t>
            </a:r>
            <a:r>
              <a:rPr sz="2200" spc="-40" dirty="0"/>
              <a:t>certain </a:t>
            </a:r>
            <a:r>
              <a:rPr sz="2200" spc="-59" dirty="0"/>
              <a:t>languages</a:t>
            </a:r>
            <a:r>
              <a:rPr sz="2200" spc="-50" dirty="0"/>
              <a:t> </a:t>
            </a:r>
            <a:r>
              <a:rPr sz="2200" spc="-69" dirty="0"/>
              <a:t>which</a:t>
            </a:r>
            <a:r>
              <a:rPr sz="2200" spc="-59" dirty="0"/>
              <a:t> </a:t>
            </a:r>
            <a:r>
              <a:rPr sz="2200" spc="-109" dirty="0"/>
              <a:t>no </a:t>
            </a:r>
            <a:r>
              <a:rPr sz="2200" spc="-504" dirty="0"/>
              <a:t> </a:t>
            </a:r>
            <a:r>
              <a:rPr sz="2200" spc="59" dirty="0"/>
              <a:t>DPDA</a:t>
            </a:r>
            <a:r>
              <a:rPr sz="2200" spc="178" dirty="0"/>
              <a:t> </a:t>
            </a:r>
            <a:r>
              <a:rPr sz="2200" spc="-50" dirty="0"/>
              <a:t>can</a:t>
            </a:r>
            <a:r>
              <a:rPr sz="2200" spc="188" dirty="0"/>
              <a:t> </a:t>
            </a:r>
            <a:r>
              <a:rPr sz="2200" spc="-69" dirty="0"/>
              <a:t>recognize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00397387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843" y="-32987"/>
            <a:ext cx="4471240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109" dirty="0"/>
              <a:t>Pushdown</a:t>
            </a:r>
            <a:r>
              <a:rPr spc="178" dirty="0"/>
              <a:t> </a:t>
            </a:r>
            <a:r>
              <a:rPr spc="159" dirty="0"/>
              <a:t>Automata</a:t>
            </a:r>
            <a:r>
              <a:rPr spc="188" dirty="0"/>
              <a:t> </a:t>
            </a:r>
            <a:r>
              <a:rPr spc="149" dirty="0"/>
              <a:t>(PDA)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3275" y="1824303"/>
            <a:ext cx="8014223" cy="3770012"/>
            <a:chOff x="309193" y="920597"/>
            <a:chExt cx="4040504" cy="1902460"/>
          </a:xfrm>
        </p:grpSpPr>
        <p:sp>
          <p:nvSpPr>
            <p:cNvPr id="4" name="object 4"/>
            <p:cNvSpPr/>
            <p:nvPr/>
          </p:nvSpPr>
          <p:spPr>
            <a:xfrm>
              <a:off x="309193" y="920597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94917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272125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708554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964831"/>
              <a:ext cx="50751" cy="17564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1139184"/>
              <a:ext cx="3989704" cy="1633220"/>
            </a:xfrm>
            <a:custGeom>
              <a:avLst/>
              <a:gdLst/>
              <a:ahLst/>
              <a:cxnLst/>
              <a:rect l="l" t="t" r="r" b="b"/>
              <a:pathLst>
                <a:path w="3989704" h="1633220">
                  <a:moveTo>
                    <a:pt x="3989652" y="0"/>
                  </a:moveTo>
                  <a:lnTo>
                    <a:pt x="0" y="0"/>
                  </a:lnTo>
                  <a:lnTo>
                    <a:pt x="0" y="1582069"/>
                  </a:lnTo>
                  <a:lnTo>
                    <a:pt x="4008" y="1601794"/>
                  </a:lnTo>
                  <a:lnTo>
                    <a:pt x="14922" y="1617947"/>
                  </a:lnTo>
                  <a:lnTo>
                    <a:pt x="31075" y="1628861"/>
                  </a:lnTo>
                  <a:lnTo>
                    <a:pt x="50800" y="1632870"/>
                  </a:lnTo>
                  <a:lnTo>
                    <a:pt x="3938852" y="1632870"/>
                  </a:lnTo>
                  <a:lnTo>
                    <a:pt x="3958576" y="1628861"/>
                  </a:lnTo>
                  <a:lnTo>
                    <a:pt x="3974729" y="1617947"/>
                  </a:lnTo>
                  <a:lnTo>
                    <a:pt x="3985644" y="1601794"/>
                  </a:lnTo>
                  <a:lnTo>
                    <a:pt x="3989652" y="158206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1002912"/>
              <a:ext cx="0" cy="1737995"/>
            </a:xfrm>
            <a:custGeom>
              <a:avLst/>
              <a:gdLst/>
              <a:ahLst/>
              <a:cxnLst/>
              <a:rect l="l" t="t" r="r" b="b"/>
              <a:pathLst>
                <a:path h="1737995">
                  <a:moveTo>
                    <a:pt x="0" y="17373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9902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9775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9648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3278" y="1702382"/>
            <a:ext cx="7680454" cy="3796290"/>
          </a:xfrm>
          <a:prstGeom prst="rect">
            <a:avLst/>
          </a:prstGeom>
        </p:spPr>
        <p:txBody>
          <a:bodyPr vert="horz" wrap="square" lIns="0" tIns="101975" rIns="0" bIns="0" rtlCol="0">
            <a:spAutoFit/>
          </a:bodyPr>
          <a:lstStyle/>
          <a:p>
            <a:pPr marL="100716">
              <a:spcBef>
                <a:spcPts val="803"/>
              </a:spcBef>
            </a:pPr>
            <a:r>
              <a:rPr sz="2400" spc="59" dirty="0">
                <a:latin typeface="Times New Roman"/>
                <a:cs typeface="Times New Roman"/>
              </a:rPr>
              <a:t>Pushdown</a:t>
            </a:r>
            <a:r>
              <a:rPr sz="2400" spc="99" dirty="0">
                <a:latin typeface="Times New Roman"/>
                <a:cs typeface="Times New Roman"/>
              </a:rPr>
              <a:t> Automata</a:t>
            </a:r>
            <a:endParaRPr sz="2400">
              <a:latin typeface="Times New Roman"/>
              <a:cs typeface="Times New Roman"/>
            </a:endParaRPr>
          </a:p>
          <a:p>
            <a:pPr marL="100716">
              <a:spcBef>
                <a:spcPts val="545"/>
              </a:spcBef>
            </a:pPr>
            <a:r>
              <a:rPr sz="2200" spc="159" dirty="0">
                <a:latin typeface="Georgia"/>
                <a:cs typeface="Georgia"/>
              </a:rPr>
              <a:t>A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b="1" spc="-109" dirty="0">
                <a:latin typeface="Georgia"/>
                <a:cs typeface="Georgia"/>
              </a:rPr>
              <a:t>pushd</a:t>
            </a:r>
            <a:r>
              <a:rPr sz="2200" b="1" spc="-169" dirty="0">
                <a:latin typeface="Georgia"/>
                <a:cs typeface="Georgia"/>
              </a:rPr>
              <a:t>o</a:t>
            </a:r>
            <a:r>
              <a:rPr sz="2200" b="1" spc="-129" dirty="0">
                <a:latin typeface="Georgia"/>
                <a:cs typeface="Georgia"/>
              </a:rPr>
              <a:t>w</a:t>
            </a:r>
            <a:r>
              <a:rPr sz="2200" b="1" spc="-99" dirty="0">
                <a:latin typeface="Georgia"/>
                <a:cs typeface="Georgia"/>
              </a:rPr>
              <a:t>n</a:t>
            </a:r>
            <a:r>
              <a:rPr sz="2200" b="1" spc="268" dirty="0">
                <a:latin typeface="Georgia"/>
                <a:cs typeface="Georgia"/>
              </a:rPr>
              <a:t> </a:t>
            </a:r>
            <a:r>
              <a:rPr sz="2200" b="1" spc="-59" dirty="0">
                <a:latin typeface="Georgia"/>
                <a:cs typeface="Georgia"/>
              </a:rPr>
              <a:t>automata</a:t>
            </a:r>
            <a:r>
              <a:rPr sz="2200" b="1" spc="208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i</a:t>
            </a:r>
            <a:r>
              <a:rPr sz="2200" spc="-79" dirty="0">
                <a:latin typeface="Georgia"/>
                <a:cs typeface="Georgia"/>
              </a:rPr>
              <a:t>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a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159" dirty="0">
                <a:latin typeface="Georgia"/>
                <a:cs typeface="Georgia"/>
              </a:rPr>
              <a:t>6</a:t>
            </a:r>
            <a:r>
              <a:rPr sz="2200" spc="-40" dirty="0">
                <a:latin typeface="Georgia"/>
                <a:cs typeface="Georgia"/>
              </a:rPr>
              <a:t>-tuple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10" dirty="0">
                <a:latin typeface="Georgia"/>
                <a:cs typeface="Georgia"/>
              </a:rPr>
              <a:t>(</a:t>
            </a:r>
            <a:r>
              <a:rPr sz="2200" i="1" spc="218" dirty="0">
                <a:latin typeface="Calibri"/>
                <a:cs typeface="Calibri"/>
              </a:rPr>
              <a:t>Q</a:t>
            </a:r>
            <a:r>
              <a:rPr sz="2200" i="1" spc="7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238" dirty="0">
                <a:latin typeface="Georgia"/>
                <a:cs typeface="Georgia"/>
              </a:rPr>
              <a:t>Σ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79" dirty="0">
                <a:latin typeface="Georgia"/>
                <a:cs typeface="Georgia"/>
              </a:rPr>
              <a:t>Γ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226" dirty="0">
                <a:latin typeface="Calibri"/>
                <a:cs typeface="Calibri"/>
              </a:rPr>
              <a:t>δ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159" dirty="0">
                <a:latin typeface="Calibri"/>
                <a:cs typeface="Calibri"/>
              </a:rPr>
              <a:t>q</a:t>
            </a:r>
            <a:r>
              <a:rPr sz="2400" spc="206" baseline="-10416" dirty="0">
                <a:latin typeface="Palatino Linotype"/>
                <a:cs typeface="Palatino Linotype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spc="-198" dirty="0">
                <a:latin typeface="Calibri"/>
                <a:cs typeface="Calibri"/>
              </a:rPr>
              <a:t> </a:t>
            </a:r>
            <a:r>
              <a:rPr sz="2200" spc="10" dirty="0">
                <a:latin typeface="Georgia"/>
                <a:cs typeface="Georgia"/>
              </a:rPr>
              <a:t>),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where</a:t>
            </a:r>
            <a:endParaRPr sz="2200">
              <a:latin typeface="Georgia"/>
              <a:cs typeface="Georgia"/>
            </a:endParaRPr>
          </a:p>
          <a:p>
            <a:pPr marL="100716">
              <a:spcBef>
                <a:spcPts val="69"/>
              </a:spcBef>
            </a:pPr>
            <a:r>
              <a:rPr sz="2200" i="1" spc="218" dirty="0">
                <a:latin typeface="Calibri"/>
                <a:cs typeface="Calibri"/>
              </a:rPr>
              <a:t>Q</a:t>
            </a:r>
            <a:r>
              <a:rPr sz="2200" i="1" spc="7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238" dirty="0">
                <a:latin typeface="Georgia"/>
                <a:cs typeface="Georgia"/>
              </a:rPr>
              <a:t>Σ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79" dirty="0">
                <a:latin typeface="Georgia"/>
                <a:cs typeface="Georgia"/>
              </a:rPr>
              <a:t>Γ</a:t>
            </a:r>
            <a:r>
              <a:rPr sz="2200" spc="10" dirty="0">
                <a:latin typeface="Georgia"/>
                <a:cs typeface="Georgia"/>
              </a:rPr>
              <a:t>,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and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30" dirty="0">
                <a:latin typeface="Calibri"/>
                <a:cs typeface="Calibri"/>
              </a:rPr>
              <a:t> </a:t>
            </a:r>
            <a:r>
              <a:rPr sz="2200" spc="-59" dirty="0">
                <a:latin typeface="Georgia"/>
                <a:cs typeface="Georgia"/>
              </a:rPr>
              <a:t>are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all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finite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sets,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and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64"/>
              </a:spcBef>
              <a:buClr>
                <a:srgbClr val="3333B2"/>
              </a:buClr>
              <a:buFont typeface="Georgia"/>
              <a:buAutoNum type="arabicPeriod"/>
              <a:tabLst>
                <a:tab pos="650878" algn="l"/>
              </a:tabLst>
            </a:pP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198" dirty="0">
                <a:latin typeface="Calibri"/>
                <a:cs typeface="Calibri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set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79" dirty="0">
                <a:latin typeface="Georgia"/>
                <a:cs typeface="Georgia"/>
              </a:rPr>
              <a:t>of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states,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64"/>
              </a:spcBef>
              <a:buClr>
                <a:srgbClr val="3333B2"/>
              </a:buClr>
              <a:buAutoNum type="arabicPeriod"/>
              <a:tabLst>
                <a:tab pos="650878" algn="l"/>
              </a:tabLst>
            </a:pPr>
            <a:r>
              <a:rPr sz="2200" spc="238" dirty="0">
                <a:latin typeface="Georgia"/>
                <a:cs typeface="Georgia"/>
              </a:rPr>
              <a:t>Σ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input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alphabet,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62"/>
              </a:spcBef>
              <a:buClr>
                <a:srgbClr val="3333B2"/>
              </a:buClr>
              <a:buAutoNum type="arabicPeriod"/>
              <a:tabLst>
                <a:tab pos="650878" algn="l"/>
              </a:tabLst>
            </a:pPr>
            <a:r>
              <a:rPr sz="2200" spc="79" dirty="0">
                <a:latin typeface="Georgia"/>
                <a:cs typeface="Georgia"/>
              </a:rPr>
              <a:t>Γ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stack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alphabet,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54"/>
              </a:spcBef>
              <a:buClr>
                <a:srgbClr val="3333B2"/>
              </a:buClr>
              <a:buFont typeface="Georgia"/>
              <a:buAutoNum type="arabicPeriod"/>
              <a:tabLst>
                <a:tab pos="650878" algn="l"/>
              </a:tabLst>
            </a:pPr>
            <a:r>
              <a:rPr sz="2200" i="1" spc="-188" dirty="0">
                <a:latin typeface="Calibri"/>
                <a:cs typeface="Calibri"/>
              </a:rPr>
              <a:t>δ</a:t>
            </a:r>
            <a:r>
              <a:rPr sz="2200" i="1" spc="-99" dirty="0">
                <a:latin typeface="Calibri"/>
                <a:cs typeface="Calibri"/>
              </a:rPr>
              <a:t> 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spc="466" dirty="0">
                <a:latin typeface="Cambria"/>
                <a:cs typeface="Cambria"/>
              </a:rPr>
              <a:t>×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20" dirty="0">
                <a:latin typeface="Georgia"/>
                <a:cs typeface="Georgia"/>
              </a:rPr>
              <a:t>Σ</a:t>
            </a:r>
            <a:r>
              <a:rPr sz="2400" i="1" spc="30" baseline="-10416" dirty="0">
                <a:latin typeface="Verdana"/>
                <a:cs typeface="Verdana"/>
              </a:rPr>
              <a:t>є</a:t>
            </a:r>
            <a:r>
              <a:rPr sz="2400" i="1" spc="222" baseline="-10416" dirty="0">
                <a:latin typeface="Verdana"/>
                <a:cs typeface="Verdan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226" dirty="0">
                <a:latin typeface="Cambria"/>
                <a:cs typeface="Cambria"/>
              </a:rPr>
              <a:t>P</a:t>
            </a:r>
            <a:r>
              <a:rPr sz="2200" spc="226" dirty="0">
                <a:latin typeface="Georgia"/>
                <a:cs typeface="Georgia"/>
              </a:rPr>
              <a:t>(</a:t>
            </a:r>
            <a:r>
              <a:rPr sz="2200" i="1" spc="226" dirty="0">
                <a:latin typeface="Calibri"/>
                <a:cs typeface="Calibri"/>
              </a:rPr>
              <a:t>Q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spc="466" dirty="0">
                <a:latin typeface="Cambria"/>
                <a:cs typeface="Cambria"/>
              </a:rPr>
              <a:t>×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Georgia"/>
                <a:cs typeface="Georgia"/>
              </a:rPr>
              <a:t>Γ</a:t>
            </a:r>
            <a:r>
              <a:rPr sz="2400" i="1" baseline="-10416" dirty="0">
                <a:latin typeface="Verdana"/>
                <a:cs typeface="Verdana"/>
              </a:rPr>
              <a:t>є</a:t>
            </a:r>
            <a:r>
              <a:rPr sz="2200" dirty="0">
                <a:latin typeface="Georgia"/>
                <a:cs typeface="Georgia"/>
              </a:rPr>
              <a:t>)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transition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function,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64"/>
              </a:spcBef>
              <a:buClr>
                <a:srgbClr val="3333B2"/>
              </a:buClr>
              <a:buFont typeface="Georgia"/>
              <a:buAutoNum type="arabicPeriod"/>
              <a:tabLst>
                <a:tab pos="650878" algn="l"/>
              </a:tabLst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0</a:t>
            </a:r>
            <a:r>
              <a:rPr sz="2400" spc="-44" baseline="-10416" dirty="0">
                <a:latin typeface="Palatino Linotype"/>
                <a:cs typeface="Palatino Linotype"/>
              </a:rPr>
              <a:t> 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109" dirty="0">
                <a:latin typeface="Cambria"/>
                <a:cs typeface="Cambria"/>
              </a:rPr>
              <a:t> </a:t>
            </a: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208" dirty="0">
                <a:latin typeface="Calibri"/>
                <a:cs typeface="Calibri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start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state,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and</a:t>
            </a:r>
            <a:endParaRPr sz="2200">
              <a:latin typeface="Georgia"/>
              <a:cs typeface="Georgia"/>
            </a:endParaRPr>
          </a:p>
          <a:p>
            <a:pPr marL="649619" indent="-352506">
              <a:spcBef>
                <a:spcPts val="664"/>
              </a:spcBef>
              <a:buClr>
                <a:srgbClr val="3333B2"/>
              </a:buClr>
              <a:buFont typeface="Georgia"/>
              <a:buAutoNum type="arabicPeriod"/>
              <a:tabLst>
                <a:tab pos="650878" algn="l"/>
              </a:tabLst>
            </a:pP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spc="397" dirty="0">
                <a:latin typeface="Calibri"/>
                <a:cs typeface="Calibri"/>
              </a:rPr>
              <a:t> </a:t>
            </a:r>
            <a:r>
              <a:rPr sz="2200" spc="50" dirty="0">
                <a:latin typeface="Cambria"/>
                <a:cs typeface="Cambria"/>
              </a:rPr>
              <a:t>⊆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208" dirty="0">
                <a:latin typeface="Calibri"/>
                <a:cs typeface="Calibri"/>
              </a:rPr>
              <a:t> </a:t>
            </a:r>
            <a:r>
              <a:rPr sz="2200" spc="-69" dirty="0">
                <a:latin typeface="Georgia"/>
                <a:cs typeface="Georgia"/>
              </a:rPr>
              <a:t>is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the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set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79" dirty="0">
                <a:latin typeface="Georgia"/>
                <a:cs typeface="Georgia"/>
              </a:rPr>
              <a:t>of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accept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states.</a:t>
            </a:r>
            <a:endParaRPr sz="22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7687947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4540" y="-32987"/>
            <a:ext cx="3472453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139" dirty="0"/>
              <a:t>Computation</a:t>
            </a:r>
            <a:r>
              <a:rPr spc="169" dirty="0"/>
              <a:t> </a:t>
            </a:r>
            <a:r>
              <a:rPr spc="79" dirty="0"/>
              <a:t>by</a:t>
            </a:r>
            <a:r>
              <a:rPr spc="169" dirty="0"/>
              <a:t> </a:t>
            </a:r>
            <a:r>
              <a:rPr spc="159" dirty="0"/>
              <a:t>PDA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637" y="1741502"/>
            <a:ext cx="7601107" cy="1398025"/>
          </a:xfrm>
          <a:prstGeom prst="rect">
            <a:avLst/>
          </a:prstGeom>
        </p:spPr>
        <p:txBody>
          <a:bodyPr vert="horz" wrap="square" lIns="0" tIns="13848" rIns="0" bIns="0" rtlCol="0">
            <a:spAutoFit/>
          </a:bodyPr>
          <a:lstStyle/>
          <a:p>
            <a:pPr marL="412934" marR="135967" indent="-263121">
              <a:lnSpc>
                <a:spcPct val="102600"/>
              </a:lnSpc>
              <a:spcBef>
                <a:spcPts val="109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414195" algn="l"/>
              </a:tabLst>
            </a:pPr>
            <a:r>
              <a:rPr sz="2200" spc="159" dirty="0">
                <a:latin typeface="Georgia"/>
                <a:cs typeface="Georgia"/>
              </a:rPr>
              <a:t>A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89" dirty="0">
                <a:latin typeface="Georgia"/>
                <a:cs typeface="Georgia"/>
              </a:rPr>
              <a:t>pushdown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automata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i="1" spc="226" dirty="0">
                <a:latin typeface="Calibri"/>
                <a:cs typeface="Calibri"/>
              </a:rPr>
              <a:t>M</a:t>
            </a:r>
            <a:r>
              <a:rPr sz="2200" i="1" spc="337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99" dirty="0">
                <a:latin typeface="Georgia"/>
                <a:cs typeface="Georgia"/>
              </a:rPr>
              <a:t>(</a:t>
            </a:r>
            <a:r>
              <a:rPr sz="2200" i="1" spc="99" dirty="0">
                <a:latin typeface="Calibri"/>
                <a:cs typeface="Calibri"/>
              </a:rPr>
              <a:t>Q,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149" dirty="0">
                <a:latin typeface="Georgia"/>
                <a:cs typeface="Georgia"/>
              </a:rPr>
              <a:t>Σ</a:t>
            </a:r>
            <a:r>
              <a:rPr sz="2200" i="1" spc="149" dirty="0">
                <a:latin typeface="Calibri"/>
                <a:cs typeface="Calibri"/>
              </a:rPr>
              <a:t>,</a:t>
            </a:r>
            <a:r>
              <a:rPr sz="2200" i="1" spc="-129" dirty="0">
                <a:latin typeface="Calibri"/>
                <a:cs typeface="Calibri"/>
              </a:rPr>
              <a:t> </a:t>
            </a:r>
            <a:r>
              <a:rPr sz="2200" spc="59" dirty="0">
                <a:latin typeface="Georgia"/>
                <a:cs typeface="Georgia"/>
              </a:rPr>
              <a:t>Γ</a:t>
            </a:r>
            <a:r>
              <a:rPr sz="2200" i="1" spc="5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89" dirty="0">
                <a:latin typeface="Calibri"/>
                <a:cs typeface="Calibri"/>
              </a:rPr>
              <a:t>δ,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0" dirty="0">
                <a:latin typeface="Calibri"/>
                <a:cs typeface="Calibri"/>
              </a:rPr>
              <a:t>q</a:t>
            </a:r>
            <a:r>
              <a:rPr sz="2400" spc="14" baseline="-10416" dirty="0">
                <a:latin typeface="Palatino Linotype"/>
                <a:cs typeface="Palatino Linotype"/>
              </a:rPr>
              <a:t>0</a:t>
            </a:r>
            <a:r>
              <a:rPr sz="2200" i="1" spc="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spc="-198" dirty="0">
                <a:latin typeface="Calibri"/>
                <a:cs typeface="Calibri"/>
              </a:rPr>
              <a:t> </a:t>
            </a:r>
            <a:r>
              <a:rPr sz="2200" spc="20" dirty="0">
                <a:latin typeface="Georgia"/>
                <a:cs typeface="Georgia"/>
              </a:rPr>
              <a:t>)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computes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as </a:t>
            </a:r>
            <a:r>
              <a:rPr sz="2200" spc="-496" dirty="0">
                <a:latin typeface="Georgia"/>
                <a:cs typeface="Georgia"/>
              </a:rPr>
              <a:t> </a:t>
            </a:r>
            <a:r>
              <a:rPr sz="2200" spc="-79" dirty="0">
                <a:latin typeface="Georgia"/>
                <a:cs typeface="Georgia"/>
              </a:rPr>
              <a:t>follows:</a:t>
            </a:r>
            <a:endParaRPr sz="2200">
              <a:latin typeface="Georgia"/>
              <a:cs typeface="Georgia"/>
            </a:endParaRPr>
          </a:p>
          <a:p>
            <a:pPr marL="412934" indent="-263121">
              <a:lnSpc>
                <a:spcPts val="2498"/>
              </a:lnSpc>
              <a:spcBef>
                <a:spcPts val="347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414195" algn="l"/>
              </a:tabLst>
            </a:pPr>
            <a:r>
              <a:rPr sz="2200" dirty="0">
                <a:latin typeface="Georgia"/>
                <a:cs typeface="Georgia"/>
              </a:rPr>
              <a:t>It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accepts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input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spc="287" dirty="0">
                <a:latin typeface="Calibri"/>
                <a:cs typeface="Calibri"/>
              </a:rPr>
              <a:t> </a:t>
            </a:r>
            <a:r>
              <a:rPr sz="2200" spc="-50" dirty="0">
                <a:latin typeface="Georgia"/>
                <a:cs typeface="Georgia"/>
              </a:rPr>
              <a:t>if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spc="287" dirty="0">
                <a:latin typeface="Calibri"/>
                <a:cs typeface="Calibri"/>
              </a:rPr>
              <a:t> </a:t>
            </a:r>
            <a:r>
              <a:rPr sz="2200" spc="-50" dirty="0">
                <a:latin typeface="Georgia"/>
                <a:cs typeface="Georgia"/>
              </a:rPr>
              <a:t>can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be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written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59" dirty="0">
                <a:latin typeface="Georgia"/>
                <a:cs typeface="Georgia"/>
              </a:rPr>
              <a:t>as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spc="15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79" dirty="0">
                <a:latin typeface="Georgia"/>
                <a:cs typeface="Georgia"/>
              </a:rPr>
              <a:t> </a:t>
            </a:r>
            <a:r>
              <a:rPr sz="2200" i="1" spc="30" dirty="0">
                <a:latin typeface="Calibri"/>
                <a:cs typeface="Calibri"/>
              </a:rPr>
              <a:t>w</a:t>
            </a:r>
            <a:r>
              <a:rPr sz="2400" spc="44" baseline="-10416" dirty="0">
                <a:latin typeface="Palatino Linotype"/>
                <a:cs typeface="Palatino Linotype"/>
              </a:rPr>
              <a:t>1</a:t>
            </a:r>
            <a:r>
              <a:rPr sz="2200" i="1" spc="30" dirty="0">
                <a:latin typeface="Calibri"/>
                <a:cs typeface="Calibri"/>
              </a:rPr>
              <a:t>w</a:t>
            </a:r>
            <a:r>
              <a:rPr sz="2400" spc="44" baseline="-10416" dirty="0">
                <a:latin typeface="Palatino Linotype"/>
                <a:cs typeface="Palatino Linotype"/>
              </a:rPr>
              <a:t>2</a:t>
            </a:r>
            <a:r>
              <a:rPr sz="2400" spc="87" baseline="-10416" dirty="0">
                <a:latin typeface="Palatino Linotype"/>
                <a:cs typeface="Palatino Linotype"/>
              </a:rPr>
              <a:t> </a:t>
            </a:r>
            <a:r>
              <a:rPr sz="2200" spc="-20" dirty="0">
                <a:latin typeface="Cambria"/>
                <a:cs typeface="Cambria"/>
              </a:rPr>
              <a:t>·</a:t>
            </a:r>
            <a:r>
              <a:rPr sz="2200" spc="-129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·</a:t>
            </a:r>
            <a:r>
              <a:rPr sz="2200" spc="-129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·</a:t>
            </a:r>
            <a:r>
              <a:rPr sz="2200" spc="-129" dirty="0">
                <a:latin typeface="Cambria"/>
                <a:cs typeface="Cambria"/>
              </a:rPr>
              <a:t> </a:t>
            </a:r>
            <a:r>
              <a:rPr sz="2200" i="1" spc="-40" dirty="0">
                <a:latin typeface="Calibri"/>
                <a:cs typeface="Calibri"/>
              </a:rPr>
              <a:t>w</a:t>
            </a:r>
            <a:r>
              <a:rPr sz="2400" i="1" spc="-59" baseline="-10416" dirty="0">
                <a:latin typeface="Verdana"/>
                <a:cs typeface="Verdana"/>
              </a:rPr>
              <a:t>m</a:t>
            </a:r>
            <a:endParaRPr sz="2400" baseline="-10416">
              <a:latin typeface="Verdana"/>
              <a:cs typeface="Verdana"/>
            </a:endParaRPr>
          </a:p>
          <a:p>
            <a:pPr marL="412934">
              <a:lnSpc>
                <a:spcPts val="2498"/>
              </a:lnSpc>
            </a:pPr>
            <a:r>
              <a:rPr sz="2200" spc="-69" dirty="0">
                <a:latin typeface="Georgia"/>
                <a:cs typeface="Georgia"/>
              </a:rPr>
              <a:t>where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each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i="1" spc="50" dirty="0">
                <a:latin typeface="Calibri"/>
                <a:cs typeface="Calibri"/>
              </a:rPr>
              <a:t>w</a:t>
            </a:r>
            <a:r>
              <a:rPr sz="2400" i="1" spc="73" baseline="-10416" dirty="0">
                <a:latin typeface="Verdana"/>
                <a:cs typeface="Verdana"/>
              </a:rPr>
              <a:t>i</a:t>
            </a:r>
            <a:r>
              <a:rPr sz="2400" i="1" spc="192" baseline="-10416" dirty="0">
                <a:latin typeface="Verdana"/>
                <a:cs typeface="Verdana"/>
              </a:rPr>
              <a:t> 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109" dirty="0">
                <a:latin typeface="Cambria"/>
                <a:cs typeface="Cambria"/>
              </a:rPr>
              <a:t> </a:t>
            </a:r>
            <a:r>
              <a:rPr sz="2200" spc="20" dirty="0">
                <a:latin typeface="Georgia"/>
                <a:cs typeface="Georgia"/>
              </a:rPr>
              <a:t>Σ</a:t>
            </a:r>
            <a:r>
              <a:rPr sz="2400" i="1" spc="30" baseline="-10416" dirty="0">
                <a:latin typeface="Verdana"/>
                <a:cs typeface="Verdana"/>
              </a:rPr>
              <a:t>є</a:t>
            </a:r>
            <a:r>
              <a:rPr sz="2400" i="1" spc="371" baseline="-10416" dirty="0">
                <a:latin typeface="Verdana"/>
                <a:cs typeface="Verdana"/>
              </a:rPr>
              <a:t> </a:t>
            </a:r>
            <a:r>
              <a:rPr sz="2200" spc="-59" dirty="0">
                <a:latin typeface="Georgia"/>
                <a:cs typeface="Georgia"/>
              </a:rPr>
              <a:t>and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79" dirty="0">
                <a:latin typeface="Georgia"/>
                <a:cs typeface="Georgia"/>
              </a:rPr>
              <a:t>sequence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79" dirty="0">
                <a:latin typeface="Georgia"/>
                <a:cs typeface="Georgia"/>
              </a:rPr>
              <a:t>of</a:t>
            </a:r>
            <a:r>
              <a:rPr sz="2200" spc="17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states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2430" y="3175489"/>
            <a:ext cx="5085878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  <a:tabLst>
                <a:tab pos="389016" algn="l"/>
                <a:tab pos="1242585" algn="l"/>
                <a:tab pos="3640886" algn="l"/>
                <a:tab pos="4011018" algn="l"/>
                <a:tab pos="4868364" algn="l"/>
              </a:tabLst>
            </a:pPr>
            <a:r>
              <a:rPr sz="1600" spc="40" dirty="0">
                <a:latin typeface="Palatino Linotype"/>
                <a:cs typeface="Palatino Linotype"/>
              </a:rPr>
              <a:t>0	1	</a:t>
            </a:r>
            <a:r>
              <a:rPr sz="1600" i="1" spc="-59" dirty="0">
                <a:latin typeface="Verdana"/>
                <a:cs typeface="Verdana"/>
              </a:rPr>
              <a:t>m	</a:t>
            </a:r>
            <a:r>
              <a:rPr sz="1600" spc="40" dirty="0">
                <a:latin typeface="Palatino Linotype"/>
                <a:cs typeface="Palatino Linotype"/>
              </a:rPr>
              <a:t>0	1	</a:t>
            </a:r>
            <a:r>
              <a:rPr sz="1600" i="1" spc="-59" dirty="0">
                <a:latin typeface="Verdana"/>
                <a:cs typeface="Verdana"/>
              </a:rPr>
              <a:t>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7676" y="3034681"/>
            <a:ext cx="157438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-426" dirty="0">
                <a:latin typeface="Lucida Sans Unicode"/>
                <a:cs typeface="Lucida Sans Unicode"/>
              </a:rPr>
              <a:t>∗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469" y="3060352"/>
            <a:ext cx="720436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  <a:tabLst>
                <a:tab pos="1644190" algn="l"/>
                <a:tab pos="5269969" algn="l"/>
              </a:tabLst>
            </a:pPr>
            <a:r>
              <a:rPr sz="2200" i="1" spc="226" dirty="0">
                <a:latin typeface="Calibri"/>
                <a:cs typeface="Calibri"/>
              </a:rPr>
              <a:t>r</a:t>
            </a:r>
            <a:r>
              <a:rPr sz="2200" i="1" spc="446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26" dirty="0">
                <a:latin typeface="Calibri"/>
                <a:cs typeface="Calibri"/>
              </a:rPr>
              <a:t>r</a:t>
            </a:r>
            <a:r>
              <a:rPr sz="2200" i="1" spc="446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2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26" dirty="0">
                <a:latin typeface="Calibri"/>
                <a:cs typeface="Calibri"/>
              </a:rPr>
              <a:t>r	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129" dirty="0">
                <a:latin typeface="Cambria"/>
                <a:cs typeface="Cambria"/>
              </a:rPr>
              <a:t> </a:t>
            </a: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226" dirty="0">
                <a:latin typeface="Calibri"/>
                <a:cs typeface="Calibri"/>
              </a:rPr>
              <a:t> </a:t>
            </a:r>
            <a:r>
              <a:rPr sz="2200" spc="-59" dirty="0">
                <a:latin typeface="Georgia"/>
                <a:cs typeface="Georgia"/>
              </a:rPr>
              <a:t>and</a:t>
            </a:r>
            <a:r>
              <a:rPr sz="2200" spc="198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strings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159" dirty="0">
                <a:latin typeface="Calibri"/>
                <a:cs typeface="Calibri"/>
              </a:rPr>
              <a:t>s</a:t>
            </a:r>
            <a:r>
              <a:rPr sz="2200" i="1" spc="466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59" dirty="0">
                <a:latin typeface="Calibri"/>
                <a:cs typeface="Calibri"/>
              </a:rPr>
              <a:t>s</a:t>
            </a:r>
            <a:r>
              <a:rPr sz="2200" i="1" spc="466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2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.</a:t>
            </a:r>
            <a:r>
              <a:rPr sz="2200" i="1" spc="-129" dirty="0">
                <a:latin typeface="Calibri"/>
                <a:cs typeface="Calibri"/>
              </a:rPr>
              <a:t> 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29" dirty="0">
                <a:latin typeface="Calibri"/>
                <a:cs typeface="Calibri"/>
              </a:rPr>
              <a:t> </a:t>
            </a:r>
            <a:r>
              <a:rPr sz="2200" i="1" spc="159" dirty="0">
                <a:latin typeface="Calibri"/>
                <a:cs typeface="Calibri"/>
              </a:rPr>
              <a:t>s	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89" dirty="0">
                <a:latin typeface="Cambria"/>
                <a:cs typeface="Cambria"/>
              </a:rPr>
              <a:t> </a:t>
            </a:r>
            <a:r>
              <a:rPr sz="2200" spc="79" dirty="0">
                <a:latin typeface="Georgia"/>
                <a:cs typeface="Georgia"/>
              </a:rPr>
              <a:t>Γ </a:t>
            </a:r>
            <a:r>
              <a:rPr sz="2200" spc="466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exists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spc="10" dirty="0">
                <a:latin typeface="Georgia"/>
                <a:cs typeface="Georgia"/>
              </a:rPr>
              <a:t>that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7709" y="3361223"/>
            <a:ext cx="7194288" cy="2231052"/>
          </a:xfrm>
          <a:prstGeom prst="rect">
            <a:avLst/>
          </a:prstGeom>
        </p:spPr>
        <p:txBody>
          <a:bodyPr vert="horz" wrap="square" lIns="0" tIns="57910" rIns="0" bIns="0" rtlCol="0">
            <a:spAutoFit/>
          </a:bodyPr>
          <a:lstStyle/>
          <a:p>
            <a:pPr marL="125895" marR="110788" algn="just">
              <a:lnSpc>
                <a:spcPts val="2379"/>
              </a:lnSpc>
              <a:spcBef>
                <a:spcPts val="454"/>
              </a:spcBef>
            </a:pPr>
            <a:r>
              <a:rPr sz="2200" spc="-20" dirty="0">
                <a:latin typeface="Georgia"/>
                <a:cs typeface="Georgia"/>
              </a:rPr>
              <a:t>satisfy </a:t>
            </a:r>
            <a:r>
              <a:rPr sz="2200" spc="-69" dirty="0">
                <a:latin typeface="Georgia"/>
                <a:cs typeface="Georgia"/>
              </a:rPr>
              <a:t>following:</a:t>
            </a:r>
            <a:r>
              <a:rPr sz="2200" spc="-59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(the </a:t>
            </a:r>
            <a:r>
              <a:rPr sz="2200" spc="-40" dirty="0">
                <a:latin typeface="Georgia"/>
                <a:cs typeface="Georgia"/>
              </a:rPr>
              <a:t>string </a:t>
            </a:r>
            <a:r>
              <a:rPr sz="2200" i="1" spc="139" dirty="0">
                <a:latin typeface="Calibri"/>
                <a:cs typeface="Calibri"/>
              </a:rPr>
              <a:t>s</a:t>
            </a:r>
            <a:r>
              <a:rPr sz="2400" i="1" spc="206" baseline="-10416" dirty="0">
                <a:latin typeface="Verdana"/>
                <a:cs typeface="Verdana"/>
              </a:rPr>
              <a:t>i </a:t>
            </a:r>
            <a:r>
              <a:rPr sz="2200" spc="-79" dirty="0">
                <a:latin typeface="Georgia"/>
                <a:cs typeface="Georgia"/>
              </a:rPr>
              <a:t>represents </a:t>
            </a:r>
            <a:r>
              <a:rPr sz="2200" spc="-40" dirty="0">
                <a:latin typeface="Georgia"/>
                <a:cs typeface="Georgia"/>
              </a:rPr>
              <a:t>the </a:t>
            </a:r>
            <a:r>
              <a:rPr sz="2200" spc="-79" dirty="0">
                <a:latin typeface="Georgia"/>
                <a:cs typeface="Georgia"/>
              </a:rPr>
              <a:t>sequence of </a:t>
            </a:r>
            <a:r>
              <a:rPr sz="2200" spc="-69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stack </a:t>
            </a:r>
            <a:r>
              <a:rPr sz="2200" spc="-59" dirty="0">
                <a:latin typeface="Georgia"/>
                <a:cs typeface="Georgia"/>
              </a:rPr>
              <a:t>contents </a:t>
            </a:r>
            <a:r>
              <a:rPr sz="2200" spc="10" dirty="0">
                <a:latin typeface="Georgia"/>
                <a:cs typeface="Georgia"/>
              </a:rPr>
              <a:t>that </a:t>
            </a:r>
            <a:r>
              <a:rPr sz="2200" i="1" spc="226" dirty="0">
                <a:latin typeface="Calibri"/>
                <a:cs typeface="Calibri"/>
              </a:rPr>
              <a:t>M </a:t>
            </a:r>
            <a:r>
              <a:rPr sz="2200" spc="-69" dirty="0">
                <a:latin typeface="Georgia"/>
                <a:cs typeface="Georgia"/>
              </a:rPr>
              <a:t>has </a:t>
            </a:r>
            <a:r>
              <a:rPr sz="2200" spc="-99" dirty="0">
                <a:latin typeface="Georgia"/>
                <a:cs typeface="Georgia"/>
              </a:rPr>
              <a:t>on </a:t>
            </a:r>
            <a:r>
              <a:rPr sz="2200" spc="-40" dirty="0">
                <a:latin typeface="Georgia"/>
                <a:cs typeface="Georgia"/>
              </a:rPr>
              <a:t>the accepting </a:t>
            </a:r>
            <a:r>
              <a:rPr sz="2200" spc="-69" dirty="0">
                <a:latin typeface="Georgia"/>
                <a:cs typeface="Georgia"/>
              </a:rPr>
              <a:t>branch </a:t>
            </a:r>
            <a:r>
              <a:rPr sz="2200" spc="-79" dirty="0">
                <a:latin typeface="Georgia"/>
                <a:cs typeface="Georgia"/>
              </a:rPr>
              <a:t>of </a:t>
            </a:r>
            <a:r>
              <a:rPr sz="2200" spc="-40" dirty="0">
                <a:latin typeface="Georgia"/>
                <a:cs typeface="Georgia"/>
              </a:rPr>
              <a:t>the 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-40" dirty="0">
                <a:latin typeface="Georgia"/>
                <a:cs typeface="Georgia"/>
              </a:rPr>
              <a:t>computation)</a:t>
            </a:r>
            <a:endParaRPr sz="2200">
              <a:latin typeface="Georgia"/>
              <a:cs typeface="Georgia"/>
            </a:endParaRPr>
          </a:p>
          <a:p>
            <a:pPr marL="674798" indent="-333622" algn="just">
              <a:lnSpc>
                <a:spcPts val="2379"/>
              </a:lnSpc>
              <a:spcBef>
                <a:spcPts val="287"/>
              </a:spcBef>
              <a:buClr>
                <a:srgbClr val="3333B2"/>
              </a:buClr>
              <a:buFont typeface="Georgia"/>
              <a:buAutoNum type="arabicPeriod"/>
              <a:tabLst>
                <a:tab pos="676057" algn="l"/>
              </a:tabLst>
            </a:pPr>
            <a:r>
              <a:rPr sz="2000" i="1" spc="50" dirty="0">
                <a:latin typeface="Calibri"/>
                <a:cs typeface="Calibri"/>
              </a:rPr>
              <a:t>r</a:t>
            </a:r>
            <a:r>
              <a:rPr sz="2100" spc="73" baseline="-11904" dirty="0">
                <a:latin typeface="Verdana"/>
                <a:cs typeface="Verdana"/>
              </a:rPr>
              <a:t>0</a:t>
            </a:r>
            <a:r>
              <a:rPr sz="2100" spc="222" baseline="-11904" dirty="0">
                <a:latin typeface="Verdana"/>
                <a:cs typeface="Verdana"/>
              </a:rPr>
              <a:t> </a:t>
            </a:r>
            <a:r>
              <a:rPr sz="2000" spc="258" dirty="0">
                <a:latin typeface="Georgia"/>
                <a:cs typeface="Georgia"/>
              </a:rPr>
              <a:t>=</a:t>
            </a:r>
            <a:r>
              <a:rPr sz="2000" spc="69" dirty="0">
                <a:latin typeface="Georgia"/>
                <a:cs typeface="Georgia"/>
              </a:rPr>
              <a:t> </a:t>
            </a:r>
            <a:r>
              <a:rPr sz="2000" i="1" spc="-119" dirty="0">
                <a:latin typeface="Calibri"/>
                <a:cs typeface="Calibri"/>
              </a:rPr>
              <a:t>q</a:t>
            </a:r>
            <a:r>
              <a:rPr sz="2100" spc="-176" baseline="-11904" dirty="0">
                <a:latin typeface="Verdana"/>
                <a:cs typeface="Verdana"/>
              </a:rPr>
              <a:t>0</a:t>
            </a:r>
            <a:r>
              <a:rPr sz="2100" spc="400" baseline="-11904" dirty="0">
                <a:latin typeface="Verdana"/>
                <a:cs typeface="Verdana"/>
              </a:rPr>
              <a:t> </a:t>
            </a:r>
            <a:r>
              <a:rPr sz="2000" spc="-50" dirty="0">
                <a:latin typeface="Georgia"/>
                <a:cs typeface="Georgia"/>
              </a:rPr>
              <a:t>and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i="1" spc="20" dirty="0">
                <a:latin typeface="Calibri"/>
                <a:cs typeface="Calibri"/>
              </a:rPr>
              <a:t>s</a:t>
            </a:r>
            <a:r>
              <a:rPr sz="2100" spc="30" baseline="-11904" dirty="0">
                <a:latin typeface="Verdana"/>
                <a:cs typeface="Verdana"/>
              </a:rPr>
              <a:t>0</a:t>
            </a:r>
            <a:r>
              <a:rPr sz="2100" spc="238" baseline="-11904" dirty="0">
                <a:latin typeface="Verdana"/>
                <a:cs typeface="Verdana"/>
              </a:rPr>
              <a:t> </a:t>
            </a:r>
            <a:r>
              <a:rPr sz="2000" spc="258" dirty="0">
                <a:latin typeface="Georgia"/>
                <a:cs typeface="Georgia"/>
              </a:rPr>
              <a:t>=</a:t>
            </a:r>
            <a:r>
              <a:rPr sz="2000" spc="59" dirty="0">
                <a:latin typeface="Georgia"/>
                <a:cs typeface="Georgia"/>
              </a:rPr>
              <a:t> </a:t>
            </a:r>
            <a:r>
              <a:rPr sz="2000" i="1" spc="-59" dirty="0">
                <a:latin typeface="Calibri"/>
                <a:cs typeface="Calibri"/>
              </a:rPr>
              <a:t>ϵ</a:t>
            </a:r>
            <a:r>
              <a:rPr sz="2000" i="1" spc="208" dirty="0">
                <a:latin typeface="Calibri"/>
                <a:cs typeface="Calibri"/>
              </a:rPr>
              <a:t> </a:t>
            </a:r>
            <a:r>
              <a:rPr sz="2000" spc="-20" dirty="0">
                <a:latin typeface="Georgia"/>
                <a:cs typeface="Georgia"/>
              </a:rPr>
              <a:t>(i.e.,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i="1" spc="218" dirty="0">
                <a:latin typeface="Calibri"/>
                <a:cs typeface="Calibri"/>
              </a:rPr>
              <a:t>M</a:t>
            </a:r>
            <a:r>
              <a:rPr sz="2000" i="1" spc="416" dirty="0">
                <a:latin typeface="Calibri"/>
                <a:cs typeface="Calibri"/>
              </a:rPr>
              <a:t> </a:t>
            </a:r>
            <a:r>
              <a:rPr sz="2000" spc="-10" dirty="0">
                <a:latin typeface="Georgia"/>
                <a:cs typeface="Georgia"/>
              </a:rPr>
              <a:t>starts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with</a:t>
            </a:r>
            <a:r>
              <a:rPr sz="2000" spc="169" dirty="0">
                <a:latin typeface="Georgia"/>
                <a:cs typeface="Georgia"/>
              </a:rPr>
              <a:t> </a:t>
            </a:r>
            <a:r>
              <a:rPr sz="2000" spc="-50" dirty="0">
                <a:latin typeface="Georgia"/>
                <a:cs typeface="Georgia"/>
              </a:rPr>
              <a:t>and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30" dirty="0">
                <a:latin typeface="Georgia"/>
                <a:cs typeface="Georgia"/>
              </a:rPr>
              <a:t>empty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stack)</a:t>
            </a:r>
            <a:endParaRPr sz="2000">
              <a:latin typeface="Georgia"/>
              <a:cs typeface="Georgia"/>
            </a:endParaRPr>
          </a:p>
          <a:p>
            <a:pPr marL="674798" indent="-333622" algn="just">
              <a:lnSpc>
                <a:spcPts val="2369"/>
              </a:lnSpc>
              <a:buClr>
                <a:srgbClr val="3333B2"/>
              </a:buClr>
              <a:buAutoNum type="arabicPeriod"/>
              <a:tabLst>
                <a:tab pos="676057" algn="l"/>
              </a:tabLst>
            </a:pPr>
            <a:r>
              <a:rPr sz="2000" spc="-238" dirty="0">
                <a:latin typeface="Georgia"/>
                <a:cs typeface="Georgia"/>
              </a:rPr>
              <a:t>0</a:t>
            </a:r>
            <a:r>
              <a:rPr sz="2000" spc="69" dirty="0">
                <a:latin typeface="Georgia"/>
                <a:cs typeface="Georgia"/>
              </a:rPr>
              <a:t> </a:t>
            </a:r>
            <a:r>
              <a:rPr sz="2000" spc="436" dirty="0">
                <a:latin typeface="Cambria"/>
                <a:cs typeface="Cambria"/>
              </a:rPr>
              <a:t>≤</a:t>
            </a:r>
            <a:r>
              <a:rPr sz="2000" spc="109" dirty="0">
                <a:latin typeface="Cambria"/>
                <a:cs typeface="Cambria"/>
              </a:rPr>
              <a:t> </a:t>
            </a:r>
            <a:r>
              <a:rPr sz="2000" i="1" spc="218" dirty="0">
                <a:latin typeface="Calibri"/>
                <a:cs typeface="Calibri"/>
              </a:rPr>
              <a:t>i</a:t>
            </a:r>
            <a:r>
              <a:rPr sz="2000" i="1" spc="99" dirty="0">
                <a:latin typeface="Calibri"/>
                <a:cs typeface="Calibri"/>
              </a:rPr>
              <a:t> </a:t>
            </a:r>
            <a:r>
              <a:rPr sz="2000" spc="436" dirty="0">
                <a:latin typeface="Cambria"/>
                <a:cs typeface="Cambria"/>
              </a:rPr>
              <a:t>≤</a:t>
            </a:r>
            <a:r>
              <a:rPr sz="2000" spc="109" dirty="0">
                <a:latin typeface="Cambria"/>
                <a:cs typeface="Cambria"/>
              </a:rPr>
              <a:t> </a:t>
            </a:r>
            <a:r>
              <a:rPr sz="2000" i="1" spc="159" dirty="0">
                <a:latin typeface="Calibri"/>
                <a:cs typeface="Calibri"/>
              </a:rPr>
              <a:t>m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spc="436" dirty="0">
                <a:latin typeface="Cambria"/>
                <a:cs typeface="Cambria"/>
              </a:rPr>
              <a:t>−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129" dirty="0">
                <a:latin typeface="Georgia"/>
                <a:cs typeface="Georgia"/>
              </a:rPr>
              <a:t>1</a:t>
            </a:r>
            <a:r>
              <a:rPr sz="2000" spc="10" dirty="0">
                <a:latin typeface="Georgia"/>
                <a:cs typeface="Georgia"/>
              </a:rPr>
              <a:t>,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99" dirty="0">
                <a:latin typeface="Georgia"/>
                <a:cs typeface="Georgia"/>
              </a:rPr>
              <a:t>w</a:t>
            </a:r>
            <a:r>
              <a:rPr sz="2000" spc="-89" dirty="0">
                <a:latin typeface="Georgia"/>
                <a:cs typeface="Georgia"/>
              </a:rPr>
              <a:t>e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50" dirty="0">
                <a:latin typeface="Georgia"/>
                <a:cs typeface="Georgia"/>
              </a:rPr>
              <a:t>h</a:t>
            </a:r>
            <a:r>
              <a:rPr sz="2000" spc="-99" dirty="0">
                <a:latin typeface="Georgia"/>
                <a:cs typeface="Georgia"/>
              </a:rPr>
              <a:t>a</a:t>
            </a:r>
            <a:r>
              <a:rPr sz="2000" spc="-10" dirty="0">
                <a:latin typeface="Georgia"/>
                <a:cs typeface="Georgia"/>
              </a:rPr>
              <a:t>v</a:t>
            </a:r>
            <a:r>
              <a:rPr sz="2000" spc="-89" dirty="0">
                <a:latin typeface="Georgia"/>
                <a:cs typeface="Georgia"/>
              </a:rPr>
              <a:t>e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20" dirty="0">
                <a:latin typeface="Georgia"/>
                <a:cs typeface="Georgia"/>
              </a:rPr>
              <a:t>(</a:t>
            </a:r>
            <a:r>
              <a:rPr sz="2000" i="1" spc="208" dirty="0">
                <a:latin typeface="Calibri"/>
                <a:cs typeface="Calibri"/>
              </a:rPr>
              <a:t>r</a:t>
            </a:r>
            <a:r>
              <a:rPr sz="2100" i="1" spc="252" baseline="-11904" dirty="0">
                <a:latin typeface="Verdana"/>
                <a:cs typeface="Verdana"/>
              </a:rPr>
              <a:t>i</a:t>
            </a:r>
            <a:r>
              <a:rPr sz="2100" spc="-30" baseline="-11904" dirty="0">
                <a:latin typeface="Verdana"/>
                <a:cs typeface="Verdana"/>
              </a:rPr>
              <a:t>+</a:t>
            </a:r>
            <a:r>
              <a:rPr sz="2100" spc="133" baseline="-11904" dirty="0">
                <a:latin typeface="Verdana"/>
                <a:cs typeface="Verdana"/>
              </a:rPr>
              <a:t>1</a:t>
            </a:r>
            <a:r>
              <a:rPr sz="2000" i="1" spc="50" dirty="0">
                <a:latin typeface="Calibri"/>
                <a:cs typeface="Calibri"/>
              </a:rPr>
              <a:t>,</a:t>
            </a:r>
            <a:r>
              <a:rPr sz="2000" i="1" spc="-119" dirty="0">
                <a:latin typeface="Calibri"/>
                <a:cs typeface="Calibri"/>
              </a:rPr>
              <a:t> </a:t>
            </a:r>
            <a:r>
              <a:rPr sz="2000" i="1" spc="-188" dirty="0">
                <a:latin typeface="Calibri"/>
                <a:cs typeface="Calibri"/>
              </a:rPr>
              <a:t>b</a:t>
            </a:r>
            <a:r>
              <a:rPr sz="2000" spc="20" dirty="0">
                <a:latin typeface="Georgia"/>
                <a:cs typeface="Georgia"/>
              </a:rPr>
              <a:t>)</a:t>
            </a:r>
            <a:r>
              <a:rPr sz="2000" spc="69" dirty="0">
                <a:latin typeface="Georgia"/>
                <a:cs typeface="Georgia"/>
              </a:rPr>
              <a:t> </a:t>
            </a:r>
            <a:r>
              <a:rPr sz="2000" spc="79" dirty="0">
                <a:latin typeface="Cambria"/>
                <a:cs typeface="Cambria"/>
              </a:rPr>
              <a:t>∈</a:t>
            </a:r>
            <a:r>
              <a:rPr sz="2000" spc="109" dirty="0">
                <a:latin typeface="Cambria"/>
                <a:cs typeface="Cambria"/>
              </a:rPr>
              <a:t> </a:t>
            </a:r>
            <a:r>
              <a:rPr sz="2000" i="1" spc="-99" dirty="0">
                <a:latin typeface="Calibri"/>
                <a:cs typeface="Calibri"/>
              </a:rPr>
              <a:t>δ</a:t>
            </a:r>
            <a:r>
              <a:rPr sz="2000" spc="10" dirty="0">
                <a:latin typeface="Georgia"/>
                <a:cs typeface="Georgia"/>
              </a:rPr>
              <a:t>(</a:t>
            </a:r>
            <a:r>
              <a:rPr sz="2000" i="1" spc="208" dirty="0">
                <a:latin typeface="Calibri"/>
                <a:cs typeface="Calibri"/>
              </a:rPr>
              <a:t>r</a:t>
            </a:r>
            <a:r>
              <a:rPr sz="2100" i="1" spc="400" baseline="-11904" dirty="0">
                <a:latin typeface="Verdana"/>
                <a:cs typeface="Verdana"/>
              </a:rPr>
              <a:t>i</a:t>
            </a:r>
            <a:r>
              <a:rPr sz="2000" i="1" spc="50" dirty="0">
                <a:latin typeface="Calibri"/>
                <a:cs typeface="Calibri"/>
              </a:rPr>
              <a:t>,</a:t>
            </a:r>
            <a:r>
              <a:rPr sz="2000" i="1" spc="-119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w</a:t>
            </a:r>
            <a:r>
              <a:rPr sz="2100" i="1" spc="252" baseline="-11904" dirty="0">
                <a:latin typeface="Verdana"/>
                <a:cs typeface="Verdana"/>
              </a:rPr>
              <a:t>i</a:t>
            </a:r>
            <a:r>
              <a:rPr sz="2100" spc="-30" baseline="-11904" dirty="0">
                <a:latin typeface="Verdana"/>
                <a:cs typeface="Verdana"/>
              </a:rPr>
              <a:t>+</a:t>
            </a:r>
            <a:r>
              <a:rPr sz="2100" spc="133" baseline="-11904" dirty="0">
                <a:latin typeface="Verdana"/>
                <a:cs typeface="Verdana"/>
              </a:rPr>
              <a:t>1</a:t>
            </a:r>
            <a:r>
              <a:rPr sz="2000" i="1" spc="50" dirty="0">
                <a:latin typeface="Calibri"/>
                <a:cs typeface="Calibri"/>
              </a:rPr>
              <a:t>,</a:t>
            </a:r>
            <a:r>
              <a:rPr sz="2000" i="1" spc="-119" dirty="0">
                <a:latin typeface="Calibri"/>
                <a:cs typeface="Calibri"/>
              </a:rPr>
              <a:t> </a:t>
            </a:r>
            <a:r>
              <a:rPr sz="2000" i="1" spc="10" dirty="0">
                <a:latin typeface="Calibri"/>
                <a:cs typeface="Calibri"/>
              </a:rPr>
              <a:t>a</a:t>
            </a:r>
            <a:r>
              <a:rPr sz="2000" spc="20" dirty="0">
                <a:latin typeface="Georgia"/>
                <a:cs typeface="Georgia"/>
              </a:rPr>
              <a:t>)</a:t>
            </a:r>
            <a:r>
              <a:rPr sz="2000" spc="10" dirty="0">
                <a:latin typeface="Georgia"/>
                <a:cs typeface="Georgia"/>
              </a:rPr>
              <a:t>,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59" dirty="0">
                <a:latin typeface="Georgia"/>
                <a:cs typeface="Georgia"/>
              </a:rPr>
              <a:t>where</a:t>
            </a:r>
            <a:endParaRPr sz="2000">
              <a:latin typeface="Georgia"/>
              <a:cs typeface="Georgia"/>
            </a:endParaRPr>
          </a:p>
          <a:p>
            <a:pPr marL="674798" indent="-333622" algn="just">
              <a:lnSpc>
                <a:spcPts val="2369"/>
              </a:lnSpc>
              <a:buClr>
                <a:srgbClr val="3333B2"/>
              </a:buClr>
              <a:buFont typeface="Georgia"/>
              <a:buAutoNum type="arabicPeriod"/>
              <a:tabLst>
                <a:tab pos="676057" algn="l"/>
              </a:tabLst>
            </a:pPr>
            <a:r>
              <a:rPr sz="2000" i="1" spc="139" dirty="0">
                <a:latin typeface="Calibri"/>
                <a:cs typeface="Calibri"/>
              </a:rPr>
              <a:t>s</a:t>
            </a:r>
            <a:r>
              <a:rPr sz="2100" i="1" spc="252" baseline="-11904" dirty="0">
                <a:latin typeface="Verdana"/>
                <a:cs typeface="Verdana"/>
              </a:rPr>
              <a:t>i</a:t>
            </a:r>
            <a:r>
              <a:rPr sz="2100" i="1" spc="238" baseline="-11904" dirty="0">
                <a:latin typeface="Verdana"/>
                <a:cs typeface="Verdana"/>
              </a:rPr>
              <a:t> </a:t>
            </a:r>
            <a:r>
              <a:rPr sz="2000" spc="258" dirty="0">
                <a:latin typeface="Georgia"/>
                <a:cs typeface="Georgia"/>
              </a:rPr>
              <a:t>=</a:t>
            </a:r>
            <a:r>
              <a:rPr sz="2000" spc="69" dirty="0">
                <a:latin typeface="Georgia"/>
                <a:cs typeface="Georgia"/>
              </a:rPr>
              <a:t> </a:t>
            </a:r>
            <a:r>
              <a:rPr sz="2000" i="1" spc="30" dirty="0">
                <a:latin typeface="Calibri"/>
                <a:cs typeface="Calibri"/>
              </a:rPr>
              <a:t>a</a:t>
            </a:r>
            <a:r>
              <a:rPr sz="2000" i="1" spc="20" dirty="0">
                <a:latin typeface="Calibri"/>
                <a:cs typeface="Calibri"/>
              </a:rPr>
              <a:t>t</a:t>
            </a:r>
            <a:r>
              <a:rPr sz="2000" i="1" spc="208" dirty="0">
                <a:latin typeface="Calibri"/>
                <a:cs typeface="Calibri"/>
              </a:rPr>
              <a:t> </a:t>
            </a:r>
            <a:r>
              <a:rPr sz="2000" spc="-50" dirty="0">
                <a:latin typeface="Georgia"/>
                <a:cs typeface="Georgia"/>
              </a:rPr>
              <a:t>and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i="1" spc="139" dirty="0">
                <a:latin typeface="Calibri"/>
                <a:cs typeface="Calibri"/>
              </a:rPr>
              <a:t>s</a:t>
            </a:r>
            <a:r>
              <a:rPr sz="2100" i="1" spc="252" baseline="-11904" dirty="0">
                <a:latin typeface="Verdana"/>
                <a:cs typeface="Verdana"/>
              </a:rPr>
              <a:t>i</a:t>
            </a:r>
            <a:r>
              <a:rPr sz="2100" spc="-14" baseline="-11904" dirty="0">
                <a:latin typeface="Verdana"/>
                <a:cs typeface="Verdana"/>
              </a:rPr>
              <a:t>+1</a:t>
            </a:r>
            <a:r>
              <a:rPr sz="2100" spc="238" baseline="-11904" dirty="0">
                <a:latin typeface="Verdana"/>
                <a:cs typeface="Verdana"/>
              </a:rPr>
              <a:t> </a:t>
            </a:r>
            <a:r>
              <a:rPr sz="2000" spc="258" dirty="0">
                <a:latin typeface="Georgia"/>
                <a:cs typeface="Georgia"/>
              </a:rPr>
              <a:t>=</a:t>
            </a:r>
            <a:r>
              <a:rPr sz="2000" spc="69" dirty="0">
                <a:latin typeface="Georgia"/>
                <a:cs typeface="Georgia"/>
              </a:rPr>
              <a:t> </a:t>
            </a:r>
            <a:r>
              <a:rPr sz="2000" i="1" spc="-178" dirty="0">
                <a:latin typeface="Calibri"/>
                <a:cs typeface="Calibri"/>
              </a:rPr>
              <a:t>b</a:t>
            </a:r>
            <a:r>
              <a:rPr sz="2000" i="1" spc="208" dirty="0">
                <a:latin typeface="Calibri"/>
                <a:cs typeface="Calibri"/>
              </a:rPr>
              <a:t> </a:t>
            </a:r>
            <a:r>
              <a:rPr sz="2000" spc="-69" dirty="0">
                <a:latin typeface="Georgia"/>
                <a:cs typeface="Georgia"/>
              </a:rPr>
              <a:t>fo</a:t>
            </a:r>
            <a:r>
              <a:rPr sz="2000" spc="-59" dirty="0">
                <a:latin typeface="Georgia"/>
                <a:cs typeface="Georgia"/>
              </a:rPr>
              <a:t>r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spc="-89" dirty="0">
                <a:latin typeface="Georgia"/>
                <a:cs typeface="Georgia"/>
              </a:rPr>
              <a:t>some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i="1" spc="40" dirty="0">
                <a:latin typeface="Calibri"/>
                <a:cs typeface="Calibri"/>
              </a:rPr>
              <a:t>a</a:t>
            </a:r>
            <a:r>
              <a:rPr sz="2000" i="1" spc="20" dirty="0">
                <a:latin typeface="Calibri"/>
                <a:cs typeface="Calibri"/>
              </a:rPr>
              <a:t>,</a:t>
            </a:r>
            <a:r>
              <a:rPr sz="2000" i="1" spc="-129" dirty="0">
                <a:latin typeface="Calibri"/>
                <a:cs typeface="Calibri"/>
              </a:rPr>
              <a:t> </a:t>
            </a:r>
            <a:r>
              <a:rPr sz="2000" i="1" spc="-178" dirty="0">
                <a:latin typeface="Calibri"/>
                <a:cs typeface="Calibri"/>
              </a:rPr>
              <a:t>b</a:t>
            </a:r>
            <a:r>
              <a:rPr sz="2000" i="1" spc="99" dirty="0">
                <a:latin typeface="Calibri"/>
                <a:cs typeface="Calibri"/>
              </a:rPr>
              <a:t> </a:t>
            </a:r>
            <a:r>
              <a:rPr sz="2000" spc="79" dirty="0">
                <a:latin typeface="Cambria"/>
                <a:cs typeface="Cambria"/>
              </a:rPr>
              <a:t>∈</a:t>
            </a:r>
            <a:r>
              <a:rPr sz="2000" spc="109" dirty="0">
                <a:latin typeface="Cambria"/>
                <a:cs typeface="Cambria"/>
              </a:rPr>
              <a:t> </a:t>
            </a:r>
            <a:r>
              <a:rPr sz="2000" spc="69" dirty="0">
                <a:latin typeface="Georgia"/>
                <a:cs typeface="Georgia"/>
              </a:rPr>
              <a:t>Γ</a:t>
            </a:r>
            <a:r>
              <a:rPr sz="2100" i="1" spc="14" baseline="-11904" dirty="0">
                <a:latin typeface="Verdana"/>
                <a:cs typeface="Verdana"/>
              </a:rPr>
              <a:t>e</a:t>
            </a:r>
            <a:r>
              <a:rPr sz="2000" i="1" spc="129" dirty="0">
                <a:latin typeface="Calibri"/>
                <a:cs typeface="Calibri"/>
              </a:rPr>
              <a:t>psi</a:t>
            </a:r>
            <a:r>
              <a:rPr sz="2000" i="1" spc="119" dirty="0">
                <a:latin typeface="Calibri"/>
                <a:cs typeface="Calibri"/>
              </a:rPr>
              <a:t>l</a:t>
            </a:r>
            <a:r>
              <a:rPr sz="2000" i="1" spc="40" dirty="0">
                <a:latin typeface="Calibri"/>
                <a:cs typeface="Calibri"/>
              </a:rPr>
              <a:t>o</a:t>
            </a:r>
            <a:r>
              <a:rPr sz="2000" i="1" spc="50" dirty="0">
                <a:latin typeface="Calibri"/>
                <a:cs typeface="Calibri"/>
              </a:rPr>
              <a:t>n</a:t>
            </a:r>
            <a:r>
              <a:rPr sz="2000" i="1" spc="208" dirty="0">
                <a:latin typeface="Calibri"/>
                <a:cs typeface="Calibri"/>
              </a:rPr>
              <a:t> </a:t>
            </a:r>
            <a:r>
              <a:rPr sz="2000" spc="-50" dirty="0">
                <a:latin typeface="Georgia"/>
                <a:cs typeface="Georgia"/>
              </a:rPr>
              <a:t>and</a:t>
            </a:r>
            <a:r>
              <a:rPr sz="2000" spc="178" dirty="0">
                <a:latin typeface="Georgia"/>
                <a:cs typeface="Georgia"/>
              </a:rPr>
              <a:t> </a:t>
            </a:r>
            <a:r>
              <a:rPr sz="2000" i="1" spc="40" dirty="0">
                <a:latin typeface="Calibri"/>
                <a:cs typeface="Calibri"/>
              </a:rPr>
              <a:t>t</a:t>
            </a:r>
            <a:r>
              <a:rPr sz="2000" i="1" spc="99" dirty="0">
                <a:latin typeface="Calibri"/>
                <a:cs typeface="Calibri"/>
              </a:rPr>
              <a:t> </a:t>
            </a:r>
            <a:r>
              <a:rPr sz="2000" spc="79" dirty="0">
                <a:latin typeface="Cambria"/>
                <a:cs typeface="Cambria"/>
              </a:rPr>
              <a:t>∈</a:t>
            </a:r>
            <a:r>
              <a:rPr sz="2000" spc="109" dirty="0">
                <a:latin typeface="Cambria"/>
                <a:cs typeface="Cambria"/>
              </a:rPr>
              <a:t> </a:t>
            </a:r>
            <a:r>
              <a:rPr sz="2000" spc="59" dirty="0">
                <a:latin typeface="Georgia"/>
                <a:cs typeface="Georgia"/>
              </a:rPr>
              <a:t>Γ</a:t>
            </a:r>
            <a:r>
              <a:rPr sz="2100" spc="-446" baseline="27777" dirty="0">
                <a:latin typeface="Lucida Sans Unicode"/>
                <a:cs typeface="Lucida Sans Unicode"/>
              </a:rPr>
              <a:t>∗</a:t>
            </a:r>
            <a:endParaRPr sz="2100" baseline="27777">
              <a:latin typeface="Lucida Sans Unicode"/>
              <a:cs typeface="Lucida Sans Unicode"/>
            </a:endParaRPr>
          </a:p>
          <a:p>
            <a:pPr marL="674798">
              <a:lnSpc>
                <a:spcPts val="2379"/>
              </a:lnSpc>
            </a:pPr>
            <a:r>
              <a:rPr sz="2000" i="1" spc="129" dirty="0">
                <a:latin typeface="Calibri"/>
                <a:cs typeface="Calibri"/>
              </a:rPr>
              <a:t>r</a:t>
            </a:r>
            <a:r>
              <a:rPr sz="2100" i="1" spc="192" baseline="-11904" dirty="0">
                <a:latin typeface="Verdana"/>
                <a:cs typeface="Verdana"/>
              </a:rPr>
              <a:t>m</a:t>
            </a:r>
            <a:r>
              <a:rPr sz="2100" i="1" spc="133" baseline="-11904" dirty="0">
                <a:latin typeface="Verdana"/>
                <a:cs typeface="Verdana"/>
              </a:rPr>
              <a:t> </a:t>
            </a:r>
            <a:r>
              <a:rPr sz="2000" spc="79" dirty="0">
                <a:latin typeface="Cambria"/>
                <a:cs typeface="Cambria"/>
              </a:rPr>
              <a:t>∈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i="1" spc="357" dirty="0">
                <a:latin typeface="Calibri"/>
                <a:cs typeface="Calibri"/>
              </a:rPr>
              <a:t>F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96844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6807" y="-32987"/>
            <a:ext cx="2287260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109" dirty="0"/>
              <a:t>Example</a:t>
            </a:r>
            <a:r>
              <a:rPr spc="40" dirty="0"/>
              <a:t> </a:t>
            </a:r>
            <a:r>
              <a:rPr spc="159" dirty="0"/>
              <a:t>PDA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4826" y="2217055"/>
            <a:ext cx="7677937" cy="1083438"/>
          </a:xfrm>
          <a:prstGeom prst="rect">
            <a:avLst/>
          </a:prstGeom>
        </p:spPr>
        <p:txBody>
          <a:bodyPr vert="horz" wrap="square" lIns="0" tIns="67983" rIns="0" bIns="0" rtlCol="0">
            <a:spAutoFit/>
          </a:bodyPr>
          <a:lstStyle/>
          <a:p>
            <a:pPr marL="387757" indent="-263121">
              <a:spcBef>
                <a:spcPts val="5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89016" algn="l"/>
              </a:tabLst>
            </a:pPr>
            <a:r>
              <a:rPr sz="2200" spc="10" dirty="0">
                <a:latin typeface="Georgia"/>
                <a:cs typeface="Georgia"/>
              </a:rPr>
              <a:t>Let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555" dirty="0">
                <a:latin typeface="Calibri"/>
                <a:cs typeface="Calibri"/>
              </a:rPr>
              <a:t>L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226" dirty="0">
                <a:latin typeface="Cambria"/>
                <a:cs typeface="Cambria"/>
              </a:rPr>
              <a:t>{</a:t>
            </a:r>
            <a:r>
              <a:rPr sz="2200" spc="-268" dirty="0">
                <a:latin typeface="Georgia"/>
                <a:cs typeface="Georgia"/>
              </a:rPr>
              <a:t>0</a:t>
            </a:r>
            <a:r>
              <a:rPr sz="2400" i="1" spc="149" baseline="27777" dirty="0">
                <a:latin typeface="Verdana"/>
                <a:cs typeface="Verdana"/>
              </a:rPr>
              <a:t>n</a:t>
            </a:r>
            <a:r>
              <a:rPr sz="2200" spc="129" dirty="0">
                <a:latin typeface="Georgia"/>
                <a:cs typeface="Georgia"/>
              </a:rPr>
              <a:t>1</a:t>
            </a:r>
            <a:r>
              <a:rPr sz="2400" i="1" spc="14" baseline="27777" dirty="0">
                <a:latin typeface="Verdana"/>
                <a:cs typeface="Verdana"/>
              </a:rPr>
              <a:t>n</a:t>
            </a:r>
            <a:r>
              <a:rPr sz="2400" i="1" spc="206" baseline="27777" dirty="0">
                <a:latin typeface="Verdana"/>
                <a:cs typeface="Verdana"/>
              </a:rPr>
              <a:t> 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169" dirty="0">
                <a:latin typeface="Calibri"/>
                <a:cs typeface="Calibri"/>
              </a:rPr>
              <a:t>n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466" dirty="0">
                <a:latin typeface="Cambria"/>
                <a:cs typeface="Cambria"/>
              </a:rPr>
              <a:t>≥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spc="226" dirty="0">
                <a:latin typeface="Cambria"/>
                <a:cs typeface="Cambria"/>
              </a:rPr>
              <a:t>}</a:t>
            </a:r>
            <a:r>
              <a:rPr sz="2200" spc="10" dirty="0">
                <a:latin typeface="Georgia"/>
                <a:cs typeface="Georgia"/>
              </a:rPr>
              <a:t>,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le</a:t>
            </a:r>
            <a:r>
              <a:rPr sz="2200" spc="-10" dirty="0">
                <a:latin typeface="Georgia"/>
                <a:cs typeface="Georgia"/>
              </a:rPr>
              <a:t>t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i="1" spc="226" dirty="0">
                <a:latin typeface="Calibri"/>
                <a:cs typeface="Calibri"/>
              </a:rPr>
              <a:t>M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15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10" dirty="0">
                <a:latin typeface="Georgia"/>
                <a:cs typeface="Georgia"/>
              </a:rPr>
              <a:t>(</a:t>
            </a:r>
            <a:r>
              <a:rPr sz="2200" i="1" spc="218" dirty="0">
                <a:latin typeface="Calibri"/>
                <a:cs typeface="Calibri"/>
              </a:rPr>
              <a:t>Q</a:t>
            </a:r>
            <a:r>
              <a:rPr sz="2200" i="1" spc="7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238" dirty="0">
                <a:latin typeface="Georgia"/>
                <a:cs typeface="Georgia"/>
              </a:rPr>
              <a:t>Σ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79" dirty="0">
                <a:latin typeface="Georgia"/>
                <a:cs typeface="Georgia"/>
              </a:rPr>
              <a:t>Γ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226" dirty="0">
                <a:latin typeface="Calibri"/>
                <a:cs typeface="Calibri"/>
              </a:rPr>
              <a:t>δ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159" dirty="0">
                <a:latin typeface="Calibri"/>
                <a:cs typeface="Calibri"/>
              </a:rPr>
              <a:t>q</a:t>
            </a:r>
            <a:r>
              <a:rPr sz="2400" spc="206" baseline="-10416" dirty="0">
                <a:latin typeface="Palatino Linotype"/>
                <a:cs typeface="Palatino Linotype"/>
              </a:rPr>
              <a:t>1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spc="-198" dirty="0">
                <a:latin typeface="Calibri"/>
                <a:cs typeface="Calibri"/>
              </a:rPr>
              <a:t> </a:t>
            </a:r>
            <a:r>
              <a:rPr sz="2200" spc="10" dirty="0">
                <a:latin typeface="Georgia"/>
                <a:cs typeface="Georgia"/>
              </a:rPr>
              <a:t>),</a:t>
            </a:r>
            <a:r>
              <a:rPr sz="2200" spc="188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where</a:t>
            </a:r>
            <a:endParaRPr sz="2200">
              <a:latin typeface="Georgia"/>
              <a:cs typeface="Georgia"/>
            </a:endParaRPr>
          </a:p>
          <a:p>
            <a:pPr marL="387757" indent="-263121">
              <a:lnSpc>
                <a:spcPts val="2419"/>
              </a:lnSpc>
              <a:spcBef>
                <a:spcPts val="337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89016" algn="l"/>
              </a:tabLst>
            </a:pPr>
            <a:r>
              <a:rPr sz="2200" i="1" spc="258" dirty="0">
                <a:latin typeface="Calibri"/>
                <a:cs typeface="Calibri"/>
              </a:rPr>
              <a:t>Q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59" dirty="0">
                <a:latin typeface="Cambria"/>
                <a:cs typeface="Cambria"/>
              </a:rPr>
              <a:t>{</a:t>
            </a:r>
            <a:r>
              <a:rPr sz="2200" i="1" spc="59" dirty="0">
                <a:latin typeface="Calibri"/>
                <a:cs typeface="Calibri"/>
              </a:rPr>
              <a:t>q</a:t>
            </a:r>
            <a:r>
              <a:rPr sz="2400" spc="87" baseline="-10416" dirty="0">
                <a:latin typeface="Palatino Linotype"/>
                <a:cs typeface="Palatino Linotype"/>
              </a:rPr>
              <a:t>1</a:t>
            </a:r>
            <a:r>
              <a:rPr sz="2200" i="1" spc="5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0" dirty="0">
                <a:latin typeface="Calibri"/>
                <a:cs typeface="Calibri"/>
              </a:rPr>
              <a:t>q</a:t>
            </a:r>
            <a:r>
              <a:rPr sz="2400" spc="14" baseline="-10416" dirty="0">
                <a:latin typeface="Palatino Linotype"/>
                <a:cs typeface="Palatino Linotype"/>
              </a:rPr>
              <a:t>2</a:t>
            </a:r>
            <a:r>
              <a:rPr sz="2200" i="1" spc="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0" dirty="0">
                <a:latin typeface="Calibri"/>
                <a:cs typeface="Calibri"/>
              </a:rPr>
              <a:t>q</a:t>
            </a:r>
            <a:r>
              <a:rPr sz="2400" spc="14" baseline="-10416" dirty="0">
                <a:latin typeface="Palatino Linotype"/>
                <a:cs typeface="Palatino Linotype"/>
              </a:rPr>
              <a:t>3</a:t>
            </a:r>
            <a:r>
              <a:rPr sz="2200" i="1" spc="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9" dirty="0">
                <a:latin typeface="Calibri"/>
                <a:cs typeface="Calibri"/>
              </a:rPr>
              <a:t>q</a:t>
            </a:r>
            <a:r>
              <a:rPr sz="2400" spc="87" baseline="-10416" dirty="0">
                <a:latin typeface="Palatino Linotype"/>
                <a:cs typeface="Palatino Linotype"/>
              </a:rPr>
              <a:t>4</a:t>
            </a:r>
            <a:r>
              <a:rPr sz="2200" spc="59" dirty="0">
                <a:latin typeface="Cambria"/>
                <a:cs typeface="Cambria"/>
              </a:rPr>
              <a:t>}</a:t>
            </a:r>
            <a:r>
              <a:rPr sz="2200" spc="59" dirty="0">
                <a:latin typeface="Georgia"/>
                <a:cs typeface="Georgia"/>
              </a:rPr>
              <a:t>,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spc="238" dirty="0">
                <a:latin typeface="Georgia"/>
                <a:cs typeface="Georgia"/>
              </a:rPr>
              <a:t>Σ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dirty="0">
                <a:latin typeface="Cambria"/>
                <a:cs typeface="Cambria"/>
              </a:rPr>
              <a:t>{</a:t>
            </a:r>
            <a:r>
              <a:rPr sz="2200" dirty="0">
                <a:latin typeface="Georgia"/>
                <a:cs typeface="Georgia"/>
              </a:rPr>
              <a:t>0</a:t>
            </a:r>
            <a:r>
              <a:rPr sz="2200" i="1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119" dirty="0">
                <a:latin typeface="Georgia"/>
                <a:cs typeface="Georgia"/>
              </a:rPr>
              <a:t>1</a:t>
            </a:r>
            <a:r>
              <a:rPr sz="2200" spc="119" dirty="0">
                <a:latin typeface="Cambria"/>
                <a:cs typeface="Cambria"/>
              </a:rPr>
              <a:t>}</a:t>
            </a:r>
            <a:r>
              <a:rPr sz="2200" spc="119" dirty="0">
                <a:latin typeface="Georgia"/>
                <a:cs typeface="Georgia"/>
              </a:rPr>
              <a:t>,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79" dirty="0">
                <a:latin typeface="Georgia"/>
                <a:cs typeface="Georgia"/>
              </a:rPr>
              <a:t>Γ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dirty="0">
                <a:latin typeface="Cambria"/>
                <a:cs typeface="Cambria"/>
              </a:rPr>
              <a:t>{</a:t>
            </a:r>
            <a:r>
              <a:rPr sz="2200" dirty="0">
                <a:latin typeface="Georgia"/>
                <a:cs typeface="Georgia"/>
              </a:rPr>
              <a:t>0</a:t>
            </a:r>
            <a:r>
              <a:rPr sz="2200" i="1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10" dirty="0">
                <a:latin typeface="Georgia"/>
                <a:cs typeface="Georgia"/>
              </a:rPr>
              <a:t>$</a:t>
            </a:r>
            <a:r>
              <a:rPr sz="2200" spc="-10" dirty="0">
                <a:latin typeface="Cambria"/>
                <a:cs typeface="Cambria"/>
              </a:rPr>
              <a:t>}</a:t>
            </a:r>
            <a:r>
              <a:rPr sz="2200" spc="-10" dirty="0">
                <a:latin typeface="Georgia"/>
                <a:cs typeface="Georgia"/>
              </a:rPr>
              <a:t>,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i="1" spc="387" dirty="0">
                <a:latin typeface="Calibri"/>
                <a:cs typeface="Calibri"/>
              </a:rPr>
              <a:t>F</a:t>
            </a:r>
            <a:r>
              <a:rPr sz="2200" i="1" spc="404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69" dirty="0">
                <a:latin typeface="Cambria"/>
                <a:cs typeface="Cambria"/>
              </a:rPr>
              <a:t>{</a:t>
            </a:r>
            <a:r>
              <a:rPr sz="2200" i="1" spc="69" dirty="0">
                <a:latin typeface="Calibri"/>
                <a:cs typeface="Calibri"/>
              </a:rPr>
              <a:t>q</a:t>
            </a:r>
            <a:r>
              <a:rPr sz="2400" spc="103" baseline="-10416" dirty="0">
                <a:latin typeface="Palatino Linotype"/>
                <a:cs typeface="Palatino Linotype"/>
              </a:rPr>
              <a:t>1</a:t>
            </a:r>
            <a:r>
              <a:rPr sz="2200" i="1" spc="6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59" dirty="0">
                <a:latin typeface="Calibri"/>
                <a:cs typeface="Calibri"/>
              </a:rPr>
              <a:t>q</a:t>
            </a:r>
            <a:r>
              <a:rPr sz="2400" spc="87" baseline="-10416" dirty="0">
                <a:latin typeface="Palatino Linotype"/>
                <a:cs typeface="Palatino Linotype"/>
              </a:rPr>
              <a:t>4</a:t>
            </a:r>
            <a:r>
              <a:rPr sz="2200" spc="59" dirty="0">
                <a:latin typeface="Cambria"/>
                <a:cs typeface="Cambria"/>
              </a:rPr>
              <a:t>}</a:t>
            </a:r>
            <a:r>
              <a:rPr sz="2200" spc="59" dirty="0">
                <a:latin typeface="Georgia"/>
                <a:cs typeface="Georgia"/>
              </a:rPr>
              <a:t>,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i="1" spc="-188" dirty="0">
                <a:latin typeface="Calibri"/>
                <a:cs typeface="Calibri"/>
              </a:rPr>
              <a:t>δ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spc="-79" dirty="0">
                <a:latin typeface="Georgia"/>
                <a:cs typeface="Georgia"/>
              </a:rPr>
              <a:t>is</a:t>
            </a:r>
            <a:endParaRPr sz="2200">
              <a:latin typeface="Georgia"/>
              <a:cs typeface="Georgia"/>
            </a:endParaRPr>
          </a:p>
          <a:p>
            <a:pPr marL="387757">
              <a:lnSpc>
                <a:spcPts val="2419"/>
              </a:lnSpc>
            </a:pPr>
            <a:r>
              <a:rPr sz="2200" spc="-59" dirty="0">
                <a:latin typeface="Georgia"/>
                <a:cs typeface="Georgia"/>
              </a:rPr>
              <a:t>given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by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69" dirty="0">
                <a:latin typeface="Georgia"/>
                <a:cs typeface="Georgia"/>
              </a:rPr>
              <a:t>following</a:t>
            </a:r>
            <a:r>
              <a:rPr sz="2200" spc="169" dirty="0">
                <a:latin typeface="Georgia"/>
                <a:cs typeface="Georgia"/>
              </a:rPr>
              <a:t> </a:t>
            </a:r>
            <a:r>
              <a:rPr sz="2200" spc="-30" dirty="0">
                <a:latin typeface="Georgia"/>
                <a:cs typeface="Georgia"/>
              </a:rPr>
              <a:t>table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462" y="3569027"/>
            <a:ext cx="2287260" cy="186236"/>
            <a:chOff x="1071587" y="1801037"/>
            <a:chExt cx="1153160" cy="93980"/>
          </a:xfrm>
        </p:grpSpPr>
        <p:sp>
          <p:nvSpPr>
            <p:cNvPr id="5" name="object 5"/>
            <p:cNvSpPr/>
            <p:nvPr/>
          </p:nvSpPr>
          <p:spPr>
            <a:xfrm>
              <a:off x="1074127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9195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7000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22068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57769" y="3521322"/>
            <a:ext cx="143583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200" spc="-4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45493" y="3569027"/>
            <a:ext cx="20152" cy="186236"/>
            <a:chOff x="3047936" y="1801037"/>
            <a:chExt cx="10160" cy="93980"/>
          </a:xfrm>
        </p:grpSpPr>
        <p:sp>
          <p:nvSpPr>
            <p:cNvPr id="11" name="object 11"/>
            <p:cNvSpPr/>
            <p:nvPr/>
          </p:nvSpPr>
          <p:spPr>
            <a:xfrm>
              <a:off x="3050476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5531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119373" y="3521322"/>
            <a:ext cx="129729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200" i="1" dirty="0"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2028" y="3569028"/>
            <a:ext cx="6946165" cy="371213"/>
            <a:chOff x="691730" y="1801037"/>
            <a:chExt cx="3502025" cy="187325"/>
          </a:xfrm>
        </p:grpSpPr>
        <p:sp>
          <p:nvSpPr>
            <p:cNvPr id="15" name="object 15"/>
            <p:cNvSpPr/>
            <p:nvPr/>
          </p:nvSpPr>
          <p:spPr>
            <a:xfrm>
              <a:off x="4188282" y="180357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70" y="1894687"/>
              <a:ext cx="3496945" cy="0"/>
            </a:xfrm>
            <a:custGeom>
              <a:avLst/>
              <a:gdLst/>
              <a:ahLst/>
              <a:cxnLst/>
              <a:rect l="l" t="t" r="r" b="b"/>
              <a:pathLst>
                <a:path w="3496945">
                  <a:moveTo>
                    <a:pt x="0" y="0"/>
                  </a:moveTo>
                  <a:lnTo>
                    <a:pt x="349653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4127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9195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57172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62227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77373" y="3521322"/>
            <a:ext cx="1964826" cy="39348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  <a:tabLst>
                <a:tab pos="1743647" algn="l"/>
              </a:tabLst>
            </a:pPr>
            <a:r>
              <a:rPr sz="1200" spc="89" dirty="0">
                <a:latin typeface="Georgia"/>
                <a:cs typeface="Georgia"/>
              </a:rPr>
              <a:t>Input:	</a:t>
            </a:r>
            <a:r>
              <a:rPr sz="1200" spc="-40" dirty="0"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  <a:p>
            <a:pPr marL="26438">
              <a:spcBef>
                <a:spcPts val="40"/>
              </a:spcBef>
              <a:tabLst>
                <a:tab pos="793139" algn="l"/>
                <a:tab pos="1450312" algn="l"/>
              </a:tabLst>
            </a:pPr>
            <a:r>
              <a:rPr sz="1200" spc="99" dirty="0">
                <a:latin typeface="Georgia"/>
                <a:cs typeface="Georgia"/>
              </a:rPr>
              <a:t>Stack:	</a:t>
            </a:r>
            <a:r>
              <a:rPr sz="1200" spc="-40" dirty="0">
                <a:latin typeface="Verdana"/>
                <a:cs typeface="Verdana"/>
              </a:rPr>
              <a:t>0	$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42023" y="3754585"/>
            <a:ext cx="20152" cy="186236"/>
            <a:chOff x="1735353" y="1894675"/>
            <a:chExt cx="10160" cy="93980"/>
          </a:xfrm>
        </p:grpSpPr>
        <p:sp>
          <p:nvSpPr>
            <p:cNvPr id="23" name="object 23"/>
            <p:cNvSpPr/>
            <p:nvPr/>
          </p:nvSpPr>
          <p:spPr>
            <a:xfrm>
              <a:off x="1737893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2947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62100" y="3706878"/>
            <a:ext cx="930774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1200" i="1" dirty="0"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92317" y="3754585"/>
            <a:ext cx="20152" cy="186236"/>
            <a:chOff x="2214460" y="1894675"/>
            <a:chExt cx="10160" cy="93980"/>
          </a:xfrm>
        </p:grpSpPr>
        <p:sp>
          <p:nvSpPr>
            <p:cNvPr id="27" name="object 27"/>
            <p:cNvSpPr/>
            <p:nvPr/>
          </p:nvSpPr>
          <p:spPr>
            <a:xfrm>
              <a:off x="2217000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22068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12420" y="3706878"/>
            <a:ext cx="920696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1200" spc="-40" dirty="0"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32589" y="3754585"/>
            <a:ext cx="384149" cy="186236"/>
            <a:chOff x="2688513" y="1894675"/>
            <a:chExt cx="193675" cy="93980"/>
          </a:xfrm>
        </p:grpSpPr>
        <p:sp>
          <p:nvSpPr>
            <p:cNvPr id="31" name="object 31"/>
            <p:cNvSpPr/>
            <p:nvPr/>
          </p:nvSpPr>
          <p:spPr>
            <a:xfrm>
              <a:off x="2691053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96121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74098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79166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352691" y="3706878"/>
            <a:ext cx="693987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124636">
              <a:spcBef>
                <a:spcPts val="188"/>
              </a:spcBef>
              <a:tabLst>
                <a:tab pos="487214" algn="l"/>
              </a:tabLst>
            </a:pPr>
            <a:r>
              <a:rPr sz="1200" spc="-40" dirty="0">
                <a:latin typeface="Verdana"/>
                <a:cs typeface="Verdana"/>
              </a:rPr>
              <a:t>$	</a:t>
            </a:r>
            <a:r>
              <a:rPr sz="1200" i="1" dirty="0"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045493" y="3754585"/>
            <a:ext cx="20152" cy="186236"/>
            <a:chOff x="3047936" y="1894675"/>
            <a:chExt cx="10160" cy="93980"/>
          </a:xfrm>
        </p:grpSpPr>
        <p:sp>
          <p:nvSpPr>
            <p:cNvPr id="37" name="object 37"/>
            <p:cNvSpPr/>
            <p:nvPr/>
          </p:nvSpPr>
          <p:spPr>
            <a:xfrm>
              <a:off x="3050476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55531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65569" y="3706878"/>
            <a:ext cx="920696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1200" spc="-40" dirty="0"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985763" y="3754585"/>
            <a:ext cx="20152" cy="186236"/>
            <a:chOff x="3521989" y="1894675"/>
            <a:chExt cx="10160" cy="93980"/>
          </a:xfrm>
        </p:grpSpPr>
        <p:sp>
          <p:nvSpPr>
            <p:cNvPr id="41" name="object 41"/>
            <p:cNvSpPr/>
            <p:nvPr/>
          </p:nvSpPr>
          <p:spPr>
            <a:xfrm>
              <a:off x="3524529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29583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005841" y="3706878"/>
            <a:ext cx="343845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1200" spc="-40" dirty="0">
                <a:latin typeface="Verdana"/>
                <a:cs typeface="Verdana"/>
              </a:rPr>
              <a:t>$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348802" y="3754585"/>
            <a:ext cx="20152" cy="186236"/>
            <a:chOff x="3705021" y="1894675"/>
            <a:chExt cx="10160" cy="93980"/>
          </a:xfrm>
        </p:grpSpPr>
        <p:sp>
          <p:nvSpPr>
            <p:cNvPr id="45" name="object 45"/>
            <p:cNvSpPr/>
            <p:nvPr/>
          </p:nvSpPr>
          <p:spPr>
            <a:xfrm>
              <a:off x="3707561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12629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368904" y="3706878"/>
            <a:ext cx="934552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1200" i="1" dirty="0">
                <a:latin typeface="Verdana"/>
                <a:cs typeface="Verdana"/>
              </a:rPr>
              <a:t>c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372028" y="3754586"/>
            <a:ext cx="6946165" cy="371213"/>
            <a:chOff x="691730" y="1894675"/>
            <a:chExt cx="3502025" cy="187325"/>
          </a:xfrm>
        </p:grpSpPr>
        <p:sp>
          <p:nvSpPr>
            <p:cNvPr id="49" name="object 49"/>
            <p:cNvSpPr/>
            <p:nvPr/>
          </p:nvSpPr>
          <p:spPr>
            <a:xfrm>
              <a:off x="4188282" y="189721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4270" y="1988312"/>
              <a:ext cx="3496945" cy="0"/>
            </a:xfrm>
            <a:custGeom>
              <a:avLst/>
              <a:gdLst/>
              <a:ahLst/>
              <a:cxnLst/>
              <a:rect l="l" t="t" r="r" b="b"/>
              <a:pathLst>
                <a:path w="3496945">
                  <a:moveTo>
                    <a:pt x="0" y="0"/>
                  </a:moveTo>
                  <a:lnTo>
                    <a:pt x="349653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74127" y="199083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17000" y="199083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50476" y="199083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408780" y="3892410"/>
            <a:ext cx="853944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1200" i="1" spc="-10" dirty="0">
                <a:latin typeface="Verdana"/>
                <a:cs typeface="Verdana"/>
              </a:rPr>
              <a:t>{</a:t>
            </a:r>
            <a:r>
              <a:rPr sz="1200" spc="30" dirty="0">
                <a:latin typeface="Verdana"/>
                <a:cs typeface="Verdana"/>
              </a:rPr>
              <a:t>(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311" baseline="-11111" dirty="0">
                <a:latin typeface="Cambria"/>
                <a:cs typeface="Cambria"/>
              </a:rPr>
              <a:t>2</a:t>
            </a:r>
            <a:r>
              <a:rPr sz="1200" i="1" spc="10" dirty="0">
                <a:latin typeface="Verdana"/>
                <a:cs typeface="Verdana"/>
              </a:rPr>
              <a:t>,</a:t>
            </a:r>
            <a:r>
              <a:rPr sz="1200" i="1" spc="-169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$)</a:t>
            </a:r>
            <a:r>
              <a:rPr sz="1200" i="1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130500" y="4120664"/>
            <a:ext cx="0" cy="176169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569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548479" y="4067925"/>
            <a:ext cx="853944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1200" i="1" spc="-10" dirty="0">
                <a:latin typeface="Verdana"/>
                <a:cs typeface="Verdana"/>
              </a:rPr>
              <a:t>{</a:t>
            </a:r>
            <a:r>
              <a:rPr sz="1200" spc="30" dirty="0">
                <a:latin typeface="Verdana"/>
                <a:cs typeface="Verdana"/>
              </a:rPr>
              <a:t>(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311" baseline="-11111" dirty="0">
                <a:latin typeface="Cambria"/>
                <a:cs typeface="Cambria"/>
              </a:rPr>
              <a:t>2</a:t>
            </a:r>
            <a:r>
              <a:rPr sz="1200" i="1" spc="10" dirty="0">
                <a:latin typeface="Verdana"/>
                <a:cs typeface="Verdana"/>
              </a:rPr>
              <a:t>,</a:t>
            </a:r>
            <a:r>
              <a:rPr sz="1200" i="1" spc="-169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0)</a:t>
            </a:r>
            <a:r>
              <a:rPr sz="1200" i="1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502044" y="4067925"/>
            <a:ext cx="841349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1200" i="1" spc="-10" dirty="0">
                <a:latin typeface="Verdana"/>
                <a:cs typeface="Verdana"/>
              </a:rPr>
              <a:t>{</a:t>
            </a:r>
            <a:r>
              <a:rPr sz="1200" spc="30" dirty="0">
                <a:latin typeface="Verdana"/>
                <a:cs typeface="Verdana"/>
              </a:rPr>
              <a:t>(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311" baseline="-11111" dirty="0">
                <a:latin typeface="Cambria"/>
                <a:cs typeface="Cambria"/>
              </a:rPr>
              <a:t>3</a:t>
            </a:r>
            <a:r>
              <a:rPr sz="1200" i="1" spc="10" dirty="0">
                <a:latin typeface="Verdana"/>
                <a:cs typeface="Verdana"/>
              </a:rPr>
              <a:t>,</a:t>
            </a:r>
            <a:r>
              <a:rPr sz="1200" i="1" spc="-169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</a:t>
            </a:r>
            <a:r>
              <a:rPr sz="1200" spc="30" dirty="0">
                <a:latin typeface="Verdana"/>
                <a:cs typeface="Verdana"/>
              </a:rPr>
              <a:t>)</a:t>
            </a:r>
            <a:r>
              <a:rPr sz="1200" i="1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125463" y="4115631"/>
            <a:ext cx="3930912" cy="361146"/>
            <a:chOff x="1071587" y="2076869"/>
            <a:chExt cx="1981835" cy="182245"/>
          </a:xfrm>
        </p:grpSpPr>
        <p:sp>
          <p:nvSpPr>
            <p:cNvPr id="59" name="object 59"/>
            <p:cNvSpPr/>
            <p:nvPr/>
          </p:nvSpPr>
          <p:spPr>
            <a:xfrm>
              <a:off x="2217000" y="207940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050476" y="207940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4127" y="216797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17000" y="216797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452295" y="4243438"/>
            <a:ext cx="841349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1200" i="1" spc="-10" dirty="0">
                <a:latin typeface="Verdana"/>
                <a:cs typeface="Verdana"/>
              </a:rPr>
              <a:t>{</a:t>
            </a:r>
            <a:r>
              <a:rPr sz="1200" spc="30" dirty="0">
                <a:latin typeface="Verdana"/>
                <a:cs typeface="Verdana"/>
              </a:rPr>
              <a:t>(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311" baseline="-11111" dirty="0">
                <a:latin typeface="Cambria"/>
                <a:cs typeface="Cambria"/>
              </a:rPr>
              <a:t>3</a:t>
            </a:r>
            <a:r>
              <a:rPr sz="1200" i="1" spc="10" dirty="0">
                <a:latin typeface="Verdana"/>
                <a:cs typeface="Verdana"/>
              </a:rPr>
              <a:t>,</a:t>
            </a:r>
            <a:r>
              <a:rPr sz="1200" i="1" spc="-169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</a:t>
            </a:r>
            <a:r>
              <a:rPr sz="1200" spc="30" dirty="0">
                <a:latin typeface="Verdana"/>
                <a:cs typeface="Verdana"/>
              </a:rPr>
              <a:t>)</a:t>
            </a:r>
            <a:r>
              <a:rPr sz="1200" i="1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50531" y="4296176"/>
            <a:ext cx="0" cy="176169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569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105445" y="4243438"/>
            <a:ext cx="841349" cy="20882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1200" i="1" spc="-10" dirty="0">
                <a:latin typeface="Verdana"/>
                <a:cs typeface="Verdana"/>
              </a:rPr>
              <a:t>{</a:t>
            </a:r>
            <a:r>
              <a:rPr sz="1200" spc="30" dirty="0">
                <a:latin typeface="Verdana"/>
                <a:cs typeface="Verdana"/>
              </a:rPr>
              <a:t>(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311" baseline="-11111" dirty="0">
                <a:latin typeface="Cambria"/>
                <a:cs typeface="Cambria"/>
              </a:rPr>
              <a:t>4</a:t>
            </a:r>
            <a:r>
              <a:rPr sz="1200" i="1" spc="10" dirty="0">
                <a:latin typeface="Verdana"/>
                <a:cs typeface="Verdana"/>
              </a:rPr>
              <a:t>,</a:t>
            </a:r>
            <a:r>
              <a:rPr sz="1200" i="1" spc="-169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</a:t>
            </a:r>
            <a:r>
              <a:rPr sz="1200" spc="30" dirty="0">
                <a:latin typeface="Verdana"/>
                <a:cs typeface="Verdana"/>
              </a:rPr>
              <a:t>)</a:t>
            </a:r>
            <a:r>
              <a:rPr sz="1200" i="1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83777" y="3892409"/>
            <a:ext cx="323693" cy="757526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75537" marR="60430" algn="just">
              <a:lnSpc>
                <a:spcPts val="1388"/>
              </a:lnSpc>
              <a:spcBef>
                <a:spcPts val="268"/>
              </a:spcBef>
            </a:pP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103" baseline="-11111" dirty="0">
                <a:latin typeface="Cambria"/>
                <a:cs typeface="Cambria"/>
              </a:rPr>
              <a:t>1  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103" baseline="-11111" dirty="0">
                <a:latin typeface="Cambria"/>
                <a:cs typeface="Cambria"/>
              </a:rPr>
              <a:t>2  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103" baseline="-11111" dirty="0">
                <a:latin typeface="Cambria"/>
                <a:cs typeface="Cambria"/>
              </a:rPr>
              <a:t>3  </a:t>
            </a:r>
            <a:r>
              <a:rPr sz="1200" i="1" spc="-79" dirty="0">
                <a:latin typeface="Verdana"/>
                <a:cs typeface="Verdana"/>
              </a:rPr>
              <a:t>q</a:t>
            </a:r>
            <a:r>
              <a:rPr sz="1500" spc="176" baseline="-11111" dirty="0">
                <a:latin typeface="Cambria"/>
                <a:cs typeface="Cambria"/>
              </a:rPr>
              <a:t>4</a:t>
            </a:r>
            <a:endParaRPr sz="1500" baseline="-11111">
              <a:latin typeface="Cambria"/>
              <a:cs typeface="Cambr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125489" y="4471691"/>
            <a:ext cx="3930912" cy="176169"/>
            <a:chOff x="1071600" y="2256548"/>
            <a:chExt cx="1981835" cy="88900"/>
          </a:xfrm>
        </p:grpSpPr>
        <p:sp>
          <p:nvSpPr>
            <p:cNvPr id="68" name="object 68"/>
            <p:cNvSpPr/>
            <p:nvPr/>
          </p:nvSpPr>
          <p:spPr>
            <a:xfrm>
              <a:off x="1074127" y="225654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217000" y="225654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50476" y="225654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85007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523" y="419051"/>
            <a:ext cx="3787329" cy="46521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75537">
              <a:spcBef>
                <a:spcPts val="268"/>
              </a:spcBef>
            </a:pP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r>
              <a:rPr sz="2800" spc="19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30" dirty="0">
                <a:solidFill>
                  <a:srgbClr val="3333B2"/>
                </a:solidFill>
                <a:latin typeface="Times New Roman"/>
                <a:cs typeface="Times New Roman"/>
              </a:rPr>
              <a:t>for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{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1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3000" i="1" spc="625" baseline="27777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2"/>
                </a:solidFill>
                <a:latin typeface="Microsoft Sans Serif"/>
                <a:cs typeface="Microsoft Sans Serif"/>
              </a:rPr>
              <a:t>:</a:t>
            </a:r>
            <a:r>
              <a:rPr sz="2800" spc="2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800" i="1" spc="20" dirty="0">
                <a:solidFill>
                  <a:srgbClr val="3333B2"/>
                </a:solidFill>
                <a:latin typeface="Georgia"/>
                <a:cs typeface="Georgia"/>
              </a:rPr>
              <a:t>n</a:t>
            </a:r>
            <a:r>
              <a:rPr sz="2800" i="1" spc="99" dirty="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sz="2800" spc="674" dirty="0">
                <a:solidFill>
                  <a:srgbClr val="3333B2"/>
                </a:solidFill>
                <a:latin typeface="Cambria"/>
                <a:cs typeface="Cambria"/>
              </a:rPr>
              <a:t>≥</a:t>
            </a:r>
            <a:r>
              <a:rPr sz="2800" spc="149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3523" y="2177054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0521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86026" y="2476118"/>
            <a:ext cx="329990" cy="89343"/>
            <a:chOff x="1303788" y="1249522"/>
            <a:chExt cx="166370" cy="45085"/>
          </a:xfrm>
        </p:grpSpPr>
        <p:sp>
          <p:nvSpPr>
            <p:cNvPr id="6" name="object 6"/>
            <p:cNvSpPr/>
            <p:nvPr/>
          </p:nvSpPr>
          <p:spPr>
            <a:xfrm>
              <a:off x="1303788" y="1271790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49086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97064" y="2306953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7834621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523" y="419051"/>
            <a:ext cx="3787329" cy="46521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75537">
              <a:spcBef>
                <a:spcPts val="268"/>
              </a:spcBef>
            </a:pP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r>
              <a:rPr sz="2800" spc="19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30" dirty="0">
                <a:solidFill>
                  <a:srgbClr val="3333B2"/>
                </a:solidFill>
                <a:latin typeface="Times New Roman"/>
                <a:cs typeface="Times New Roman"/>
              </a:rPr>
              <a:t>for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{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1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3000" i="1" spc="625" baseline="27777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2"/>
                </a:solidFill>
                <a:latin typeface="Microsoft Sans Serif"/>
                <a:cs typeface="Microsoft Sans Serif"/>
              </a:rPr>
              <a:t>:</a:t>
            </a:r>
            <a:r>
              <a:rPr sz="2800" spc="2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800" i="1" spc="20" dirty="0">
                <a:solidFill>
                  <a:srgbClr val="3333B2"/>
                </a:solidFill>
                <a:latin typeface="Georgia"/>
                <a:cs typeface="Georgia"/>
              </a:rPr>
              <a:t>n</a:t>
            </a:r>
            <a:r>
              <a:rPr sz="2800" i="1" spc="99" dirty="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sz="2800" spc="674" dirty="0">
                <a:solidFill>
                  <a:srgbClr val="3333B2"/>
                </a:solidFill>
                <a:latin typeface="Cambria"/>
                <a:cs typeface="Cambria"/>
              </a:rPr>
              <a:t>≥</a:t>
            </a:r>
            <a:r>
              <a:rPr sz="2800" spc="149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3523" y="2177054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0521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80989" y="2172023"/>
            <a:ext cx="3207957" cy="697125"/>
            <a:chOff x="1301248" y="1096067"/>
            <a:chExt cx="1617345" cy="351790"/>
          </a:xfrm>
        </p:grpSpPr>
        <p:sp>
          <p:nvSpPr>
            <p:cNvPr id="6" name="object 6"/>
            <p:cNvSpPr/>
            <p:nvPr/>
          </p:nvSpPr>
          <p:spPr>
            <a:xfrm>
              <a:off x="1303788" y="1271790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49086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9082" y="1098607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97064" y="2306953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2660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2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3082" y="2396823"/>
            <a:ext cx="2541679" cy="274320"/>
            <a:chOff x="1841762" y="1209508"/>
            <a:chExt cx="1281430" cy="1384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9795" y="1209508"/>
              <a:ext cx="213277" cy="138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41762" y="1271790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5">
                  <a:moveTo>
                    <a:pt x="0" y="0"/>
                  </a:moveTo>
                  <a:lnTo>
                    <a:pt x="70631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2895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56459" y="2280276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1640" y="2070610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endParaRPr sz="22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6721475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523" y="419051"/>
            <a:ext cx="3787329" cy="46521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75537">
              <a:spcBef>
                <a:spcPts val="268"/>
              </a:spcBef>
            </a:pP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r>
              <a:rPr sz="2800" spc="19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30" dirty="0">
                <a:solidFill>
                  <a:srgbClr val="3333B2"/>
                </a:solidFill>
                <a:latin typeface="Times New Roman"/>
                <a:cs typeface="Times New Roman"/>
              </a:rPr>
              <a:t>for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{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1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3000" i="1" spc="625" baseline="27777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2"/>
                </a:solidFill>
                <a:latin typeface="Microsoft Sans Serif"/>
                <a:cs typeface="Microsoft Sans Serif"/>
              </a:rPr>
              <a:t>:</a:t>
            </a:r>
            <a:r>
              <a:rPr sz="2800" spc="2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800" i="1" spc="20" dirty="0">
                <a:solidFill>
                  <a:srgbClr val="3333B2"/>
                </a:solidFill>
                <a:latin typeface="Georgia"/>
                <a:cs typeface="Georgia"/>
              </a:rPr>
              <a:t>n</a:t>
            </a:r>
            <a:r>
              <a:rPr sz="2800" i="1" spc="99" dirty="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sz="2800" spc="674" dirty="0">
                <a:solidFill>
                  <a:srgbClr val="3333B2"/>
                </a:solidFill>
                <a:latin typeface="Cambria"/>
                <a:cs typeface="Cambria"/>
              </a:rPr>
              <a:t>≥</a:t>
            </a:r>
            <a:r>
              <a:rPr sz="2800" spc="149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3523" y="2177054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0521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80989" y="2172023"/>
            <a:ext cx="3207957" cy="697125"/>
            <a:chOff x="1301248" y="1096067"/>
            <a:chExt cx="1617345" cy="351790"/>
          </a:xfrm>
        </p:grpSpPr>
        <p:sp>
          <p:nvSpPr>
            <p:cNvPr id="6" name="object 6"/>
            <p:cNvSpPr/>
            <p:nvPr/>
          </p:nvSpPr>
          <p:spPr>
            <a:xfrm>
              <a:off x="1303788" y="1271790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49086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9082" y="1098607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97064" y="2306953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2660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2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8044" y="2396823"/>
            <a:ext cx="2546717" cy="274320"/>
            <a:chOff x="1839222" y="1209508"/>
            <a:chExt cx="1283970" cy="1384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9795" y="1209508"/>
              <a:ext cx="213277" cy="138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41762" y="1271790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5">
                  <a:moveTo>
                    <a:pt x="0" y="0"/>
                  </a:moveTo>
                  <a:lnTo>
                    <a:pt x="70631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2895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56459" y="2280276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1640" y="2070610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5700" y="4317265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42660" y="4393119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3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94644" y="2863417"/>
            <a:ext cx="89425" cy="1424451"/>
            <a:chOff x="2719799" y="1444965"/>
            <a:chExt cx="45085" cy="718820"/>
          </a:xfrm>
        </p:grpSpPr>
        <p:sp>
          <p:nvSpPr>
            <p:cNvPr id="20" name="object 20"/>
            <p:cNvSpPr/>
            <p:nvPr/>
          </p:nvSpPr>
          <p:spPr>
            <a:xfrm>
              <a:off x="2742265" y="1447505"/>
              <a:ext cx="0" cy="710565"/>
            </a:xfrm>
            <a:custGeom>
              <a:avLst/>
              <a:gdLst/>
              <a:ahLst/>
              <a:cxnLst/>
              <a:rect l="l" t="t" r="r" b="b"/>
              <a:pathLst>
                <a:path h="710564">
                  <a:moveTo>
                    <a:pt x="0" y="0"/>
                  </a:moveTo>
                  <a:lnTo>
                    <a:pt x="0" y="71011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2021" y="214243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10581" y="3350374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139" dirty="0">
                <a:latin typeface="Georgia"/>
                <a:cs typeface="Georgia"/>
              </a:rPr>
              <a:t>1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1495" y="4537033"/>
            <a:ext cx="423029" cy="27386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256459" y="4420450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129" dirty="0">
                <a:latin typeface="Georgia"/>
                <a:cs typeface="Georgia"/>
              </a:rPr>
              <a:t>1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423471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523" y="419051"/>
            <a:ext cx="3787329" cy="46521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75537">
              <a:spcBef>
                <a:spcPts val="268"/>
              </a:spcBef>
            </a:pP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r>
              <a:rPr sz="2800" spc="19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30" dirty="0">
                <a:solidFill>
                  <a:srgbClr val="3333B2"/>
                </a:solidFill>
                <a:latin typeface="Times New Roman"/>
                <a:cs typeface="Times New Roman"/>
              </a:rPr>
              <a:t>for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{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1</a:t>
            </a:r>
            <a:r>
              <a:rPr sz="3000" i="1" spc="133" baseline="27777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3000" i="1" spc="625" baseline="27777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2"/>
                </a:solidFill>
                <a:latin typeface="Microsoft Sans Serif"/>
                <a:cs typeface="Microsoft Sans Serif"/>
              </a:rPr>
              <a:t>:</a:t>
            </a:r>
            <a:r>
              <a:rPr sz="2800" spc="2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800" i="1" spc="20" dirty="0">
                <a:solidFill>
                  <a:srgbClr val="3333B2"/>
                </a:solidFill>
                <a:latin typeface="Georgia"/>
                <a:cs typeface="Georgia"/>
              </a:rPr>
              <a:t>n</a:t>
            </a:r>
            <a:r>
              <a:rPr sz="2800" i="1" spc="99" dirty="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sz="2800" spc="674" dirty="0">
                <a:solidFill>
                  <a:srgbClr val="3333B2"/>
                </a:solidFill>
                <a:latin typeface="Cambria"/>
                <a:cs typeface="Cambria"/>
              </a:rPr>
              <a:t>≥</a:t>
            </a:r>
            <a:r>
              <a:rPr sz="2800" spc="149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2800" spc="89" dirty="0">
                <a:solidFill>
                  <a:srgbClr val="3333B2"/>
                </a:solidFill>
                <a:latin typeface="Microsoft Sans Serif"/>
                <a:cs typeface="Microsoft Sans Serif"/>
              </a:rPr>
              <a:t>0</a:t>
            </a:r>
            <a:r>
              <a:rPr sz="2800" spc="89" dirty="0">
                <a:solidFill>
                  <a:srgbClr val="3333B2"/>
                </a:solidFill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3523" y="2177054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0521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80989" y="2172023"/>
            <a:ext cx="3207957" cy="697125"/>
            <a:chOff x="1301248" y="1096067"/>
            <a:chExt cx="1617345" cy="351790"/>
          </a:xfrm>
        </p:grpSpPr>
        <p:sp>
          <p:nvSpPr>
            <p:cNvPr id="6" name="object 6"/>
            <p:cNvSpPr/>
            <p:nvPr/>
          </p:nvSpPr>
          <p:spPr>
            <a:xfrm>
              <a:off x="1303788" y="1271790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49086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9082" y="1098607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97064" y="2306953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2660" y="2252920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2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8044" y="2396823"/>
            <a:ext cx="2546717" cy="274320"/>
            <a:chOff x="1839222" y="1209508"/>
            <a:chExt cx="1283970" cy="1384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9795" y="1209508"/>
              <a:ext cx="213277" cy="138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41762" y="1271790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5">
                  <a:moveTo>
                    <a:pt x="0" y="0"/>
                  </a:moveTo>
                  <a:lnTo>
                    <a:pt x="70631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2895" y="125154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56459" y="2280276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1640" y="2070610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5700" y="4317265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42660" y="4393119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3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94644" y="2863417"/>
            <a:ext cx="89425" cy="1424451"/>
            <a:chOff x="2719799" y="1444965"/>
            <a:chExt cx="45085" cy="718820"/>
          </a:xfrm>
        </p:grpSpPr>
        <p:sp>
          <p:nvSpPr>
            <p:cNvPr id="20" name="object 20"/>
            <p:cNvSpPr/>
            <p:nvPr/>
          </p:nvSpPr>
          <p:spPr>
            <a:xfrm>
              <a:off x="2742265" y="1447505"/>
              <a:ext cx="0" cy="710565"/>
            </a:xfrm>
            <a:custGeom>
              <a:avLst/>
              <a:gdLst/>
              <a:ahLst/>
              <a:cxnLst/>
              <a:rect l="l" t="t" r="r" b="b"/>
              <a:pathLst>
                <a:path h="710564">
                  <a:moveTo>
                    <a:pt x="0" y="0"/>
                  </a:moveTo>
                  <a:lnTo>
                    <a:pt x="0" y="71011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2021" y="214243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10581" y="3350374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139" dirty="0">
                <a:latin typeface="Georgia"/>
                <a:cs typeface="Georgia"/>
              </a:rPr>
              <a:t>1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35890" y="4299648"/>
            <a:ext cx="3259597" cy="722292"/>
            <a:chOff x="1480178" y="2169730"/>
            <a:chExt cx="1643380" cy="36449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9795" y="2289521"/>
              <a:ext cx="213277" cy="1382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489068" y="217862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17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56459" y="4420450"/>
            <a:ext cx="987451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129" dirty="0">
                <a:latin typeface="Georgia"/>
                <a:cs typeface="Georgia"/>
              </a:rPr>
              <a:t>1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00521" y="4393119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4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78178" y="4616329"/>
            <a:ext cx="1413164" cy="89343"/>
            <a:chOff x="1854415" y="2329536"/>
            <a:chExt cx="712470" cy="45085"/>
          </a:xfrm>
        </p:grpSpPr>
        <p:sp>
          <p:nvSpPr>
            <p:cNvPr id="29" name="object 29"/>
            <p:cNvSpPr/>
            <p:nvPr/>
          </p:nvSpPr>
          <p:spPr>
            <a:xfrm>
              <a:off x="1860235" y="2351804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5">
                  <a:moveTo>
                    <a:pt x="706316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56439" y="233156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91640" y="4663135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61785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155" y="419051"/>
            <a:ext cx="4050565" cy="1478309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2800" spc="109" dirty="0">
                <a:solidFill>
                  <a:srgbClr val="3333B2"/>
                </a:solid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109"/>
              </a:spcBef>
            </a:pPr>
            <a:endParaRPr sz="4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spc="226" dirty="0">
                <a:latin typeface="Cambria"/>
                <a:cs typeface="Cambria"/>
              </a:rPr>
              <a:t>{</a:t>
            </a:r>
            <a:r>
              <a:rPr sz="2200" i="1" spc="10" dirty="0">
                <a:latin typeface="Calibri"/>
                <a:cs typeface="Calibri"/>
              </a:rPr>
              <a:t>a</a:t>
            </a:r>
            <a:r>
              <a:rPr sz="2400" i="1" spc="327" baseline="31250" dirty="0">
                <a:latin typeface="Verdana"/>
                <a:cs typeface="Verdana"/>
              </a:rPr>
              <a:t>i</a:t>
            </a:r>
            <a:r>
              <a:rPr sz="2200" i="1" spc="-198" dirty="0">
                <a:latin typeface="Calibri"/>
                <a:cs typeface="Calibri"/>
              </a:rPr>
              <a:t>b</a:t>
            </a:r>
            <a:r>
              <a:rPr sz="2400" i="1" spc="476" baseline="31250" dirty="0">
                <a:latin typeface="Verdana"/>
                <a:cs typeface="Verdana"/>
              </a:rPr>
              <a:t>j</a:t>
            </a:r>
            <a:r>
              <a:rPr sz="2200" i="1" spc="10" dirty="0">
                <a:latin typeface="Calibri"/>
                <a:cs typeface="Calibri"/>
              </a:rPr>
              <a:t>c</a:t>
            </a:r>
            <a:r>
              <a:rPr sz="2400" i="1" spc="-87" baseline="31250" dirty="0">
                <a:latin typeface="Verdana"/>
                <a:cs typeface="Verdana"/>
              </a:rPr>
              <a:t>k</a:t>
            </a:r>
            <a:r>
              <a:rPr sz="2400" i="1" spc="268" baseline="31250" dirty="0">
                <a:latin typeface="Verdana"/>
                <a:cs typeface="Verdana"/>
              </a:rPr>
              <a:t> 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129" dirty="0">
                <a:latin typeface="Calibri"/>
                <a:cs typeface="Calibri"/>
              </a:rPr>
              <a:t>i</a:t>
            </a:r>
            <a:r>
              <a:rPr sz="2200" i="1" spc="14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367" dirty="0">
                <a:latin typeface="Calibri"/>
                <a:cs typeface="Calibri"/>
              </a:rPr>
              <a:t>j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29" dirty="0">
                <a:latin typeface="Calibri"/>
                <a:cs typeface="Calibri"/>
              </a:rPr>
              <a:t>k</a:t>
            </a:r>
            <a:r>
              <a:rPr sz="2200" i="1" spc="169" dirty="0">
                <a:latin typeface="Calibri"/>
                <a:cs typeface="Calibri"/>
              </a:rPr>
              <a:t> </a:t>
            </a:r>
            <a:r>
              <a:rPr sz="2200" spc="466" dirty="0">
                <a:latin typeface="Cambria"/>
                <a:cs typeface="Cambria"/>
              </a:rPr>
              <a:t>≥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38" dirty="0">
                <a:latin typeface="Calibri"/>
                <a:cs typeface="Calibri"/>
              </a:rPr>
              <a:t>i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367" dirty="0">
                <a:latin typeface="Calibri"/>
                <a:cs typeface="Calibri"/>
              </a:rPr>
              <a:t>j</a:t>
            </a:r>
            <a:r>
              <a:rPr sz="2200" i="1" spc="109" dirty="0">
                <a:latin typeface="Calibri"/>
                <a:cs typeface="Calibri"/>
              </a:rPr>
              <a:t> </a:t>
            </a:r>
            <a:r>
              <a:rPr sz="2200" spc="149" dirty="0">
                <a:latin typeface="Cambria"/>
                <a:cs typeface="Cambria"/>
              </a:rPr>
              <a:t>∨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i="1" spc="238" dirty="0">
                <a:latin typeface="Calibri"/>
                <a:cs typeface="Calibri"/>
              </a:rPr>
              <a:t>i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188" dirty="0">
                <a:latin typeface="Calibri"/>
                <a:cs typeface="Calibri"/>
              </a:rPr>
              <a:t>k</a:t>
            </a:r>
            <a:r>
              <a:rPr sz="2200" spc="226" dirty="0">
                <a:latin typeface="Cambria"/>
                <a:cs typeface="Cambria"/>
              </a:rPr>
              <a:t>}</a:t>
            </a:r>
            <a:endParaRPr sz="22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70283406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8994" y="-32987"/>
            <a:ext cx="1403088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10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0345" y="1449741"/>
            <a:ext cx="4000185" cy="267476"/>
          </a:xfrm>
          <a:prstGeom prst="rect">
            <a:avLst/>
          </a:prstGeom>
        </p:spPr>
        <p:txBody>
          <a:bodyPr vert="horz" wrap="square" lIns="0" tIns="61689" rIns="0" bIns="0" rtlCol="0">
            <a:spAutoFit/>
          </a:bodyPr>
          <a:lstStyle/>
          <a:p>
            <a:pPr marL="25179">
              <a:lnSpc>
                <a:spcPts val="694"/>
              </a:lnSpc>
              <a:spcBef>
                <a:spcPts val="486"/>
              </a:spcBef>
            </a:pPr>
            <a:r>
              <a:rPr sz="2200" spc="226" dirty="0">
                <a:latin typeface="Cambria"/>
                <a:cs typeface="Cambria"/>
              </a:rPr>
              <a:t>{</a:t>
            </a:r>
            <a:r>
              <a:rPr sz="2200" i="1" spc="20" dirty="0">
                <a:latin typeface="Calibri"/>
                <a:cs typeface="Calibri"/>
              </a:rPr>
              <a:t>a</a:t>
            </a:r>
            <a:r>
              <a:rPr sz="2200" i="1" spc="169" dirty="0">
                <a:latin typeface="Calibri"/>
                <a:cs typeface="Calibri"/>
              </a:rPr>
              <a:t> </a:t>
            </a:r>
            <a:r>
              <a:rPr sz="2200" i="1" spc="-198" dirty="0">
                <a:latin typeface="Calibri"/>
                <a:cs typeface="Calibri"/>
              </a:rPr>
              <a:t>b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119" dirty="0">
                <a:latin typeface="Calibri"/>
                <a:cs typeface="Calibri"/>
              </a:rPr>
              <a:t> </a:t>
            </a:r>
            <a:r>
              <a:rPr sz="2200" i="1" spc="20" dirty="0">
                <a:latin typeface="Calibri"/>
                <a:cs typeface="Calibri"/>
              </a:rPr>
              <a:t>c</a:t>
            </a:r>
            <a:r>
              <a:rPr sz="2200" i="1" dirty="0">
                <a:latin typeface="Calibri"/>
                <a:cs typeface="Calibri"/>
              </a:rPr>
              <a:t>  </a:t>
            </a:r>
            <a:r>
              <a:rPr sz="2200" i="1" spc="129" dirty="0">
                <a:latin typeface="Calibri"/>
                <a:cs typeface="Calibri"/>
              </a:rPr>
              <a:t> 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129" dirty="0">
                <a:latin typeface="Calibri"/>
                <a:cs typeface="Calibri"/>
              </a:rPr>
              <a:t>i</a:t>
            </a:r>
            <a:r>
              <a:rPr sz="2200" i="1" spc="149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367" dirty="0">
                <a:latin typeface="Calibri"/>
                <a:cs typeface="Calibri"/>
              </a:rPr>
              <a:t>j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129" dirty="0">
                <a:latin typeface="Calibri"/>
                <a:cs typeface="Calibri"/>
              </a:rPr>
              <a:t>k</a:t>
            </a:r>
            <a:r>
              <a:rPr sz="2200" i="1" spc="169" dirty="0">
                <a:latin typeface="Calibri"/>
                <a:cs typeface="Calibri"/>
              </a:rPr>
              <a:t> </a:t>
            </a:r>
            <a:r>
              <a:rPr sz="2200" spc="466" dirty="0">
                <a:latin typeface="Cambria"/>
                <a:cs typeface="Cambria"/>
              </a:rPr>
              <a:t>≥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38" dirty="0">
                <a:latin typeface="Calibri"/>
                <a:cs typeface="Calibri"/>
              </a:rPr>
              <a:t>i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367" dirty="0">
                <a:latin typeface="Calibri"/>
                <a:cs typeface="Calibri"/>
              </a:rPr>
              <a:t>j</a:t>
            </a:r>
            <a:r>
              <a:rPr sz="2200" i="1" spc="109" dirty="0">
                <a:latin typeface="Calibri"/>
                <a:cs typeface="Calibri"/>
              </a:rPr>
              <a:t> </a:t>
            </a:r>
            <a:r>
              <a:rPr sz="2200" spc="149" dirty="0">
                <a:latin typeface="Cambria"/>
                <a:cs typeface="Cambria"/>
              </a:rPr>
              <a:t>∨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i="1" spc="238" dirty="0">
                <a:latin typeface="Calibri"/>
                <a:cs typeface="Calibri"/>
              </a:rPr>
              <a:t>i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278" dirty="0">
                <a:latin typeface="Georgia"/>
                <a:cs typeface="Georgia"/>
              </a:rPr>
              <a:t>=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188" dirty="0">
                <a:latin typeface="Calibri"/>
                <a:cs typeface="Calibri"/>
              </a:rPr>
              <a:t>k</a:t>
            </a:r>
            <a:r>
              <a:rPr sz="2200" spc="226" dirty="0">
                <a:latin typeface="Cambria"/>
                <a:cs typeface="Cambria"/>
              </a:rPr>
              <a:t>}</a:t>
            </a:r>
            <a:endParaRPr sz="2200">
              <a:latin typeface="Cambria"/>
              <a:cs typeface="Cambria"/>
            </a:endParaRPr>
          </a:p>
          <a:p>
            <a:pPr marL="307184">
              <a:lnSpc>
                <a:spcPts val="910"/>
              </a:lnSpc>
            </a:pPr>
            <a:r>
              <a:rPr sz="1600" i="1" spc="129" dirty="0">
                <a:latin typeface="Verdana"/>
                <a:cs typeface="Verdana"/>
              </a:rPr>
              <a:t>i</a:t>
            </a:r>
            <a:r>
              <a:rPr sz="1600" i="1" spc="397" dirty="0">
                <a:latin typeface="Verdana"/>
                <a:cs typeface="Verdana"/>
              </a:rPr>
              <a:t> </a:t>
            </a:r>
            <a:r>
              <a:rPr sz="1600" i="1" spc="129" dirty="0">
                <a:latin typeface="Verdana"/>
                <a:cs typeface="Verdana"/>
              </a:rPr>
              <a:t>j</a:t>
            </a:r>
            <a:r>
              <a:rPr sz="1600" i="1" spc="486" dirty="0">
                <a:latin typeface="Verdana"/>
                <a:cs typeface="Verdana"/>
              </a:rPr>
              <a:t> </a:t>
            </a:r>
            <a:r>
              <a:rPr sz="1600" i="1" spc="-59" dirty="0">
                <a:latin typeface="Verdana"/>
                <a:cs typeface="Verdana"/>
              </a:rPr>
              <a:t>k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9935" y="3272191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5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3"/>
                </a:lnTo>
                <a:lnTo>
                  <a:pt x="126527" y="0"/>
                </a:lnTo>
                <a:lnTo>
                  <a:pt x="77276" y="9943"/>
                </a:lnTo>
                <a:lnTo>
                  <a:pt x="37058" y="37058"/>
                </a:lnTo>
                <a:lnTo>
                  <a:pt x="9943" y="77276"/>
                </a:lnTo>
                <a:lnTo>
                  <a:pt x="0" y="126527"/>
                </a:lnTo>
                <a:lnTo>
                  <a:pt x="9943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4389" y="3255621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4926" y="3267157"/>
            <a:ext cx="2515230" cy="512148"/>
            <a:chOff x="960400" y="1648704"/>
            <a:chExt cx="1268095" cy="258445"/>
          </a:xfrm>
        </p:grpSpPr>
        <p:sp>
          <p:nvSpPr>
            <p:cNvPr id="7" name="object 7"/>
            <p:cNvSpPr/>
            <p:nvPr/>
          </p:nvSpPr>
          <p:spPr>
            <a:xfrm>
              <a:off x="962940" y="1777771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08239" y="175752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72437" y="1651244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253054" y="126527"/>
                  </a:moveTo>
                  <a:lnTo>
                    <a:pt x="243111" y="77276"/>
                  </a:lnTo>
                  <a:lnTo>
                    <a:pt x="215995" y="37058"/>
                  </a:lnTo>
                  <a:lnTo>
                    <a:pt x="175777" y="9943"/>
                  </a:lnTo>
                  <a:lnTo>
                    <a:pt x="126527" y="0"/>
                  </a:lnTo>
                  <a:lnTo>
                    <a:pt x="77276" y="9943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9942" y="175777"/>
                  </a:lnTo>
                  <a:lnTo>
                    <a:pt x="37058" y="215995"/>
                  </a:lnTo>
                  <a:lnTo>
                    <a:pt x="77276" y="243111"/>
                  </a:lnTo>
                  <a:lnTo>
                    <a:pt x="126527" y="253054"/>
                  </a:lnTo>
                  <a:lnTo>
                    <a:pt x="175777" y="243111"/>
                  </a:lnTo>
                  <a:lnTo>
                    <a:pt x="215995" y="215995"/>
                  </a:lnTo>
                  <a:lnTo>
                    <a:pt x="243111" y="175777"/>
                  </a:lnTo>
                  <a:lnTo>
                    <a:pt x="253054" y="12652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1014" y="3309655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6707" y="3255621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2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54609" y="3272191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3"/>
                </a:lnTo>
                <a:lnTo>
                  <a:pt x="126527" y="0"/>
                </a:lnTo>
                <a:lnTo>
                  <a:pt x="77276" y="9943"/>
                </a:lnTo>
                <a:lnTo>
                  <a:pt x="37058" y="37058"/>
                </a:lnTo>
                <a:lnTo>
                  <a:pt x="9943" y="77276"/>
                </a:lnTo>
                <a:lnTo>
                  <a:pt x="0" y="126527"/>
                </a:lnTo>
                <a:lnTo>
                  <a:pt x="9943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09025" y="3255621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3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96947" y="3272191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3"/>
                </a:lnTo>
                <a:lnTo>
                  <a:pt x="126527" y="0"/>
                </a:lnTo>
                <a:lnTo>
                  <a:pt x="77276" y="9943"/>
                </a:lnTo>
                <a:lnTo>
                  <a:pt x="37058" y="37058"/>
                </a:lnTo>
                <a:lnTo>
                  <a:pt x="9943" y="77276"/>
                </a:lnTo>
                <a:lnTo>
                  <a:pt x="0" y="126527"/>
                </a:lnTo>
                <a:lnTo>
                  <a:pt x="9943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51343" y="3255621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4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12271" y="4913022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2"/>
                </a:lnTo>
                <a:lnTo>
                  <a:pt x="126527" y="0"/>
                </a:lnTo>
                <a:lnTo>
                  <a:pt x="77276" y="9942"/>
                </a:lnTo>
                <a:lnTo>
                  <a:pt x="37058" y="37058"/>
                </a:lnTo>
                <a:lnTo>
                  <a:pt x="9942" y="77276"/>
                </a:lnTo>
                <a:lnTo>
                  <a:pt x="0" y="126527"/>
                </a:lnTo>
                <a:lnTo>
                  <a:pt x="9942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66707" y="489643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5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54609" y="4913022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2"/>
                </a:lnTo>
                <a:lnTo>
                  <a:pt x="126527" y="0"/>
                </a:lnTo>
                <a:lnTo>
                  <a:pt x="77276" y="9942"/>
                </a:lnTo>
                <a:lnTo>
                  <a:pt x="37058" y="37058"/>
                </a:lnTo>
                <a:lnTo>
                  <a:pt x="9943" y="77276"/>
                </a:lnTo>
                <a:lnTo>
                  <a:pt x="0" y="126527"/>
                </a:lnTo>
                <a:lnTo>
                  <a:pt x="9943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09025" y="489643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6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96947" y="4913022"/>
            <a:ext cx="502542" cy="502081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253054" y="126527"/>
                </a:moveTo>
                <a:lnTo>
                  <a:pt x="243111" y="77276"/>
                </a:lnTo>
                <a:lnTo>
                  <a:pt x="215995" y="37058"/>
                </a:lnTo>
                <a:lnTo>
                  <a:pt x="175777" y="9942"/>
                </a:lnTo>
                <a:lnTo>
                  <a:pt x="126527" y="0"/>
                </a:lnTo>
                <a:lnTo>
                  <a:pt x="77276" y="9942"/>
                </a:lnTo>
                <a:lnTo>
                  <a:pt x="37058" y="37058"/>
                </a:lnTo>
                <a:lnTo>
                  <a:pt x="9943" y="77276"/>
                </a:lnTo>
                <a:lnTo>
                  <a:pt x="0" y="126527"/>
                </a:lnTo>
                <a:lnTo>
                  <a:pt x="9943" y="175777"/>
                </a:lnTo>
                <a:lnTo>
                  <a:pt x="37058" y="215995"/>
                </a:lnTo>
                <a:lnTo>
                  <a:pt x="77276" y="243111"/>
                </a:lnTo>
                <a:lnTo>
                  <a:pt x="126527" y="253054"/>
                </a:lnTo>
                <a:lnTo>
                  <a:pt x="175777" y="243111"/>
                </a:lnTo>
                <a:lnTo>
                  <a:pt x="215995" y="215995"/>
                </a:lnTo>
                <a:lnTo>
                  <a:pt x="243111" y="175777"/>
                </a:lnTo>
                <a:lnTo>
                  <a:pt x="253054" y="126527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51343" y="489643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7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71841" y="3478403"/>
            <a:ext cx="1110883" cy="89343"/>
            <a:chOff x="1397470" y="1755305"/>
            <a:chExt cx="560070" cy="45085"/>
          </a:xfrm>
        </p:grpSpPr>
        <p:sp>
          <p:nvSpPr>
            <p:cNvPr id="23" name="object 23"/>
            <p:cNvSpPr/>
            <p:nvPr/>
          </p:nvSpPr>
          <p:spPr>
            <a:xfrm>
              <a:off x="1400010" y="1777771"/>
              <a:ext cx="551815" cy="0"/>
            </a:xfrm>
            <a:custGeom>
              <a:avLst/>
              <a:gdLst/>
              <a:ahLst/>
              <a:cxnLst/>
              <a:rect l="l" t="t" r="r" b="b"/>
              <a:pathLst>
                <a:path w="551814">
                  <a:moveTo>
                    <a:pt x="0" y="0"/>
                  </a:moveTo>
                  <a:lnTo>
                    <a:pt x="55142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36250" y="175752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61820" y="3073312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14177" y="3478403"/>
            <a:ext cx="1110883" cy="89343"/>
            <a:chOff x="2225481" y="1755305"/>
            <a:chExt cx="560070" cy="45085"/>
          </a:xfrm>
        </p:grpSpPr>
        <p:sp>
          <p:nvSpPr>
            <p:cNvPr id="27" name="object 27"/>
            <p:cNvSpPr/>
            <p:nvPr/>
          </p:nvSpPr>
          <p:spPr>
            <a:xfrm>
              <a:off x="2228021" y="1777771"/>
              <a:ext cx="551815" cy="0"/>
            </a:xfrm>
            <a:custGeom>
              <a:avLst/>
              <a:gdLst/>
              <a:ahLst/>
              <a:cxnLst/>
              <a:rect l="l" t="t" r="r" b="b"/>
              <a:pathLst>
                <a:path w="551814">
                  <a:moveTo>
                    <a:pt x="0" y="0"/>
                  </a:moveTo>
                  <a:lnTo>
                    <a:pt x="55142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64262" y="175752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17061" y="3073312"/>
            <a:ext cx="93581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56515" y="3478403"/>
            <a:ext cx="1103326" cy="89343"/>
            <a:chOff x="3053493" y="1755305"/>
            <a:chExt cx="556260" cy="45085"/>
          </a:xfrm>
        </p:grpSpPr>
        <p:sp>
          <p:nvSpPr>
            <p:cNvPr id="31" name="object 31"/>
            <p:cNvSpPr/>
            <p:nvPr/>
          </p:nvSpPr>
          <p:spPr>
            <a:xfrm>
              <a:off x="3056033" y="1777771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6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88478" y="175752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42678" y="3073312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18673" y="3773637"/>
            <a:ext cx="89425" cy="1109863"/>
            <a:chOff x="2076497" y="1904289"/>
            <a:chExt cx="45085" cy="560070"/>
          </a:xfrm>
        </p:grpSpPr>
        <p:sp>
          <p:nvSpPr>
            <p:cNvPr id="35" name="object 35"/>
            <p:cNvSpPr/>
            <p:nvPr/>
          </p:nvSpPr>
          <p:spPr>
            <a:xfrm>
              <a:off x="2098964" y="1906829"/>
              <a:ext cx="0" cy="551815"/>
            </a:xfrm>
            <a:custGeom>
              <a:avLst/>
              <a:gdLst/>
              <a:ahLst/>
              <a:cxnLst/>
              <a:rect l="l" t="t" r="r" b="b"/>
              <a:pathLst>
                <a:path h="551814">
                  <a:moveTo>
                    <a:pt x="0" y="0"/>
                  </a:moveTo>
                  <a:lnTo>
                    <a:pt x="0" y="55142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78720" y="244306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234628" y="4076015"/>
            <a:ext cx="93581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414177" y="5119233"/>
            <a:ext cx="1110883" cy="89343"/>
            <a:chOff x="2225481" y="2583316"/>
            <a:chExt cx="560070" cy="45085"/>
          </a:xfrm>
        </p:grpSpPr>
        <p:sp>
          <p:nvSpPr>
            <p:cNvPr id="39" name="object 39"/>
            <p:cNvSpPr/>
            <p:nvPr/>
          </p:nvSpPr>
          <p:spPr>
            <a:xfrm>
              <a:off x="2228021" y="2605783"/>
              <a:ext cx="551815" cy="0"/>
            </a:xfrm>
            <a:custGeom>
              <a:avLst/>
              <a:gdLst/>
              <a:ahLst/>
              <a:cxnLst/>
              <a:rect l="l" t="t" r="r" b="b"/>
              <a:pathLst>
                <a:path w="551814">
                  <a:moveTo>
                    <a:pt x="0" y="0"/>
                  </a:moveTo>
                  <a:lnTo>
                    <a:pt x="55142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64262" y="258553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17061" y="4714123"/>
            <a:ext cx="93581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56515" y="5119233"/>
            <a:ext cx="1103326" cy="89343"/>
            <a:chOff x="3053493" y="2583316"/>
            <a:chExt cx="556260" cy="45085"/>
          </a:xfrm>
        </p:grpSpPr>
        <p:sp>
          <p:nvSpPr>
            <p:cNvPr id="43" name="object 43"/>
            <p:cNvSpPr/>
            <p:nvPr/>
          </p:nvSpPr>
          <p:spPr>
            <a:xfrm>
              <a:off x="3056033" y="2605783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6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88478" y="258553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142678" y="4714123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36654" y="2950070"/>
            <a:ext cx="3540466" cy="2769625"/>
            <a:chOff x="2035146" y="1488692"/>
            <a:chExt cx="1784985" cy="1397635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3478" y="1497400"/>
              <a:ext cx="109303" cy="15799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1489" y="1497400"/>
              <a:ext cx="109303" cy="15799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676" y="1488692"/>
              <a:ext cx="112113" cy="16303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5146" y="2728157"/>
              <a:ext cx="109303" cy="15799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662185" y="2526005"/>
            <a:ext cx="100256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40" dirty="0">
                <a:latin typeface="Calibri"/>
                <a:cs typeface="Calibri"/>
              </a:rPr>
              <a:t>a</a:t>
            </a:r>
            <a:r>
              <a:rPr sz="2200" i="1" spc="2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20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18180" y="2526005"/>
            <a:ext cx="97485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69" dirty="0">
                <a:latin typeface="Calibri"/>
                <a:cs typeface="Calibri"/>
              </a:rPr>
              <a:t>b,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0" dirty="0">
                <a:latin typeface="Calibri"/>
                <a:cs typeface="Calibri"/>
              </a:rPr>
              <a:t>a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76846" y="2509898"/>
            <a:ext cx="942109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40" dirty="0">
                <a:latin typeface="Calibri"/>
                <a:cs typeface="Calibri"/>
              </a:rPr>
              <a:t>c</a:t>
            </a:r>
            <a:r>
              <a:rPr sz="2200" i="1" spc="3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92713" y="5698504"/>
            <a:ext cx="942109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69" dirty="0">
                <a:latin typeface="Calibri"/>
                <a:cs typeface="Calibri"/>
              </a:rPr>
              <a:t>b,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8992" y="5406256"/>
            <a:ext cx="216799" cy="313093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5317677" y="5626049"/>
            <a:ext cx="97611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40" dirty="0">
                <a:latin typeface="Calibri"/>
                <a:cs typeface="Calibri"/>
              </a:rPr>
              <a:t>c</a:t>
            </a:r>
            <a:r>
              <a:rPr sz="2200" i="1" spc="3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20" dirty="0">
                <a:latin typeface="Calibri"/>
                <a:cs typeface="Calibri"/>
              </a:rPr>
              <a:t>a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921014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0807" y="419050"/>
            <a:ext cx="2478704" cy="1696317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120859">
              <a:spcBef>
                <a:spcPts val="268"/>
              </a:spcBef>
            </a:pPr>
            <a:r>
              <a:rPr sz="2800" spc="109" dirty="0">
                <a:solidFill>
                  <a:srgbClr val="3333B2"/>
                </a:solidFill>
                <a:latin typeface="Times New Roman"/>
                <a:cs typeface="Times New Roman"/>
              </a:rPr>
              <a:t>Example</a:t>
            </a:r>
            <a:r>
              <a:rPr sz="2800" spc="4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59"/>
              </a:spcBef>
            </a:pPr>
            <a:endParaRPr sz="5500">
              <a:latin typeface="Times New Roman"/>
              <a:cs typeface="Times New Roman"/>
            </a:endParaRPr>
          </a:p>
          <a:p>
            <a:pPr marL="570305">
              <a:lnSpc>
                <a:spcPts val="1100"/>
              </a:lnSpc>
            </a:pPr>
            <a:r>
              <a:rPr sz="1600" dirty="0">
                <a:latin typeface="Palatino Linotype"/>
                <a:cs typeface="Palatino Linotype"/>
              </a:rPr>
              <a:t>rev</a:t>
            </a:r>
            <a:endParaRPr sz="1600">
              <a:latin typeface="Palatino Linotype"/>
              <a:cs typeface="Palatino Linotype"/>
            </a:endParaRPr>
          </a:p>
          <a:p>
            <a:pPr marL="25179">
              <a:lnSpc>
                <a:spcPts val="1814"/>
              </a:lnSpc>
              <a:tabLst>
                <a:tab pos="950508" algn="l"/>
              </a:tabLst>
            </a:pPr>
            <a:r>
              <a:rPr sz="2200" spc="218" dirty="0">
                <a:latin typeface="Cambria"/>
                <a:cs typeface="Cambria"/>
              </a:rPr>
              <a:t>{</a:t>
            </a:r>
            <a:r>
              <a:rPr sz="2200" i="1" spc="30" dirty="0">
                <a:latin typeface="Calibri"/>
                <a:cs typeface="Calibri"/>
              </a:rPr>
              <a:t>w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spc="159" dirty="0">
                <a:latin typeface="Calibri"/>
                <a:cs typeface="Calibri"/>
              </a:rPr>
              <a:t> 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218" dirty="0">
                <a:latin typeface="Cambria"/>
                <a:cs typeface="Cambria"/>
              </a:rPr>
              <a:t>{</a:t>
            </a: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129" dirty="0">
                <a:latin typeface="Georgia"/>
                <a:cs typeface="Georgia"/>
              </a:rPr>
              <a:t>1</a:t>
            </a:r>
            <a:r>
              <a:rPr sz="2200" spc="226" dirty="0">
                <a:latin typeface="Cambria"/>
                <a:cs typeface="Cambria"/>
              </a:rPr>
              <a:t>}}</a:t>
            </a:r>
            <a:endParaRPr sz="22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1527331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0807" y="419050"/>
            <a:ext cx="2478704" cy="1696317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120859">
              <a:spcBef>
                <a:spcPts val="268"/>
              </a:spcBef>
            </a:pPr>
            <a:r>
              <a:rPr sz="2800" spc="109" dirty="0">
                <a:solidFill>
                  <a:srgbClr val="3333B2"/>
                </a:solidFill>
                <a:latin typeface="Times New Roman"/>
                <a:cs typeface="Times New Roman"/>
              </a:rPr>
              <a:t>Example</a:t>
            </a:r>
            <a:r>
              <a:rPr sz="2800" spc="4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59"/>
              </a:spcBef>
            </a:pPr>
            <a:endParaRPr sz="5500">
              <a:latin typeface="Times New Roman"/>
              <a:cs typeface="Times New Roman"/>
            </a:endParaRPr>
          </a:p>
          <a:p>
            <a:pPr marL="570305">
              <a:lnSpc>
                <a:spcPts val="1100"/>
              </a:lnSpc>
            </a:pPr>
            <a:r>
              <a:rPr sz="1600" dirty="0">
                <a:latin typeface="Palatino Linotype"/>
                <a:cs typeface="Palatino Linotype"/>
              </a:rPr>
              <a:t>rev</a:t>
            </a:r>
            <a:endParaRPr sz="1600">
              <a:latin typeface="Palatino Linotype"/>
              <a:cs typeface="Palatino Linotype"/>
            </a:endParaRPr>
          </a:p>
          <a:p>
            <a:pPr marL="25179">
              <a:lnSpc>
                <a:spcPts val="1814"/>
              </a:lnSpc>
              <a:tabLst>
                <a:tab pos="950508" algn="l"/>
              </a:tabLst>
            </a:pPr>
            <a:r>
              <a:rPr sz="2200" spc="218" dirty="0">
                <a:latin typeface="Cambria"/>
                <a:cs typeface="Cambria"/>
              </a:rPr>
              <a:t>{</a:t>
            </a:r>
            <a:r>
              <a:rPr sz="2200" i="1" spc="30" dirty="0">
                <a:latin typeface="Calibri"/>
                <a:cs typeface="Calibri"/>
              </a:rPr>
              <a:t>w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spc="-89" dirty="0">
                <a:latin typeface="Georgia"/>
                <a:cs typeface="Georgia"/>
              </a:rPr>
              <a:t>: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w</a:t>
            </a:r>
            <a:r>
              <a:rPr sz="2200" i="1" spc="159" dirty="0">
                <a:latin typeface="Calibri"/>
                <a:cs typeface="Calibri"/>
              </a:rPr>
              <a:t> </a:t>
            </a:r>
            <a:r>
              <a:rPr sz="2200" spc="79" dirty="0">
                <a:latin typeface="Cambria"/>
                <a:cs typeface="Cambria"/>
              </a:rPr>
              <a:t>∈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218" dirty="0">
                <a:latin typeface="Cambria"/>
                <a:cs typeface="Cambria"/>
              </a:rPr>
              <a:t>{</a:t>
            </a:r>
            <a:r>
              <a:rPr sz="2200" spc="-268" dirty="0">
                <a:latin typeface="Georgia"/>
                <a:cs typeface="Georgia"/>
              </a:rPr>
              <a:t>0</a:t>
            </a:r>
            <a:r>
              <a:rPr sz="2200" i="1" spc="5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129" dirty="0">
                <a:latin typeface="Georgia"/>
                <a:cs typeface="Georgia"/>
              </a:rPr>
              <a:t>1</a:t>
            </a:r>
            <a:r>
              <a:rPr sz="2200" spc="226" dirty="0">
                <a:latin typeface="Cambria"/>
                <a:cs typeface="Cambria"/>
              </a:rPr>
              <a:t>}}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85331" y="3402787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32329" y="3478676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1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12795" y="3397753"/>
            <a:ext cx="2707934" cy="697125"/>
            <a:chOff x="1518951" y="1714607"/>
            <a:chExt cx="1365250" cy="351790"/>
          </a:xfrm>
        </p:grpSpPr>
        <p:sp>
          <p:nvSpPr>
            <p:cNvPr id="6" name="object 6"/>
            <p:cNvSpPr/>
            <p:nvPr/>
          </p:nvSpPr>
          <p:spPr>
            <a:xfrm>
              <a:off x="1521491" y="1890331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6789" y="187008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4783" y="1717147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28899" y="3532710"/>
            <a:ext cx="61841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dirty="0">
                <a:latin typeface="Georgia"/>
                <a:cs typeface="Georgia"/>
              </a:rPr>
              <a:t>start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4647" y="3478676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2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7669" y="5043618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74647" y="5119487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3</a:t>
            </a:r>
            <a:endParaRPr sz="2400" baseline="-10416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85331" y="5043618"/>
            <a:ext cx="687689" cy="687058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32329" y="5119487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59" dirty="0">
                <a:latin typeface="Calibri"/>
                <a:cs typeface="Calibri"/>
              </a:rPr>
              <a:t>q</a:t>
            </a:r>
            <a:r>
              <a:rPr sz="2400" spc="-87" baseline="-10416" dirty="0">
                <a:latin typeface="Palatino Linotype"/>
                <a:cs typeface="Palatino Linotype"/>
              </a:rPr>
              <a:t>4</a:t>
            </a:r>
            <a:endParaRPr sz="2400" baseline="-10416">
              <a:latin typeface="Palatino Linotype"/>
              <a:cs typeface="Palatino Linotyp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79852" y="3701458"/>
            <a:ext cx="918179" cy="89343"/>
            <a:chOff x="2056925" y="1867865"/>
            <a:chExt cx="462915" cy="45085"/>
          </a:xfrm>
        </p:grpSpPr>
        <p:sp>
          <p:nvSpPr>
            <p:cNvPr id="16" name="object 16"/>
            <p:cNvSpPr/>
            <p:nvPr/>
          </p:nvSpPr>
          <p:spPr>
            <a:xfrm>
              <a:off x="2059465" y="1890331"/>
              <a:ext cx="454659" cy="0"/>
            </a:xfrm>
            <a:custGeom>
              <a:avLst/>
              <a:gdLst/>
              <a:ahLst/>
              <a:cxnLst/>
              <a:rect l="l" t="t" r="r" b="b"/>
              <a:pathLst>
                <a:path w="454660">
                  <a:moveTo>
                    <a:pt x="0" y="0"/>
                  </a:moveTo>
                  <a:lnTo>
                    <a:pt x="454314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98597" y="187008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73539" y="3296340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26612" y="4089149"/>
            <a:ext cx="89425" cy="924886"/>
            <a:chOff x="2685500" y="2063505"/>
            <a:chExt cx="45085" cy="466725"/>
          </a:xfrm>
        </p:grpSpPr>
        <p:sp>
          <p:nvSpPr>
            <p:cNvPr id="20" name="object 20"/>
            <p:cNvSpPr/>
            <p:nvPr/>
          </p:nvSpPr>
          <p:spPr>
            <a:xfrm>
              <a:off x="2707967" y="2066045"/>
              <a:ext cx="0" cy="458470"/>
            </a:xfrm>
            <a:custGeom>
              <a:avLst/>
              <a:gdLst/>
              <a:ahLst/>
              <a:cxnLst/>
              <a:rect l="l" t="t" r="r" b="b"/>
              <a:pathLst>
                <a:path h="458469">
                  <a:moveTo>
                    <a:pt x="0" y="0"/>
                  </a:moveTo>
                  <a:lnTo>
                    <a:pt x="0" y="45811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87723" y="250897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42594" y="4299070"/>
            <a:ext cx="93581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r>
              <a:rPr sz="2200" i="1" spc="99" dirty="0">
                <a:latin typeface="Calibri"/>
                <a:cs typeface="Calibri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09594" y="3622556"/>
            <a:ext cx="2017724" cy="1809505"/>
            <a:chOff x="2071920" y="1828049"/>
            <a:chExt cx="1017269" cy="91313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496" y="1828049"/>
              <a:ext cx="213277" cy="1381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077938" y="2718343"/>
              <a:ext cx="454659" cy="0"/>
            </a:xfrm>
            <a:custGeom>
              <a:avLst/>
              <a:gdLst/>
              <a:ahLst/>
              <a:cxnLst/>
              <a:rect l="l" t="t" r="r" b="b"/>
              <a:pathLst>
                <a:path w="454660">
                  <a:moveTo>
                    <a:pt x="454314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74143" y="269809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188446" y="3466168"/>
            <a:ext cx="623455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40" dirty="0">
                <a:latin typeface="Palatino Linotype"/>
                <a:cs typeface="Palatino Linotype"/>
              </a:rPr>
              <a:t>0</a:t>
            </a:r>
            <a:r>
              <a:rPr sz="1600" i="1" spc="-129" dirty="0">
                <a:latin typeface="Verdana"/>
                <a:cs typeface="Verdana"/>
              </a:rPr>
              <a:t>,</a:t>
            </a:r>
            <a:r>
              <a:rPr sz="1600" i="1" spc="-198" dirty="0">
                <a:latin typeface="Verdana"/>
                <a:cs typeface="Verdana"/>
              </a:rPr>
              <a:t>є</a:t>
            </a:r>
            <a:r>
              <a:rPr sz="1600" spc="178" dirty="0">
                <a:latin typeface="Lucida Sans Unicode"/>
                <a:cs typeface="Lucida Sans Unicode"/>
              </a:rPr>
              <a:t>→</a:t>
            </a:r>
            <a:r>
              <a:rPr sz="1600" spc="40" dirty="0">
                <a:latin typeface="Palatino Linotype"/>
                <a:cs typeface="Palatino Linotype"/>
              </a:rPr>
              <a:t>0</a:t>
            </a:r>
            <a:endParaRPr sz="16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88446" y="3664535"/>
            <a:ext cx="623455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40" dirty="0">
                <a:latin typeface="Palatino Linotype"/>
                <a:cs typeface="Palatino Linotype"/>
              </a:rPr>
              <a:t>1</a:t>
            </a:r>
            <a:r>
              <a:rPr sz="1600" i="1" spc="-129" dirty="0">
                <a:latin typeface="Verdana"/>
                <a:cs typeface="Verdana"/>
              </a:rPr>
              <a:t>,</a:t>
            </a:r>
            <a:r>
              <a:rPr sz="1600" i="1" spc="-198" dirty="0">
                <a:latin typeface="Verdana"/>
                <a:cs typeface="Verdana"/>
              </a:rPr>
              <a:t>є</a:t>
            </a:r>
            <a:r>
              <a:rPr sz="1600" spc="178" dirty="0">
                <a:latin typeface="Lucida Sans Unicode"/>
                <a:cs typeface="Lucida Sans Unicode"/>
              </a:rPr>
              <a:t>→</a:t>
            </a:r>
            <a:r>
              <a:rPr sz="1600" spc="40" dirty="0">
                <a:latin typeface="Palatino Linotype"/>
                <a:cs typeface="Palatino Linotype"/>
              </a:rPr>
              <a:t>1</a:t>
            </a:r>
            <a:endParaRPr sz="16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73539" y="5389503"/>
            <a:ext cx="961002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20" dirty="0">
                <a:latin typeface="Calibri"/>
                <a:cs typeface="Calibri"/>
              </a:rPr>
              <a:t>ϵ</a:t>
            </a:r>
            <a:r>
              <a:rPr sz="2200" i="1" spc="-10" dirty="0">
                <a:latin typeface="Calibri"/>
                <a:cs typeface="Calibri"/>
              </a:rPr>
              <a:t>,</a:t>
            </a:r>
            <a:r>
              <a:rPr sz="2200" i="1" spc="-139" dirty="0">
                <a:latin typeface="Calibri"/>
                <a:cs typeface="Calibri"/>
              </a:rPr>
              <a:t> </a:t>
            </a:r>
            <a:r>
              <a:rPr sz="2200" spc="-258" dirty="0">
                <a:latin typeface="Georgia"/>
                <a:cs typeface="Georgia"/>
              </a:rPr>
              <a:t>$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327" dirty="0">
                <a:latin typeface="Cambria"/>
                <a:cs typeface="Cambria"/>
              </a:rPr>
              <a:t>→</a:t>
            </a:r>
            <a:r>
              <a:rPr sz="2200" spc="119" dirty="0">
                <a:latin typeface="Cambria"/>
                <a:cs typeface="Cambria"/>
              </a:rPr>
              <a:t> </a:t>
            </a:r>
            <a:r>
              <a:rPr sz="2200" i="1" spc="-69" dirty="0">
                <a:latin typeface="Calibri"/>
                <a:cs typeface="Calibri"/>
              </a:rPr>
              <a:t>ϵ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3464" y="5263385"/>
            <a:ext cx="423029" cy="27386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188446" y="5106979"/>
            <a:ext cx="623455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40" dirty="0">
                <a:latin typeface="Palatino Linotype"/>
                <a:cs typeface="Palatino Linotype"/>
              </a:rPr>
              <a:t>0</a:t>
            </a:r>
            <a:r>
              <a:rPr sz="1600" i="1" spc="-119" dirty="0">
                <a:latin typeface="Verdana"/>
                <a:cs typeface="Verdana"/>
              </a:rPr>
              <a:t>,</a:t>
            </a:r>
            <a:r>
              <a:rPr sz="1600" spc="40" dirty="0">
                <a:latin typeface="Palatino Linotype"/>
                <a:cs typeface="Palatino Linotype"/>
              </a:rPr>
              <a:t>0</a:t>
            </a:r>
            <a:r>
              <a:rPr sz="1600" spc="178" dirty="0">
                <a:latin typeface="Lucida Sans Unicode"/>
                <a:cs typeface="Lucida Sans Unicode"/>
              </a:rPr>
              <a:t>→</a:t>
            </a:r>
            <a:r>
              <a:rPr sz="1600" i="1" spc="-188" dirty="0">
                <a:latin typeface="Verdana"/>
                <a:cs typeface="Verdana"/>
              </a:rPr>
              <a:t>є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88446" y="5305346"/>
            <a:ext cx="623455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40" dirty="0">
                <a:latin typeface="Palatino Linotype"/>
                <a:cs typeface="Palatino Linotype"/>
              </a:rPr>
              <a:t>1</a:t>
            </a:r>
            <a:r>
              <a:rPr sz="1600" i="1" spc="-119" dirty="0">
                <a:latin typeface="Verdana"/>
                <a:cs typeface="Verdana"/>
              </a:rPr>
              <a:t>,</a:t>
            </a:r>
            <a:r>
              <a:rPr sz="1600" spc="40" dirty="0">
                <a:latin typeface="Palatino Linotype"/>
                <a:cs typeface="Palatino Linotype"/>
              </a:rPr>
              <a:t>1</a:t>
            </a:r>
            <a:r>
              <a:rPr sz="1600" spc="178" dirty="0">
                <a:latin typeface="Lucida Sans Unicode"/>
                <a:cs typeface="Lucida Sans Unicode"/>
              </a:rPr>
              <a:t>→</a:t>
            </a:r>
            <a:r>
              <a:rPr sz="1600" i="1" spc="-188" dirty="0">
                <a:latin typeface="Verdana"/>
                <a:cs typeface="Verdana"/>
              </a:rPr>
              <a:t>є</a:t>
            </a:r>
            <a:endParaRPr sz="16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9013459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4332" y="419051"/>
            <a:ext cx="4730698" cy="46521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z="2800" spc="59" dirty="0">
                <a:solidFill>
                  <a:srgbClr val="3333B2"/>
                </a:solidFill>
                <a:latin typeface="Times New Roman"/>
                <a:cs typeface="Times New Roman"/>
              </a:rPr>
              <a:t>Equivalence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3333B2"/>
                </a:solidFill>
                <a:latin typeface="Times New Roman"/>
                <a:cs typeface="Times New Roman"/>
              </a:rPr>
              <a:t>of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169" dirty="0">
                <a:solidFill>
                  <a:srgbClr val="3333B2"/>
                </a:solidFill>
                <a:latin typeface="Times New Roman"/>
                <a:cs typeface="Times New Roman"/>
              </a:rPr>
              <a:t>CFG</a:t>
            </a:r>
            <a:r>
              <a:rPr sz="2800" spc="1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149" dirty="0">
                <a:solidFill>
                  <a:srgbClr val="3333B2"/>
                </a:solidFill>
                <a:latin typeface="Times New Roman"/>
                <a:cs typeface="Times New Roman"/>
              </a:rPr>
              <a:t>and</a:t>
            </a:r>
            <a:r>
              <a:rPr sz="2800" spc="19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2800" spc="159" dirty="0">
                <a:solidFill>
                  <a:srgbClr val="3333B2"/>
                </a:solidFill>
                <a:latin typeface="Times New Roman"/>
                <a:cs typeface="Times New Roman"/>
              </a:rPr>
              <a:t>PDA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3275" y="2375584"/>
            <a:ext cx="8014223" cy="1255832"/>
            <a:chOff x="309193" y="1198790"/>
            <a:chExt cx="4040504" cy="633730"/>
          </a:xfrm>
        </p:grpSpPr>
        <p:sp>
          <p:nvSpPr>
            <p:cNvPr id="4" name="object 4"/>
            <p:cNvSpPr/>
            <p:nvPr/>
          </p:nvSpPr>
          <p:spPr>
            <a:xfrm>
              <a:off x="309193" y="1198790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373111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73078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718081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1243025"/>
              <a:ext cx="50751" cy="4877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1417391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1281119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7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12684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2557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2430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8848" y="2272035"/>
            <a:ext cx="6768575" cy="1197948"/>
          </a:xfrm>
          <a:prstGeom prst="rect">
            <a:avLst/>
          </a:prstGeom>
        </p:spPr>
        <p:txBody>
          <a:bodyPr vert="horz" wrap="square" lIns="0" tIns="84348" rIns="0" bIns="0" rtlCol="0">
            <a:spAutoFit/>
          </a:bodyPr>
          <a:lstStyle/>
          <a:p>
            <a:pPr marL="25179">
              <a:spcBef>
                <a:spcPts val="662"/>
              </a:spcBef>
            </a:pPr>
            <a:r>
              <a:rPr sz="2400" spc="59" dirty="0">
                <a:latin typeface="Times New Roman"/>
                <a:cs typeface="Times New Roman"/>
              </a:rPr>
              <a:t>Theorem</a:t>
            </a:r>
            <a:r>
              <a:rPr sz="2400" spc="89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25179" marR="10072">
              <a:lnSpc>
                <a:spcPct val="102699"/>
              </a:lnSpc>
              <a:spcBef>
                <a:spcPts val="337"/>
              </a:spcBef>
            </a:pPr>
            <a:r>
              <a:rPr sz="2200" i="1" spc="268" dirty="0">
                <a:latin typeface="Times New Roman"/>
                <a:cs typeface="Times New Roman"/>
              </a:rPr>
              <a:t>A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language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is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context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free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if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and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only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if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9" dirty="0">
                <a:latin typeface="Times New Roman"/>
                <a:cs typeface="Times New Roman"/>
              </a:rPr>
              <a:t>some</a:t>
            </a:r>
            <a:r>
              <a:rPr sz="2200" i="1" spc="208" dirty="0">
                <a:latin typeface="Times New Roman"/>
                <a:cs typeface="Times New Roman"/>
              </a:rPr>
              <a:t> </a:t>
            </a:r>
            <a:r>
              <a:rPr sz="2200" i="1" spc="30" dirty="0">
                <a:latin typeface="Times New Roman"/>
                <a:cs typeface="Times New Roman"/>
              </a:rPr>
              <a:t>pushdown </a:t>
            </a:r>
            <a:r>
              <a:rPr sz="2200" i="1" spc="-515" dirty="0">
                <a:latin typeface="Times New Roman"/>
                <a:cs typeface="Times New Roman"/>
              </a:rPr>
              <a:t> </a:t>
            </a:r>
            <a:r>
              <a:rPr sz="2200" i="1" spc="59" dirty="0">
                <a:latin typeface="Times New Roman"/>
                <a:cs typeface="Times New Roman"/>
              </a:rPr>
              <a:t>automata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recognizes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79" dirty="0">
                <a:latin typeface="Times New Roman"/>
                <a:cs typeface="Times New Roman"/>
              </a:rPr>
              <a:t>it.</a:t>
            </a:r>
            <a:endParaRPr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988931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4332" y="-32987"/>
            <a:ext cx="4730698" cy="1388541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pc="59" dirty="0"/>
              <a:t>Equivalence</a:t>
            </a:r>
            <a:r>
              <a:rPr spc="188" dirty="0"/>
              <a:t> </a:t>
            </a:r>
            <a:r>
              <a:rPr spc="-40" dirty="0"/>
              <a:t>of</a:t>
            </a:r>
            <a:r>
              <a:rPr spc="188" dirty="0"/>
              <a:t> </a:t>
            </a:r>
            <a:r>
              <a:rPr spc="169" dirty="0"/>
              <a:t>CFG</a:t>
            </a:r>
            <a:r>
              <a:rPr spc="188" dirty="0"/>
              <a:t> </a:t>
            </a:r>
            <a:r>
              <a:rPr spc="149" dirty="0"/>
              <a:t>and</a:t>
            </a:r>
            <a:r>
              <a:rPr spc="198" dirty="0"/>
              <a:t> </a:t>
            </a:r>
            <a:r>
              <a:rPr spc="159" dirty="0"/>
              <a:t>PDA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3275" y="2375584"/>
            <a:ext cx="8014223" cy="1255832"/>
            <a:chOff x="309193" y="1198790"/>
            <a:chExt cx="4040504" cy="633730"/>
          </a:xfrm>
        </p:grpSpPr>
        <p:sp>
          <p:nvSpPr>
            <p:cNvPr id="4" name="object 4"/>
            <p:cNvSpPr/>
            <p:nvPr/>
          </p:nvSpPr>
          <p:spPr>
            <a:xfrm>
              <a:off x="309193" y="1198790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373111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73078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718081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1243025"/>
              <a:ext cx="50751" cy="4877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1417391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1281119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7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12684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2557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2430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13275" y="3831545"/>
            <a:ext cx="8014223" cy="936211"/>
            <a:chOff x="309193" y="1933511"/>
            <a:chExt cx="4040504" cy="472440"/>
          </a:xfrm>
        </p:grpSpPr>
        <p:sp>
          <p:nvSpPr>
            <p:cNvPr id="15" name="object 15"/>
            <p:cNvSpPr/>
            <p:nvPr/>
          </p:nvSpPr>
          <p:spPr>
            <a:xfrm>
              <a:off x="309193" y="1933511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194" y="2118372"/>
              <a:ext cx="3989651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2303970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291270"/>
              <a:ext cx="3938802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977745"/>
              <a:ext cx="50751" cy="3262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9193" y="2162658"/>
              <a:ext cx="3989704" cy="192405"/>
            </a:xfrm>
            <a:custGeom>
              <a:avLst/>
              <a:gdLst/>
              <a:ahLst/>
              <a:cxnLst/>
              <a:rect l="l" t="t" r="r" b="b"/>
              <a:pathLst>
                <a:path w="3989704" h="192405">
                  <a:moveTo>
                    <a:pt x="3989652" y="0"/>
                  </a:moveTo>
                  <a:lnTo>
                    <a:pt x="0" y="0"/>
                  </a:lnTo>
                  <a:lnTo>
                    <a:pt x="0" y="141312"/>
                  </a:lnTo>
                  <a:lnTo>
                    <a:pt x="4008" y="161037"/>
                  </a:lnTo>
                  <a:lnTo>
                    <a:pt x="14922" y="177190"/>
                  </a:lnTo>
                  <a:lnTo>
                    <a:pt x="31075" y="188104"/>
                  </a:lnTo>
                  <a:lnTo>
                    <a:pt x="50800" y="192112"/>
                  </a:lnTo>
                  <a:lnTo>
                    <a:pt x="3938852" y="192112"/>
                  </a:lnTo>
                  <a:lnTo>
                    <a:pt x="3958576" y="188104"/>
                  </a:lnTo>
                  <a:lnTo>
                    <a:pt x="3974729" y="177190"/>
                  </a:lnTo>
                  <a:lnTo>
                    <a:pt x="3985644" y="161037"/>
                  </a:lnTo>
                  <a:lnTo>
                    <a:pt x="3989652" y="14131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98846" y="2015841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3071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8846" y="2003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8846" y="1990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8846" y="1977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88848" y="2272035"/>
            <a:ext cx="6768575" cy="2372721"/>
          </a:xfrm>
          <a:prstGeom prst="rect">
            <a:avLst/>
          </a:prstGeom>
        </p:spPr>
        <p:txBody>
          <a:bodyPr vert="horz" wrap="square" lIns="0" tIns="84348" rIns="0" bIns="0" rtlCol="0">
            <a:spAutoFit/>
          </a:bodyPr>
          <a:lstStyle/>
          <a:p>
            <a:pPr marL="25179">
              <a:spcBef>
                <a:spcPts val="662"/>
              </a:spcBef>
            </a:pPr>
            <a:r>
              <a:rPr sz="2400" spc="59" dirty="0">
                <a:latin typeface="Times New Roman"/>
                <a:cs typeface="Times New Roman"/>
              </a:rPr>
              <a:t>Theorem</a:t>
            </a:r>
            <a:r>
              <a:rPr sz="2400" spc="89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25179" marR="10072">
              <a:lnSpc>
                <a:spcPct val="102699"/>
              </a:lnSpc>
              <a:spcBef>
                <a:spcPts val="337"/>
              </a:spcBef>
            </a:pPr>
            <a:r>
              <a:rPr sz="2200" i="1" spc="268" dirty="0">
                <a:latin typeface="Times New Roman"/>
                <a:cs typeface="Times New Roman"/>
              </a:rPr>
              <a:t>A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language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is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context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free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if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and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only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if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59" dirty="0">
                <a:latin typeface="Times New Roman"/>
                <a:cs typeface="Times New Roman"/>
              </a:rPr>
              <a:t>some</a:t>
            </a:r>
            <a:r>
              <a:rPr sz="2200" i="1" spc="208" dirty="0">
                <a:latin typeface="Times New Roman"/>
                <a:cs typeface="Times New Roman"/>
              </a:rPr>
              <a:t> </a:t>
            </a:r>
            <a:r>
              <a:rPr sz="2200" i="1" spc="30" dirty="0">
                <a:latin typeface="Times New Roman"/>
                <a:cs typeface="Times New Roman"/>
              </a:rPr>
              <a:t>pushdown </a:t>
            </a:r>
            <a:r>
              <a:rPr sz="2200" i="1" spc="-515" dirty="0">
                <a:latin typeface="Times New Roman"/>
                <a:cs typeface="Times New Roman"/>
              </a:rPr>
              <a:t> </a:t>
            </a:r>
            <a:r>
              <a:rPr sz="2200" i="1" spc="59" dirty="0">
                <a:latin typeface="Times New Roman"/>
                <a:cs typeface="Times New Roman"/>
              </a:rPr>
              <a:t>automata</a:t>
            </a:r>
            <a:r>
              <a:rPr sz="2200" i="1" spc="218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recognizes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79" dirty="0">
                <a:latin typeface="Times New Roman"/>
                <a:cs typeface="Times New Roman"/>
              </a:rPr>
              <a:t>it.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25179"/>
            <a:r>
              <a:rPr sz="2400" spc="40" dirty="0">
                <a:latin typeface="Times New Roman"/>
                <a:cs typeface="Times New Roman"/>
              </a:rPr>
              <a:t>Corollary</a:t>
            </a:r>
            <a:r>
              <a:rPr sz="2400" spc="79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25179">
              <a:spcBef>
                <a:spcPts val="575"/>
              </a:spcBef>
            </a:pPr>
            <a:r>
              <a:rPr sz="2200" i="1" spc="59" dirty="0">
                <a:latin typeface="Times New Roman"/>
                <a:cs typeface="Times New Roman"/>
              </a:rPr>
              <a:t>Every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-30" dirty="0">
                <a:latin typeface="Times New Roman"/>
                <a:cs typeface="Times New Roman"/>
              </a:rPr>
              <a:t>regular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language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is</a:t>
            </a:r>
            <a:r>
              <a:rPr sz="2200" i="1" spc="238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context</a:t>
            </a:r>
            <a:r>
              <a:rPr sz="2200" i="1" spc="226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free.</a:t>
            </a:r>
            <a:endParaRPr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6737982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On-screen Show (4:3)</PresentationFormat>
  <Paragraphs>133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Pushdown Automata (PDA)</vt:lpstr>
      <vt:lpstr>Pushdown Automata (PDA)</vt:lpstr>
      <vt:lpstr>Computation by PDA</vt:lpstr>
      <vt:lpstr>Example PDA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Equivalence of CFG and PDA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Pushdown Automata (PDA)</dc:title>
  <dc:creator>larkana computers</dc:creator>
  <cp:lastModifiedBy>larkana computers</cp:lastModifiedBy>
  <cp:revision>1</cp:revision>
  <dcterms:created xsi:type="dcterms:W3CDTF">2023-06-20T17:05:54Z</dcterms:created>
  <dcterms:modified xsi:type="dcterms:W3CDTF">2023-06-20T17:06:20Z</dcterms:modified>
</cp:coreProperties>
</file>