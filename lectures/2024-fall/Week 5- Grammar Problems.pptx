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4"/>
  </p:notesMasterIdLst>
  <p:sldIdLst>
    <p:sldId id="257" r:id="rId2"/>
    <p:sldId id="258" r:id="rId3"/>
    <p:sldId id="259" r:id="rId4"/>
    <p:sldId id="260" r:id="rId5"/>
    <p:sldId id="261" r:id="rId6"/>
    <p:sldId id="262" r:id="rId7"/>
    <p:sldId id="263" r:id="rId8"/>
    <p:sldId id="264" r:id="rId9"/>
    <p:sldId id="265" r:id="rId10"/>
    <p:sldId id="266" r:id="rId11"/>
    <p:sldId id="267" r:id="rId12"/>
    <p:sldId id="268" r:id="rId13"/>
    <p:sldId id="269" r:id="rId14"/>
    <p:sldId id="270" r:id="rId15"/>
    <p:sldId id="271" r:id="rId16"/>
    <p:sldId id="272" r:id="rId17"/>
    <p:sldId id="273" r:id="rId18"/>
    <p:sldId id="274" r:id="rId19"/>
    <p:sldId id="275" r:id="rId20"/>
    <p:sldId id="276" r:id="rId21"/>
    <p:sldId id="277" r:id="rId22"/>
    <p:sldId id="278" r:id="rId23"/>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9" d="100"/>
          <a:sy n="69" d="100"/>
        </p:scale>
        <p:origin x="-1416" y="-90"/>
      </p:cViewPr>
      <p:guideLst>
        <p:guide orient="horz" pos="216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618CA560-D3F4-4AEC-8C0A-27D395C01C14}" type="datetimeFigureOut">
              <a:rPr lang="en-US" smtClean="0"/>
              <a:t>6/20/2023</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B5DDB8C-9486-44EF-86DA-19FAC941AEF5}" type="slidenum">
              <a:rPr lang="en-US" smtClean="0"/>
              <a:t>‹#›</a:t>
            </a:fld>
            <a:endParaRPr lang="en-US"/>
          </a:p>
        </p:txBody>
      </p:sp>
    </p:spTree>
    <p:extLst>
      <p:ext uri="{BB962C8B-B14F-4D97-AF65-F5344CB8AC3E}">
        <p14:creationId xmlns:p14="http://schemas.microsoft.com/office/powerpoint/2010/main" val="318612622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0A7D22-8F83-4466-AC05-04AAEAA3550A}" type="slidenum">
              <a:rPr lang="en-US" smtClean="0"/>
              <a:t>1</a:t>
            </a:fld>
            <a:endParaRPr lang="en-US"/>
          </a:p>
        </p:txBody>
      </p:sp>
    </p:spTree>
    <p:extLst>
      <p:ext uri="{BB962C8B-B14F-4D97-AF65-F5344CB8AC3E}">
        <p14:creationId xmlns:p14="http://schemas.microsoft.com/office/powerpoint/2010/main" val="1370097244"/>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0A7D22-8F83-4466-AC05-04AAEAA3550A}" type="slidenum">
              <a:rPr lang="en-US" smtClean="0"/>
              <a:t>2</a:t>
            </a:fld>
            <a:endParaRPr lang="en-US"/>
          </a:p>
        </p:txBody>
      </p:sp>
    </p:spTree>
    <p:extLst>
      <p:ext uri="{BB962C8B-B14F-4D97-AF65-F5344CB8AC3E}">
        <p14:creationId xmlns:p14="http://schemas.microsoft.com/office/powerpoint/2010/main" val="303115608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0A7D22-8F83-4466-AC05-04AAEAA3550A}" type="slidenum">
              <a:rPr lang="en-US" smtClean="0"/>
              <a:t>3</a:t>
            </a:fld>
            <a:endParaRPr lang="en-US"/>
          </a:p>
        </p:txBody>
      </p:sp>
    </p:spTree>
    <p:extLst>
      <p:ext uri="{BB962C8B-B14F-4D97-AF65-F5344CB8AC3E}">
        <p14:creationId xmlns:p14="http://schemas.microsoft.com/office/powerpoint/2010/main" val="13566066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0A7D22-8F83-4466-AC05-04AAEAA3550A}" type="slidenum">
              <a:rPr lang="en-US" smtClean="0"/>
              <a:t>4</a:t>
            </a:fld>
            <a:endParaRPr lang="en-US"/>
          </a:p>
        </p:txBody>
      </p:sp>
    </p:spTree>
    <p:extLst>
      <p:ext uri="{BB962C8B-B14F-4D97-AF65-F5344CB8AC3E}">
        <p14:creationId xmlns:p14="http://schemas.microsoft.com/office/powerpoint/2010/main" val="203637023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B28C7E30-69CD-4FE2-806D-3C88C0383778}" type="slidenum">
              <a:rPr lang="en-US" smtClean="0"/>
              <a:pPr/>
              <a:t>5</a:t>
            </a:fld>
            <a:endParaRPr lang="en-US"/>
          </a:p>
        </p:txBody>
      </p:sp>
    </p:spTree>
    <p:extLst>
      <p:ext uri="{BB962C8B-B14F-4D97-AF65-F5344CB8AC3E}">
        <p14:creationId xmlns:p14="http://schemas.microsoft.com/office/powerpoint/2010/main" val="568456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0A7D22-8F83-4466-AC05-04AAEAA3550A}" type="slidenum">
              <a:rPr lang="en-US" smtClean="0"/>
              <a:t>6</a:t>
            </a:fld>
            <a:endParaRPr lang="en-US"/>
          </a:p>
        </p:txBody>
      </p:sp>
    </p:spTree>
    <p:extLst>
      <p:ext uri="{BB962C8B-B14F-4D97-AF65-F5344CB8AC3E}">
        <p14:creationId xmlns:p14="http://schemas.microsoft.com/office/powerpoint/2010/main" val="1791115019"/>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dirty="0"/>
          </a:p>
        </p:txBody>
      </p:sp>
      <p:sp>
        <p:nvSpPr>
          <p:cNvPr id="4" name="Slide Number Placeholder 3"/>
          <p:cNvSpPr>
            <a:spLocks noGrp="1"/>
          </p:cNvSpPr>
          <p:nvPr>
            <p:ph type="sldNum" sz="quarter" idx="10"/>
          </p:nvPr>
        </p:nvSpPr>
        <p:spPr/>
        <p:txBody>
          <a:bodyPr/>
          <a:lstStyle/>
          <a:p>
            <a:fld id="{5C0A7D22-8F83-4466-AC05-04AAEAA3550A}" type="slidenum">
              <a:rPr lang="en-US" smtClean="0"/>
              <a:t>7</a:t>
            </a:fld>
            <a:endParaRPr lang="en-US"/>
          </a:p>
        </p:txBody>
      </p:sp>
    </p:spTree>
    <p:extLst>
      <p:ext uri="{BB962C8B-B14F-4D97-AF65-F5344CB8AC3E}">
        <p14:creationId xmlns:p14="http://schemas.microsoft.com/office/powerpoint/2010/main" val="208017823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0A7D22-8F83-4466-AC05-04AAEAA3550A}" type="slidenum">
              <a:rPr lang="en-US" smtClean="0"/>
              <a:t>8</a:t>
            </a:fld>
            <a:endParaRPr lang="en-US"/>
          </a:p>
        </p:txBody>
      </p:sp>
    </p:spTree>
    <p:extLst>
      <p:ext uri="{BB962C8B-B14F-4D97-AF65-F5344CB8AC3E}">
        <p14:creationId xmlns:p14="http://schemas.microsoft.com/office/powerpoint/2010/main" val="2930593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0A7D22-8F83-4466-AC05-04AAEAA3550A}" type="slidenum">
              <a:rPr lang="en-US" smtClean="0"/>
              <a:t>9</a:t>
            </a:fld>
            <a:endParaRPr lang="en-US"/>
          </a:p>
        </p:txBody>
      </p:sp>
    </p:spTree>
    <p:extLst>
      <p:ext uri="{BB962C8B-B14F-4D97-AF65-F5344CB8AC3E}">
        <p14:creationId xmlns:p14="http://schemas.microsoft.com/office/powerpoint/2010/main" val="6929599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0A7D22-8F83-4466-AC05-04AAEAA3550A}" type="slidenum">
              <a:rPr lang="en-US" smtClean="0"/>
              <a:t>10</a:t>
            </a:fld>
            <a:endParaRPr lang="en-US"/>
          </a:p>
        </p:txBody>
      </p:sp>
    </p:spTree>
    <p:extLst>
      <p:ext uri="{BB962C8B-B14F-4D97-AF65-F5344CB8AC3E}">
        <p14:creationId xmlns:p14="http://schemas.microsoft.com/office/powerpoint/2010/main" val="23222820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0A7D22-8F83-4466-AC05-04AAEAA3550A}" type="slidenum">
              <a:rPr lang="en-US" smtClean="0"/>
              <a:t>11</a:t>
            </a:fld>
            <a:endParaRPr lang="en-US"/>
          </a:p>
        </p:txBody>
      </p:sp>
    </p:spTree>
    <p:extLst>
      <p:ext uri="{BB962C8B-B14F-4D97-AF65-F5344CB8AC3E}">
        <p14:creationId xmlns:p14="http://schemas.microsoft.com/office/powerpoint/2010/main" val="125339454"/>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0" name="Slide Image Placeholder 1"/>
          <p:cNvSpPr>
            <a:spLocks noGrp="1" noRot="1" noChangeAspect="1" noTextEdit="1"/>
          </p:cNvSpPr>
          <p:nvPr>
            <p:ph type="sldImg"/>
          </p:nvPr>
        </p:nvSpPr>
        <p:spPr>
          <a:ln/>
        </p:spPr>
      </p:sp>
      <p:sp>
        <p:nvSpPr>
          <p:cNvPr id="37891" name="Notes Placeholder 2"/>
          <p:cNvSpPr>
            <a:spLocks noGrp="1"/>
          </p:cNvSpPr>
          <p:nvPr>
            <p:ph type="body" idx="1"/>
          </p:nvPr>
        </p:nvSpPr>
        <p:spPr>
          <a:noFill/>
          <a:ln/>
        </p:spPr>
        <p:txBody>
          <a:bodyPr/>
          <a:lstStyle/>
          <a:p>
            <a:pPr eaLnBrk="1" hangingPunct="1"/>
            <a:endParaRPr lang="en-US" smtClean="0"/>
          </a:p>
        </p:txBody>
      </p:sp>
      <p:sp>
        <p:nvSpPr>
          <p:cNvPr id="37892" name="Slide Number Placeholder 3"/>
          <p:cNvSpPr>
            <a:spLocks noGrp="1"/>
          </p:cNvSpPr>
          <p:nvPr>
            <p:ph type="sldNum" sz="quarter" idx="5"/>
          </p:nvPr>
        </p:nvSpPr>
        <p:spPr>
          <a:noFill/>
        </p:spPr>
        <p:txBody>
          <a:bodyPr/>
          <a:lstStyle/>
          <a:p>
            <a:fld id="{115F4073-0C9C-46F7-A5C2-F92EAB3EFFA9}" type="slidenum">
              <a:rPr lang="en-US"/>
              <a:pPr/>
              <a:t>12</a:t>
            </a:fld>
            <a:endParaRPr lang="en-US"/>
          </a:p>
        </p:txBody>
      </p:sp>
    </p:spTree>
    <p:extLst>
      <p:ext uri="{BB962C8B-B14F-4D97-AF65-F5344CB8AC3E}">
        <p14:creationId xmlns:p14="http://schemas.microsoft.com/office/powerpoint/2010/main" val="298963272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0A7D22-8F83-4466-AC05-04AAEAA3550A}" type="slidenum">
              <a:rPr lang="en-US" smtClean="0"/>
              <a:t>13</a:t>
            </a:fld>
            <a:endParaRPr lang="en-US"/>
          </a:p>
        </p:txBody>
      </p:sp>
    </p:spTree>
    <p:extLst>
      <p:ext uri="{BB962C8B-B14F-4D97-AF65-F5344CB8AC3E}">
        <p14:creationId xmlns:p14="http://schemas.microsoft.com/office/powerpoint/2010/main" val="218423650"/>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US"/>
          </a:p>
        </p:txBody>
      </p:sp>
      <p:sp>
        <p:nvSpPr>
          <p:cNvPr id="4" name="Slide Number Placeholder 3"/>
          <p:cNvSpPr>
            <a:spLocks noGrp="1"/>
          </p:cNvSpPr>
          <p:nvPr>
            <p:ph type="sldNum" sz="quarter" idx="10"/>
          </p:nvPr>
        </p:nvSpPr>
        <p:spPr/>
        <p:txBody>
          <a:bodyPr/>
          <a:lstStyle/>
          <a:p>
            <a:fld id="{5C0A7D22-8F83-4466-AC05-04AAEAA3550A}" type="slidenum">
              <a:rPr lang="en-US" smtClean="0"/>
              <a:t>14</a:t>
            </a:fld>
            <a:endParaRPr lang="en-US"/>
          </a:p>
        </p:txBody>
      </p:sp>
    </p:spTree>
    <p:extLst>
      <p:ext uri="{BB962C8B-B14F-4D97-AF65-F5344CB8AC3E}">
        <p14:creationId xmlns:p14="http://schemas.microsoft.com/office/powerpoint/2010/main" val="370652479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4" name="Slide Image Placeholder 1"/>
          <p:cNvSpPr>
            <a:spLocks noGrp="1" noRot="1" noChangeAspect="1" noTextEdit="1"/>
          </p:cNvSpPr>
          <p:nvPr>
            <p:ph type="sldImg"/>
          </p:nvPr>
        </p:nvSpPr>
        <p:spPr>
          <a:ln/>
        </p:spPr>
      </p:sp>
      <p:sp>
        <p:nvSpPr>
          <p:cNvPr id="44035" name="Notes Placeholder 2"/>
          <p:cNvSpPr>
            <a:spLocks noGrp="1"/>
          </p:cNvSpPr>
          <p:nvPr>
            <p:ph type="body" idx="1"/>
          </p:nvPr>
        </p:nvSpPr>
        <p:spPr>
          <a:noFill/>
          <a:ln/>
        </p:spPr>
        <p:txBody>
          <a:bodyPr/>
          <a:lstStyle/>
          <a:p>
            <a:pPr eaLnBrk="1" hangingPunct="1"/>
            <a:endParaRPr lang="en-US" smtClean="0"/>
          </a:p>
        </p:txBody>
      </p:sp>
      <p:sp>
        <p:nvSpPr>
          <p:cNvPr id="44036" name="Slide Number Placeholder 3"/>
          <p:cNvSpPr>
            <a:spLocks noGrp="1"/>
          </p:cNvSpPr>
          <p:nvPr>
            <p:ph type="sldNum" sz="quarter" idx="5"/>
          </p:nvPr>
        </p:nvSpPr>
        <p:spPr>
          <a:noFill/>
        </p:spPr>
        <p:txBody>
          <a:bodyPr/>
          <a:lstStyle/>
          <a:p>
            <a:fld id="{1790894E-7759-447E-B624-71FB993DD4F8}" type="slidenum">
              <a:rPr lang="en-US"/>
              <a:pPr/>
              <a:t>15</a:t>
            </a:fld>
            <a:endParaRPr lang="en-US"/>
          </a:p>
        </p:txBody>
      </p:sp>
    </p:spTree>
    <p:extLst>
      <p:ext uri="{BB962C8B-B14F-4D97-AF65-F5344CB8AC3E}">
        <p14:creationId xmlns:p14="http://schemas.microsoft.com/office/powerpoint/2010/main" val="177453622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58" name="Slide Image Placeholder 1"/>
          <p:cNvSpPr>
            <a:spLocks noGrp="1" noRot="1" noChangeAspect="1" noTextEdit="1"/>
          </p:cNvSpPr>
          <p:nvPr>
            <p:ph type="sldImg"/>
          </p:nvPr>
        </p:nvSpPr>
        <p:spPr>
          <a:ln/>
        </p:spPr>
      </p:sp>
      <p:sp>
        <p:nvSpPr>
          <p:cNvPr id="45059" name="Notes Placeholder 2"/>
          <p:cNvSpPr>
            <a:spLocks noGrp="1"/>
          </p:cNvSpPr>
          <p:nvPr>
            <p:ph type="body" idx="1"/>
          </p:nvPr>
        </p:nvSpPr>
        <p:spPr>
          <a:noFill/>
          <a:ln/>
        </p:spPr>
        <p:txBody>
          <a:bodyPr/>
          <a:lstStyle/>
          <a:p>
            <a:pPr eaLnBrk="1" hangingPunct="1"/>
            <a:endParaRPr lang="en-US" smtClean="0"/>
          </a:p>
        </p:txBody>
      </p:sp>
      <p:sp>
        <p:nvSpPr>
          <p:cNvPr id="45060" name="Slide Number Placeholder 3"/>
          <p:cNvSpPr>
            <a:spLocks noGrp="1"/>
          </p:cNvSpPr>
          <p:nvPr>
            <p:ph type="sldNum" sz="quarter" idx="5"/>
          </p:nvPr>
        </p:nvSpPr>
        <p:spPr>
          <a:noFill/>
        </p:spPr>
        <p:txBody>
          <a:bodyPr/>
          <a:lstStyle/>
          <a:p>
            <a:fld id="{F8B57E31-0836-4C7C-A8AA-DE7496EEEE77}" type="slidenum">
              <a:rPr lang="en-US"/>
              <a:pPr/>
              <a:t>16</a:t>
            </a:fld>
            <a:endParaRPr lang="en-US"/>
          </a:p>
        </p:txBody>
      </p:sp>
    </p:spTree>
    <p:extLst>
      <p:ext uri="{BB962C8B-B14F-4D97-AF65-F5344CB8AC3E}">
        <p14:creationId xmlns:p14="http://schemas.microsoft.com/office/powerpoint/2010/main" val="59960261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2" name="Slide Image Placeholder 1"/>
          <p:cNvSpPr>
            <a:spLocks noGrp="1" noRot="1" noChangeAspect="1" noTextEdit="1"/>
          </p:cNvSpPr>
          <p:nvPr>
            <p:ph type="sldImg"/>
          </p:nvPr>
        </p:nvSpPr>
        <p:spPr>
          <a:ln/>
        </p:spPr>
      </p:sp>
      <p:sp>
        <p:nvSpPr>
          <p:cNvPr id="46083" name="Notes Placeholder 2"/>
          <p:cNvSpPr>
            <a:spLocks noGrp="1"/>
          </p:cNvSpPr>
          <p:nvPr>
            <p:ph type="body" idx="1"/>
          </p:nvPr>
        </p:nvSpPr>
        <p:spPr>
          <a:noFill/>
          <a:ln/>
        </p:spPr>
        <p:txBody>
          <a:bodyPr/>
          <a:lstStyle/>
          <a:p>
            <a:pPr eaLnBrk="1" hangingPunct="1"/>
            <a:endParaRPr lang="en-US" smtClean="0"/>
          </a:p>
        </p:txBody>
      </p:sp>
      <p:sp>
        <p:nvSpPr>
          <p:cNvPr id="46084" name="Slide Number Placeholder 3"/>
          <p:cNvSpPr>
            <a:spLocks noGrp="1"/>
          </p:cNvSpPr>
          <p:nvPr>
            <p:ph type="sldNum" sz="quarter" idx="5"/>
          </p:nvPr>
        </p:nvSpPr>
        <p:spPr>
          <a:noFill/>
        </p:spPr>
        <p:txBody>
          <a:bodyPr/>
          <a:lstStyle/>
          <a:p>
            <a:fld id="{A39289CF-B265-4A90-86BE-0839D52F8BEA}" type="slidenum">
              <a:rPr lang="en-US"/>
              <a:pPr/>
              <a:t>17</a:t>
            </a:fld>
            <a:endParaRPr lang="en-US"/>
          </a:p>
        </p:txBody>
      </p:sp>
    </p:spTree>
    <p:extLst>
      <p:ext uri="{BB962C8B-B14F-4D97-AF65-F5344CB8AC3E}">
        <p14:creationId xmlns:p14="http://schemas.microsoft.com/office/powerpoint/2010/main" val="3203829864"/>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6" name="Slide Image Placeholder 1"/>
          <p:cNvSpPr>
            <a:spLocks noGrp="1" noRot="1" noChangeAspect="1" noTextEdit="1"/>
          </p:cNvSpPr>
          <p:nvPr>
            <p:ph type="sldImg"/>
          </p:nvPr>
        </p:nvSpPr>
        <p:spPr>
          <a:ln/>
        </p:spPr>
      </p:sp>
      <p:sp>
        <p:nvSpPr>
          <p:cNvPr id="47107" name="Notes Placeholder 2"/>
          <p:cNvSpPr>
            <a:spLocks noGrp="1"/>
          </p:cNvSpPr>
          <p:nvPr>
            <p:ph type="body" idx="1"/>
          </p:nvPr>
        </p:nvSpPr>
        <p:spPr>
          <a:noFill/>
          <a:ln/>
        </p:spPr>
        <p:txBody>
          <a:bodyPr/>
          <a:lstStyle/>
          <a:p>
            <a:pPr eaLnBrk="1" hangingPunct="1"/>
            <a:endParaRPr lang="en-US" smtClean="0"/>
          </a:p>
        </p:txBody>
      </p:sp>
      <p:sp>
        <p:nvSpPr>
          <p:cNvPr id="47108" name="Slide Number Placeholder 3"/>
          <p:cNvSpPr>
            <a:spLocks noGrp="1"/>
          </p:cNvSpPr>
          <p:nvPr>
            <p:ph type="sldNum" sz="quarter" idx="5"/>
          </p:nvPr>
        </p:nvSpPr>
        <p:spPr>
          <a:noFill/>
        </p:spPr>
        <p:txBody>
          <a:bodyPr/>
          <a:lstStyle/>
          <a:p>
            <a:fld id="{ACD73856-5EC1-4788-AB1C-508022C416DD}" type="slidenum">
              <a:rPr lang="en-US"/>
              <a:pPr/>
              <a:t>18</a:t>
            </a:fld>
            <a:endParaRPr lang="en-US"/>
          </a:p>
        </p:txBody>
      </p:sp>
    </p:spTree>
    <p:extLst>
      <p:ext uri="{BB962C8B-B14F-4D97-AF65-F5344CB8AC3E}">
        <p14:creationId xmlns:p14="http://schemas.microsoft.com/office/powerpoint/2010/main" val="23882301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Slide Image Placeholder 1"/>
          <p:cNvSpPr>
            <a:spLocks noGrp="1" noRot="1" noChangeAspect="1" noTextEdit="1"/>
          </p:cNvSpPr>
          <p:nvPr>
            <p:ph type="sldImg"/>
          </p:nvPr>
        </p:nvSpPr>
        <p:spPr>
          <a:ln/>
        </p:spPr>
      </p:sp>
      <p:sp>
        <p:nvSpPr>
          <p:cNvPr id="48131" name="Notes Placeholder 2"/>
          <p:cNvSpPr>
            <a:spLocks noGrp="1"/>
          </p:cNvSpPr>
          <p:nvPr>
            <p:ph type="body" idx="1"/>
          </p:nvPr>
        </p:nvSpPr>
        <p:spPr>
          <a:noFill/>
          <a:ln/>
        </p:spPr>
        <p:txBody>
          <a:bodyPr/>
          <a:lstStyle/>
          <a:p>
            <a:pPr eaLnBrk="1" hangingPunct="1"/>
            <a:endParaRPr lang="en-US" smtClean="0"/>
          </a:p>
        </p:txBody>
      </p:sp>
      <p:sp>
        <p:nvSpPr>
          <p:cNvPr id="48132" name="Slide Number Placeholder 3"/>
          <p:cNvSpPr>
            <a:spLocks noGrp="1"/>
          </p:cNvSpPr>
          <p:nvPr>
            <p:ph type="sldNum" sz="quarter" idx="5"/>
          </p:nvPr>
        </p:nvSpPr>
        <p:spPr>
          <a:noFill/>
        </p:spPr>
        <p:txBody>
          <a:bodyPr/>
          <a:lstStyle/>
          <a:p>
            <a:fld id="{D6CDA457-5C5D-4692-A40C-D2C893913606}" type="slidenum">
              <a:rPr lang="en-US"/>
              <a:pPr/>
              <a:t>19</a:t>
            </a:fld>
            <a:endParaRPr lang="en-US"/>
          </a:p>
        </p:txBody>
      </p:sp>
    </p:spTree>
    <p:extLst>
      <p:ext uri="{BB962C8B-B14F-4D97-AF65-F5344CB8AC3E}">
        <p14:creationId xmlns:p14="http://schemas.microsoft.com/office/powerpoint/2010/main" val="9397099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4" name="Slide Image Placeholder 1"/>
          <p:cNvSpPr>
            <a:spLocks noGrp="1" noRot="1" noChangeAspect="1" noTextEdit="1"/>
          </p:cNvSpPr>
          <p:nvPr>
            <p:ph type="sldImg"/>
          </p:nvPr>
        </p:nvSpPr>
        <p:spPr>
          <a:ln/>
        </p:spPr>
      </p:sp>
      <p:sp>
        <p:nvSpPr>
          <p:cNvPr id="49155" name="Notes Placeholder 2"/>
          <p:cNvSpPr>
            <a:spLocks noGrp="1"/>
          </p:cNvSpPr>
          <p:nvPr>
            <p:ph type="body" idx="1"/>
          </p:nvPr>
        </p:nvSpPr>
        <p:spPr>
          <a:noFill/>
          <a:ln/>
        </p:spPr>
        <p:txBody>
          <a:bodyPr/>
          <a:lstStyle/>
          <a:p>
            <a:pPr eaLnBrk="1" hangingPunct="1"/>
            <a:endParaRPr lang="en-US" smtClean="0"/>
          </a:p>
        </p:txBody>
      </p:sp>
      <p:sp>
        <p:nvSpPr>
          <p:cNvPr id="49156" name="Slide Number Placeholder 3"/>
          <p:cNvSpPr>
            <a:spLocks noGrp="1"/>
          </p:cNvSpPr>
          <p:nvPr>
            <p:ph type="sldNum" sz="quarter" idx="5"/>
          </p:nvPr>
        </p:nvSpPr>
        <p:spPr>
          <a:noFill/>
        </p:spPr>
        <p:txBody>
          <a:bodyPr/>
          <a:lstStyle/>
          <a:p>
            <a:fld id="{D62F103C-70E6-4C52-BC2D-D57A3C328FA0}" type="slidenum">
              <a:rPr lang="en-US"/>
              <a:pPr/>
              <a:t>20</a:t>
            </a:fld>
            <a:endParaRPr lang="en-US"/>
          </a:p>
        </p:txBody>
      </p:sp>
    </p:spTree>
    <p:extLst>
      <p:ext uri="{BB962C8B-B14F-4D97-AF65-F5344CB8AC3E}">
        <p14:creationId xmlns:p14="http://schemas.microsoft.com/office/powerpoint/2010/main" val="425432360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2" name="Slide Image Placeholder 1"/>
          <p:cNvSpPr>
            <a:spLocks noGrp="1" noRot="1" noChangeAspect="1" noTextEdit="1"/>
          </p:cNvSpPr>
          <p:nvPr>
            <p:ph type="sldImg"/>
          </p:nvPr>
        </p:nvSpPr>
        <p:spPr>
          <a:ln/>
        </p:spPr>
      </p:sp>
      <p:sp>
        <p:nvSpPr>
          <p:cNvPr id="51203" name="Notes Placeholder 2"/>
          <p:cNvSpPr>
            <a:spLocks noGrp="1"/>
          </p:cNvSpPr>
          <p:nvPr>
            <p:ph type="body" idx="1"/>
          </p:nvPr>
        </p:nvSpPr>
        <p:spPr>
          <a:noFill/>
          <a:ln/>
        </p:spPr>
        <p:txBody>
          <a:bodyPr/>
          <a:lstStyle/>
          <a:p>
            <a:endParaRPr lang="en-US" smtClean="0"/>
          </a:p>
        </p:txBody>
      </p:sp>
      <p:sp>
        <p:nvSpPr>
          <p:cNvPr id="51204" name="Slide Number Placeholder 3"/>
          <p:cNvSpPr>
            <a:spLocks noGrp="1"/>
          </p:cNvSpPr>
          <p:nvPr>
            <p:ph type="sldNum" sz="quarter" idx="5"/>
          </p:nvPr>
        </p:nvSpPr>
        <p:spPr>
          <a:noFill/>
        </p:spPr>
        <p:txBody>
          <a:bodyPr/>
          <a:lstStyle/>
          <a:p>
            <a:fld id="{9FC7405A-C0A2-4382-B4B9-5F1442CDE5EA}" type="slidenum">
              <a:rPr lang="en-US"/>
              <a:pPr/>
              <a:t>21</a:t>
            </a:fld>
            <a:endParaRPr lang="en-US"/>
          </a:p>
        </p:txBody>
      </p:sp>
    </p:spTree>
    <p:extLst>
      <p:ext uri="{BB962C8B-B14F-4D97-AF65-F5344CB8AC3E}">
        <p14:creationId xmlns:p14="http://schemas.microsoft.com/office/powerpoint/2010/main" val="59848581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6" name="Slide Image Placeholder 1"/>
          <p:cNvSpPr>
            <a:spLocks noGrp="1" noRot="1" noChangeAspect="1" noTextEdit="1"/>
          </p:cNvSpPr>
          <p:nvPr>
            <p:ph type="sldImg"/>
          </p:nvPr>
        </p:nvSpPr>
        <p:spPr>
          <a:ln/>
        </p:spPr>
      </p:sp>
      <p:sp>
        <p:nvSpPr>
          <p:cNvPr id="52227" name="Notes Placeholder 2"/>
          <p:cNvSpPr>
            <a:spLocks noGrp="1"/>
          </p:cNvSpPr>
          <p:nvPr>
            <p:ph type="body" idx="1"/>
          </p:nvPr>
        </p:nvSpPr>
        <p:spPr>
          <a:noFill/>
          <a:ln/>
        </p:spPr>
        <p:txBody>
          <a:bodyPr/>
          <a:lstStyle/>
          <a:p>
            <a:endParaRPr lang="en-US" smtClean="0"/>
          </a:p>
        </p:txBody>
      </p:sp>
      <p:sp>
        <p:nvSpPr>
          <p:cNvPr id="52228" name="Slide Number Placeholder 3"/>
          <p:cNvSpPr>
            <a:spLocks noGrp="1"/>
          </p:cNvSpPr>
          <p:nvPr>
            <p:ph type="sldNum" sz="quarter" idx="5"/>
          </p:nvPr>
        </p:nvSpPr>
        <p:spPr>
          <a:noFill/>
        </p:spPr>
        <p:txBody>
          <a:bodyPr/>
          <a:lstStyle/>
          <a:p>
            <a:fld id="{85E15243-00EF-49CD-9CF0-F4926E36D550}" type="slidenum">
              <a:rPr lang="en-US"/>
              <a:pPr/>
              <a:t>22</a:t>
            </a:fld>
            <a:endParaRPr lang="en-US"/>
          </a:p>
        </p:txBody>
      </p:sp>
    </p:spTree>
    <p:extLst>
      <p:ext uri="{BB962C8B-B14F-4D97-AF65-F5344CB8AC3E}">
        <p14:creationId xmlns:p14="http://schemas.microsoft.com/office/powerpoint/2010/main" val="21498044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EA336B18-16D6-4DC6-8C64-5BBEF577DDDE}"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C6516F-BB29-49FF-9B7F-75756E73ACEB}" type="slidenum">
              <a:rPr lang="en-US" smtClean="0"/>
              <a:t>‹#›</a:t>
            </a:fld>
            <a:endParaRPr lang="en-US"/>
          </a:p>
        </p:txBody>
      </p:sp>
    </p:spTree>
    <p:extLst>
      <p:ext uri="{BB962C8B-B14F-4D97-AF65-F5344CB8AC3E}">
        <p14:creationId xmlns:p14="http://schemas.microsoft.com/office/powerpoint/2010/main" val="85107747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336B18-16D6-4DC6-8C64-5BBEF577DDDE}"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C6516F-BB29-49FF-9B7F-75756E73ACEB}" type="slidenum">
              <a:rPr lang="en-US" smtClean="0"/>
              <a:t>‹#›</a:t>
            </a:fld>
            <a:endParaRPr lang="en-US"/>
          </a:p>
        </p:txBody>
      </p:sp>
    </p:spTree>
    <p:extLst>
      <p:ext uri="{BB962C8B-B14F-4D97-AF65-F5344CB8AC3E}">
        <p14:creationId xmlns:p14="http://schemas.microsoft.com/office/powerpoint/2010/main" val="372154170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EA336B18-16D6-4DC6-8C64-5BBEF577DDDE}"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C6516F-BB29-49FF-9B7F-75756E73ACEB}" type="slidenum">
              <a:rPr lang="en-US" smtClean="0"/>
              <a:t>‹#›</a:t>
            </a:fld>
            <a:endParaRPr lang="en-US"/>
          </a:p>
        </p:txBody>
      </p:sp>
    </p:spTree>
    <p:extLst>
      <p:ext uri="{BB962C8B-B14F-4D97-AF65-F5344CB8AC3E}">
        <p14:creationId xmlns:p14="http://schemas.microsoft.com/office/powerpoint/2010/main" val="147192729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A336B18-16D6-4DC6-8C64-5BBEF577DDDE}" type="datetimeFigureOut">
              <a:rPr lang="en-US" smtClean="0"/>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C6516F-BB29-49FF-9B7F-75756E73ACEB}" type="slidenum">
              <a:rPr lang="en-US" smtClean="0"/>
              <a:t>‹#›</a:t>
            </a:fld>
            <a:endParaRPr lang="en-US"/>
          </a:p>
        </p:txBody>
      </p:sp>
    </p:spTree>
    <p:extLst>
      <p:ext uri="{BB962C8B-B14F-4D97-AF65-F5344CB8AC3E}">
        <p14:creationId xmlns:p14="http://schemas.microsoft.com/office/powerpoint/2010/main" val="383834921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EA336B18-16D6-4DC6-8C64-5BBEF577DDDE}" type="datetimeFigureOut">
              <a:rPr lang="en-US" smtClean="0"/>
              <a:t>6/20/2023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62C6516F-BB29-49FF-9B7F-75756E73ACEB}" type="slidenum">
              <a:rPr lang="en-US" smtClean="0"/>
              <a:t>‹#›</a:t>
            </a:fld>
            <a:endParaRPr lang="en-US"/>
          </a:p>
        </p:txBody>
      </p:sp>
    </p:spTree>
    <p:extLst>
      <p:ext uri="{BB962C8B-B14F-4D97-AF65-F5344CB8AC3E}">
        <p14:creationId xmlns:p14="http://schemas.microsoft.com/office/powerpoint/2010/main" val="35672265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EA336B18-16D6-4DC6-8C64-5BBEF577DDDE}" type="datetimeFigureOut">
              <a:rPr lang="en-US" smtClean="0"/>
              <a:t>6/20/2023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62C6516F-BB29-49FF-9B7F-75756E73ACEB}" type="slidenum">
              <a:rPr lang="en-US" smtClean="0"/>
              <a:t>‹#›</a:t>
            </a:fld>
            <a:endParaRPr lang="en-US"/>
          </a:p>
        </p:txBody>
      </p:sp>
    </p:spTree>
    <p:extLst>
      <p:ext uri="{BB962C8B-B14F-4D97-AF65-F5344CB8AC3E}">
        <p14:creationId xmlns:p14="http://schemas.microsoft.com/office/powerpoint/2010/main" val="39755869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EA336B18-16D6-4DC6-8C64-5BBEF577DDDE}" type="datetimeFigureOut">
              <a:rPr lang="en-US" smtClean="0"/>
              <a:t>6/20/2023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62C6516F-BB29-49FF-9B7F-75756E73ACEB}" type="slidenum">
              <a:rPr lang="en-US" smtClean="0"/>
              <a:t>‹#›</a:t>
            </a:fld>
            <a:endParaRPr lang="en-US"/>
          </a:p>
        </p:txBody>
      </p:sp>
    </p:spTree>
    <p:extLst>
      <p:ext uri="{BB962C8B-B14F-4D97-AF65-F5344CB8AC3E}">
        <p14:creationId xmlns:p14="http://schemas.microsoft.com/office/powerpoint/2010/main" val="3365936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336B18-16D6-4DC6-8C64-5BBEF577DDDE}" type="datetimeFigureOut">
              <a:rPr lang="en-US" smtClean="0"/>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C6516F-BB29-49FF-9B7F-75756E73ACEB}" type="slidenum">
              <a:rPr lang="en-US" smtClean="0"/>
              <a:t>‹#›</a:t>
            </a:fld>
            <a:endParaRPr lang="en-US"/>
          </a:p>
        </p:txBody>
      </p:sp>
    </p:spTree>
    <p:extLst>
      <p:ext uri="{BB962C8B-B14F-4D97-AF65-F5344CB8AC3E}">
        <p14:creationId xmlns:p14="http://schemas.microsoft.com/office/powerpoint/2010/main" val="3940825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EA336B18-16D6-4DC6-8C64-5BBEF577DDDE}" type="datetimeFigureOut">
              <a:rPr lang="en-US" smtClean="0"/>
              <a:t>6/20/2023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62C6516F-BB29-49FF-9B7F-75756E73ACEB}" type="slidenum">
              <a:rPr lang="en-US" smtClean="0"/>
              <a:t>‹#›</a:t>
            </a:fld>
            <a:endParaRPr lang="en-US"/>
          </a:p>
        </p:txBody>
      </p:sp>
    </p:spTree>
    <p:extLst>
      <p:ext uri="{BB962C8B-B14F-4D97-AF65-F5344CB8AC3E}">
        <p14:creationId xmlns:p14="http://schemas.microsoft.com/office/powerpoint/2010/main" val="389313539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336B18-16D6-4DC6-8C64-5BBEF577DDDE}"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C6516F-BB29-49FF-9B7F-75756E73ACEB}" type="slidenum">
              <a:rPr lang="en-US" smtClean="0"/>
              <a:t>‹#›</a:t>
            </a:fld>
            <a:endParaRPr lang="en-US"/>
          </a:p>
        </p:txBody>
      </p:sp>
    </p:spTree>
    <p:extLst>
      <p:ext uri="{BB962C8B-B14F-4D97-AF65-F5344CB8AC3E}">
        <p14:creationId xmlns:p14="http://schemas.microsoft.com/office/powerpoint/2010/main" val="166229429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EA336B18-16D6-4DC6-8C64-5BBEF577DDDE}" type="datetimeFigureOut">
              <a:rPr lang="en-US" smtClean="0"/>
              <a:t>6/20/2023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62C6516F-BB29-49FF-9B7F-75756E73ACEB}" type="slidenum">
              <a:rPr lang="en-US" smtClean="0"/>
              <a:t>‹#›</a:t>
            </a:fld>
            <a:endParaRPr lang="en-US"/>
          </a:p>
        </p:txBody>
      </p:sp>
    </p:spTree>
    <p:extLst>
      <p:ext uri="{BB962C8B-B14F-4D97-AF65-F5344CB8AC3E}">
        <p14:creationId xmlns:p14="http://schemas.microsoft.com/office/powerpoint/2010/main" val="1166763870"/>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EA336B18-16D6-4DC6-8C64-5BBEF577DDDE}" type="datetimeFigureOut">
              <a:rPr lang="en-US" smtClean="0"/>
              <a:t>6/20/2023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62C6516F-BB29-49FF-9B7F-75756E73ACEB}" type="slidenum">
              <a:rPr lang="en-US" smtClean="0"/>
              <a:t>‹#›</a:t>
            </a:fld>
            <a:endParaRPr lang="en-US"/>
          </a:p>
        </p:txBody>
      </p:sp>
    </p:spTree>
    <p:extLst>
      <p:ext uri="{BB962C8B-B14F-4D97-AF65-F5344CB8AC3E}">
        <p14:creationId xmlns:p14="http://schemas.microsoft.com/office/powerpoint/2010/main" val="134182678"/>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dirty="0" smtClean="0"/>
              <a:t>Lecture on Grammar Problems</a:t>
            </a:r>
            <a:endParaRPr lang="en-US" dirty="0"/>
          </a:p>
        </p:txBody>
      </p:sp>
    </p:spTree>
    <p:extLst>
      <p:ext uri="{BB962C8B-B14F-4D97-AF65-F5344CB8AC3E}">
        <p14:creationId xmlns:p14="http://schemas.microsoft.com/office/powerpoint/2010/main" val="1548192881"/>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Problems with grammar</a:t>
            </a:r>
            <a:endParaRPr lang="en-US" dirty="0"/>
          </a:p>
        </p:txBody>
      </p:sp>
      <p:sp>
        <p:nvSpPr>
          <p:cNvPr id="3" name="Content Placeholder 2"/>
          <p:cNvSpPr>
            <a:spLocks noGrp="1"/>
          </p:cNvSpPr>
          <p:nvPr>
            <p:ph idx="1"/>
          </p:nvPr>
        </p:nvSpPr>
        <p:spPr/>
        <p:txBody>
          <a:bodyPr/>
          <a:lstStyle/>
          <a:p>
            <a:r>
              <a:rPr lang="en-US" dirty="0" smtClean="0"/>
              <a:t>Ambiguity</a:t>
            </a:r>
          </a:p>
          <a:p>
            <a:r>
              <a:rPr lang="en-US" dirty="0" smtClean="0"/>
              <a:t>Left Recursion</a:t>
            </a:r>
          </a:p>
          <a:p>
            <a:r>
              <a:rPr lang="en-US" dirty="0" smtClean="0"/>
              <a:t>Left Factoring</a:t>
            </a:r>
          </a:p>
          <a:p>
            <a:r>
              <a:rPr lang="en-US" dirty="0" smtClean="0"/>
              <a:t>Removal of </a:t>
            </a:r>
            <a:r>
              <a:rPr lang="en-US" smtClean="0"/>
              <a:t>Useless Symbols</a:t>
            </a:r>
            <a:endParaRPr lang="en-US" dirty="0" smtClean="0"/>
          </a:p>
          <a:p>
            <a:pPr>
              <a:buNone/>
            </a:pPr>
            <a:endParaRPr lang="en-US" dirty="0" smtClean="0"/>
          </a:p>
          <a:p>
            <a:pPr>
              <a:buNone/>
            </a:pPr>
            <a:r>
              <a:rPr lang="en-US" dirty="0" smtClean="0"/>
              <a:t>    These can create problems for the parser in the phase of syntax analysis </a:t>
            </a:r>
            <a:endParaRPr lang="en-US" dirty="0"/>
          </a:p>
          <a:p>
            <a:endParaRPr lang="en-US" dirty="0"/>
          </a:p>
        </p:txBody>
      </p:sp>
    </p:spTree>
    <p:extLst>
      <p:ext uri="{BB962C8B-B14F-4D97-AF65-F5344CB8AC3E}">
        <p14:creationId xmlns:p14="http://schemas.microsoft.com/office/powerpoint/2010/main" val="3638680721"/>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Grammar Problem</a:t>
            </a:r>
            <a:endParaRPr lang="en-US" dirty="0"/>
          </a:p>
        </p:txBody>
      </p:sp>
      <p:sp>
        <p:nvSpPr>
          <p:cNvPr id="4" name="Rectangle 3"/>
          <p:cNvSpPr txBox="1">
            <a:spLocks noChangeArrowheads="1"/>
          </p:cNvSpPr>
          <p:nvPr/>
        </p:nvSpPr>
        <p:spPr>
          <a:xfrm>
            <a:off x="1657350" y="1676400"/>
            <a:ext cx="5829300" cy="4648200"/>
          </a:xfrm>
          <a:prstGeom prst="rect">
            <a:avLst/>
          </a:prstGeom>
        </p:spPr>
        <p:txBody>
          <a:bodyPr vert="horz" lIns="91440" tIns="45720" rIns="91440" bIns="45720" rtlCol="0">
            <a:normAutofit fontScale="85000" lnSpcReduction="20000"/>
          </a:bodyPr>
          <a:lstStyle/>
          <a:p>
            <a:pPr marL="342900" indent="-342900">
              <a:spcBef>
                <a:spcPct val="20000"/>
              </a:spcBef>
              <a:buFont typeface="Arial" pitchFamily="34" charset="0"/>
              <a:buChar char="•"/>
              <a:defRPr/>
            </a:pPr>
            <a:r>
              <a:rPr lang="en-US" sz="3200" dirty="0">
                <a:cs typeface="Times New Roman" pitchFamily="18" charset="0"/>
                <a:sym typeface="Symbol" pitchFamily="18" charset="2"/>
              </a:rPr>
              <a:t>Consider  S   </a:t>
            </a:r>
            <a:r>
              <a:rPr lang="en-US" sz="3200" b="1" dirty="0">
                <a:solidFill>
                  <a:srgbClr val="0033CC"/>
                </a:solidFill>
                <a:cs typeface="Times New Roman" pitchFamily="18" charset="0"/>
                <a:sym typeface="Symbol" pitchFamily="18" charset="2"/>
              </a:rPr>
              <a:t>if</a:t>
            </a:r>
            <a:r>
              <a:rPr lang="en-US" sz="3200" dirty="0">
                <a:cs typeface="Times New Roman" pitchFamily="18" charset="0"/>
                <a:sym typeface="Symbol" pitchFamily="18" charset="2"/>
              </a:rPr>
              <a:t> E </a:t>
            </a:r>
            <a:r>
              <a:rPr lang="en-US" sz="3200" b="1" dirty="0">
                <a:solidFill>
                  <a:srgbClr val="0033CC"/>
                </a:solidFill>
                <a:cs typeface="Times New Roman" pitchFamily="18" charset="0"/>
                <a:sym typeface="Symbol" pitchFamily="18" charset="2"/>
              </a:rPr>
              <a:t>then</a:t>
            </a:r>
            <a:r>
              <a:rPr lang="en-US" sz="3200" dirty="0">
                <a:cs typeface="Times New Roman" pitchFamily="18" charset="0"/>
                <a:sym typeface="Symbol" pitchFamily="18" charset="2"/>
              </a:rPr>
              <a:t> S </a:t>
            </a:r>
            <a:r>
              <a:rPr lang="en-US" sz="3200" b="1" dirty="0">
                <a:solidFill>
                  <a:srgbClr val="0033CC"/>
                </a:solidFill>
                <a:cs typeface="Times New Roman" pitchFamily="18" charset="0"/>
                <a:sym typeface="Symbol" pitchFamily="18" charset="2"/>
              </a:rPr>
              <a:t>else</a:t>
            </a:r>
            <a:r>
              <a:rPr lang="en-US" sz="3200" dirty="0">
                <a:cs typeface="Times New Roman" pitchFamily="18" charset="0"/>
                <a:sym typeface="Symbol" pitchFamily="18" charset="2"/>
              </a:rPr>
              <a:t> S | </a:t>
            </a:r>
            <a:r>
              <a:rPr lang="en-US" sz="3200" b="1" dirty="0">
                <a:solidFill>
                  <a:srgbClr val="0033CC"/>
                </a:solidFill>
                <a:cs typeface="Times New Roman" pitchFamily="18" charset="0"/>
                <a:sym typeface="Symbol" pitchFamily="18" charset="2"/>
              </a:rPr>
              <a:t>if</a:t>
            </a:r>
            <a:r>
              <a:rPr lang="en-US" sz="3200" dirty="0">
                <a:cs typeface="Times New Roman" pitchFamily="18" charset="0"/>
                <a:sym typeface="Symbol" pitchFamily="18" charset="2"/>
              </a:rPr>
              <a:t> E </a:t>
            </a:r>
            <a:r>
              <a:rPr lang="en-US" sz="3200" b="1" dirty="0">
                <a:solidFill>
                  <a:srgbClr val="0033CC"/>
                </a:solidFill>
                <a:cs typeface="Times New Roman" pitchFamily="18" charset="0"/>
                <a:sym typeface="Symbol" pitchFamily="18" charset="2"/>
              </a:rPr>
              <a:t>then</a:t>
            </a:r>
            <a:r>
              <a:rPr lang="en-US" sz="3200" dirty="0">
                <a:cs typeface="Times New Roman" pitchFamily="18" charset="0"/>
                <a:sym typeface="Symbol" pitchFamily="18" charset="2"/>
              </a:rPr>
              <a:t> S</a:t>
            </a:r>
          </a:p>
          <a:p>
            <a:pPr marL="742950" lvl="1" indent="-285750">
              <a:spcBef>
                <a:spcPct val="20000"/>
              </a:spcBef>
              <a:buFont typeface="Arial" pitchFamily="34" charset="0"/>
              <a:buChar char="–"/>
              <a:defRPr/>
            </a:pPr>
            <a:r>
              <a:rPr lang="en-US" sz="2800" dirty="0">
                <a:cs typeface="Times New Roman" pitchFamily="18" charset="0"/>
                <a:sym typeface="Symbol" pitchFamily="18" charset="2"/>
              </a:rPr>
              <a:t>What is the parse tree for </a:t>
            </a:r>
          </a:p>
          <a:p>
            <a:pPr marL="742950" lvl="1" indent="-285750">
              <a:spcBef>
                <a:spcPct val="20000"/>
              </a:spcBef>
              <a:buClr>
                <a:schemeClr val="tx1"/>
              </a:buClr>
              <a:defRPr/>
            </a:pPr>
            <a:r>
              <a:rPr lang="en-US" sz="2800" dirty="0">
                <a:cs typeface="Times New Roman" pitchFamily="18" charset="0"/>
                <a:sym typeface="Symbol" pitchFamily="18" charset="2"/>
              </a:rPr>
              <a:t>			</a:t>
            </a:r>
            <a:r>
              <a:rPr lang="en-US" sz="2800" b="1" dirty="0">
                <a:solidFill>
                  <a:srgbClr val="0033CC"/>
                </a:solidFill>
                <a:cs typeface="Times New Roman" pitchFamily="18" charset="0"/>
                <a:sym typeface="Symbol" pitchFamily="18" charset="2"/>
              </a:rPr>
              <a:t>if</a:t>
            </a:r>
            <a:r>
              <a:rPr lang="en-US" sz="2800" b="1" dirty="0">
                <a:cs typeface="Times New Roman" pitchFamily="18" charset="0"/>
                <a:sym typeface="Symbol" pitchFamily="18" charset="2"/>
              </a:rPr>
              <a:t> </a:t>
            </a:r>
            <a:r>
              <a:rPr lang="en-US" sz="2800" dirty="0">
                <a:cs typeface="Times New Roman" pitchFamily="18" charset="0"/>
                <a:sym typeface="Symbol" pitchFamily="18" charset="2"/>
              </a:rPr>
              <a:t>E </a:t>
            </a:r>
            <a:r>
              <a:rPr lang="en-US" sz="2800" b="1" dirty="0">
                <a:solidFill>
                  <a:srgbClr val="0033CC"/>
                </a:solidFill>
                <a:cs typeface="Times New Roman" pitchFamily="18" charset="0"/>
                <a:sym typeface="Symbol" pitchFamily="18" charset="2"/>
              </a:rPr>
              <a:t>then</a:t>
            </a:r>
            <a:r>
              <a:rPr lang="en-US" sz="2800" dirty="0">
                <a:cs typeface="Times New Roman" pitchFamily="18" charset="0"/>
                <a:sym typeface="Symbol" pitchFamily="18" charset="2"/>
              </a:rPr>
              <a:t> </a:t>
            </a:r>
            <a:r>
              <a:rPr lang="en-US" sz="2800" b="1" dirty="0">
                <a:solidFill>
                  <a:srgbClr val="0033CC"/>
                </a:solidFill>
                <a:cs typeface="Times New Roman" pitchFamily="18" charset="0"/>
                <a:sym typeface="Symbol" pitchFamily="18" charset="2"/>
              </a:rPr>
              <a:t>if</a:t>
            </a:r>
            <a:r>
              <a:rPr lang="en-US" sz="2800" dirty="0">
                <a:cs typeface="Times New Roman" pitchFamily="18" charset="0"/>
                <a:sym typeface="Symbol" pitchFamily="18" charset="2"/>
              </a:rPr>
              <a:t> E </a:t>
            </a:r>
            <a:r>
              <a:rPr lang="en-US" sz="2800" b="1" dirty="0">
                <a:solidFill>
                  <a:srgbClr val="0033CC"/>
                </a:solidFill>
                <a:cs typeface="Times New Roman" pitchFamily="18" charset="0"/>
                <a:sym typeface="Symbol" pitchFamily="18" charset="2"/>
              </a:rPr>
              <a:t>then</a:t>
            </a:r>
            <a:r>
              <a:rPr lang="en-US" sz="2800" dirty="0">
                <a:cs typeface="Times New Roman" pitchFamily="18" charset="0"/>
                <a:sym typeface="Symbol" pitchFamily="18" charset="2"/>
              </a:rPr>
              <a:t> S </a:t>
            </a:r>
            <a:r>
              <a:rPr lang="en-US" sz="2800" b="1" dirty="0">
                <a:solidFill>
                  <a:srgbClr val="0033CC"/>
                </a:solidFill>
                <a:cs typeface="Times New Roman" pitchFamily="18" charset="0"/>
                <a:sym typeface="Symbol" pitchFamily="18" charset="2"/>
              </a:rPr>
              <a:t>else</a:t>
            </a:r>
            <a:r>
              <a:rPr lang="en-US" sz="2800" dirty="0">
                <a:cs typeface="Times New Roman" pitchFamily="18" charset="0"/>
                <a:sym typeface="Symbol" pitchFamily="18" charset="2"/>
              </a:rPr>
              <a:t> S</a:t>
            </a:r>
          </a:p>
          <a:p>
            <a:pPr marL="742950" lvl="1" indent="-285750">
              <a:spcBef>
                <a:spcPct val="20000"/>
              </a:spcBef>
              <a:buClr>
                <a:schemeClr val="tx1"/>
              </a:buClr>
              <a:buFont typeface="Arial" pitchFamily="34" charset="0"/>
              <a:buChar char="–"/>
              <a:defRPr/>
            </a:pPr>
            <a:r>
              <a:rPr lang="en-US" sz="2800" dirty="0">
                <a:cs typeface="Times New Roman" pitchFamily="18" charset="0"/>
                <a:sym typeface="Symbol" pitchFamily="18" charset="2"/>
              </a:rPr>
              <a:t>There are two possible parse trees! This problem is called ambiguity</a:t>
            </a:r>
          </a:p>
          <a:p>
            <a:pPr marL="342900" indent="-342900">
              <a:spcBef>
                <a:spcPct val="20000"/>
              </a:spcBef>
              <a:buFont typeface="Arial" pitchFamily="34" charset="0"/>
              <a:buChar char="•"/>
              <a:defRPr/>
            </a:pPr>
            <a:endParaRPr lang="en-US" sz="3200" dirty="0">
              <a:cs typeface="Times New Roman" pitchFamily="18" charset="0"/>
              <a:sym typeface="Symbol" pitchFamily="18" charset="2"/>
            </a:endParaRPr>
          </a:p>
          <a:p>
            <a:pPr marL="342900" indent="-342900">
              <a:spcBef>
                <a:spcPct val="20000"/>
              </a:spcBef>
              <a:buFont typeface="Arial" pitchFamily="34" charset="0"/>
              <a:buChar char="•"/>
              <a:defRPr/>
            </a:pPr>
            <a:endParaRPr lang="en-US" sz="3200" dirty="0">
              <a:cs typeface="Times New Roman" pitchFamily="18" charset="0"/>
              <a:sym typeface="Symbol" pitchFamily="18" charset="2"/>
            </a:endParaRPr>
          </a:p>
          <a:p>
            <a:pPr marL="342900" indent="-342900">
              <a:spcBef>
                <a:spcPct val="20000"/>
              </a:spcBef>
              <a:buFont typeface="Arial" pitchFamily="34" charset="0"/>
              <a:buChar char="•"/>
              <a:defRPr/>
            </a:pPr>
            <a:endParaRPr lang="en-US" sz="3200" dirty="0">
              <a:cs typeface="Times New Roman" pitchFamily="18" charset="0"/>
              <a:sym typeface="Symbol" pitchFamily="18" charset="2"/>
            </a:endParaRPr>
          </a:p>
          <a:p>
            <a:pPr marL="342900" indent="-342900">
              <a:spcBef>
                <a:spcPct val="20000"/>
              </a:spcBef>
              <a:buFont typeface="Arial" pitchFamily="34" charset="0"/>
              <a:buChar char="•"/>
              <a:defRPr/>
            </a:pPr>
            <a:endParaRPr lang="en-US" sz="2000" dirty="0">
              <a:cs typeface="Times New Roman" pitchFamily="18" charset="0"/>
              <a:sym typeface="Symbol" pitchFamily="18" charset="2"/>
            </a:endParaRPr>
          </a:p>
          <a:p>
            <a:pPr marL="342900" indent="-342900">
              <a:spcBef>
                <a:spcPct val="20000"/>
              </a:spcBef>
              <a:buFont typeface="Arial" pitchFamily="34" charset="0"/>
              <a:buChar char="•"/>
              <a:defRPr/>
            </a:pPr>
            <a:endParaRPr lang="en-US" sz="2000" dirty="0">
              <a:cs typeface="Times New Roman" pitchFamily="18" charset="0"/>
              <a:sym typeface="Symbol" pitchFamily="18" charset="2"/>
            </a:endParaRPr>
          </a:p>
          <a:p>
            <a:pPr marL="342900" indent="-342900">
              <a:spcBef>
                <a:spcPct val="20000"/>
              </a:spcBef>
              <a:buFont typeface="Arial" pitchFamily="34" charset="0"/>
              <a:buChar char="•"/>
              <a:defRPr/>
            </a:pPr>
            <a:r>
              <a:rPr lang="en-US" sz="2000" dirty="0">
                <a:cs typeface="Times New Roman" pitchFamily="18" charset="0"/>
                <a:sym typeface="Symbol" pitchFamily="18" charset="2"/>
              </a:rPr>
              <a:t>A CFG is </a:t>
            </a:r>
            <a:r>
              <a:rPr lang="en-US" sz="2000" b="1" dirty="0">
                <a:cs typeface="Times New Roman" pitchFamily="18" charset="0"/>
                <a:sym typeface="Symbol" pitchFamily="18" charset="2"/>
              </a:rPr>
              <a:t>ambiguous</a:t>
            </a:r>
            <a:r>
              <a:rPr lang="en-US" sz="2000" dirty="0">
                <a:cs typeface="Times New Roman" pitchFamily="18" charset="0"/>
                <a:sym typeface="Symbol" pitchFamily="18" charset="2"/>
              </a:rPr>
              <a:t> if one or more terminal strings have multiple leftmost derivations from the start symbol.</a:t>
            </a:r>
            <a:endParaRPr lang="en-US" sz="2000" dirty="0"/>
          </a:p>
        </p:txBody>
      </p:sp>
      <p:pic>
        <p:nvPicPr>
          <p:cNvPr id="1026" name="Picture 2"/>
          <p:cNvPicPr>
            <a:picLocks noChangeAspect="1" noChangeArrowheads="1"/>
          </p:cNvPicPr>
          <p:nvPr/>
        </p:nvPicPr>
        <p:blipFill>
          <a:blip r:embed="rId3" cstate="print"/>
          <a:srcRect/>
          <a:stretch>
            <a:fillRect/>
          </a:stretch>
        </p:blipFill>
        <p:spPr bwMode="auto">
          <a:xfrm>
            <a:off x="2457451" y="3733800"/>
            <a:ext cx="1521619" cy="1543050"/>
          </a:xfrm>
          <a:prstGeom prst="rect">
            <a:avLst/>
          </a:prstGeom>
          <a:noFill/>
          <a:ln w="9525">
            <a:noFill/>
            <a:miter lim="800000"/>
            <a:headEnd/>
            <a:tailEnd/>
          </a:ln>
        </p:spPr>
      </p:pic>
      <p:pic>
        <p:nvPicPr>
          <p:cNvPr id="1027" name="Picture 3"/>
          <p:cNvPicPr>
            <a:picLocks noChangeAspect="1" noChangeArrowheads="1"/>
          </p:cNvPicPr>
          <p:nvPr/>
        </p:nvPicPr>
        <p:blipFill>
          <a:blip r:embed="rId4" cstate="print"/>
          <a:srcRect/>
          <a:stretch>
            <a:fillRect/>
          </a:stretch>
        </p:blipFill>
        <p:spPr bwMode="auto">
          <a:xfrm>
            <a:off x="4800601" y="3667127"/>
            <a:ext cx="1478756" cy="1666875"/>
          </a:xfrm>
          <a:prstGeom prst="rect">
            <a:avLst/>
          </a:prstGeom>
          <a:noFill/>
          <a:ln w="9525">
            <a:noFill/>
            <a:miter lim="800000"/>
            <a:headEnd/>
            <a:tailEnd/>
          </a:ln>
        </p:spPr>
      </p:pic>
    </p:spTree>
    <p:extLst>
      <p:ext uri="{BB962C8B-B14F-4D97-AF65-F5344CB8AC3E}">
        <p14:creationId xmlns:p14="http://schemas.microsoft.com/office/powerpoint/2010/main" val="454811077"/>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Ambiguity</a:t>
            </a:r>
            <a:endParaRPr lang="en-US" dirty="0"/>
          </a:p>
        </p:txBody>
      </p:sp>
      <p:sp>
        <p:nvSpPr>
          <p:cNvPr id="3" name="Content Placeholder 2"/>
          <p:cNvSpPr>
            <a:spLocks noGrp="1"/>
          </p:cNvSpPr>
          <p:nvPr>
            <p:ph idx="1"/>
          </p:nvPr>
        </p:nvSpPr>
        <p:spPr/>
        <p:txBody>
          <a:bodyPr>
            <a:normAutofit lnSpcReduction="10000"/>
          </a:bodyPr>
          <a:lstStyle/>
          <a:p>
            <a:r>
              <a:rPr lang="en-US" dirty="0" smtClean="0">
                <a:cs typeface="Times New Roman" pitchFamily="18" charset="0"/>
                <a:sym typeface="Symbol" pitchFamily="18" charset="2"/>
              </a:rPr>
              <a:t>There is no general algorithm to tell whether a CFG is ambiguous or not.</a:t>
            </a:r>
          </a:p>
          <a:p>
            <a:endParaRPr lang="en-US" dirty="0" smtClean="0">
              <a:cs typeface="Times New Roman" pitchFamily="18" charset="0"/>
              <a:sym typeface="Symbol" pitchFamily="18" charset="2"/>
            </a:endParaRPr>
          </a:p>
          <a:p>
            <a:r>
              <a:rPr lang="en-US" dirty="0" smtClean="0">
                <a:cs typeface="Times New Roman" pitchFamily="18" charset="0"/>
                <a:sym typeface="Symbol" pitchFamily="18" charset="2"/>
              </a:rPr>
              <a:t>There is no standard procedure for eliminating ambiguity.</a:t>
            </a:r>
          </a:p>
          <a:p>
            <a:endParaRPr lang="en-US" dirty="0" smtClean="0">
              <a:cs typeface="Times New Roman" pitchFamily="18" charset="0"/>
              <a:sym typeface="Symbol" pitchFamily="18" charset="2"/>
            </a:endParaRPr>
          </a:p>
          <a:p>
            <a:r>
              <a:rPr lang="en-US" dirty="0" smtClean="0">
                <a:cs typeface="Times New Roman" pitchFamily="18" charset="0"/>
                <a:sym typeface="Symbol" pitchFamily="18" charset="2"/>
              </a:rPr>
              <a:t>Some languages are </a:t>
            </a:r>
            <a:r>
              <a:rPr lang="en-US" i="1" dirty="0" smtClean="0">
                <a:cs typeface="Times New Roman" pitchFamily="18" charset="0"/>
                <a:sym typeface="Symbol" pitchFamily="18" charset="2"/>
              </a:rPr>
              <a:t>inherently ambiguous</a:t>
            </a:r>
            <a:r>
              <a:rPr lang="en-US" dirty="0" smtClean="0">
                <a:cs typeface="Times New Roman" pitchFamily="18" charset="0"/>
                <a:sym typeface="Symbol" pitchFamily="18" charset="2"/>
              </a:rPr>
              <a:t>.</a:t>
            </a:r>
          </a:p>
          <a:p>
            <a:pPr lvl="1"/>
            <a:r>
              <a:rPr lang="en-US" dirty="0" smtClean="0">
                <a:cs typeface="Times New Roman" pitchFamily="18" charset="0"/>
                <a:sym typeface="Symbol" pitchFamily="18" charset="2"/>
              </a:rPr>
              <a:t>In those cases, any grammar we come up with will be ambiguous.</a:t>
            </a:r>
          </a:p>
          <a:p>
            <a:endParaRPr lang="en-US" dirty="0"/>
          </a:p>
        </p:txBody>
      </p:sp>
    </p:spTree>
    <p:extLst>
      <p:ext uri="{BB962C8B-B14F-4D97-AF65-F5344CB8AC3E}">
        <p14:creationId xmlns:p14="http://schemas.microsoft.com/office/powerpoint/2010/main" val="340460963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to eliminate Ambiguity?</a:t>
            </a:r>
            <a:br>
              <a:rPr lang="en-US" dirty="0" smtClean="0"/>
            </a:br>
            <a:r>
              <a:rPr lang="en-US" dirty="0" smtClean="0"/>
              <a:t>Method 1</a:t>
            </a:r>
            <a:endParaRPr lang="en-US" dirty="0"/>
          </a:p>
        </p:txBody>
      </p:sp>
      <p:sp>
        <p:nvSpPr>
          <p:cNvPr id="3" name="Content Placeholder 2"/>
          <p:cNvSpPr>
            <a:spLocks noGrp="1"/>
          </p:cNvSpPr>
          <p:nvPr>
            <p:ph idx="1"/>
          </p:nvPr>
        </p:nvSpPr>
        <p:spPr/>
        <p:txBody>
          <a:bodyPr>
            <a:normAutofit/>
          </a:bodyPr>
          <a:lstStyle/>
          <a:p>
            <a:r>
              <a:rPr lang="en-US" dirty="0" smtClean="0"/>
              <a:t>If ambiguity is of the form:</a:t>
            </a:r>
          </a:p>
          <a:p>
            <a:pPr>
              <a:buNone/>
            </a:pPr>
            <a:r>
              <a:rPr lang="en-US" dirty="0" smtClean="0"/>
              <a:t>        S</a:t>
            </a:r>
            <a:r>
              <a:rPr lang="en-US" dirty="0" smtClean="0">
                <a:sym typeface="Wingdings" pitchFamily="2" charset="2"/>
              </a:rPr>
              <a:t> </a:t>
            </a:r>
            <a:r>
              <a:rPr lang="en-US" dirty="0" smtClean="0"/>
              <a:t>α S β S </a:t>
            </a:r>
            <a:r>
              <a:rPr lang="en-US" dirty="0" smtClean="0">
                <a:sym typeface="Symbol" charset="2"/>
              </a:rPr>
              <a:t> | </a:t>
            </a:r>
            <a:r>
              <a:rPr lang="en-US" dirty="0" smtClean="0"/>
              <a:t>α1 |……| </a:t>
            </a:r>
            <a:r>
              <a:rPr lang="en-US" dirty="0" err="1" smtClean="0"/>
              <a:t>αn</a:t>
            </a:r>
            <a:endParaRPr lang="en-US" dirty="0" smtClean="0"/>
          </a:p>
          <a:p>
            <a:pPr>
              <a:buNone/>
            </a:pPr>
            <a:r>
              <a:rPr lang="en-US" dirty="0"/>
              <a:t> </a:t>
            </a:r>
            <a:r>
              <a:rPr lang="en-US" dirty="0" smtClean="0"/>
              <a:t>    Rewrite:</a:t>
            </a:r>
          </a:p>
          <a:p>
            <a:pPr>
              <a:buNone/>
            </a:pPr>
            <a:r>
              <a:rPr lang="en-US" dirty="0" smtClean="0"/>
              <a:t>        S</a:t>
            </a:r>
            <a:r>
              <a:rPr lang="en-US" dirty="0" smtClean="0">
                <a:sym typeface="Wingdings" pitchFamily="2" charset="2"/>
              </a:rPr>
              <a:t> </a:t>
            </a:r>
            <a:r>
              <a:rPr lang="en-US" dirty="0" smtClean="0"/>
              <a:t>α S β S’ </a:t>
            </a:r>
            <a:r>
              <a:rPr lang="en-US" dirty="0" smtClean="0">
                <a:sym typeface="Symbol" charset="2"/>
              </a:rPr>
              <a:t> | S’</a:t>
            </a:r>
          </a:p>
          <a:p>
            <a:pPr>
              <a:buNone/>
            </a:pPr>
            <a:r>
              <a:rPr lang="en-US" dirty="0">
                <a:sym typeface="Symbol" charset="2"/>
              </a:rPr>
              <a:t> </a:t>
            </a:r>
            <a:r>
              <a:rPr lang="en-US" dirty="0" smtClean="0">
                <a:sym typeface="Symbol" charset="2"/>
              </a:rPr>
              <a:t>       S’</a:t>
            </a:r>
            <a:r>
              <a:rPr lang="en-US" dirty="0" smtClean="0">
                <a:sym typeface="Wingdings" pitchFamily="2" charset="2"/>
              </a:rPr>
              <a:t> </a:t>
            </a:r>
            <a:r>
              <a:rPr lang="en-US" dirty="0" smtClean="0"/>
              <a:t>α1 |……| </a:t>
            </a:r>
            <a:r>
              <a:rPr lang="en-US" dirty="0" err="1" smtClean="0"/>
              <a:t>αn</a:t>
            </a:r>
            <a:endParaRPr lang="en-US" dirty="0" smtClean="0"/>
          </a:p>
        </p:txBody>
      </p:sp>
    </p:spTree>
    <p:extLst>
      <p:ext uri="{BB962C8B-B14F-4D97-AF65-F5344CB8AC3E}">
        <p14:creationId xmlns:p14="http://schemas.microsoft.com/office/powerpoint/2010/main" val="6566593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to eliminate Ambiguity? Method2:</a:t>
            </a:r>
            <a:endParaRPr lang="en-US" dirty="0"/>
          </a:p>
        </p:txBody>
      </p:sp>
      <p:sp>
        <p:nvSpPr>
          <p:cNvPr id="3" name="Content Placeholder 2"/>
          <p:cNvSpPr>
            <a:spLocks noGrp="1"/>
          </p:cNvSpPr>
          <p:nvPr>
            <p:ph idx="1"/>
          </p:nvPr>
        </p:nvSpPr>
        <p:spPr>
          <a:xfrm>
            <a:off x="1485900" y="1600201"/>
            <a:ext cx="6172200" cy="2743200"/>
          </a:xfrm>
        </p:spPr>
        <p:txBody>
          <a:bodyPr>
            <a:normAutofit lnSpcReduction="10000"/>
          </a:bodyPr>
          <a:lstStyle/>
          <a:p>
            <a:r>
              <a:rPr lang="en-US" u="sng" dirty="0" smtClean="0"/>
              <a:t>Binding with parenthesis:</a:t>
            </a:r>
          </a:p>
          <a:p>
            <a:pPr>
              <a:buNone/>
            </a:pPr>
            <a:r>
              <a:rPr lang="en-US" dirty="0" smtClean="0"/>
              <a:t>      S</a:t>
            </a:r>
            <a:r>
              <a:rPr lang="en-US" dirty="0" smtClean="0">
                <a:sym typeface="Wingdings" pitchFamily="2" charset="2"/>
              </a:rPr>
              <a:t> S v S | S ^ S | ~ S | A</a:t>
            </a:r>
          </a:p>
          <a:p>
            <a:pPr>
              <a:buNone/>
            </a:pPr>
            <a:r>
              <a:rPr lang="en-US" dirty="0">
                <a:sym typeface="Wingdings" pitchFamily="2" charset="2"/>
              </a:rPr>
              <a:t> </a:t>
            </a:r>
            <a:r>
              <a:rPr lang="en-US" dirty="0" smtClean="0">
                <a:sym typeface="Wingdings" pitchFamily="2" charset="2"/>
              </a:rPr>
              <a:t>     A p| q| r</a:t>
            </a:r>
          </a:p>
          <a:p>
            <a:pPr>
              <a:buNone/>
            </a:pPr>
            <a:r>
              <a:rPr lang="en-US" dirty="0">
                <a:sym typeface="Wingdings" pitchFamily="2" charset="2"/>
              </a:rPr>
              <a:t> </a:t>
            </a:r>
            <a:r>
              <a:rPr lang="en-US" dirty="0" smtClean="0">
                <a:sym typeface="Wingdings" pitchFamily="2" charset="2"/>
              </a:rPr>
              <a:t>  The two parse trees for the string </a:t>
            </a:r>
            <a:r>
              <a:rPr lang="en-US" dirty="0" err="1" smtClean="0">
                <a:sym typeface="Wingdings" pitchFamily="2" charset="2"/>
              </a:rPr>
              <a:t>pvq^r</a:t>
            </a:r>
            <a:r>
              <a:rPr lang="en-US" dirty="0" smtClean="0">
                <a:sym typeface="Wingdings" pitchFamily="2" charset="2"/>
              </a:rPr>
              <a:t> would be :</a:t>
            </a:r>
          </a:p>
          <a:p>
            <a:pPr>
              <a:buNone/>
            </a:pPr>
            <a:endParaRPr lang="en-US" dirty="0"/>
          </a:p>
        </p:txBody>
      </p:sp>
      <p:pic>
        <p:nvPicPr>
          <p:cNvPr id="2051" name="Picture 3"/>
          <p:cNvPicPr>
            <a:picLocks noChangeAspect="1" noChangeArrowheads="1"/>
          </p:cNvPicPr>
          <p:nvPr/>
        </p:nvPicPr>
        <p:blipFill>
          <a:blip r:embed="rId3" cstate="print"/>
          <a:srcRect/>
          <a:stretch>
            <a:fillRect/>
          </a:stretch>
        </p:blipFill>
        <p:spPr bwMode="auto">
          <a:xfrm>
            <a:off x="2400300" y="3886202"/>
            <a:ext cx="1485900" cy="2200275"/>
          </a:xfrm>
          <a:prstGeom prst="rect">
            <a:avLst/>
          </a:prstGeom>
          <a:noFill/>
          <a:ln w="9525">
            <a:noFill/>
            <a:miter lim="800000"/>
            <a:headEnd/>
            <a:tailEnd/>
          </a:ln>
        </p:spPr>
      </p:pic>
      <p:pic>
        <p:nvPicPr>
          <p:cNvPr id="2052" name="Picture 4"/>
          <p:cNvPicPr>
            <a:picLocks noChangeAspect="1" noChangeArrowheads="1"/>
          </p:cNvPicPr>
          <p:nvPr/>
        </p:nvPicPr>
        <p:blipFill>
          <a:blip r:embed="rId4" cstate="print"/>
          <a:srcRect/>
          <a:stretch>
            <a:fillRect/>
          </a:stretch>
        </p:blipFill>
        <p:spPr bwMode="auto">
          <a:xfrm>
            <a:off x="4972050" y="3810000"/>
            <a:ext cx="1485900" cy="2362200"/>
          </a:xfrm>
          <a:prstGeom prst="rect">
            <a:avLst/>
          </a:prstGeom>
          <a:noFill/>
          <a:ln w="9525">
            <a:noFill/>
            <a:miter lim="800000"/>
            <a:headEnd/>
            <a:tailEnd/>
          </a:ln>
        </p:spPr>
      </p:pic>
    </p:spTree>
    <p:extLst>
      <p:ext uri="{BB962C8B-B14F-4D97-AF65-F5344CB8AC3E}">
        <p14:creationId xmlns:p14="http://schemas.microsoft.com/office/powerpoint/2010/main" val="1602875174"/>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eliminate Ambiguity?</a:t>
            </a:r>
            <a:endParaRPr lang="en-US" dirty="0"/>
          </a:p>
        </p:txBody>
      </p:sp>
      <p:sp>
        <p:nvSpPr>
          <p:cNvPr id="3" name="Content Placeholder 2"/>
          <p:cNvSpPr>
            <a:spLocks noGrp="1"/>
          </p:cNvSpPr>
          <p:nvPr>
            <p:ph idx="1"/>
          </p:nvPr>
        </p:nvSpPr>
        <p:spPr>
          <a:xfrm>
            <a:off x="1485900" y="1600201"/>
            <a:ext cx="6172200" cy="2667000"/>
          </a:xfrm>
        </p:spPr>
        <p:txBody>
          <a:bodyPr>
            <a:normAutofit lnSpcReduction="10000"/>
          </a:bodyPr>
          <a:lstStyle/>
          <a:p>
            <a:r>
              <a:rPr lang="en-US" dirty="0" smtClean="0"/>
              <a:t>Ambiguity can be eliminated by parenthesizing the right hand side of the two rules as shown below:</a:t>
            </a:r>
          </a:p>
          <a:p>
            <a:pPr>
              <a:buNone/>
            </a:pPr>
            <a:r>
              <a:rPr lang="en-US" dirty="0" smtClean="0"/>
              <a:t>         S</a:t>
            </a:r>
            <a:r>
              <a:rPr lang="en-US" dirty="0" smtClean="0">
                <a:sym typeface="Wingdings" pitchFamily="2" charset="2"/>
              </a:rPr>
              <a:t> (S v S) | (S ^ S) | ~ S | A</a:t>
            </a:r>
          </a:p>
          <a:p>
            <a:pPr>
              <a:buNone/>
            </a:pPr>
            <a:r>
              <a:rPr lang="en-US" dirty="0" smtClean="0">
                <a:sym typeface="Wingdings" pitchFamily="2" charset="2"/>
              </a:rPr>
              <a:t>         A p| q| r</a:t>
            </a:r>
          </a:p>
          <a:p>
            <a:endParaRPr lang="en-US" dirty="0"/>
          </a:p>
        </p:txBody>
      </p:sp>
      <p:pic>
        <p:nvPicPr>
          <p:cNvPr id="3074" name="Picture 2"/>
          <p:cNvPicPr>
            <a:picLocks noChangeAspect="1" noChangeArrowheads="1"/>
          </p:cNvPicPr>
          <p:nvPr/>
        </p:nvPicPr>
        <p:blipFill>
          <a:blip r:embed="rId3" cstate="print"/>
          <a:srcRect/>
          <a:stretch>
            <a:fillRect/>
          </a:stretch>
        </p:blipFill>
        <p:spPr bwMode="auto">
          <a:xfrm>
            <a:off x="3028950" y="4114800"/>
            <a:ext cx="3486150" cy="2362200"/>
          </a:xfrm>
          <a:prstGeom prst="rect">
            <a:avLst/>
          </a:prstGeom>
          <a:noFill/>
          <a:ln w="9525">
            <a:noFill/>
            <a:miter lim="800000"/>
            <a:headEnd/>
            <a:tailEnd/>
          </a:ln>
        </p:spPr>
      </p:pic>
    </p:spTree>
    <p:extLst>
      <p:ext uri="{BB962C8B-B14F-4D97-AF65-F5344CB8AC3E}">
        <p14:creationId xmlns:p14="http://schemas.microsoft.com/office/powerpoint/2010/main" val="1584885240"/>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eliminate Ambiguity?</a:t>
            </a:r>
            <a:endParaRPr lang="en-US" dirty="0"/>
          </a:p>
        </p:txBody>
      </p:sp>
      <p:sp>
        <p:nvSpPr>
          <p:cNvPr id="3" name="Content Placeholder 2"/>
          <p:cNvSpPr>
            <a:spLocks noGrp="1"/>
          </p:cNvSpPr>
          <p:nvPr>
            <p:ph idx="1"/>
          </p:nvPr>
        </p:nvSpPr>
        <p:spPr/>
        <p:txBody>
          <a:bodyPr/>
          <a:lstStyle/>
          <a:p>
            <a:r>
              <a:rPr lang="en-US" dirty="0" smtClean="0"/>
              <a:t>The parenthesizing technique is simple but has serious drawbacks because we are altering the language by adding new terminal symbols</a:t>
            </a:r>
          </a:p>
          <a:p>
            <a:endParaRPr lang="en-US" dirty="0" smtClean="0"/>
          </a:p>
          <a:p>
            <a:r>
              <a:rPr lang="en-US" dirty="0" smtClean="0"/>
              <a:t>However this technique is very useful in programming languages</a:t>
            </a:r>
            <a:endParaRPr lang="en-US" dirty="0"/>
          </a:p>
        </p:txBody>
      </p:sp>
    </p:spTree>
    <p:extLst>
      <p:ext uri="{BB962C8B-B14F-4D97-AF65-F5344CB8AC3E}">
        <p14:creationId xmlns:p14="http://schemas.microsoft.com/office/powerpoint/2010/main" val="686679465"/>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to eliminate Ambiguity?</a:t>
            </a:r>
            <a:br>
              <a:rPr lang="en-US" dirty="0" smtClean="0"/>
            </a:br>
            <a:r>
              <a:rPr lang="en-US" dirty="0" smtClean="0"/>
              <a:t> Method 3</a:t>
            </a:r>
            <a:endParaRPr lang="en-US" dirty="0"/>
          </a:p>
        </p:txBody>
      </p:sp>
      <p:sp>
        <p:nvSpPr>
          <p:cNvPr id="3" name="Content Placeholder 2"/>
          <p:cNvSpPr>
            <a:spLocks noGrp="1"/>
          </p:cNvSpPr>
          <p:nvPr>
            <p:ph idx="1"/>
          </p:nvPr>
        </p:nvSpPr>
        <p:spPr>
          <a:xfrm>
            <a:off x="1485900" y="1600201"/>
            <a:ext cx="6172200" cy="2819400"/>
          </a:xfrm>
        </p:spPr>
        <p:txBody>
          <a:bodyPr>
            <a:normAutofit fontScale="92500" lnSpcReduction="10000"/>
          </a:bodyPr>
          <a:lstStyle/>
          <a:p>
            <a:r>
              <a:rPr lang="en-US" u="sng" dirty="0" smtClean="0"/>
              <a:t>Fixing the order of applying rules:</a:t>
            </a:r>
          </a:p>
          <a:p>
            <a:pPr>
              <a:buNone/>
            </a:pPr>
            <a:r>
              <a:rPr lang="en-US" dirty="0" smtClean="0"/>
              <a:t>    The language generated by following grammar is ambiguous because </a:t>
            </a:r>
            <a:r>
              <a:rPr lang="en-US" dirty="0" err="1" smtClean="0"/>
              <a:t>bcb</a:t>
            </a:r>
            <a:r>
              <a:rPr lang="en-US" dirty="0" smtClean="0"/>
              <a:t> can be derived in two different ways:</a:t>
            </a:r>
          </a:p>
          <a:p>
            <a:pPr>
              <a:buNone/>
            </a:pPr>
            <a:r>
              <a:rPr lang="en-US" dirty="0"/>
              <a:t> </a:t>
            </a:r>
            <a:r>
              <a:rPr lang="en-US" dirty="0" smtClean="0"/>
              <a:t>     S</a:t>
            </a:r>
            <a:r>
              <a:rPr lang="en-US" dirty="0" smtClean="0">
                <a:sym typeface="Wingdings" pitchFamily="2" charset="2"/>
              </a:rPr>
              <a:t> </a:t>
            </a:r>
            <a:r>
              <a:rPr lang="en-US" dirty="0" err="1" smtClean="0">
                <a:sym typeface="Wingdings" pitchFamily="2" charset="2"/>
              </a:rPr>
              <a:t>bS</a:t>
            </a:r>
            <a:r>
              <a:rPr lang="en-US" dirty="0" smtClean="0">
                <a:sym typeface="Wingdings" pitchFamily="2" charset="2"/>
              </a:rPr>
              <a:t> | </a:t>
            </a:r>
            <a:r>
              <a:rPr lang="en-US" dirty="0" err="1" smtClean="0">
                <a:sym typeface="Wingdings" pitchFamily="2" charset="2"/>
              </a:rPr>
              <a:t>Sb</a:t>
            </a:r>
            <a:r>
              <a:rPr lang="en-US" dirty="0" smtClean="0">
                <a:sym typeface="Wingdings" pitchFamily="2" charset="2"/>
              </a:rPr>
              <a:t> | c</a:t>
            </a:r>
          </a:p>
          <a:p>
            <a:pPr>
              <a:buNone/>
            </a:pPr>
            <a:endParaRPr lang="en-US" dirty="0"/>
          </a:p>
        </p:txBody>
      </p:sp>
      <p:pic>
        <p:nvPicPr>
          <p:cNvPr id="4098" name="Picture 2"/>
          <p:cNvPicPr>
            <a:picLocks noChangeAspect="1" noChangeArrowheads="1"/>
          </p:cNvPicPr>
          <p:nvPr/>
        </p:nvPicPr>
        <p:blipFill>
          <a:blip r:embed="rId3" cstate="print"/>
          <a:srcRect/>
          <a:stretch>
            <a:fillRect/>
          </a:stretch>
        </p:blipFill>
        <p:spPr bwMode="auto">
          <a:xfrm>
            <a:off x="3429000" y="4495800"/>
            <a:ext cx="2514600" cy="2057400"/>
          </a:xfrm>
          <a:prstGeom prst="rect">
            <a:avLst/>
          </a:prstGeom>
          <a:noFill/>
          <a:ln w="9525">
            <a:noFill/>
            <a:miter lim="800000"/>
            <a:headEnd/>
            <a:tailEnd/>
          </a:ln>
        </p:spPr>
      </p:pic>
    </p:spTree>
    <p:extLst>
      <p:ext uri="{BB962C8B-B14F-4D97-AF65-F5344CB8AC3E}">
        <p14:creationId xmlns:p14="http://schemas.microsoft.com/office/powerpoint/2010/main" val="1546064923"/>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eliminate Ambiguity?</a:t>
            </a:r>
            <a:endParaRPr lang="en-US" dirty="0"/>
          </a:p>
        </p:txBody>
      </p:sp>
      <p:sp>
        <p:nvSpPr>
          <p:cNvPr id="3" name="Content Placeholder 2"/>
          <p:cNvSpPr>
            <a:spLocks noGrp="1"/>
          </p:cNvSpPr>
          <p:nvPr>
            <p:ph idx="1"/>
          </p:nvPr>
        </p:nvSpPr>
        <p:spPr>
          <a:xfrm>
            <a:off x="1485900" y="1600202"/>
            <a:ext cx="6172200" cy="3352799"/>
          </a:xfrm>
        </p:spPr>
        <p:txBody>
          <a:bodyPr>
            <a:normAutofit fontScale="92500" lnSpcReduction="10000"/>
          </a:bodyPr>
          <a:lstStyle/>
          <a:p>
            <a:r>
              <a:rPr lang="en-US" dirty="0" smtClean="0"/>
              <a:t> We can simply modify the grammar to such that left side </a:t>
            </a:r>
            <a:r>
              <a:rPr lang="en-US" dirty="0" err="1" smtClean="0"/>
              <a:t>b’s</a:t>
            </a:r>
            <a:r>
              <a:rPr lang="en-US" dirty="0" smtClean="0"/>
              <a:t>, if any, are always generated first. Figure shown is the only parse tree for string </a:t>
            </a:r>
            <a:r>
              <a:rPr lang="en-US" dirty="0" err="1" smtClean="0"/>
              <a:t>bcb</a:t>
            </a:r>
            <a:r>
              <a:rPr lang="en-US" dirty="0" smtClean="0"/>
              <a:t>. Grammar is unambiguous.</a:t>
            </a:r>
          </a:p>
          <a:p>
            <a:pPr>
              <a:buNone/>
            </a:pPr>
            <a:r>
              <a:rPr lang="en-US" dirty="0" smtClean="0"/>
              <a:t>                  S</a:t>
            </a:r>
            <a:r>
              <a:rPr lang="en-US" dirty="0" smtClean="0">
                <a:sym typeface="Wingdings" pitchFamily="2" charset="2"/>
              </a:rPr>
              <a:t> </a:t>
            </a:r>
            <a:r>
              <a:rPr lang="en-US" dirty="0" err="1" smtClean="0">
                <a:sym typeface="Wingdings" pitchFamily="2" charset="2"/>
              </a:rPr>
              <a:t>bS</a:t>
            </a:r>
            <a:r>
              <a:rPr lang="en-US" dirty="0" smtClean="0">
                <a:sym typeface="Wingdings" pitchFamily="2" charset="2"/>
              </a:rPr>
              <a:t> | A</a:t>
            </a:r>
          </a:p>
          <a:p>
            <a:pPr>
              <a:buNone/>
            </a:pPr>
            <a:r>
              <a:rPr lang="en-US" dirty="0"/>
              <a:t> </a:t>
            </a:r>
            <a:r>
              <a:rPr lang="en-US" dirty="0" smtClean="0"/>
              <a:t>                 A</a:t>
            </a:r>
            <a:r>
              <a:rPr lang="en-US" dirty="0" smtClean="0">
                <a:sym typeface="Wingdings" pitchFamily="2" charset="2"/>
              </a:rPr>
              <a:t> </a:t>
            </a:r>
            <a:r>
              <a:rPr lang="en-US" dirty="0" err="1" smtClean="0">
                <a:sym typeface="Wingdings" pitchFamily="2" charset="2"/>
              </a:rPr>
              <a:t>Ab</a:t>
            </a:r>
            <a:r>
              <a:rPr lang="en-US" dirty="0" smtClean="0">
                <a:sym typeface="Wingdings" pitchFamily="2" charset="2"/>
              </a:rPr>
              <a:t> | c</a:t>
            </a:r>
            <a:endParaRPr lang="en-US" dirty="0"/>
          </a:p>
        </p:txBody>
      </p:sp>
      <p:pic>
        <p:nvPicPr>
          <p:cNvPr id="5122" name="Picture 2"/>
          <p:cNvPicPr>
            <a:picLocks noChangeAspect="1" noChangeArrowheads="1"/>
          </p:cNvPicPr>
          <p:nvPr/>
        </p:nvPicPr>
        <p:blipFill>
          <a:blip r:embed="rId3" cstate="print"/>
          <a:srcRect/>
          <a:stretch>
            <a:fillRect/>
          </a:stretch>
        </p:blipFill>
        <p:spPr bwMode="auto">
          <a:xfrm>
            <a:off x="4972050" y="3657600"/>
            <a:ext cx="1371600" cy="2362200"/>
          </a:xfrm>
          <a:prstGeom prst="rect">
            <a:avLst/>
          </a:prstGeom>
          <a:noFill/>
          <a:ln w="9525">
            <a:noFill/>
            <a:miter lim="800000"/>
            <a:headEnd/>
            <a:tailEnd/>
          </a:ln>
        </p:spPr>
      </p:pic>
    </p:spTree>
    <p:extLst>
      <p:ext uri="{BB962C8B-B14F-4D97-AF65-F5344CB8AC3E}">
        <p14:creationId xmlns:p14="http://schemas.microsoft.com/office/powerpoint/2010/main" val="246087049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smtClean="0"/>
              <a:t>How to eliminate Ambiguity?</a:t>
            </a:r>
            <a:br>
              <a:rPr lang="en-US" dirty="0" smtClean="0"/>
            </a:br>
            <a:r>
              <a:rPr lang="en-US" dirty="0" smtClean="0"/>
              <a:t> Method 4</a:t>
            </a:r>
            <a:endParaRPr lang="en-US" dirty="0"/>
          </a:p>
        </p:txBody>
      </p:sp>
      <p:sp>
        <p:nvSpPr>
          <p:cNvPr id="3" name="Content Placeholder 2"/>
          <p:cNvSpPr>
            <a:spLocks noGrp="1"/>
          </p:cNvSpPr>
          <p:nvPr>
            <p:ph idx="1"/>
          </p:nvPr>
        </p:nvSpPr>
        <p:spPr/>
        <p:txBody>
          <a:bodyPr/>
          <a:lstStyle/>
          <a:p>
            <a:r>
              <a:rPr lang="en-US" u="sng" dirty="0" smtClean="0"/>
              <a:t>Eliminate redundant rules:</a:t>
            </a:r>
          </a:p>
          <a:p>
            <a:pPr>
              <a:buNone/>
            </a:pPr>
            <a:r>
              <a:rPr lang="en-US" dirty="0"/>
              <a:t> </a:t>
            </a:r>
            <a:r>
              <a:rPr lang="en-US" dirty="0" smtClean="0"/>
              <a:t>   The CFG below is ambiguous because it can generate </a:t>
            </a:r>
            <a:r>
              <a:rPr lang="en-US" dirty="0" err="1" smtClean="0"/>
              <a:t>ab</a:t>
            </a:r>
            <a:r>
              <a:rPr lang="en-US" dirty="0" smtClean="0"/>
              <a:t> either by B or D.</a:t>
            </a:r>
          </a:p>
          <a:p>
            <a:pPr>
              <a:buNone/>
            </a:pPr>
            <a:r>
              <a:rPr lang="en-US" dirty="0"/>
              <a:t> </a:t>
            </a:r>
            <a:r>
              <a:rPr lang="en-US" dirty="0" smtClean="0"/>
              <a:t>        S</a:t>
            </a:r>
            <a:r>
              <a:rPr lang="en-US" dirty="0" smtClean="0">
                <a:sym typeface="Wingdings" pitchFamily="2" charset="2"/>
              </a:rPr>
              <a:t> B | D     B </a:t>
            </a:r>
            <a:r>
              <a:rPr lang="en-US" dirty="0" err="1" smtClean="0">
                <a:sym typeface="Wingdings" pitchFamily="2" charset="2"/>
              </a:rPr>
              <a:t>ab|b</a:t>
            </a:r>
            <a:r>
              <a:rPr lang="en-US" dirty="0" smtClean="0">
                <a:sym typeface="Wingdings" pitchFamily="2" charset="2"/>
              </a:rPr>
              <a:t>      D </a:t>
            </a:r>
            <a:r>
              <a:rPr lang="en-US" dirty="0" err="1" smtClean="0">
                <a:sym typeface="Wingdings" pitchFamily="2" charset="2"/>
              </a:rPr>
              <a:t>ab</a:t>
            </a:r>
            <a:r>
              <a:rPr lang="en-US" dirty="0" smtClean="0">
                <a:sym typeface="Wingdings" pitchFamily="2" charset="2"/>
              </a:rPr>
              <a:t> | d</a:t>
            </a:r>
          </a:p>
          <a:p>
            <a:pPr>
              <a:buNone/>
            </a:pPr>
            <a:r>
              <a:rPr lang="en-US" dirty="0" smtClean="0"/>
              <a:t>    We can simply delete one of the two and make the grammar unambiguous as follows:</a:t>
            </a:r>
          </a:p>
          <a:p>
            <a:pPr>
              <a:buNone/>
            </a:pPr>
            <a:r>
              <a:rPr lang="en-US" dirty="0" smtClean="0"/>
              <a:t>         S</a:t>
            </a:r>
            <a:r>
              <a:rPr lang="en-US" dirty="0" smtClean="0">
                <a:sym typeface="Wingdings" pitchFamily="2" charset="2"/>
              </a:rPr>
              <a:t> B | D     B </a:t>
            </a:r>
            <a:r>
              <a:rPr lang="en-US" dirty="0" err="1" smtClean="0">
                <a:sym typeface="Wingdings" pitchFamily="2" charset="2"/>
              </a:rPr>
              <a:t>ab|b</a:t>
            </a:r>
            <a:r>
              <a:rPr lang="en-US" dirty="0" smtClean="0">
                <a:sym typeface="Wingdings" pitchFamily="2" charset="2"/>
              </a:rPr>
              <a:t>      D d</a:t>
            </a:r>
          </a:p>
          <a:p>
            <a:pPr>
              <a:buNone/>
            </a:pPr>
            <a:r>
              <a:rPr lang="en-US" dirty="0" smtClean="0"/>
              <a:t>     	</a:t>
            </a:r>
            <a:endParaRPr lang="en-US" dirty="0"/>
          </a:p>
        </p:txBody>
      </p:sp>
    </p:spTree>
    <p:extLst>
      <p:ext uri="{BB962C8B-B14F-4D97-AF65-F5344CB8AC3E}">
        <p14:creationId xmlns:p14="http://schemas.microsoft.com/office/powerpoint/2010/main" val="1736911541"/>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Grp="1" noChangeArrowheads="1"/>
          </p:cNvSpPr>
          <p:nvPr>
            <p:ph type="title"/>
          </p:nvPr>
        </p:nvSpPr>
        <p:spPr/>
        <p:txBody>
          <a:bodyPr/>
          <a:lstStyle/>
          <a:p>
            <a:pPr eaLnBrk="1" hangingPunct="1"/>
            <a:r>
              <a:rPr lang="en-US" smtClean="0"/>
              <a:t>Grammar problems</a:t>
            </a:r>
          </a:p>
        </p:txBody>
      </p:sp>
      <p:sp>
        <p:nvSpPr>
          <p:cNvPr id="13315" name="Rectangle 3"/>
          <p:cNvSpPr>
            <a:spLocks noGrp="1" noChangeArrowheads="1"/>
          </p:cNvSpPr>
          <p:nvPr>
            <p:ph type="body" idx="1"/>
          </p:nvPr>
        </p:nvSpPr>
        <p:spPr/>
        <p:txBody>
          <a:bodyPr/>
          <a:lstStyle/>
          <a:p>
            <a:pPr eaLnBrk="1" hangingPunct="1"/>
            <a:r>
              <a:rPr lang="en-US" smtClean="0"/>
              <a:t>B</a:t>
            </a:r>
            <a:r>
              <a:rPr lang="en-US" smtClean="0">
                <a:cs typeface="Times New Roman" pitchFamily="18" charset="0"/>
                <a:sym typeface="Symbol" pitchFamily="18" charset="2"/>
              </a:rPr>
              <a:t>ecause we try to generate a leftmost derivation by scanning the input from left to right, grammars of the form   </a:t>
            </a:r>
            <a:r>
              <a:rPr lang="en-US" b="1" smtClean="0">
                <a:cs typeface="Times New Roman" pitchFamily="18" charset="0"/>
                <a:sym typeface="Symbol" pitchFamily="18" charset="2"/>
              </a:rPr>
              <a:t>A </a:t>
            </a:r>
            <a:r>
              <a:rPr lang="en-US" b="1" smtClean="0">
                <a:sym typeface="Symbol" pitchFamily="18" charset="2"/>
              </a:rPr>
              <a:t> A x</a:t>
            </a:r>
            <a:r>
              <a:rPr lang="en-US" smtClean="0">
                <a:sym typeface="Symbol" pitchFamily="18" charset="2"/>
              </a:rPr>
              <a:t> may cause endless recursion.</a:t>
            </a:r>
          </a:p>
          <a:p>
            <a:pPr eaLnBrk="1" hangingPunct="1"/>
            <a:endParaRPr lang="en-US" smtClean="0">
              <a:sym typeface="Symbol" pitchFamily="18" charset="2"/>
            </a:endParaRPr>
          </a:p>
          <a:p>
            <a:pPr eaLnBrk="1" hangingPunct="1"/>
            <a:r>
              <a:rPr lang="en-US" smtClean="0">
                <a:sym typeface="Symbol" pitchFamily="18" charset="2"/>
              </a:rPr>
              <a:t>Such grammars are called</a:t>
            </a:r>
            <a:r>
              <a:rPr lang="en-US" b="1" smtClean="0">
                <a:sym typeface="Symbol" pitchFamily="18" charset="2"/>
              </a:rPr>
              <a:t> left-recursive </a:t>
            </a:r>
            <a:r>
              <a:rPr lang="en-US" smtClean="0">
                <a:sym typeface="Symbol" pitchFamily="18" charset="2"/>
              </a:rPr>
              <a:t>and they must be transformed if we want to use a top-down parser</a:t>
            </a:r>
            <a:r>
              <a:rPr lang="en-US" sz="2000">
                <a:sym typeface="Symbol" pitchFamily="18" charset="2"/>
              </a:rPr>
              <a:t>.</a:t>
            </a:r>
          </a:p>
          <a:p>
            <a:pPr eaLnBrk="1" hangingPunct="1"/>
            <a:endParaRPr lang="en-US" smtClean="0"/>
          </a:p>
        </p:txBody>
      </p:sp>
    </p:spTree>
    <p:extLst>
      <p:ext uri="{BB962C8B-B14F-4D97-AF65-F5344CB8AC3E}">
        <p14:creationId xmlns:p14="http://schemas.microsoft.com/office/powerpoint/2010/main" val="363749971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Left Recursion</a:t>
            </a:r>
            <a:endParaRPr lang="en-US" dirty="0"/>
          </a:p>
        </p:txBody>
      </p:sp>
      <p:sp>
        <p:nvSpPr>
          <p:cNvPr id="3" name="Content Placeholder 2"/>
          <p:cNvSpPr>
            <a:spLocks noGrp="1"/>
          </p:cNvSpPr>
          <p:nvPr>
            <p:ph idx="1"/>
          </p:nvPr>
        </p:nvSpPr>
        <p:spPr/>
        <p:txBody>
          <a:bodyPr/>
          <a:lstStyle/>
          <a:p>
            <a:r>
              <a:rPr lang="en-US" dirty="0" smtClean="0">
                <a:cs typeface="Times New Roman" pitchFamily="18" charset="0"/>
                <a:sym typeface="Symbol" pitchFamily="18" charset="2"/>
              </a:rPr>
              <a:t>A grammar is left recursive if for a non-terminal A, there is a derivation A</a:t>
            </a:r>
            <a:r>
              <a:rPr lang="en-US" baseline="30000" dirty="0" smtClean="0">
                <a:cs typeface="Times New Roman" pitchFamily="18" charset="0"/>
                <a:sym typeface="Symbol" pitchFamily="18" charset="2"/>
              </a:rPr>
              <a:t>+</a:t>
            </a:r>
            <a:r>
              <a:rPr lang="en-US" dirty="0" smtClean="0">
                <a:cs typeface="Times New Roman" pitchFamily="18" charset="0"/>
                <a:sym typeface="Symbol" pitchFamily="18" charset="2"/>
              </a:rPr>
              <a:t> A</a:t>
            </a:r>
            <a:endParaRPr lang="en-US" sz="2000" dirty="0">
              <a:cs typeface="Times New Roman" pitchFamily="18" charset="0"/>
              <a:sym typeface="Symbol" pitchFamily="18" charset="2"/>
            </a:endParaRPr>
          </a:p>
          <a:p>
            <a:endParaRPr lang="en-US" dirty="0" smtClean="0">
              <a:cs typeface="Times New Roman" pitchFamily="18" charset="0"/>
              <a:sym typeface="Symbol" pitchFamily="18" charset="2"/>
            </a:endParaRPr>
          </a:p>
          <a:p>
            <a:r>
              <a:rPr lang="en-US" dirty="0" smtClean="0">
                <a:cs typeface="Times New Roman" pitchFamily="18" charset="0"/>
                <a:sym typeface="Symbol" pitchFamily="18" charset="2"/>
              </a:rPr>
              <a:t>There are three types of left recursion:</a:t>
            </a:r>
          </a:p>
          <a:p>
            <a:pPr lvl="1"/>
            <a:r>
              <a:rPr lang="en-US" dirty="0" smtClean="0">
                <a:cs typeface="Times New Roman" pitchFamily="18" charset="0"/>
                <a:sym typeface="Symbol" pitchFamily="18" charset="2"/>
              </a:rPr>
              <a:t>direct  (A </a:t>
            </a:r>
            <a:r>
              <a:rPr lang="en-US" dirty="0" smtClean="0">
                <a:sym typeface="Symbol" pitchFamily="18" charset="2"/>
              </a:rPr>
              <a:t> A x)</a:t>
            </a:r>
            <a:endParaRPr lang="en-US" dirty="0" smtClean="0">
              <a:cs typeface="Times New Roman" pitchFamily="18" charset="0"/>
              <a:sym typeface="Symbol" pitchFamily="18" charset="2"/>
            </a:endParaRPr>
          </a:p>
          <a:p>
            <a:pPr lvl="1"/>
            <a:r>
              <a:rPr lang="en-US" dirty="0" smtClean="0">
                <a:cs typeface="Times New Roman" pitchFamily="18" charset="0"/>
                <a:sym typeface="Symbol" pitchFamily="18" charset="2"/>
              </a:rPr>
              <a:t>indirect  (A </a:t>
            </a:r>
            <a:r>
              <a:rPr lang="en-US" dirty="0" smtClean="0">
                <a:sym typeface="Symbol" pitchFamily="18" charset="2"/>
              </a:rPr>
              <a:t> B C,  </a:t>
            </a:r>
            <a:r>
              <a:rPr lang="en-US" dirty="0" smtClean="0">
                <a:cs typeface="Times New Roman" pitchFamily="18" charset="0"/>
                <a:sym typeface="Symbol" pitchFamily="18" charset="2"/>
              </a:rPr>
              <a:t>B </a:t>
            </a:r>
            <a:r>
              <a:rPr lang="en-US" dirty="0" smtClean="0">
                <a:sym typeface="Symbol" pitchFamily="18" charset="2"/>
              </a:rPr>
              <a:t> A )</a:t>
            </a:r>
            <a:endParaRPr lang="en-US" dirty="0" smtClean="0">
              <a:cs typeface="Times New Roman" pitchFamily="18" charset="0"/>
              <a:sym typeface="Symbol" pitchFamily="18" charset="2"/>
            </a:endParaRPr>
          </a:p>
          <a:p>
            <a:pPr lvl="1"/>
            <a:r>
              <a:rPr lang="en-US" dirty="0" smtClean="0">
                <a:cs typeface="Times New Roman" pitchFamily="18" charset="0"/>
                <a:sym typeface="Symbol" pitchFamily="18" charset="2"/>
              </a:rPr>
              <a:t>hidden (A </a:t>
            </a:r>
            <a:r>
              <a:rPr lang="en-US" dirty="0" smtClean="0">
                <a:sym typeface="Symbol" pitchFamily="18" charset="2"/>
              </a:rPr>
              <a:t> B A,  </a:t>
            </a:r>
            <a:r>
              <a:rPr lang="en-US" dirty="0" smtClean="0">
                <a:cs typeface="Times New Roman" pitchFamily="18" charset="0"/>
                <a:sym typeface="Symbol" pitchFamily="18" charset="2"/>
              </a:rPr>
              <a:t>B </a:t>
            </a:r>
            <a:r>
              <a:rPr lang="en-US" dirty="0" smtClean="0">
                <a:sym typeface="Symbol" pitchFamily="18" charset="2"/>
              </a:rPr>
              <a:t> )</a:t>
            </a:r>
          </a:p>
          <a:p>
            <a:endParaRPr lang="en-US" dirty="0"/>
          </a:p>
          <a:p>
            <a:endParaRPr lang="en-US" dirty="0"/>
          </a:p>
        </p:txBody>
      </p:sp>
    </p:spTree>
    <p:extLst>
      <p:ext uri="{BB962C8B-B14F-4D97-AF65-F5344CB8AC3E}">
        <p14:creationId xmlns:p14="http://schemas.microsoft.com/office/powerpoint/2010/main" val="2766181887"/>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How to eliminate Left recursion?</a:t>
            </a:r>
            <a:endParaRPr lang="en-US" dirty="0"/>
          </a:p>
        </p:txBody>
      </p:sp>
      <p:sp>
        <p:nvSpPr>
          <p:cNvPr id="3" name="Content Placeholder 2"/>
          <p:cNvSpPr>
            <a:spLocks noGrp="1"/>
          </p:cNvSpPr>
          <p:nvPr>
            <p:ph idx="1"/>
          </p:nvPr>
        </p:nvSpPr>
        <p:spPr/>
        <p:txBody>
          <a:bodyPr>
            <a:normAutofit/>
          </a:bodyPr>
          <a:lstStyle/>
          <a:p>
            <a:r>
              <a:rPr lang="en-US" dirty="0" smtClean="0">
                <a:cs typeface="Times New Roman" pitchFamily="18" charset="0"/>
                <a:sym typeface="Symbol" pitchFamily="18" charset="2"/>
              </a:rPr>
              <a:t>To eliminate direct left recursion replace</a:t>
            </a:r>
          </a:p>
          <a:p>
            <a:pPr>
              <a:buFont typeface="Wingdings" pitchFamily="2" charset="2"/>
              <a:buNone/>
            </a:pPr>
            <a:endParaRPr lang="en-US" dirty="0" smtClean="0">
              <a:cs typeface="Times New Roman" pitchFamily="18" charset="0"/>
              <a:sym typeface="Symbol" pitchFamily="18" charset="2"/>
            </a:endParaRPr>
          </a:p>
          <a:p>
            <a:pPr>
              <a:buFont typeface="Wingdings" pitchFamily="2" charset="2"/>
              <a:buNone/>
            </a:pPr>
            <a:r>
              <a:rPr lang="en-US" dirty="0" smtClean="0">
                <a:cs typeface="Times New Roman" pitchFamily="18" charset="0"/>
                <a:sym typeface="Symbol" pitchFamily="18" charset="2"/>
              </a:rPr>
              <a:t>         A  A</a:t>
            </a:r>
            <a:r>
              <a:rPr lang="en-US" baseline="-25000" dirty="0" smtClean="0">
                <a:cs typeface="Times New Roman" pitchFamily="18" charset="0"/>
                <a:sym typeface="Symbol" pitchFamily="18" charset="2"/>
              </a:rPr>
              <a:t>1 </a:t>
            </a:r>
            <a:r>
              <a:rPr lang="en-US" dirty="0" smtClean="0">
                <a:cs typeface="Times New Roman" pitchFamily="18" charset="0"/>
                <a:sym typeface="Symbol" pitchFamily="18" charset="2"/>
              </a:rPr>
              <a:t>| A</a:t>
            </a:r>
            <a:r>
              <a:rPr lang="en-US" baseline="-25000" dirty="0" smtClean="0">
                <a:cs typeface="Times New Roman" pitchFamily="18" charset="0"/>
                <a:sym typeface="Symbol" pitchFamily="18" charset="2"/>
              </a:rPr>
              <a:t>2 </a:t>
            </a:r>
            <a:r>
              <a:rPr lang="en-US" dirty="0" smtClean="0">
                <a:cs typeface="Times New Roman" pitchFamily="18" charset="0"/>
                <a:sym typeface="Symbol" pitchFamily="18" charset="2"/>
              </a:rPr>
              <a:t>| ... | </a:t>
            </a:r>
            <a:r>
              <a:rPr lang="en-US" dirty="0" err="1" smtClean="0">
                <a:cs typeface="Times New Roman" pitchFamily="18" charset="0"/>
                <a:sym typeface="Symbol" pitchFamily="18" charset="2"/>
              </a:rPr>
              <a:t>A</a:t>
            </a:r>
            <a:r>
              <a:rPr lang="en-US" baseline="-25000" dirty="0" err="1" smtClean="0">
                <a:cs typeface="Times New Roman" pitchFamily="18" charset="0"/>
                <a:sym typeface="Symbol" pitchFamily="18" charset="2"/>
              </a:rPr>
              <a:t>m</a:t>
            </a:r>
            <a:r>
              <a:rPr lang="en-US" baseline="-25000" dirty="0" smtClean="0">
                <a:cs typeface="Times New Roman" pitchFamily="18" charset="0"/>
                <a:sym typeface="Symbol" pitchFamily="18" charset="2"/>
              </a:rPr>
              <a:t> </a:t>
            </a:r>
            <a:r>
              <a:rPr lang="en-US" dirty="0" smtClean="0">
                <a:cs typeface="Times New Roman" pitchFamily="18" charset="0"/>
                <a:sym typeface="Symbol" pitchFamily="18" charset="2"/>
              </a:rPr>
              <a:t>| </a:t>
            </a:r>
            <a:r>
              <a:rPr lang="en-US" baseline="-25000" dirty="0" smtClean="0">
                <a:cs typeface="Times New Roman" pitchFamily="18" charset="0"/>
                <a:sym typeface="Symbol" pitchFamily="18" charset="2"/>
              </a:rPr>
              <a:t>1 </a:t>
            </a:r>
            <a:r>
              <a:rPr lang="en-US" dirty="0" smtClean="0">
                <a:cs typeface="Times New Roman" pitchFamily="18" charset="0"/>
                <a:sym typeface="Symbol" pitchFamily="18" charset="2"/>
              </a:rPr>
              <a:t>| </a:t>
            </a:r>
            <a:r>
              <a:rPr lang="en-US" baseline="-25000" dirty="0" smtClean="0">
                <a:cs typeface="Times New Roman" pitchFamily="18" charset="0"/>
                <a:sym typeface="Symbol" pitchFamily="18" charset="2"/>
              </a:rPr>
              <a:t>2 </a:t>
            </a:r>
            <a:r>
              <a:rPr lang="en-US" dirty="0" smtClean="0">
                <a:cs typeface="Times New Roman" pitchFamily="18" charset="0"/>
                <a:sym typeface="Symbol" pitchFamily="18" charset="2"/>
              </a:rPr>
              <a:t>| ... | </a:t>
            </a:r>
            <a:r>
              <a:rPr lang="en-US" baseline="-25000" dirty="0" smtClean="0">
                <a:cs typeface="Times New Roman" pitchFamily="18" charset="0"/>
                <a:sym typeface="Symbol" pitchFamily="18" charset="2"/>
              </a:rPr>
              <a:t>n</a:t>
            </a:r>
            <a:r>
              <a:rPr lang="en-US" dirty="0" smtClean="0">
                <a:cs typeface="Times New Roman" pitchFamily="18" charset="0"/>
                <a:sym typeface="Symbol" pitchFamily="18" charset="2"/>
              </a:rPr>
              <a:t> </a:t>
            </a:r>
          </a:p>
          <a:p>
            <a:pPr>
              <a:buFont typeface="Wingdings" pitchFamily="2" charset="2"/>
              <a:buNone/>
            </a:pPr>
            <a:endParaRPr lang="en-US" dirty="0" smtClean="0">
              <a:cs typeface="Times New Roman" pitchFamily="18" charset="0"/>
              <a:sym typeface="Symbol" pitchFamily="18" charset="2"/>
            </a:endParaRPr>
          </a:p>
          <a:p>
            <a:pPr>
              <a:buFont typeface="Wingdings" pitchFamily="2" charset="2"/>
              <a:buNone/>
            </a:pPr>
            <a:r>
              <a:rPr lang="en-US" dirty="0" smtClean="0">
                <a:cs typeface="Times New Roman" pitchFamily="18" charset="0"/>
                <a:sym typeface="Symbol" pitchFamily="18" charset="2"/>
              </a:rPr>
              <a:t>     with</a:t>
            </a:r>
          </a:p>
          <a:p>
            <a:pPr>
              <a:buFont typeface="Wingdings" pitchFamily="2" charset="2"/>
              <a:buNone/>
            </a:pPr>
            <a:endParaRPr lang="en-US" dirty="0" smtClean="0">
              <a:cs typeface="Times New Roman" pitchFamily="18" charset="0"/>
              <a:sym typeface="Symbol" pitchFamily="18" charset="2"/>
            </a:endParaRPr>
          </a:p>
          <a:p>
            <a:pPr>
              <a:buFont typeface="Wingdings" pitchFamily="2" charset="2"/>
              <a:buNone/>
            </a:pPr>
            <a:r>
              <a:rPr lang="en-US" dirty="0" smtClean="0">
                <a:cs typeface="Times New Roman" pitchFamily="18" charset="0"/>
                <a:sym typeface="Symbol" pitchFamily="18" charset="2"/>
              </a:rPr>
              <a:t>            A  </a:t>
            </a:r>
            <a:r>
              <a:rPr lang="en-US" baseline="-25000" dirty="0" smtClean="0">
                <a:cs typeface="Times New Roman" pitchFamily="18" charset="0"/>
                <a:sym typeface="Symbol" pitchFamily="18" charset="2"/>
              </a:rPr>
              <a:t>1</a:t>
            </a:r>
            <a:r>
              <a:rPr lang="en-US" dirty="0" smtClean="0">
                <a:cs typeface="Times New Roman" pitchFamily="18" charset="0"/>
                <a:sym typeface="Symbol" pitchFamily="18" charset="2"/>
              </a:rPr>
              <a:t>B | </a:t>
            </a:r>
            <a:r>
              <a:rPr lang="en-US" baseline="-25000" dirty="0" smtClean="0">
                <a:cs typeface="Times New Roman" pitchFamily="18" charset="0"/>
                <a:sym typeface="Symbol" pitchFamily="18" charset="2"/>
              </a:rPr>
              <a:t>2</a:t>
            </a:r>
            <a:r>
              <a:rPr lang="en-US" dirty="0" smtClean="0">
                <a:cs typeface="Times New Roman" pitchFamily="18" charset="0"/>
                <a:sym typeface="Symbol" pitchFamily="18" charset="2"/>
              </a:rPr>
              <a:t>B | ... | </a:t>
            </a:r>
            <a:r>
              <a:rPr lang="en-US" baseline="-25000" dirty="0" err="1" smtClean="0">
                <a:cs typeface="Times New Roman" pitchFamily="18" charset="0"/>
                <a:sym typeface="Symbol" pitchFamily="18" charset="2"/>
              </a:rPr>
              <a:t>n</a:t>
            </a:r>
            <a:r>
              <a:rPr lang="en-US" dirty="0" err="1" smtClean="0">
                <a:cs typeface="Times New Roman" pitchFamily="18" charset="0"/>
                <a:sym typeface="Symbol" pitchFamily="18" charset="2"/>
              </a:rPr>
              <a:t>B</a:t>
            </a:r>
            <a:endParaRPr lang="en-US" dirty="0" smtClean="0">
              <a:cs typeface="Times New Roman" pitchFamily="18" charset="0"/>
              <a:sym typeface="Symbol" pitchFamily="18" charset="2"/>
            </a:endParaRPr>
          </a:p>
          <a:p>
            <a:pPr>
              <a:buFont typeface="Wingdings" pitchFamily="2" charset="2"/>
              <a:buNone/>
            </a:pPr>
            <a:r>
              <a:rPr lang="en-US" dirty="0" smtClean="0">
                <a:cs typeface="Times New Roman" pitchFamily="18" charset="0"/>
                <a:sym typeface="Symbol" pitchFamily="18" charset="2"/>
              </a:rPr>
              <a:t>            B  </a:t>
            </a:r>
            <a:r>
              <a:rPr lang="en-US" baseline="-25000" dirty="0" smtClean="0">
                <a:cs typeface="Times New Roman" pitchFamily="18" charset="0"/>
                <a:sym typeface="Symbol" pitchFamily="18" charset="2"/>
              </a:rPr>
              <a:t>1</a:t>
            </a:r>
            <a:r>
              <a:rPr lang="en-US" dirty="0" smtClean="0">
                <a:cs typeface="Times New Roman" pitchFamily="18" charset="0"/>
                <a:sym typeface="Symbol" pitchFamily="18" charset="2"/>
              </a:rPr>
              <a:t>B | </a:t>
            </a:r>
            <a:r>
              <a:rPr lang="en-US" baseline="-25000" dirty="0" smtClean="0">
                <a:cs typeface="Times New Roman" pitchFamily="18" charset="0"/>
                <a:sym typeface="Symbol" pitchFamily="18" charset="2"/>
              </a:rPr>
              <a:t>2</a:t>
            </a:r>
            <a:r>
              <a:rPr lang="en-US" dirty="0" smtClean="0">
                <a:cs typeface="Times New Roman" pitchFamily="18" charset="0"/>
                <a:sym typeface="Symbol" pitchFamily="18" charset="2"/>
              </a:rPr>
              <a:t>B | ... | </a:t>
            </a:r>
            <a:r>
              <a:rPr lang="en-US" baseline="-25000" dirty="0" err="1" smtClean="0">
                <a:cs typeface="Times New Roman" pitchFamily="18" charset="0"/>
                <a:sym typeface="Symbol" pitchFamily="18" charset="2"/>
              </a:rPr>
              <a:t>m</a:t>
            </a:r>
            <a:r>
              <a:rPr lang="en-US" dirty="0" err="1" smtClean="0">
                <a:cs typeface="Times New Roman" pitchFamily="18" charset="0"/>
                <a:sym typeface="Symbol" pitchFamily="18" charset="2"/>
              </a:rPr>
              <a:t>B</a:t>
            </a:r>
            <a:r>
              <a:rPr lang="en-US" dirty="0" smtClean="0">
                <a:cs typeface="Times New Roman" pitchFamily="18" charset="0"/>
                <a:sym typeface="Symbol" pitchFamily="18" charset="2"/>
              </a:rPr>
              <a:t> | </a:t>
            </a:r>
          </a:p>
          <a:p>
            <a:endParaRPr lang="en-US" dirty="0"/>
          </a:p>
        </p:txBody>
      </p:sp>
    </p:spTree>
    <p:extLst>
      <p:ext uri="{BB962C8B-B14F-4D97-AF65-F5344CB8AC3E}">
        <p14:creationId xmlns:p14="http://schemas.microsoft.com/office/powerpoint/2010/main" val="193271041"/>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Grp="1" noChangeArrowheads="1"/>
          </p:cNvSpPr>
          <p:nvPr>
            <p:ph type="title"/>
          </p:nvPr>
        </p:nvSpPr>
        <p:spPr/>
        <p:txBody>
          <a:bodyPr/>
          <a:lstStyle/>
          <a:p>
            <a:pPr eaLnBrk="1" hangingPunct="1"/>
            <a:r>
              <a:rPr lang="en-US" smtClean="0"/>
              <a:t>Grammar problems</a:t>
            </a:r>
          </a:p>
        </p:txBody>
      </p:sp>
      <p:sp>
        <p:nvSpPr>
          <p:cNvPr id="19459" name="Rectangle 3"/>
          <p:cNvSpPr>
            <a:spLocks noGrp="1" noChangeArrowheads="1"/>
          </p:cNvSpPr>
          <p:nvPr>
            <p:ph type="body" idx="1"/>
          </p:nvPr>
        </p:nvSpPr>
        <p:spPr/>
        <p:txBody>
          <a:bodyPr/>
          <a:lstStyle/>
          <a:p>
            <a:pPr eaLnBrk="1" hangingPunct="1"/>
            <a:r>
              <a:rPr lang="en-US" smtClean="0">
                <a:cs typeface="Times New Roman" pitchFamily="18" charset="0"/>
                <a:sym typeface="Symbol" pitchFamily="18" charset="2"/>
              </a:rPr>
              <a:t>Consider  S   </a:t>
            </a:r>
            <a:r>
              <a:rPr lang="en-US" b="1" smtClean="0">
                <a:cs typeface="Times New Roman" pitchFamily="18" charset="0"/>
                <a:sym typeface="Symbol" pitchFamily="18" charset="2"/>
              </a:rPr>
              <a:t>if</a:t>
            </a:r>
            <a:r>
              <a:rPr lang="en-US" smtClean="0">
                <a:cs typeface="Times New Roman" pitchFamily="18" charset="0"/>
                <a:sym typeface="Symbol" pitchFamily="18" charset="2"/>
              </a:rPr>
              <a:t> E </a:t>
            </a:r>
            <a:r>
              <a:rPr lang="en-US" b="1" smtClean="0">
                <a:cs typeface="Times New Roman" pitchFamily="18" charset="0"/>
                <a:sym typeface="Symbol" pitchFamily="18" charset="2"/>
              </a:rPr>
              <a:t>then</a:t>
            </a:r>
            <a:r>
              <a:rPr lang="en-US" smtClean="0">
                <a:cs typeface="Times New Roman" pitchFamily="18" charset="0"/>
                <a:sym typeface="Symbol" pitchFamily="18" charset="2"/>
              </a:rPr>
              <a:t> S </a:t>
            </a:r>
            <a:r>
              <a:rPr lang="en-US" b="1" smtClean="0">
                <a:cs typeface="Times New Roman" pitchFamily="18" charset="0"/>
                <a:sym typeface="Symbol" pitchFamily="18" charset="2"/>
              </a:rPr>
              <a:t>else</a:t>
            </a:r>
            <a:r>
              <a:rPr lang="en-US" smtClean="0">
                <a:cs typeface="Times New Roman" pitchFamily="18" charset="0"/>
                <a:sym typeface="Symbol" pitchFamily="18" charset="2"/>
              </a:rPr>
              <a:t> S | </a:t>
            </a:r>
            <a:r>
              <a:rPr lang="en-US" b="1" smtClean="0">
                <a:cs typeface="Times New Roman" pitchFamily="18" charset="0"/>
                <a:sym typeface="Symbol" pitchFamily="18" charset="2"/>
              </a:rPr>
              <a:t>if</a:t>
            </a:r>
            <a:r>
              <a:rPr lang="en-US" smtClean="0">
                <a:cs typeface="Times New Roman" pitchFamily="18" charset="0"/>
                <a:sym typeface="Symbol" pitchFamily="18" charset="2"/>
              </a:rPr>
              <a:t> E </a:t>
            </a:r>
            <a:r>
              <a:rPr lang="en-US" b="1" smtClean="0">
                <a:cs typeface="Times New Roman" pitchFamily="18" charset="0"/>
                <a:sym typeface="Symbol" pitchFamily="18" charset="2"/>
              </a:rPr>
              <a:t>then</a:t>
            </a:r>
            <a:r>
              <a:rPr lang="en-US" smtClean="0">
                <a:cs typeface="Times New Roman" pitchFamily="18" charset="0"/>
                <a:sym typeface="Symbol" pitchFamily="18" charset="2"/>
              </a:rPr>
              <a:t> S</a:t>
            </a:r>
          </a:p>
          <a:p>
            <a:pPr lvl="1" eaLnBrk="1" hangingPunct="1"/>
            <a:r>
              <a:rPr lang="en-US" smtClean="0">
                <a:cs typeface="Times New Roman" pitchFamily="18" charset="0"/>
                <a:sym typeface="Symbol" pitchFamily="18" charset="2"/>
              </a:rPr>
              <a:t>Which of the two productions should we use to expand non-terminal S when the next token is </a:t>
            </a:r>
            <a:r>
              <a:rPr lang="en-US" b="1" smtClean="0">
                <a:cs typeface="Times New Roman" pitchFamily="18" charset="0"/>
                <a:sym typeface="Symbol" pitchFamily="18" charset="2"/>
              </a:rPr>
              <a:t>if</a:t>
            </a:r>
            <a:r>
              <a:rPr lang="en-US" smtClean="0">
                <a:cs typeface="Times New Roman" pitchFamily="18" charset="0"/>
                <a:sym typeface="Symbol" pitchFamily="18" charset="2"/>
              </a:rPr>
              <a:t>?</a:t>
            </a:r>
          </a:p>
          <a:p>
            <a:pPr lvl="1" eaLnBrk="1" hangingPunct="1"/>
            <a:r>
              <a:rPr lang="en-US" smtClean="0">
                <a:cs typeface="Times New Roman" pitchFamily="18" charset="0"/>
                <a:sym typeface="Symbol" pitchFamily="18" charset="2"/>
              </a:rPr>
              <a:t>We can solve this problem by factoring out the common part in these rules. This way, we are postponing the decision about which rule to choose until we have more information (namely, whether there is an </a:t>
            </a:r>
            <a:r>
              <a:rPr lang="en-US" b="1" smtClean="0">
                <a:cs typeface="Times New Roman" pitchFamily="18" charset="0"/>
                <a:sym typeface="Symbol" pitchFamily="18" charset="2"/>
              </a:rPr>
              <a:t>else</a:t>
            </a:r>
            <a:r>
              <a:rPr lang="en-US" smtClean="0">
                <a:cs typeface="Times New Roman" pitchFamily="18" charset="0"/>
                <a:sym typeface="Symbol" pitchFamily="18" charset="2"/>
              </a:rPr>
              <a:t> or not).</a:t>
            </a:r>
          </a:p>
          <a:p>
            <a:pPr lvl="1" eaLnBrk="1" hangingPunct="1"/>
            <a:r>
              <a:rPr lang="en-US" smtClean="0">
                <a:cs typeface="Times New Roman" pitchFamily="18" charset="0"/>
                <a:sym typeface="Symbol" pitchFamily="18" charset="2"/>
              </a:rPr>
              <a:t>This is called </a:t>
            </a:r>
            <a:r>
              <a:rPr lang="en-US" b="1" smtClean="0">
                <a:cs typeface="Times New Roman" pitchFamily="18" charset="0"/>
                <a:sym typeface="Symbol" pitchFamily="18" charset="2"/>
              </a:rPr>
              <a:t>left factoring</a:t>
            </a:r>
          </a:p>
          <a:p>
            <a:pPr eaLnBrk="1" hangingPunct="1"/>
            <a:endParaRPr lang="en-US"/>
          </a:p>
        </p:txBody>
      </p:sp>
    </p:spTree>
    <p:extLst>
      <p:ext uri="{BB962C8B-B14F-4D97-AF65-F5344CB8AC3E}">
        <p14:creationId xmlns:p14="http://schemas.microsoft.com/office/powerpoint/2010/main" val="299132471"/>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Rectangle 2"/>
          <p:cNvSpPr>
            <a:spLocks noGrp="1" noChangeArrowheads="1"/>
          </p:cNvSpPr>
          <p:nvPr>
            <p:ph type="title"/>
          </p:nvPr>
        </p:nvSpPr>
        <p:spPr/>
        <p:txBody>
          <a:bodyPr/>
          <a:lstStyle/>
          <a:p>
            <a:pPr eaLnBrk="1" hangingPunct="1"/>
            <a:r>
              <a:rPr lang="en-US" smtClean="0"/>
              <a:t>Left factoring</a:t>
            </a:r>
          </a:p>
        </p:txBody>
      </p:sp>
      <p:sp>
        <p:nvSpPr>
          <p:cNvPr id="20483" name="Rectangle 3"/>
          <p:cNvSpPr>
            <a:spLocks noGrp="1" noChangeArrowheads="1"/>
          </p:cNvSpPr>
          <p:nvPr>
            <p:ph type="body" idx="1"/>
          </p:nvPr>
        </p:nvSpPr>
        <p:spPr/>
        <p:txBody>
          <a:bodyPr/>
          <a:lstStyle/>
          <a:p>
            <a:pPr eaLnBrk="1" hangingPunct="1">
              <a:buClr>
                <a:schemeClr val="accent2"/>
              </a:buClr>
              <a:buFont typeface="Wingdings" pitchFamily="2" charset="2"/>
              <a:buNone/>
            </a:pPr>
            <a:r>
              <a:rPr lang="en-US" smtClean="0">
                <a:solidFill>
                  <a:schemeClr val="accent2"/>
                </a:solidFill>
                <a:cs typeface="Times New Roman" pitchFamily="18" charset="0"/>
                <a:sym typeface="Symbol" pitchFamily="18" charset="2"/>
              </a:rPr>
              <a:t>	</a:t>
            </a:r>
          </a:p>
          <a:p>
            <a:pPr eaLnBrk="1" hangingPunct="1">
              <a:buClr>
                <a:schemeClr val="accent2"/>
              </a:buClr>
              <a:buFont typeface="Wingdings" pitchFamily="2" charset="2"/>
              <a:buNone/>
            </a:pPr>
            <a:r>
              <a:rPr lang="en-US" smtClean="0">
                <a:solidFill>
                  <a:schemeClr val="accent2"/>
                </a:solidFill>
                <a:cs typeface="Times New Roman" pitchFamily="18" charset="0"/>
                <a:sym typeface="Symbol" pitchFamily="18" charset="2"/>
              </a:rPr>
              <a:t>	A  </a:t>
            </a:r>
            <a:r>
              <a:rPr lang="en-US" baseline="-25000" smtClean="0">
                <a:solidFill>
                  <a:schemeClr val="accent2"/>
                </a:solidFill>
                <a:cs typeface="Times New Roman" pitchFamily="18" charset="0"/>
                <a:sym typeface="Symbol" pitchFamily="18" charset="2"/>
              </a:rPr>
              <a:t>1 </a:t>
            </a:r>
            <a:r>
              <a:rPr lang="en-US" smtClean="0">
                <a:solidFill>
                  <a:schemeClr val="accent2"/>
                </a:solidFill>
                <a:cs typeface="Times New Roman" pitchFamily="18" charset="0"/>
                <a:sym typeface="Symbol" pitchFamily="18" charset="2"/>
              </a:rPr>
              <a:t>| </a:t>
            </a:r>
            <a:r>
              <a:rPr lang="en-US" baseline="-25000" smtClean="0">
                <a:solidFill>
                  <a:schemeClr val="accent2"/>
                </a:solidFill>
                <a:cs typeface="Times New Roman" pitchFamily="18" charset="0"/>
                <a:sym typeface="Symbol" pitchFamily="18" charset="2"/>
              </a:rPr>
              <a:t>2 </a:t>
            </a:r>
            <a:r>
              <a:rPr lang="en-US" smtClean="0">
                <a:solidFill>
                  <a:schemeClr val="accent2"/>
                </a:solidFill>
                <a:cs typeface="Times New Roman" pitchFamily="18" charset="0"/>
                <a:sym typeface="Symbol" pitchFamily="18" charset="2"/>
              </a:rPr>
              <a:t>|...| </a:t>
            </a:r>
            <a:r>
              <a:rPr lang="en-US" baseline="-25000" smtClean="0">
                <a:solidFill>
                  <a:schemeClr val="accent2"/>
                </a:solidFill>
                <a:cs typeface="Times New Roman" pitchFamily="18" charset="0"/>
                <a:sym typeface="Symbol" pitchFamily="18" charset="2"/>
              </a:rPr>
              <a:t>n </a:t>
            </a:r>
            <a:r>
              <a:rPr lang="en-US" smtClean="0">
                <a:solidFill>
                  <a:schemeClr val="accent2"/>
                </a:solidFill>
                <a:cs typeface="Times New Roman" pitchFamily="18" charset="0"/>
                <a:sym typeface="Symbol" pitchFamily="18" charset="2"/>
              </a:rPr>
              <a:t>| </a:t>
            </a:r>
          </a:p>
          <a:p>
            <a:pPr eaLnBrk="1" hangingPunct="1">
              <a:buFont typeface="Wingdings" pitchFamily="2" charset="2"/>
              <a:buNone/>
            </a:pPr>
            <a:r>
              <a:rPr lang="en-US" smtClean="0">
                <a:solidFill>
                  <a:srgbClr val="FFFF66"/>
                </a:solidFill>
                <a:cs typeface="Times New Roman" pitchFamily="18" charset="0"/>
                <a:sym typeface="Symbol" pitchFamily="18" charset="2"/>
              </a:rPr>
              <a:t>  	</a:t>
            </a:r>
          </a:p>
          <a:p>
            <a:pPr eaLnBrk="1" hangingPunct="1">
              <a:buFont typeface="Wingdings" pitchFamily="2" charset="2"/>
              <a:buNone/>
            </a:pPr>
            <a:r>
              <a:rPr lang="en-US" smtClean="0">
                <a:cs typeface="Times New Roman" pitchFamily="18" charset="0"/>
                <a:sym typeface="Symbol" pitchFamily="18" charset="2"/>
              </a:rPr>
              <a:t>becomes</a:t>
            </a:r>
          </a:p>
          <a:p>
            <a:pPr eaLnBrk="1" hangingPunct="1">
              <a:buFont typeface="Wingdings" pitchFamily="2" charset="2"/>
              <a:buNone/>
            </a:pPr>
            <a:endParaRPr lang="en-US">
              <a:cs typeface="Times New Roman" pitchFamily="18" charset="0"/>
              <a:sym typeface="Symbol" pitchFamily="18" charset="2"/>
            </a:endParaRPr>
          </a:p>
          <a:p>
            <a:pPr lvl="1" eaLnBrk="1" hangingPunct="1">
              <a:buFont typeface="Wingdings" pitchFamily="2" charset="2"/>
              <a:buNone/>
            </a:pPr>
            <a:r>
              <a:rPr lang="en-US">
                <a:cs typeface="Times New Roman" pitchFamily="18" charset="0"/>
                <a:sym typeface="Symbol" pitchFamily="18" charset="2"/>
              </a:rPr>
              <a:t>A  B|</a:t>
            </a:r>
            <a:r>
              <a:rPr lang="en-US">
                <a:solidFill>
                  <a:srgbClr val="FFFF66"/>
                </a:solidFill>
                <a:cs typeface="Times New Roman" pitchFamily="18" charset="0"/>
                <a:sym typeface="Symbol" pitchFamily="18" charset="2"/>
              </a:rPr>
              <a:t> </a:t>
            </a:r>
            <a:r>
              <a:rPr lang="en-US">
                <a:cs typeface="Times New Roman" pitchFamily="18" charset="0"/>
                <a:sym typeface="Symbol" pitchFamily="18" charset="2"/>
              </a:rPr>
              <a:t></a:t>
            </a:r>
          </a:p>
          <a:p>
            <a:pPr lvl="1" eaLnBrk="1" hangingPunct="1">
              <a:buFont typeface="Wingdings" pitchFamily="2" charset="2"/>
              <a:buNone/>
            </a:pPr>
            <a:r>
              <a:rPr lang="en-US">
                <a:cs typeface="Times New Roman" pitchFamily="18" charset="0"/>
                <a:sym typeface="Symbol" pitchFamily="18" charset="2"/>
              </a:rPr>
              <a:t>B </a:t>
            </a:r>
            <a:r>
              <a:rPr lang="en-US" b="1">
                <a:cs typeface="Times New Roman" pitchFamily="18" charset="0"/>
                <a:sym typeface="Symbol" pitchFamily="18" charset="2"/>
              </a:rPr>
              <a:t> </a:t>
            </a:r>
            <a:r>
              <a:rPr lang="en-US">
                <a:cs typeface="Times New Roman" pitchFamily="18" charset="0"/>
                <a:sym typeface="Symbol" pitchFamily="18" charset="2"/>
              </a:rPr>
              <a:t></a:t>
            </a:r>
            <a:r>
              <a:rPr lang="en-US" baseline="-25000">
                <a:cs typeface="Times New Roman" pitchFamily="18" charset="0"/>
                <a:sym typeface="Symbol" pitchFamily="18" charset="2"/>
              </a:rPr>
              <a:t>1 </a:t>
            </a:r>
            <a:r>
              <a:rPr lang="en-US">
                <a:cs typeface="Times New Roman" pitchFamily="18" charset="0"/>
                <a:sym typeface="Symbol" pitchFamily="18" charset="2"/>
              </a:rPr>
              <a:t>| </a:t>
            </a:r>
            <a:r>
              <a:rPr lang="en-US" baseline="-25000">
                <a:cs typeface="Times New Roman" pitchFamily="18" charset="0"/>
                <a:sym typeface="Symbol" pitchFamily="18" charset="2"/>
              </a:rPr>
              <a:t>2 </a:t>
            </a:r>
            <a:r>
              <a:rPr lang="en-US">
                <a:cs typeface="Times New Roman" pitchFamily="18" charset="0"/>
                <a:sym typeface="Symbol" pitchFamily="18" charset="2"/>
              </a:rPr>
              <a:t>|...| </a:t>
            </a:r>
            <a:r>
              <a:rPr lang="en-US" baseline="-25000">
                <a:cs typeface="Times New Roman" pitchFamily="18" charset="0"/>
                <a:sym typeface="Symbol" pitchFamily="18" charset="2"/>
              </a:rPr>
              <a:t>n</a:t>
            </a:r>
          </a:p>
          <a:p>
            <a:pPr eaLnBrk="1" hangingPunct="1"/>
            <a:endParaRPr lang="en-US" sz="3200"/>
          </a:p>
        </p:txBody>
      </p:sp>
    </p:spTree>
    <p:extLst>
      <p:ext uri="{BB962C8B-B14F-4D97-AF65-F5344CB8AC3E}">
        <p14:creationId xmlns:p14="http://schemas.microsoft.com/office/powerpoint/2010/main" val="3419938853"/>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Rectangle 2"/>
          <p:cNvSpPr>
            <a:spLocks noGrp="1" noChangeArrowheads="1"/>
          </p:cNvSpPr>
          <p:nvPr>
            <p:ph type="title"/>
          </p:nvPr>
        </p:nvSpPr>
        <p:spPr/>
        <p:txBody>
          <a:bodyPr/>
          <a:lstStyle/>
          <a:p>
            <a:pPr eaLnBrk="1" hangingPunct="1"/>
            <a:r>
              <a:rPr lang="en-US" smtClean="0"/>
              <a:t>Grammar problems</a:t>
            </a:r>
          </a:p>
        </p:txBody>
      </p:sp>
      <p:sp>
        <p:nvSpPr>
          <p:cNvPr id="21507" name="Rectangle 3"/>
          <p:cNvSpPr>
            <a:spLocks noGrp="1" noChangeArrowheads="1"/>
          </p:cNvSpPr>
          <p:nvPr>
            <p:ph type="body" idx="1"/>
          </p:nvPr>
        </p:nvSpPr>
        <p:spPr/>
        <p:txBody>
          <a:bodyPr/>
          <a:lstStyle/>
          <a:p>
            <a:pPr eaLnBrk="1" hangingPunct="1"/>
            <a:r>
              <a:rPr lang="en-US" smtClean="0">
                <a:cs typeface="Times New Roman" pitchFamily="18" charset="0"/>
                <a:sym typeface="Symbol" pitchFamily="18" charset="2"/>
              </a:rPr>
              <a:t>A symbol XV is </a:t>
            </a:r>
            <a:r>
              <a:rPr lang="en-US" b="1" smtClean="0">
                <a:cs typeface="Times New Roman" pitchFamily="18" charset="0"/>
                <a:sym typeface="Symbol" pitchFamily="18" charset="2"/>
              </a:rPr>
              <a:t>useless</a:t>
            </a:r>
            <a:r>
              <a:rPr lang="en-US" smtClean="0">
                <a:cs typeface="Times New Roman" pitchFamily="18" charset="0"/>
                <a:sym typeface="Symbol" pitchFamily="18" charset="2"/>
              </a:rPr>
              <a:t> if</a:t>
            </a:r>
          </a:p>
          <a:p>
            <a:pPr lvl="1" eaLnBrk="1" hangingPunct="1"/>
            <a:r>
              <a:rPr lang="en-US" smtClean="0">
                <a:cs typeface="Times New Roman" pitchFamily="18" charset="0"/>
                <a:sym typeface="Symbol" pitchFamily="18" charset="2"/>
              </a:rPr>
              <a:t>there is no derivation from X to any string in the language (</a:t>
            </a:r>
            <a:r>
              <a:rPr lang="en-US" smtClean="0">
                <a:solidFill>
                  <a:schemeClr val="accent2"/>
                </a:solidFill>
                <a:cs typeface="Times New Roman" pitchFamily="18" charset="0"/>
                <a:sym typeface="Symbol" pitchFamily="18" charset="2"/>
              </a:rPr>
              <a:t>non-terminating</a:t>
            </a:r>
            <a:r>
              <a:rPr lang="en-US" smtClean="0">
                <a:cs typeface="Times New Roman" pitchFamily="18" charset="0"/>
                <a:sym typeface="Symbol" pitchFamily="18" charset="2"/>
              </a:rPr>
              <a:t>)</a:t>
            </a:r>
          </a:p>
          <a:p>
            <a:pPr lvl="1" eaLnBrk="1" hangingPunct="1"/>
            <a:r>
              <a:rPr lang="en-US" smtClean="0">
                <a:cs typeface="Times New Roman" pitchFamily="18" charset="0"/>
                <a:sym typeface="Symbol" pitchFamily="18" charset="2"/>
              </a:rPr>
              <a:t>there is no derivation from S that reaches a sentential form containing X (</a:t>
            </a:r>
            <a:r>
              <a:rPr lang="en-US" smtClean="0">
                <a:solidFill>
                  <a:schemeClr val="accent2"/>
                </a:solidFill>
                <a:cs typeface="Times New Roman" pitchFamily="18" charset="0"/>
                <a:sym typeface="Symbol" pitchFamily="18" charset="2"/>
              </a:rPr>
              <a:t>non-reachable</a:t>
            </a:r>
            <a:r>
              <a:rPr lang="en-US" smtClean="0">
                <a:cs typeface="Times New Roman" pitchFamily="18" charset="0"/>
                <a:sym typeface="Symbol" pitchFamily="18" charset="2"/>
              </a:rPr>
              <a:t>)</a:t>
            </a:r>
          </a:p>
          <a:p>
            <a:pPr eaLnBrk="1" hangingPunct="1"/>
            <a:endParaRPr lang="en-US" b="1" smtClean="0">
              <a:cs typeface="Times New Roman" pitchFamily="18" charset="0"/>
              <a:sym typeface="Symbol" pitchFamily="18" charset="2"/>
            </a:endParaRPr>
          </a:p>
          <a:p>
            <a:pPr eaLnBrk="1" hangingPunct="1"/>
            <a:r>
              <a:rPr lang="en-US" b="1" smtClean="0">
                <a:cs typeface="Times New Roman" pitchFamily="18" charset="0"/>
                <a:sym typeface="Symbol" pitchFamily="18" charset="2"/>
              </a:rPr>
              <a:t>Reduced grammar</a:t>
            </a:r>
            <a:r>
              <a:rPr lang="en-US" smtClean="0">
                <a:cs typeface="Times New Roman" pitchFamily="18" charset="0"/>
                <a:sym typeface="Symbol" pitchFamily="18" charset="2"/>
              </a:rPr>
              <a:t> = a grammar that does not contain any useless symbols.</a:t>
            </a:r>
          </a:p>
          <a:p>
            <a:pPr eaLnBrk="1" hangingPunct="1"/>
            <a:endParaRPr lang="en-US" smtClean="0"/>
          </a:p>
        </p:txBody>
      </p:sp>
    </p:spTree>
    <p:extLst>
      <p:ext uri="{BB962C8B-B14F-4D97-AF65-F5344CB8AC3E}">
        <p14:creationId xmlns:p14="http://schemas.microsoft.com/office/powerpoint/2010/main" val="3340533066"/>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Rectangle 2"/>
          <p:cNvSpPr>
            <a:spLocks noGrp="1" noChangeArrowheads="1"/>
          </p:cNvSpPr>
          <p:nvPr>
            <p:ph type="title"/>
          </p:nvPr>
        </p:nvSpPr>
        <p:spPr/>
        <p:txBody>
          <a:bodyPr/>
          <a:lstStyle/>
          <a:p>
            <a:pPr eaLnBrk="1" hangingPunct="1"/>
            <a:r>
              <a:rPr lang="en-US" smtClean="0"/>
              <a:t>Useless symbols</a:t>
            </a:r>
          </a:p>
        </p:txBody>
      </p:sp>
      <p:sp>
        <p:nvSpPr>
          <p:cNvPr id="22531" name="Rectangle 3"/>
          <p:cNvSpPr>
            <a:spLocks noGrp="1" noChangeArrowheads="1"/>
          </p:cNvSpPr>
          <p:nvPr>
            <p:ph type="body" idx="1"/>
          </p:nvPr>
        </p:nvSpPr>
        <p:spPr/>
        <p:txBody>
          <a:bodyPr>
            <a:normAutofit/>
          </a:bodyPr>
          <a:lstStyle/>
          <a:p>
            <a:pPr eaLnBrk="1" hangingPunct="1"/>
            <a:r>
              <a:rPr lang="en-US" smtClean="0">
                <a:cs typeface="Times New Roman" pitchFamily="18" charset="0"/>
                <a:sym typeface="Symbol" pitchFamily="18" charset="2"/>
              </a:rPr>
              <a:t>In order to remove useless symbols, apply two algorithms:</a:t>
            </a:r>
          </a:p>
          <a:p>
            <a:pPr lvl="1" eaLnBrk="1" hangingPunct="1"/>
            <a:r>
              <a:rPr lang="en-US" smtClean="0">
                <a:cs typeface="Times New Roman" pitchFamily="18" charset="0"/>
                <a:sym typeface="Symbol" pitchFamily="18" charset="2"/>
              </a:rPr>
              <a:t>First, remove all non-terminating symbols</a:t>
            </a:r>
          </a:p>
          <a:p>
            <a:pPr lvl="1" eaLnBrk="1" hangingPunct="1"/>
            <a:r>
              <a:rPr lang="en-US" smtClean="0">
                <a:cs typeface="Times New Roman" pitchFamily="18" charset="0"/>
                <a:sym typeface="Symbol" pitchFamily="18" charset="2"/>
              </a:rPr>
              <a:t>Then, remove all non-reachable symbols.</a:t>
            </a:r>
          </a:p>
          <a:p>
            <a:pPr eaLnBrk="1" hangingPunct="1"/>
            <a:r>
              <a:rPr lang="en-US" smtClean="0">
                <a:cs typeface="Times New Roman" pitchFamily="18" charset="0"/>
                <a:sym typeface="Symbol" pitchFamily="18" charset="2"/>
              </a:rPr>
              <a:t>The order is important!</a:t>
            </a:r>
          </a:p>
          <a:p>
            <a:pPr lvl="1" eaLnBrk="1" hangingPunct="1"/>
            <a:r>
              <a:rPr lang="en-US" smtClean="0">
                <a:cs typeface="Times New Roman" pitchFamily="18" charset="0"/>
                <a:sym typeface="Symbol" pitchFamily="18" charset="2"/>
              </a:rPr>
              <a:t>For example, consider   S</a:t>
            </a:r>
            <a:r>
              <a:rPr lang="en-US" sz="1800">
                <a:cs typeface="Times New Roman" pitchFamily="18" charset="0"/>
                <a:sym typeface="Symbol" pitchFamily="18" charset="2"/>
              </a:rPr>
              <a:t> </a:t>
            </a:r>
            <a:r>
              <a:rPr lang="en-US" smtClean="0">
                <a:cs typeface="Times New Roman" pitchFamily="18" charset="0"/>
                <a:sym typeface="Symbol" pitchFamily="18" charset="2"/>
              </a:rPr>
              <a:t></a:t>
            </a:r>
            <a:r>
              <a:rPr lang="en-US" baseline="30000" smtClean="0">
                <a:cs typeface="Times New Roman" pitchFamily="18" charset="0"/>
                <a:sym typeface="Symbol" pitchFamily="18" charset="2"/>
              </a:rPr>
              <a:t>+</a:t>
            </a:r>
            <a:r>
              <a:rPr lang="en-US" smtClean="0">
                <a:cs typeface="Times New Roman" pitchFamily="18" charset="0"/>
                <a:sym typeface="Symbol" pitchFamily="18" charset="2"/>
              </a:rPr>
              <a:t> X  where   contains a non-terminating symbol. What will happen if we apply the algorithms in the wrong order?</a:t>
            </a:r>
          </a:p>
          <a:p>
            <a:pPr lvl="2" eaLnBrk="1" hangingPunct="1"/>
            <a:r>
              <a:rPr lang="en-US" smtClean="0">
                <a:cs typeface="Times New Roman" pitchFamily="18" charset="0"/>
                <a:sym typeface="Symbol" pitchFamily="18" charset="2"/>
              </a:rPr>
              <a:t>Concrete example: S  AB | a,  A a</a:t>
            </a:r>
            <a:endParaRPr lang="en-US" sz="1600"/>
          </a:p>
        </p:txBody>
      </p:sp>
    </p:spTree>
    <p:extLst>
      <p:ext uri="{BB962C8B-B14F-4D97-AF65-F5344CB8AC3E}">
        <p14:creationId xmlns:p14="http://schemas.microsoft.com/office/powerpoint/2010/main" val="103587475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Rectangle 2"/>
          <p:cNvSpPr>
            <a:spLocks noGrp="1" noChangeArrowheads="1"/>
          </p:cNvSpPr>
          <p:nvPr>
            <p:ph type="title"/>
          </p:nvPr>
        </p:nvSpPr>
        <p:spPr/>
        <p:txBody>
          <a:bodyPr/>
          <a:lstStyle/>
          <a:p>
            <a:pPr eaLnBrk="1" hangingPunct="1"/>
            <a:r>
              <a:rPr lang="en-US" smtClean="0"/>
              <a:t>Useless symbols</a:t>
            </a:r>
          </a:p>
        </p:txBody>
      </p:sp>
      <p:sp>
        <p:nvSpPr>
          <p:cNvPr id="23555" name="Rectangle 3"/>
          <p:cNvSpPr>
            <a:spLocks noGrp="1" noChangeArrowheads="1"/>
          </p:cNvSpPr>
          <p:nvPr>
            <p:ph type="body" idx="1"/>
          </p:nvPr>
        </p:nvSpPr>
        <p:spPr>
          <a:xfrm>
            <a:off x="1657350" y="1676400"/>
            <a:ext cx="5829300" cy="630238"/>
          </a:xfrm>
        </p:spPr>
        <p:txBody>
          <a:bodyPr/>
          <a:lstStyle/>
          <a:p>
            <a:pPr eaLnBrk="1" hangingPunct="1"/>
            <a:r>
              <a:rPr lang="en-US" smtClean="0"/>
              <a:t>Example</a:t>
            </a:r>
          </a:p>
        </p:txBody>
      </p:sp>
      <p:sp>
        <p:nvSpPr>
          <p:cNvPr id="23556" name="Text Box 4"/>
          <p:cNvSpPr txBox="1">
            <a:spLocks noChangeArrowheads="1"/>
          </p:cNvSpPr>
          <p:nvPr/>
        </p:nvSpPr>
        <p:spPr bwMode="auto">
          <a:xfrm>
            <a:off x="1600200" y="2895600"/>
            <a:ext cx="1828800" cy="2446824"/>
          </a:xfrm>
          <a:prstGeom prst="rect">
            <a:avLst/>
          </a:prstGeom>
          <a:noFill/>
          <a:ln w="9525">
            <a:noFill/>
            <a:miter lim="800000"/>
            <a:headEnd/>
            <a:tailEnd/>
          </a:ln>
        </p:spPr>
        <p:txBody>
          <a:bodyPr>
            <a:spAutoFit/>
          </a:bodyPr>
          <a:lstStyle/>
          <a:p>
            <a:pPr>
              <a:spcBef>
                <a:spcPct val="50000"/>
              </a:spcBef>
            </a:pPr>
            <a:r>
              <a:rPr lang="en-US" b="1" u="sng">
                <a:solidFill>
                  <a:schemeClr val="accent2"/>
                </a:solidFill>
              </a:rPr>
              <a:t>Initial grammar:</a:t>
            </a:r>
          </a:p>
          <a:p>
            <a:pPr>
              <a:spcBef>
                <a:spcPct val="50000"/>
              </a:spcBef>
            </a:pPr>
            <a:r>
              <a:rPr lang="en-US" b="1">
                <a:solidFill>
                  <a:schemeClr val="accent2"/>
                </a:solidFill>
              </a:rPr>
              <a:t>S</a:t>
            </a:r>
            <a:r>
              <a:rPr lang="en-US" b="1">
                <a:solidFill>
                  <a:schemeClr val="accent2"/>
                </a:solidFill>
                <a:cs typeface="Times New Roman" pitchFamily="18" charset="0"/>
                <a:sym typeface="Symbol" pitchFamily="18" charset="2"/>
              </a:rPr>
              <a:t> AB | CA</a:t>
            </a:r>
          </a:p>
          <a:p>
            <a:pPr>
              <a:spcBef>
                <a:spcPct val="50000"/>
              </a:spcBef>
            </a:pPr>
            <a:r>
              <a:rPr lang="en-US" b="1">
                <a:solidFill>
                  <a:schemeClr val="accent2"/>
                </a:solidFill>
                <a:cs typeface="Times New Roman" pitchFamily="18" charset="0"/>
                <a:sym typeface="Symbol" pitchFamily="18" charset="2"/>
              </a:rPr>
              <a:t>A a</a:t>
            </a:r>
          </a:p>
          <a:p>
            <a:pPr>
              <a:spcBef>
                <a:spcPct val="50000"/>
              </a:spcBef>
            </a:pPr>
            <a:r>
              <a:rPr lang="en-US" b="1">
                <a:solidFill>
                  <a:schemeClr val="accent2"/>
                </a:solidFill>
                <a:cs typeface="Times New Roman" pitchFamily="18" charset="0"/>
                <a:sym typeface="Symbol" pitchFamily="18" charset="2"/>
              </a:rPr>
              <a:t>B CB | AB</a:t>
            </a:r>
          </a:p>
          <a:p>
            <a:pPr>
              <a:spcBef>
                <a:spcPct val="50000"/>
              </a:spcBef>
            </a:pPr>
            <a:r>
              <a:rPr lang="en-US" b="1">
                <a:solidFill>
                  <a:schemeClr val="accent2"/>
                </a:solidFill>
                <a:cs typeface="Times New Roman" pitchFamily="18" charset="0"/>
                <a:sym typeface="Symbol" pitchFamily="18" charset="2"/>
              </a:rPr>
              <a:t>C cB | b</a:t>
            </a:r>
          </a:p>
          <a:p>
            <a:pPr>
              <a:spcBef>
                <a:spcPct val="50000"/>
              </a:spcBef>
            </a:pPr>
            <a:r>
              <a:rPr lang="en-US" b="1">
                <a:solidFill>
                  <a:schemeClr val="accent2"/>
                </a:solidFill>
                <a:cs typeface="Times New Roman" pitchFamily="18" charset="0"/>
                <a:sym typeface="Symbol" pitchFamily="18" charset="2"/>
              </a:rPr>
              <a:t>D aD | d </a:t>
            </a:r>
          </a:p>
        </p:txBody>
      </p:sp>
      <p:sp>
        <p:nvSpPr>
          <p:cNvPr id="23557" name="Rectangle 5"/>
          <p:cNvSpPr>
            <a:spLocks noChangeArrowheads="1"/>
          </p:cNvSpPr>
          <p:nvPr/>
        </p:nvSpPr>
        <p:spPr bwMode="auto">
          <a:xfrm>
            <a:off x="1600200" y="2895600"/>
            <a:ext cx="1771650" cy="3581400"/>
          </a:xfrm>
          <a:prstGeom prst="rect">
            <a:avLst/>
          </a:prstGeom>
          <a:noFill/>
          <a:ln w="9525">
            <a:solidFill>
              <a:schemeClr val="tx1"/>
            </a:solidFill>
            <a:miter lim="800000"/>
            <a:headEnd/>
            <a:tailEnd/>
          </a:ln>
        </p:spPr>
        <p:txBody>
          <a:bodyPr wrap="none" anchor="ctr"/>
          <a:lstStyle/>
          <a:p>
            <a:endParaRPr lang="en-US"/>
          </a:p>
        </p:txBody>
      </p:sp>
      <p:sp>
        <p:nvSpPr>
          <p:cNvPr id="23558" name="Text Box 6"/>
          <p:cNvSpPr txBox="1">
            <a:spLocks noChangeArrowheads="1"/>
          </p:cNvSpPr>
          <p:nvPr/>
        </p:nvSpPr>
        <p:spPr bwMode="auto">
          <a:xfrm>
            <a:off x="3771900" y="2971802"/>
            <a:ext cx="4057650" cy="2031325"/>
          </a:xfrm>
          <a:prstGeom prst="rect">
            <a:avLst/>
          </a:prstGeom>
          <a:noFill/>
          <a:ln w="9525">
            <a:noFill/>
            <a:miter lim="800000"/>
            <a:headEnd/>
            <a:tailEnd/>
          </a:ln>
        </p:spPr>
        <p:txBody>
          <a:bodyPr>
            <a:spAutoFit/>
          </a:bodyPr>
          <a:lstStyle/>
          <a:p>
            <a:pPr>
              <a:spcBef>
                <a:spcPct val="50000"/>
              </a:spcBef>
            </a:pPr>
            <a:r>
              <a:rPr lang="en-US" u="sng"/>
              <a:t>Algorithm 1 (terminating symbols):</a:t>
            </a:r>
          </a:p>
          <a:p>
            <a:pPr>
              <a:spcBef>
                <a:spcPct val="50000"/>
              </a:spcBef>
            </a:pPr>
            <a:r>
              <a:rPr lang="en-US"/>
              <a:t>A is in because of A</a:t>
            </a:r>
            <a:r>
              <a:rPr lang="en-US">
                <a:cs typeface="Times New Roman" pitchFamily="18" charset="0"/>
                <a:sym typeface="Symbol" pitchFamily="18" charset="2"/>
              </a:rPr>
              <a:t> a</a:t>
            </a:r>
          </a:p>
          <a:p>
            <a:pPr>
              <a:spcBef>
                <a:spcPct val="50000"/>
              </a:spcBef>
            </a:pPr>
            <a:r>
              <a:rPr lang="en-US">
                <a:cs typeface="Times New Roman" pitchFamily="18" charset="0"/>
                <a:sym typeface="Symbol" pitchFamily="18" charset="2"/>
              </a:rPr>
              <a:t>C is in because of C b</a:t>
            </a:r>
          </a:p>
          <a:p>
            <a:pPr>
              <a:spcBef>
                <a:spcPct val="50000"/>
              </a:spcBef>
            </a:pPr>
            <a:r>
              <a:rPr lang="en-US">
                <a:cs typeface="Times New Roman" pitchFamily="18" charset="0"/>
                <a:sym typeface="Symbol" pitchFamily="18" charset="2"/>
              </a:rPr>
              <a:t>D is in because of  D d</a:t>
            </a:r>
          </a:p>
          <a:p>
            <a:pPr>
              <a:spcBef>
                <a:spcPct val="50000"/>
              </a:spcBef>
            </a:pPr>
            <a:r>
              <a:rPr lang="en-US">
                <a:cs typeface="Times New Roman" pitchFamily="18" charset="0"/>
                <a:sym typeface="Symbol" pitchFamily="18" charset="2"/>
              </a:rPr>
              <a:t>S is in because A, C are in and S AC</a:t>
            </a:r>
          </a:p>
        </p:txBody>
      </p:sp>
    </p:spTree>
    <p:extLst>
      <p:ext uri="{BB962C8B-B14F-4D97-AF65-F5344CB8AC3E}">
        <p14:creationId xmlns:p14="http://schemas.microsoft.com/office/powerpoint/2010/main" val="1418100619"/>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Rectangle 2"/>
          <p:cNvSpPr>
            <a:spLocks noGrp="1" noChangeArrowheads="1"/>
          </p:cNvSpPr>
          <p:nvPr>
            <p:ph type="title"/>
          </p:nvPr>
        </p:nvSpPr>
        <p:spPr/>
        <p:txBody>
          <a:bodyPr/>
          <a:lstStyle/>
          <a:p>
            <a:pPr eaLnBrk="1" hangingPunct="1"/>
            <a:r>
              <a:rPr lang="en-US" smtClean="0"/>
              <a:t>Useless symbols</a:t>
            </a:r>
          </a:p>
        </p:txBody>
      </p:sp>
      <p:sp>
        <p:nvSpPr>
          <p:cNvPr id="24579" name="Rectangle 3"/>
          <p:cNvSpPr>
            <a:spLocks noGrp="1" noChangeArrowheads="1"/>
          </p:cNvSpPr>
          <p:nvPr>
            <p:ph type="body" idx="1"/>
          </p:nvPr>
        </p:nvSpPr>
        <p:spPr>
          <a:xfrm>
            <a:off x="1657350" y="1676400"/>
            <a:ext cx="5829300" cy="630238"/>
          </a:xfrm>
        </p:spPr>
        <p:txBody>
          <a:bodyPr/>
          <a:lstStyle/>
          <a:p>
            <a:pPr eaLnBrk="1" hangingPunct="1"/>
            <a:r>
              <a:rPr lang="en-US" smtClean="0"/>
              <a:t>Example continued</a:t>
            </a:r>
          </a:p>
        </p:txBody>
      </p:sp>
      <p:sp>
        <p:nvSpPr>
          <p:cNvPr id="24580" name="Text Box 4"/>
          <p:cNvSpPr txBox="1">
            <a:spLocks noChangeArrowheads="1"/>
          </p:cNvSpPr>
          <p:nvPr/>
        </p:nvSpPr>
        <p:spPr bwMode="auto">
          <a:xfrm>
            <a:off x="1485900" y="2438402"/>
            <a:ext cx="2000250" cy="2031325"/>
          </a:xfrm>
          <a:prstGeom prst="rect">
            <a:avLst/>
          </a:prstGeom>
          <a:noFill/>
          <a:ln w="9525">
            <a:noFill/>
            <a:miter lim="800000"/>
            <a:headEnd/>
            <a:tailEnd/>
          </a:ln>
        </p:spPr>
        <p:txBody>
          <a:bodyPr>
            <a:spAutoFit/>
          </a:bodyPr>
          <a:lstStyle/>
          <a:p>
            <a:pPr>
              <a:spcBef>
                <a:spcPct val="50000"/>
              </a:spcBef>
            </a:pPr>
            <a:r>
              <a:rPr lang="en-US" b="1" u="sng">
                <a:solidFill>
                  <a:schemeClr val="accent2"/>
                </a:solidFill>
              </a:rPr>
              <a:t>After algorithm 1:</a:t>
            </a:r>
          </a:p>
          <a:p>
            <a:pPr>
              <a:spcBef>
                <a:spcPct val="50000"/>
              </a:spcBef>
            </a:pPr>
            <a:r>
              <a:rPr lang="en-US" b="1">
                <a:solidFill>
                  <a:schemeClr val="accent2"/>
                </a:solidFill>
              </a:rPr>
              <a:t>S</a:t>
            </a:r>
            <a:r>
              <a:rPr lang="en-US" b="1">
                <a:solidFill>
                  <a:schemeClr val="accent2"/>
                </a:solidFill>
                <a:cs typeface="Times New Roman" pitchFamily="18" charset="0"/>
                <a:sym typeface="Symbol" pitchFamily="18" charset="2"/>
              </a:rPr>
              <a:t> CA</a:t>
            </a:r>
          </a:p>
          <a:p>
            <a:pPr>
              <a:spcBef>
                <a:spcPct val="50000"/>
              </a:spcBef>
            </a:pPr>
            <a:r>
              <a:rPr lang="en-US" b="1">
                <a:solidFill>
                  <a:schemeClr val="accent2"/>
                </a:solidFill>
                <a:cs typeface="Times New Roman" pitchFamily="18" charset="0"/>
                <a:sym typeface="Symbol" pitchFamily="18" charset="2"/>
              </a:rPr>
              <a:t>A a</a:t>
            </a:r>
          </a:p>
          <a:p>
            <a:pPr>
              <a:spcBef>
                <a:spcPct val="50000"/>
              </a:spcBef>
            </a:pPr>
            <a:r>
              <a:rPr lang="en-US" b="1">
                <a:solidFill>
                  <a:schemeClr val="accent2"/>
                </a:solidFill>
                <a:cs typeface="Times New Roman" pitchFamily="18" charset="0"/>
                <a:sym typeface="Symbol" pitchFamily="18" charset="2"/>
              </a:rPr>
              <a:t>C b</a:t>
            </a:r>
          </a:p>
          <a:p>
            <a:pPr>
              <a:spcBef>
                <a:spcPct val="50000"/>
              </a:spcBef>
            </a:pPr>
            <a:r>
              <a:rPr lang="en-US" b="1">
                <a:solidFill>
                  <a:schemeClr val="accent2"/>
                </a:solidFill>
                <a:cs typeface="Times New Roman" pitchFamily="18" charset="0"/>
                <a:sym typeface="Symbol" pitchFamily="18" charset="2"/>
              </a:rPr>
              <a:t>D aD | d </a:t>
            </a:r>
          </a:p>
        </p:txBody>
      </p:sp>
      <p:sp>
        <p:nvSpPr>
          <p:cNvPr id="24581" name="Rectangle 5"/>
          <p:cNvSpPr>
            <a:spLocks noChangeArrowheads="1"/>
          </p:cNvSpPr>
          <p:nvPr/>
        </p:nvSpPr>
        <p:spPr bwMode="auto">
          <a:xfrm>
            <a:off x="1485900" y="2438400"/>
            <a:ext cx="2000250" cy="2743200"/>
          </a:xfrm>
          <a:prstGeom prst="rect">
            <a:avLst/>
          </a:prstGeom>
          <a:noFill/>
          <a:ln w="9525">
            <a:solidFill>
              <a:schemeClr val="tx1"/>
            </a:solidFill>
            <a:miter lim="800000"/>
            <a:headEnd/>
            <a:tailEnd/>
          </a:ln>
        </p:spPr>
        <p:txBody>
          <a:bodyPr wrap="none" anchor="ctr"/>
          <a:lstStyle/>
          <a:p>
            <a:endParaRPr lang="en-US"/>
          </a:p>
        </p:txBody>
      </p:sp>
      <p:sp>
        <p:nvSpPr>
          <p:cNvPr id="24582" name="Text Box 6"/>
          <p:cNvSpPr txBox="1">
            <a:spLocks noChangeArrowheads="1"/>
          </p:cNvSpPr>
          <p:nvPr/>
        </p:nvSpPr>
        <p:spPr bwMode="auto">
          <a:xfrm>
            <a:off x="3657600" y="2514602"/>
            <a:ext cx="4057650" cy="1200329"/>
          </a:xfrm>
          <a:prstGeom prst="rect">
            <a:avLst/>
          </a:prstGeom>
          <a:noFill/>
          <a:ln w="9525">
            <a:noFill/>
            <a:miter lim="800000"/>
            <a:headEnd/>
            <a:tailEnd/>
          </a:ln>
        </p:spPr>
        <p:txBody>
          <a:bodyPr>
            <a:spAutoFit/>
          </a:bodyPr>
          <a:lstStyle/>
          <a:p>
            <a:pPr>
              <a:spcBef>
                <a:spcPct val="50000"/>
              </a:spcBef>
            </a:pPr>
            <a:r>
              <a:rPr lang="en-US" u="sng"/>
              <a:t>Algorithm 2 (reachable symbols):</a:t>
            </a:r>
          </a:p>
          <a:p>
            <a:pPr>
              <a:spcBef>
                <a:spcPct val="50000"/>
              </a:spcBef>
            </a:pPr>
            <a:r>
              <a:rPr lang="en-US"/>
              <a:t>S is in because it is the start symbol</a:t>
            </a:r>
            <a:endParaRPr lang="en-US">
              <a:cs typeface="Times New Roman" pitchFamily="18" charset="0"/>
              <a:sym typeface="Symbol" pitchFamily="18" charset="2"/>
            </a:endParaRPr>
          </a:p>
          <a:p>
            <a:pPr>
              <a:spcBef>
                <a:spcPct val="50000"/>
              </a:spcBef>
            </a:pPr>
            <a:r>
              <a:rPr lang="en-US">
                <a:cs typeface="Times New Roman" pitchFamily="18" charset="0"/>
                <a:sym typeface="Symbol" pitchFamily="18" charset="2"/>
              </a:rPr>
              <a:t>C and A are in because S is in and S CA</a:t>
            </a:r>
          </a:p>
        </p:txBody>
      </p:sp>
      <p:sp>
        <p:nvSpPr>
          <p:cNvPr id="24583" name="Rectangle 7"/>
          <p:cNvSpPr>
            <a:spLocks noChangeArrowheads="1"/>
          </p:cNvSpPr>
          <p:nvPr/>
        </p:nvSpPr>
        <p:spPr bwMode="auto">
          <a:xfrm>
            <a:off x="4286250" y="4191000"/>
            <a:ext cx="1714500" cy="2057400"/>
          </a:xfrm>
          <a:prstGeom prst="rect">
            <a:avLst/>
          </a:prstGeom>
          <a:noFill/>
          <a:ln w="9525">
            <a:solidFill>
              <a:schemeClr val="tx1"/>
            </a:solidFill>
            <a:miter lim="800000"/>
            <a:headEnd/>
            <a:tailEnd/>
          </a:ln>
        </p:spPr>
        <p:txBody>
          <a:bodyPr wrap="none" anchor="ctr"/>
          <a:lstStyle/>
          <a:p>
            <a:endParaRPr lang="en-US"/>
          </a:p>
        </p:txBody>
      </p:sp>
      <p:sp>
        <p:nvSpPr>
          <p:cNvPr id="24584" name="Text Box 8"/>
          <p:cNvSpPr txBox="1">
            <a:spLocks noChangeArrowheads="1"/>
          </p:cNvSpPr>
          <p:nvPr/>
        </p:nvSpPr>
        <p:spPr bwMode="auto">
          <a:xfrm>
            <a:off x="4343400" y="4191002"/>
            <a:ext cx="1943100" cy="1615827"/>
          </a:xfrm>
          <a:prstGeom prst="rect">
            <a:avLst/>
          </a:prstGeom>
          <a:noFill/>
          <a:ln w="9525">
            <a:noFill/>
            <a:miter lim="800000"/>
            <a:headEnd/>
            <a:tailEnd/>
          </a:ln>
        </p:spPr>
        <p:txBody>
          <a:bodyPr>
            <a:spAutoFit/>
          </a:bodyPr>
          <a:lstStyle/>
          <a:p>
            <a:pPr>
              <a:spcBef>
                <a:spcPct val="50000"/>
              </a:spcBef>
            </a:pPr>
            <a:r>
              <a:rPr lang="en-US" b="1" u="sng">
                <a:solidFill>
                  <a:schemeClr val="accent2"/>
                </a:solidFill>
              </a:rPr>
              <a:t>Final grammar:</a:t>
            </a:r>
          </a:p>
          <a:p>
            <a:pPr>
              <a:spcBef>
                <a:spcPct val="50000"/>
              </a:spcBef>
            </a:pPr>
            <a:r>
              <a:rPr lang="en-US" b="1">
                <a:solidFill>
                  <a:schemeClr val="accent2"/>
                </a:solidFill>
              </a:rPr>
              <a:t>S</a:t>
            </a:r>
            <a:r>
              <a:rPr lang="en-US" b="1">
                <a:solidFill>
                  <a:schemeClr val="accent2"/>
                </a:solidFill>
                <a:cs typeface="Times New Roman" pitchFamily="18" charset="0"/>
                <a:sym typeface="Symbol" pitchFamily="18" charset="2"/>
              </a:rPr>
              <a:t> CA</a:t>
            </a:r>
          </a:p>
          <a:p>
            <a:pPr>
              <a:spcBef>
                <a:spcPct val="50000"/>
              </a:spcBef>
            </a:pPr>
            <a:r>
              <a:rPr lang="en-US" b="1">
                <a:solidFill>
                  <a:schemeClr val="accent2"/>
                </a:solidFill>
                <a:cs typeface="Times New Roman" pitchFamily="18" charset="0"/>
                <a:sym typeface="Symbol" pitchFamily="18" charset="2"/>
              </a:rPr>
              <a:t>A a</a:t>
            </a:r>
          </a:p>
          <a:p>
            <a:pPr>
              <a:spcBef>
                <a:spcPct val="50000"/>
              </a:spcBef>
            </a:pPr>
            <a:r>
              <a:rPr lang="en-US" b="1">
                <a:solidFill>
                  <a:schemeClr val="accent2"/>
                </a:solidFill>
                <a:cs typeface="Times New Roman" pitchFamily="18" charset="0"/>
                <a:sym typeface="Symbol" pitchFamily="18" charset="2"/>
              </a:rPr>
              <a:t>C  b</a:t>
            </a:r>
          </a:p>
        </p:txBody>
      </p:sp>
    </p:spTree>
    <p:extLst>
      <p:ext uri="{BB962C8B-B14F-4D97-AF65-F5344CB8AC3E}">
        <p14:creationId xmlns:p14="http://schemas.microsoft.com/office/powerpoint/2010/main" val="2308489898"/>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Slide Number Placeholder 5"/>
          <p:cNvSpPr>
            <a:spLocks noGrp="1"/>
          </p:cNvSpPr>
          <p:nvPr>
            <p:ph type="sldNum" sz="quarter" idx="12"/>
          </p:nvPr>
        </p:nvSpPr>
        <p:spPr>
          <a:noFill/>
        </p:spPr>
        <p:txBody>
          <a:bodyPr/>
          <a:lstStyle/>
          <a:p>
            <a:fld id="{1BADF4FE-7EF2-4272-9F4D-8F72B00F2BF1}" type="slidenum">
              <a:rPr lang="en-US"/>
              <a:pPr/>
              <a:t>21</a:t>
            </a:fld>
            <a:endParaRPr lang="en-US"/>
          </a:p>
        </p:txBody>
      </p:sp>
      <p:sp>
        <p:nvSpPr>
          <p:cNvPr id="13315" name="Rectangle 2"/>
          <p:cNvSpPr>
            <a:spLocks noGrp="1" noChangeArrowheads="1"/>
          </p:cNvSpPr>
          <p:nvPr>
            <p:ph type="title"/>
          </p:nvPr>
        </p:nvSpPr>
        <p:spPr/>
        <p:txBody>
          <a:bodyPr>
            <a:normAutofit/>
          </a:bodyPr>
          <a:lstStyle/>
          <a:p>
            <a:pPr eaLnBrk="1" hangingPunct="1"/>
            <a:r>
              <a:rPr lang="en-US" smtClean="0"/>
              <a:t>Chomsky Hierarchy: Language Classification</a:t>
            </a:r>
          </a:p>
        </p:txBody>
      </p:sp>
      <p:sp>
        <p:nvSpPr>
          <p:cNvPr id="13316" name="Rectangle 3"/>
          <p:cNvSpPr>
            <a:spLocks noGrp="1" noChangeArrowheads="1"/>
          </p:cNvSpPr>
          <p:nvPr>
            <p:ph type="body" idx="1"/>
          </p:nvPr>
        </p:nvSpPr>
        <p:spPr/>
        <p:txBody>
          <a:bodyPr>
            <a:normAutofit/>
          </a:bodyPr>
          <a:lstStyle/>
          <a:p>
            <a:pPr eaLnBrk="1" hangingPunct="1">
              <a:lnSpc>
                <a:spcPct val="90000"/>
              </a:lnSpc>
            </a:pPr>
            <a:r>
              <a:rPr lang="en-US" dirty="0"/>
              <a:t>A grammar </a:t>
            </a:r>
            <a:r>
              <a:rPr lang="en-US" i="1" dirty="0"/>
              <a:t>G</a:t>
            </a:r>
            <a:r>
              <a:rPr lang="en-US" dirty="0"/>
              <a:t> is said to be</a:t>
            </a:r>
          </a:p>
          <a:p>
            <a:pPr lvl="1" eaLnBrk="1" hangingPunct="1">
              <a:lnSpc>
                <a:spcPct val="90000"/>
              </a:lnSpc>
            </a:pPr>
            <a:r>
              <a:rPr lang="en-US" i="1" dirty="0"/>
              <a:t>Regular</a:t>
            </a:r>
            <a:r>
              <a:rPr lang="en-US" dirty="0"/>
              <a:t> if it is </a:t>
            </a:r>
            <a:r>
              <a:rPr lang="en-US" i="1" dirty="0"/>
              <a:t>right linear</a:t>
            </a:r>
            <a:r>
              <a:rPr lang="en-US" dirty="0"/>
              <a:t> where each production is of the form</a:t>
            </a:r>
            <a:br>
              <a:rPr lang="en-US" dirty="0"/>
            </a:br>
            <a:r>
              <a:rPr lang="en-US" dirty="0"/>
              <a:t>	</a:t>
            </a:r>
            <a:r>
              <a:rPr lang="en-US" i="1" dirty="0">
                <a:sym typeface="Symbol" charset="2"/>
              </a:rPr>
              <a:t>A</a:t>
            </a:r>
            <a:r>
              <a:rPr lang="en-US" dirty="0">
                <a:sym typeface="Symbol" charset="2"/>
              </a:rPr>
              <a:t>  </a:t>
            </a:r>
            <a:r>
              <a:rPr lang="en-US" i="1" dirty="0">
                <a:sym typeface="Symbol" charset="2"/>
              </a:rPr>
              <a:t>w B	</a:t>
            </a:r>
            <a:r>
              <a:rPr lang="en-US" dirty="0">
                <a:sym typeface="Symbol" charset="2"/>
              </a:rPr>
              <a:t>or</a:t>
            </a:r>
            <a:r>
              <a:rPr lang="en-US" i="1" dirty="0">
                <a:sym typeface="Symbol" charset="2"/>
              </a:rPr>
              <a:t>	 A</a:t>
            </a:r>
            <a:r>
              <a:rPr lang="en-US" dirty="0">
                <a:sym typeface="Symbol" charset="2"/>
              </a:rPr>
              <a:t>  </a:t>
            </a:r>
            <a:r>
              <a:rPr lang="en-US" i="1" dirty="0">
                <a:sym typeface="Symbol" charset="2"/>
              </a:rPr>
              <a:t>w</a:t>
            </a:r>
            <a:br>
              <a:rPr lang="en-US" i="1" dirty="0">
                <a:sym typeface="Symbol" charset="2"/>
              </a:rPr>
            </a:br>
            <a:r>
              <a:rPr lang="en-US" dirty="0">
                <a:sym typeface="Symbol" charset="2"/>
              </a:rPr>
              <a:t>or </a:t>
            </a:r>
            <a:r>
              <a:rPr lang="en-US" i="1" dirty="0">
                <a:sym typeface="Symbol" charset="2"/>
              </a:rPr>
              <a:t>left linear</a:t>
            </a:r>
            <a:r>
              <a:rPr lang="en-US" dirty="0">
                <a:sym typeface="Symbol" charset="2"/>
              </a:rPr>
              <a:t> where each production is of the form</a:t>
            </a:r>
            <a:br>
              <a:rPr lang="en-US" dirty="0">
                <a:sym typeface="Symbol" charset="2"/>
              </a:rPr>
            </a:br>
            <a:r>
              <a:rPr lang="en-US" dirty="0">
                <a:sym typeface="Symbol" charset="2"/>
              </a:rPr>
              <a:t>	</a:t>
            </a:r>
            <a:r>
              <a:rPr lang="en-US" i="1" dirty="0">
                <a:sym typeface="Symbol" charset="2"/>
              </a:rPr>
              <a:t>A</a:t>
            </a:r>
            <a:r>
              <a:rPr lang="en-US" dirty="0">
                <a:sym typeface="Symbol" charset="2"/>
              </a:rPr>
              <a:t>  </a:t>
            </a:r>
            <a:r>
              <a:rPr lang="en-US" i="1" dirty="0">
                <a:sym typeface="Symbol" charset="2"/>
              </a:rPr>
              <a:t>B w	</a:t>
            </a:r>
            <a:r>
              <a:rPr lang="en-US" dirty="0">
                <a:sym typeface="Symbol" charset="2"/>
              </a:rPr>
              <a:t>or</a:t>
            </a:r>
            <a:r>
              <a:rPr lang="en-US" i="1" dirty="0">
                <a:sym typeface="Symbol" charset="2"/>
              </a:rPr>
              <a:t>	 A</a:t>
            </a:r>
            <a:r>
              <a:rPr lang="en-US" dirty="0">
                <a:sym typeface="Symbol" charset="2"/>
              </a:rPr>
              <a:t>  </a:t>
            </a:r>
            <a:r>
              <a:rPr lang="en-US" i="1" dirty="0">
                <a:sym typeface="Symbol" charset="2"/>
              </a:rPr>
              <a:t>w</a:t>
            </a:r>
          </a:p>
          <a:p>
            <a:pPr lvl="1" eaLnBrk="1" hangingPunct="1">
              <a:lnSpc>
                <a:spcPct val="90000"/>
              </a:lnSpc>
            </a:pPr>
            <a:r>
              <a:rPr lang="en-US" i="1" dirty="0">
                <a:sym typeface="Symbol" charset="2"/>
              </a:rPr>
              <a:t>Context free</a:t>
            </a:r>
            <a:r>
              <a:rPr lang="en-US" dirty="0">
                <a:sym typeface="Symbol" charset="2"/>
              </a:rPr>
              <a:t> if each production is of the form</a:t>
            </a:r>
            <a:br>
              <a:rPr lang="en-US" dirty="0">
                <a:sym typeface="Symbol" charset="2"/>
              </a:rPr>
            </a:br>
            <a:r>
              <a:rPr lang="en-US" dirty="0">
                <a:sym typeface="Symbol" charset="2"/>
              </a:rPr>
              <a:t>	</a:t>
            </a:r>
            <a:r>
              <a:rPr lang="en-US" i="1" dirty="0">
                <a:sym typeface="Symbol" charset="2"/>
              </a:rPr>
              <a:t>A</a:t>
            </a:r>
            <a:r>
              <a:rPr lang="en-US" dirty="0">
                <a:sym typeface="Symbol" charset="2"/>
              </a:rPr>
              <a:t>  </a:t>
            </a:r>
            <a:br>
              <a:rPr lang="en-US" dirty="0">
                <a:sym typeface="Symbol" charset="2"/>
              </a:rPr>
            </a:br>
            <a:r>
              <a:rPr lang="en-US" dirty="0">
                <a:sym typeface="Symbol" charset="2"/>
              </a:rPr>
              <a:t>where </a:t>
            </a:r>
            <a:r>
              <a:rPr lang="en-US" i="1" dirty="0"/>
              <a:t>A </a:t>
            </a:r>
            <a:r>
              <a:rPr lang="en-US" dirty="0">
                <a:sym typeface="Symbol" charset="2"/>
              </a:rPr>
              <a:t> </a:t>
            </a:r>
            <a:r>
              <a:rPr lang="en-US" i="1" dirty="0">
                <a:sym typeface="Symbol" charset="2"/>
              </a:rPr>
              <a:t>N</a:t>
            </a:r>
            <a:r>
              <a:rPr lang="en-US" dirty="0">
                <a:sym typeface="Symbol" charset="2"/>
              </a:rPr>
              <a:t> and   (</a:t>
            </a:r>
            <a:r>
              <a:rPr lang="en-US" i="1" dirty="0">
                <a:sym typeface="Symbol" charset="2"/>
              </a:rPr>
              <a:t>N</a:t>
            </a:r>
            <a:r>
              <a:rPr lang="en-US" dirty="0">
                <a:sym typeface="Symbol" charset="2"/>
              </a:rPr>
              <a:t></a:t>
            </a:r>
            <a:r>
              <a:rPr lang="en-US" i="1" dirty="0">
                <a:sym typeface="Symbol" charset="2"/>
              </a:rPr>
              <a:t>T</a:t>
            </a:r>
            <a:r>
              <a:rPr lang="en-US" dirty="0">
                <a:sym typeface="Symbol" charset="2"/>
              </a:rPr>
              <a:t>)*</a:t>
            </a:r>
          </a:p>
          <a:p>
            <a:pPr lvl="1" eaLnBrk="1" hangingPunct="1">
              <a:lnSpc>
                <a:spcPct val="90000"/>
              </a:lnSpc>
            </a:pPr>
            <a:r>
              <a:rPr lang="en-US" i="1" dirty="0">
                <a:sym typeface="Symbol" charset="2"/>
              </a:rPr>
              <a:t>Context sensitive </a:t>
            </a:r>
            <a:r>
              <a:rPr lang="en-US" dirty="0">
                <a:sym typeface="Symbol" charset="2"/>
              </a:rPr>
              <a:t>if each production is of the form</a:t>
            </a:r>
            <a:br>
              <a:rPr lang="en-US" dirty="0">
                <a:sym typeface="Symbol" charset="2"/>
              </a:rPr>
            </a:br>
            <a:r>
              <a:rPr lang="en-US" dirty="0">
                <a:sym typeface="Symbol" charset="2"/>
              </a:rPr>
              <a:t>	</a:t>
            </a:r>
            <a:r>
              <a:rPr lang="en-US" i="1" dirty="0"/>
              <a:t> A </a:t>
            </a:r>
            <a:r>
              <a:rPr lang="en-US" dirty="0">
                <a:sym typeface="Symbol" charset="2"/>
              </a:rPr>
              <a:t>    </a:t>
            </a:r>
            <a:br>
              <a:rPr lang="en-US" dirty="0">
                <a:sym typeface="Symbol" charset="2"/>
              </a:rPr>
            </a:br>
            <a:r>
              <a:rPr lang="en-US" dirty="0">
                <a:sym typeface="Symbol" charset="2"/>
              </a:rPr>
              <a:t>where </a:t>
            </a:r>
            <a:r>
              <a:rPr lang="en-US" i="1" dirty="0"/>
              <a:t>A </a:t>
            </a:r>
            <a:r>
              <a:rPr lang="en-US" dirty="0">
                <a:sym typeface="Symbol" charset="2"/>
              </a:rPr>
              <a:t> </a:t>
            </a:r>
            <a:r>
              <a:rPr lang="en-US" i="1" dirty="0">
                <a:sym typeface="Symbol" charset="2"/>
              </a:rPr>
              <a:t>N, </a:t>
            </a:r>
            <a:r>
              <a:rPr lang="en-US" dirty="0">
                <a:sym typeface="Symbol" charset="2"/>
              </a:rPr>
              <a:t>,,  (</a:t>
            </a:r>
            <a:r>
              <a:rPr lang="en-US" i="1" dirty="0">
                <a:sym typeface="Symbol" charset="2"/>
              </a:rPr>
              <a:t>N</a:t>
            </a:r>
            <a:r>
              <a:rPr lang="en-US" dirty="0">
                <a:sym typeface="Symbol" charset="2"/>
              </a:rPr>
              <a:t></a:t>
            </a:r>
            <a:r>
              <a:rPr lang="en-US" i="1" dirty="0">
                <a:sym typeface="Symbol" charset="2"/>
              </a:rPr>
              <a:t>T</a:t>
            </a:r>
            <a:r>
              <a:rPr lang="en-US" dirty="0">
                <a:sym typeface="Symbol" charset="2"/>
              </a:rPr>
              <a:t>)*, || &gt; 0</a:t>
            </a:r>
          </a:p>
          <a:p>
            <a:pPr lvl="1" eaLnBrk="1" hangingPunct="1">
              <a:lnSpc>
                <a:spcPct val="90000"/>
              </a:lnSpc>
            </a:pPr>
            <a:r>
              <a:rPr lang="en-US" i="1" dirty="0">
                <a:sym typeface="Symbol" charset="2"/>
              </a:rPr>
              <a:t>Unrestricted</a:t>
            </a:r>
            <a:endParaRPr lang="en-US" dirty="0">
              <a:sym typeface="Symbol" charset="2"/>
            </a:endParaRPr>
          </a:p>
        </p:txBody>
      </p:sp>
    </p:spTree>
    <p:extLst>
      <p:ext uri="{BB962C8B-B14F-4D97-AF65-F5344CB8AC3E}">
        <p14:creationId xmlns:p14="http://schemas.microsoft.com/office/powerpoint/2010/main" val="2666588953"/>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4"/>
          <p:cNvSpPr>
            <a:spLocks noGrp="1"/>
          </p:cNvSpPr>
          <p:nvPr>
            <p:ph type="sldNum" sz="quarter" idx="12"/>
          </p:nvPr>
        </p:nvSpPr>
        <p:spPr>
          <a:noFill/>
        </p:spPr>
        <p:txBody>
          <a:bodyPr/>
          <a:lstStyle/>
          <a:p>
            <a:fld id="{4510EBCF-2D84-435B-84B3-80CFF5A94655}" type="slidenum">
              <a:rPr lang="en-US"/>
              <a:pPr/>
              <a:t>22</a:t>
            </a:fld>
            <a:endParaRPr lang="en-US"/>
          </a:p>
        </p:txBody>
      </p:sp>
      <p:sp>
        <p:nvSpPr>
          <p:cNvPr id="14339" name="Rectangle 2"/>
          <p:cNvSpPr>
            <a:spLocks noGrp="1" noChangeArrowheads="1"/>
          </p:cNvSpPr>
          <p:nvPr>
            <p:ph type="title"/>
          </p:nvPr>
        </p:nvSpPr>
        <p:spPr/>
        <p:txBody>
          <a:bodyPr/>
          <a:lstStyle/>
          <a:p>
            <a:pPr eaLnBrk="1" hangingPunct="1"/>
            <a:r>
              <a:rPr lang="en-US" smtClean="0"/>
              <a:t>Chomsky Hierarchy</a:t>
            </a:r>
          </a:p>
        </p:txBody>
      </p:sp>
      <p:sp>
        <p:nvSpPr>
          <p:cNvPr id="14340" name="Text Box 3"/>
          <p:cNvSpPr txBox="1">
            <a:spLocks noChangeArrowheads="1"/>
          </p:cNvSpPr>
          <p:nvPr/>
        </p:nvSpPr>
        <p:spPr bwMode="auto">
          <a:xfrm>
            <a:off x="1302545" y="2286000"/>
            <a:ext cx="6591035" cy="369332"/>
          </a:xfrm>
          <a:prstGeom prst="rect">
            <a:avLst/>
          </a:prstGeom>
          <a:noFill/>
          <a:ln w="9525">
            <a:noFill/>
            <a:miter lim="800000"/>
            <a:headEnd/>
            <a:tailEnd/>
          </a:ln>
        </p:spPr>
        <p:txBody>
          <a:bodyPr wrap="none">
            <a:spAutoFit/>
          </a:bodyPr>
          <a:lstStyle/>
          <a:p>
            <a:r>
              <a:rPr lang="en-US">
                <a:latin typeface="Apple Chancery" charset="0"/>
              </a:rPr>
              <a:t> L</a:t>
            </a:r>
            <a:r>
              <a:rPr lang="en-US"/>
              <a:t>(</a:t>
            </a:r>
            <a:r>
              <a:rPr lang="en-US" i="1"/>
              <a:t>regular</a:t>
            </a:r>
            <a:r>
              <a:rPr lang="en-US"/>
              <a:t>) </a:t>
            </a:r>
            <a:r>
              <a:rPr lang="en-US">
                <a:sym typeface="Symbol" charset="2"/>
              </a:rPr>
              <a:t> </a:t>
            </a:r>
            <a:r>
              <a:rPr lang="en-US">
                <a:latin typeface="Apple Chancery" charset="0"/>
              </a:rPr>
              <a:t>L</a:t>
            </a:r>
            <a:r>
              <a:rPr lang="en-US"/>
              <a:t>(</a:t>
            </a:r>
            <a:r>
              <a:rPr lang="en-US" i="1"/>
              <a:t>context free</a:t>
            </a:r>
            <a:r>
              <a:rPr lang="en-US"/>
              <a:t>) </a:t>
            </a:r>
            <a:r>
              <a:rPr lang="en-US">
                <a:sym typeface="Symbol" charset="2"/>
              </a:rPr>
              <a:t> </a:t>
            </a:r>
            <a:r>
              <a:rPr lang="en-US">
                <a:latin typeface="Apple Chancery" charset="0"/>
              </a:rPr>
              <a:t>L</a:t>
            </a:r>
            <a:r>
              <a:rPr lang="en-US"/>
              <a:t>(</a:t>
            </a:r>
            <a:r>
              <a:rPr lang="en-US" i="1"/>
              <a:t>context sensitive</a:t>
            </a:r>
            <a:r>
              <a:rPr lang="en-US"/>
              <a:t>) </a:t>
            </a:r>
            <a:r>
              <a:rPr lang="en-US">
                <a:sym typeface="Symbol" charset="2"/>
              </a:rPr>
              <a:t> </a:t>
            </a:r>
            <a:r>
              <a:rPr lang="en-US">
                <a:latin typeface="Apple Chancery" charset="0"/>
              </a:rPr>
              <a:t>L</a:t>
            </a:r>
            <a:r>
              <a:rPr lang="en-US"/>
              <a:t>(</a:t>
            </a:r>
            <a:r>
              <a:rPr lang="en-US" i="1"/>
              <a:t>unrestricted</a:t>
            </a:r>
            <a:r>
              <a:rPr lang="en-US"/>
              <a:t>)</a:t>
            </a:r>
          </a:p>
        </p:txBody>
      </p:sp>
      <p:sp>
        <p:nvSpPr>
          <p:cNvPr id="14341" name="Text Box 4"/>
          <p:cNvSpPr txBox="1">
            <a:spLocks noChangeArrowheads="1"/>
          </p:cNvSpPr>
          <p:nvPr/>
        </p:nvSpPr>
        <p:spPr bwMode="auto">
          <a:xfrm>
            <a:off x="2737116" y="3200400"/>
            <a:ext cx="3544753" cy="923330"/>
          </a:xfrm>
          <a:prstGeom prst="rect">
            <a:avLst/>
          </a:prstGeom>
          <a:noFill/>
          <a:ln w="9525">
            <a:noFill/>
            <a:miter lim="800000"/>
            <a:headEnd/>
            <a:tailEnd/>
          </a:ln>
        </p:spPr>
        <p:txBody>
          <a:bodyPr wrap="none">
            <a:spAutoFit/>
          </a:bodyPr>
          <a:lstStyle/>
          <a:p>
            <a:pPr algn="ctr"/>
            <a:r>
              <a:rPr lang="en-US"/>
              <a:t>Where </a:t>
            </a:r>
            <a:r>
              <a:rPr lang="en-US">
                <a:latin typeface="Apple Chancery" charset="0"/>
              </a:rPr>
              <a:t>L</a:t>
            </a:r>
            <a:r>
              <a:rPr lang="en-US"/>
              <a:t>(</a:t>
            </a:r>
            <a:r>
              <a:rPr lang="en-US" i="1"/>
              <a:t>T</a:t>
            </a:r>
            <a:r>
              <a:rPr lang="en-US"/>
              <a:t>) = { </a:t>
            </a:r>
            <a:r>
              <a:rPr lang="en-US" i="1"/>
              <a:t>L</a:t>
            </a:r>
            <a:r>
              <a:rPr lang="en-US"/>
              <a:t>(</a:t>
            </a:r>
            <a:r>
              <a:rPr lang="en-US" i="1"/>
              <a:t>G</a:t>
            </a:r>
            <a:r>
              <a:rPr lang="en-US"/>
              <a:t>) | </a:t>
            </a:r>
            <a:r>
              <a:rPr lang="en-US" i="1"/>
              <a:t>G</a:t>
            </a:r>
            <a:r>
              <a:rPr lang="en-US"/>
              <a:t> is of type </a:t>
            </a:r>
            <a:r>
              <a:rPr lang="en-US" i="1"/>
              <a:t>T</a:t>
            </a:r>
            <a:r>
              <a:rPr lang="en-US"/>
              <a:t> }</a:t>
            </a:r>
            <a:br>
              <a:rPr lang="en-US"/>
            </a:br>
            <a:r>
              <a:rPr lang="en-US"/>
              <a:t>That is: the set of all languages</a:t>
            </a:r>
            <a:br>
              <a:rPr lang="en-US"/>
            </a:br>
            <a:r>
              <a:rPr lang="en-US"/>
              <a:t>generated by grammars </a:t>
            </a:r>
            <a:r>
              <a:rPr lang="en-US" i="1"/>
              <a:t>G</a:t>
            </a:r>
            <a:r>
              <a:rPr lang="en-US"/>
              <a:t> of type </a:t>
            </a:r>
            <a:r>
              <a:rPr lang="en-US" i="1"/>
              <a:t>T</a:t>
            </a:r>
          </a:p>
        </p:txBody>
      </p:sp>
      <p:sp>
        <p:nvSpPr>
          <p:cNvPr id="14342" name="Text Box 5"/>
          <p:cNvSpPr txBox="1">
            <a:spLocks noChangeArrowheads="1"/>
          </p:cNvSpPr>
          <p:nvPr/>
        </p:nvSpPr>
        <p:spPr bwMode="auto">
          <a:xfrm>
            <a:off x="1339453" y="5638800"/>
            <a:ext cx="3286990" cy="369332"/>
          </a:xfrm>
          <a:prstGeom prst="rect">
            <a:avLst/>
          </a:prstGeom>
          <a:noFill/>
          <a:ln w="9525">
            <a:noFill/>
            <a:miter lim="800000"/>
            <a:headEnd/>
            <a:tailEnd/>
          </a:ln>
        </p:spPr>
        <p:txBody>
          <a:bodyPr wrap="none">
            <a:spAutoFit/>
          </a:bodyPr>
          <a:lstStyle/>
          <a:p>
            <a:r>
              <a:rPr lang="en-US" i="1"/>
              <a:t>L</a:t>
            </a:r>
            <a:r>
              <a:rPr lang="en-US" baseline="-25000"/>
              <a:t>1</a:t>
            </a:r>
            <a:r>
              <a:rPr lang="en-US" i="1"/>
              <a:t> </a:t>
            </a:r>
            <a:r>
              <a:rPr lang="en-US"/>
              <a:t>= { </a:t>
            </a:r>
            <a:r>
              <a:rPr lang="en-US" b="1"/>
              <a:t>a</a:t>
            </a:r>
            <a:r>
              <a:rPr lang="en-US" i="1" baseline="30000"/>
              <a:t>n</a:t>
            </a:r>
            <a:r>
              <a:rPr lang="en-US" b="1"/>
              <a:t>b</a:t>
            </a:r>
            <a:r>
              <a:rPr lang="en-US" i="1" baseline="30000"/>
              <a:t>n</a:t>
            </a:r>
            <a:r>
              <a:rPr lang="en-US"/>
              <a:t> | </a:t>
            </a:r>
            <a:r>
              <a:rPr lang="en-US" i="1"/>
              <a:t>n</a:t>
            </a:r>
            <a:r>
              <a:rPr lang="en-US"/>
              <a:t> </a:t>
            </a:r>
            <a:r>
              <a:rPr lang="en-US">
                <a:sym typeface="Symbol" charset="2"/>
              </a:rPr>
              <a:t> </a:t>
            </a:r>
            <a:r>
              <a:rPr lang="en-US"/>
              <a:t>1 } is context free</a:t>
            </a:r>
          </a:p>
        </p:txBody>
      </p:sp>
      <p:sp>
        <p:nvSpPr>
          <p:cNvPr id="14343" name="Text Box 6"/>
          <p:cNvSpPr txBox="1">
            <a:spLocks noChangeArrowheads="1"/>
          </p:cNvSpPr>
          <p:nvPr/>
        </p:nvSpPr>
        <p:spPr bwMode="auto">
          <a:xfrm>
            <a:off x="1346599" y="6096000"/>
            <a:ext cx="3900107" cy="369332"/>
          </a:xfrm>
          <a:prstGeom prst="rect">
            <a:avLst/>
          </a:prstGeom>
          <a:noFill/>
          <a:ln w="9525">
            <a:noFill/>
            <a:miter lim="800000"/>
            <a:headEnd/>
            <a:tailEnd/>
          </a:ln>
        </p:spPr>
        <p:txBody>
          <a:bodyPr wrap="none">
            <a:spAutoFit/>
          </a:bodyPr>
          <a:lstStyle/>
          <a:p>
            <a:r>
              <a:rPr lang="en-US" i="1"/>
              <a:t>L</a:t>
            </a:r>
            <a:r>
              <a:rPr lang="en-US" baseline="-25000"/>
              <a:t>2</a:t>
            </a:r>
            <a:r>
              <a:rPr lang="en-US" i="1"/>
              <a:t> </a:t>
            </a:r>
            <a:r>
              <a:rPr lang="en-US"/>
              <a:t>= { </a:t>
            </a:r>
            <a:r>
              <a:rPr lang="en-US" b="1"/>
              <a:t>a</a:t>
            </a:r>
            <a:r>
              <a:rPr lang="en-US" i="1" baseline="30000"/>
              <a:t>n</a:t>
            </a:r>
            <a:r>
              <a:rPr lang="en-US" b="1"/>
              <a:t>b</a:t>
            </a:r>
            <a:r>
              <a:rPr lang="en-US" i="1" baseline="30000"/>
              <a:t>n</a:t>
            </a:r>
            <a:r>
              <a:rPr lang="en-US" b="1"/>
              <a:t>c</a:t>
            </a:r>
            <a:r>
              <a:rPr lang="en-US" i="1" baseline="30000"/>
              <a:t>n</a:t>
            </a:r>
            <a:r>
              <a:rPr lang="en-US"/>
              <a:t> | </a:t>
            </a:r>
            <a:r>
              <a:rPr lang="en-US" i="1"/>
              <a:t>n</a:t>
            </a:r>
            <a:r>
              <a:rPr lang="en-US"/>
              <a:t> </a:t>
            </a:r>
            <a:r>
              <a:rPr lang="en-US">
                <a:sym typeface="Symbol" charset="2"/>
              </a:rPr>
              <a:t> </a:t>
            </a:r>
            <a:r>
              <a:rPr lang="en-US"/>
              <a:t>1 } is context sensitive</a:t>
            </a:r>
          </a:p>
        </p:txBody>
      </p:sp>
      <p:sp>
        <p:nvSpPr>
          <p:cNvPr id="14344" name="Text Box 7"/>
          <p:cNvSpPr txBox="1">
            <a:spLocks noChangeArrowheads="1"/>
          </p:cNvSpPr>
          <p:nvPr/>
        </p:nvSpPr>
        <p:spPr bwMode="auto">
          <a:xfrm>
            <a:off x="1314451" y="5168900"/>
            <a:ext cx="6433171" cy="369332"/>
          </a:xfrm>
          <a:prstGeom prst="rect">
            <a:avLst/>
          </a:prstGeom>
          <a:noFill/>
          <a:ln w="9525">
            <a:noFill/>
            <a:miter lim="800000"/>
            <a:headEnd/>
            <a:tailEnd/>
          </a:ln>
        </p:spPr>
        <p:txBody>
          <a:bodyPr wrap="none">
            <a:spAutoFit/>
          </a:bodyPr>
          <a:lstStyle/>
          <a:p>
            <a:r>
              <a:rPr lang="en-US"/>
              <a:t>Every</a:t>
            </a:r>
            <a:r>
              <a:rPr lang="en-US" i="1"/>
              <a:t> finite language</a:t>
            </a:r>
            <a:r>
              <a:rPr lang="en-US"/>
              <a:t> is regular! (construct a FSA for strings in </a:t>
            </a:r>
            <a:r>
              <a:rPr lang="en-US" i="1"/>
              <a:t>L</a:t>
            </a:r>
            <a:r>
              <a:rPr lang="en-US"/>
              <a:t>(</a:t>
            </a:r>
            <a:r>
              <a:rPr lang="en-US" i="1"/>
              <a:t>G</a:t>
            </a:r>
            <a:r>
              <a:rPr lang="en-US"/>
              <a:t>))</a:t>
            </a:r>
          </a:p>
        </p:txBody>
      </p:sp>
      <p:sp>
        <p:nvSpPr>
          <p:cNvPr id="14345" name="Text Box 8"/>
          <p:cNvSpPr txBox="1">
            <a:spLocks noChangeArrowheads="1"/>
          </p:cNvSpPr>
          <p:nvPr/>
        </p:nvSpPr>
        <p:spPr bwMode="auto">
          <a:xfrm>
            <a:off x="1298972" y="4724400"/>
            <a:ext cx="1129476" cy="369332"/>
          </a:xfrm>
          <a:prstGeom prst="rect">
            <a:avLst/>
          </a:prstGeom>
          <a:noFill/>
          <a:ln w="9525">
            <a:noFill/>
            <a:miter lim="800000"/>
            <a:headEnd/>
            <a:tailEnd/>
          </a:ln>
        </p:spPr>
        <p:txBody>
          <a:bodyPr wrap="none">
            <a:spAutoFit/>
          </a:bodyPr>
          <a:lstStyle/>
          <a:p>
            <a:r>
              <a:rPr lang="en-US"/>
              <a:t>Examples:</a:t>
            </a:r>
          </a:p>
        </p:txBody>
      </p:sp>
    </p:spTree>
    <p:extLst>
      <p:ext uri="{BB962C8B-B14F-4D97-AF65-F5344CB8AC3E}">
        <p14:creationId xmlns:p14="http://schemas.microsoft.com/office/powerpoint/2010/main" val="234999738"/>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1082</Words>
  <Application>Microsoft Office PowerPoint</Application>
  <PresentationFormat>On-screen Show (4:3)</PresentationFormat>
  <Paragraphs>170</Paragraphs>
  <Slides>22</Slides>
  <Notes>22</Notes>
  <HiddenSlides>0</HiddenSlides>
  <MMClips>0</MMClips>
  <ScaleCrop>false</ScaleCrop>
  <HeadingPairs>
    <vt:vector size="4" baseType="variant">
      <vt:variant>
        <vt:lpstr>Theme</vt:lpstr>
      </vt:variant>
      <vt:variant>
        <vt:i4>1</vt:i4>
      </vt:variant>
      <vt:variant>
        <vt:lpstr>Slide Titles</vt:lpstr>
      </vt:variant>
      <vt:variant>
        <vt:i4>22</vt:i4>
      </vt:variant>
    </vt:vector>
  </HeadingPairs>
  <TitlesOfParts>
    <vt:vector size="23" baseType="lpstr">
      <vt:lpstr>Office Theme</vt:lpstr>
      <vt:lpstr>Lecture on Grammar Problems</vt:lpstr>
      <vt:lpstr>Problems with grammar</vt:lpstr>
      <vt:lpstr>Grammar Problem</vt:lpstr>
      <vt:lpstr>Ambiguity</vt:lpstr>
      <vt:lpstr>How to eliminate Ambiguity? Method 1</vt:lpstr>
      <vt:lpstr>How to eliminate Ambiguity? Method2:</vt:lpstr>
      <vt:lpstr>How to eliminate Ambiguity?</vt:lpstr>
      <vt:lpstr>How to eliminate Ambiguity?</vt:lpstr>
      <vt:lpstr>How to eliminate Ambiguity?  Method 3</vt:lpstr>
      <vt:lpstr>How to eliminate Ambiguity?</vt:lpstr>
      <vt:lpstr>How to eliminate Ambiguity?  Method 4</vt:lpstr>
      <vt:lpstr>Grammar problems</vt:lpstr>
      <vt:lpstr>Left Recursion</vt:lpstr>
      <vt:lpstr>How to eliminate Left recursion?</vt:lpstr>
      <vt:lpstr>Grammar problems</vt:lpstr>
      <vt:lpstr>Left factoring</vt:lpstr>
      <vt:lpstr>Grammar problems</vt:lpstr>
      <vt:lpstr>Useless symbols</vt:lpstr>
      <vt:lpstr>Useless symbols</vt:lpstr>
      <vt:lpstr>Useless symbols</vt:lpstr>
      <vt:lpstr>Chomsky Hierarchy: Language Classification</vt:lpstr>
      <vt:lpstr>Chomsky Hierarchy</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Lecture on Grammar Problems</dc:title>
  <dc:creator>larkana computers</dc:creator>
  <cp:lastModifiedBy>larkana computers</cp:lastModifiedBy>
  <cp:revision>1</cp:revision>
  <dcterms:created xsi:type="dcterms:W3CDTF">2023-06-20T16:51:56Z</dcterms:created>
  <dcterms:modified xsi:type="dcterms:W3CDTF">2023-06-20T16:52:05Z</dcterms:modified>
</cp:coreProperties>
</file>