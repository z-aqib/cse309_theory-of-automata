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4610100" cy="3460750"/>
  <p:notesSz cx="4610100" cy="34607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33" d="100"/>
          <a:sy n="133" d="100"/>
        </p:scale>
        <p:origin x="147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82066" y="842365"/>
            <a:ext cx="3044190" cy="236220"/>
          </a:xfrm>
          <a:custGeom>
            <a:avLst/>
            <a:gdLst/>
            <a:ahLst/>
            <a:cxnLst/>
            <a:rect l="l" t="t" r="r" b="b"/>
            <a:pathLst>
              <a:path w="3044190" h="236219">
                <a:moveTo>
                  <a:pt x="3043885" y="0"/>
                </a:moveTo>
                <a:lnTo>
                  <a:pt x="0" y="0"/>
                </a:lnTo>
                <a:lnTo>
                  <a:pt x="0" y="235915"/>
                </a:lnTo>
                <a:lnTo>
                  <a:pt x="3043885" y="235915"/>
                </a:lnTo>
                <a:lnTo>
                  <a:pt x="3043885" y="0"/>
                </a:lnTo>
                <a:close/>
              </a:path>
            </a:pathLst>
          </a:custGeom>
          <a:solidFill>
            <a:srgbClr val="EDED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391373" y="1090942"/>
            <a:ext cx="1825625" cy="236854"/>
          </a:xfrm>
          <a:custGeom>
            <a:avLst/>
            <a:gdLst/>
            <a:ahLst/>
            <a:cxnLst/>
            <a:rect l="l" t="t" r="r" b="b"/>
            <a:pathLst>
              <a:path w="1825625" h="236855">
                <a:moveTo>
                  <a:pt x="1825244" y="0"/>
                </a:moveTo>
                <a:lnTo>
                  <a:pt x="0" y="0"/>
                </a:lnTo>
                <a:lnTo>
                  <a:pt x="0" y="236855"/>
                </a:lnTo>
                <a:lnTo>
                  <a:pt x="1825244" y="236855"/>
                </a:lnTo>
                <a:lnTo>
                  <a:pt x="1825244" y="0"/>
                </a:lnTo>
                <a:close/>
              </a:path>
            </a:pathLst>
          </a:custGeom>
          <a:solidFill>
            <a:srgbClr val="E0E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3333B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3333B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3333B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39212" y="3371227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959595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137397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299713" y="3360914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236544" y="3367264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602394" y="33736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513493" y="3367265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589694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866643" y="3360914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790442" y="3367265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66643" y="3399015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0" y="127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143592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451033" y="3391395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23969" y="3364900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329112" y="3360914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1" name="bg object 3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4608004" cy="449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07313" y="779135"/>
            <a:ext cx="2995472" cy="5245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3333B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63891" y="1627033"/>
            <a:ext cx="2282317" cy="1089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319272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7" Type="http://schemas.openxmlformats.org/officeDocument/2006/relationships/image" Target="../media/image6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7" Type="http://schemas.openxmlformats.org/officeDocument/2006/relationships/image" Target="../media/image7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7" Type="http://schemas.openxmlformats.org/officeDocument/2006/relationships/image" Target="../media/image7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7" Type="http://schemas.openxmlformats.org/officeDocument/2006/relationships/image" Target="../media/image12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slide" Target="slide20.xml"/><Relationship Id="rId7" Type="http://schemas.openxmlformats.org/officeDocument/2006/relationships/image" Target="../media/image12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11.png"/><Relationship Id="rId10" Type="http://schemas.openxmlformats.org/officeDocument/2006/relationships/image" Target="../media/image14.png"/><Relationship Id="rId4" Type="http://schemas.openxmlformats.org/officeDocument/2006/relationships/image" Target="../media/image3.png"/><Relationship Id="rId9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7" Type="http://schemas.openxmlformats.org/officeDocument/2006/relationships/image" Target="../media/image15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0"/>
            <a:ext cx="7042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45" dirty="0">
                <a:solidFill>
                  <a:srgbClr val="191959"/>
                </a:solidFill>
                <a:latin typeface="Palatino Linotype"/>
                <a:cs typeface="Palatino Linotype"/>
                <a:hlinkClick r:id="rId2" action="ppaction://hlinksldjump"/>
              </a:rPr>
              <a:t>Turing</a:t>
            </a:r>
            <a:r>
              <a:rPr sz="600" spc="55" dirty="0">
                <a:solidFill>
                  <a:srgbClr val="191959"/>
                </a:solidFill>
                <a:latin typeface="Palatino Linotype"/>
                <a:cs typeface="Palatino Linotype"/>
                <a:hlinkClick r:id="rId2" action="ppaction://hlinksldjump"/>
              </a:rPr>
              <a:t> </a:t>
            </a:r>
            <a:r>
              <a:rPr sz="600" spc="45" dirty="0">
                <a:solidFill>
                  <a:srgbClr val="191959"/>
                </a:solidFill>
                <a:latin typeface="Palatino Linotype"/>
                <a:cs typeface="Palatino Linotype"/>
                <a:hlinkClick r:id="rId2" action="ppaction://hlinksldjump"/>
              </a:rPr>
              <a:t>Machines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41623" y="0"/>
            <a:ext cx="11715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45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Equivalence</a:t>
            </a:r>
            <a:r>
              <a:rPr sz="600" spc="75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 </a:t>
            </a:r>
            <a:r>
              <a:rPr sz="600" spc="50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and</a:t>
            </a:r>
            <a:r>
              <a:rPr sz="600" spc="75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 </a:t>
            </a:r>
            <a:r>
              <a:rPr sz="600" spc="50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Algorithms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39176" y="211465"/>
            <a:ext cx="13303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45" dirty="0">
                <a:solidFill>
                  <a:srgbClr val="3333B2"/>
                </a:solidFill>
                <a:latin typeface="Times New Roman"/>
                <a:cs typeface="Times New Roman"/>
              </a:rPr>
              <a:t>Turing </a:t>
            </a:r>
            <a:r>
              <a:rPr sz="1400" spc="30" dirty="0">
                <a:solidFill>
                  <a:srgbClr val="3333B2"/>
                </a:solidFill>
                <a:latin typeface="Times New Roman"/>
                <a:cs typeface="Times New Roman"/>
              </a:rPr>
              <a:t>Machines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1858" y="1227630"/>
            <a:ext cx="3465195" cy="100012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44780" indent="-132715">
              <a:lnSpc>
                <a:spcPct val="100000"/>
              </a:lnSpc>
              <a:spcBef>
                <a:spcPts val="434"/>
              </a:spcBef>
              <a:buClr>
                <a:srgbClr val="3333B2"/>
              </a:buClr>
              <a:buSzPct val="90909"/>
              <a:buFont typeface="Lucida Sans Unicode"/>
              <a:buChar char="•"/>
              <a:tabLst>
                <a:tab pos="145415" algn="l"/>
              </a:tabLst>
            </a:pPr>
            <a:r>
              <a:rPr sz="1100" spc="-25" dirty="0">
                <a:latin typeface="Georgia"/>
                <a:cs typeface="Georgia"/>
              </a:rPr>
              <a:t>Turing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machines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are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55" dirty="0">
                <a:latin typeface="Georgia"/>
                <a:cs typeface="Georgia"/>
              </a:rPr>
              <a:t>much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more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powerful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models</a:t>
            </a:r>
            <a:endParaRPr sz="1100">
              <a:latin typeface="Georgia"/>
              <a:cs typeface="Georgia"/>
            </a:endParaRPr>
          </a:p>
          <a:p>
            <a:pPr marL="144780" marR="79375" indent="-13271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SzPct val="90909"/>
              <a:buFont typeface="Lucida Sans Unicode"/>
              <a:buChar char="•"/>
              <a:tabLst>
                <a:tab pos="145415" algn="l"/>
              </a:tabLst>
            </a:pPr>
            <a:r>
              <a:rPr sz="1100" spc="-30" dirty="0">
                <a:latin typeface="Georgia"/>
                <a:cs typeface="Georgia"/>
              </a:rPr>
              <a:t>Similar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to </a:t>
            </a:r>
            <a:r>
              <a:rPr sz="1100" spc="-30" dirty="0">
                <a:latin typeface="Georgia"/>
                <a:cs typeface="Georgia"/>
              </a:rPr>
              <a:t>finite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automata </a:t>
            </a:r>
            <a:r>
              <a:rPr sz="1100" spc="-5" dirty="0">
                <a:latin typeface="Georgia"/>
                <a:cs typeface="Georgia"/>
              </a:rPr>
              <a:t>but </a:t>
            </a:r>
            <a:r>
              <a:rPr sz="1100" spc="-10" dirty="0">
                <a:latin typeface="Georgia"/>
                <a:cs typeface="Georgia"/>
              </a:rPr>
              <a:t>with </a:t>
            </a:r>
            <a:r>
              <a:rPr sz="1100" spc="-30" dirty="0">
                <a:latin typeface="Georgia"/>
                <a:cs typeface="Georgia"/>
              </a:rPr>
              <a:t>an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unlimited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and </a:t>
            </a:r>
            <a:r>
              <a:rPr sz="1100" spc="-254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unrestricted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memory</a:t>
            </a:r>
            <a:endParaRPr sz="1100">
              <a:latin typeface="Georgia"/>
              <a:cs typeface="Georgia"/>
            </a:endParaRPr>
          </a:p>
          <a:p>
            <a:pPr marL="144780" marR="5080" indent="-13271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SzPct val="90909"/>
              <a:buFont typeface="Lucida Sans Unicode"/>
              <a:buChar char="•"/>
              <a:tabLst>
                <a:tab pos="145415" algn="l"/>
              </a:tabLst>
            </a:pPr>
            <a:r>
              <a:rPr sz="1100" spc="80" dirty="0">
                <a:latin typeface="Georgia"/>
                <a:cs typeface="Georgia"/>
              </a:rPr>
              <a:t>A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Turing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machine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is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55" dirty="0">
                <a:latin typeface="Georgia"/>
                <a:cs typeface="Georgia"/>
              </a:rPr>
              <a:t>much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more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accurate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model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of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 </a:t>
            </a:r>
            <a:r>
              <a:rPr sz="1100" spc="-25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general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purpose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computer</a:t>
            </a:r>
            <a:endParaRPr sz="11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0"/>
            <a:ext cx="7042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45" dirty="0">
                <a:solidFill>
                  <a:srgbClr val="191959"/>
                </a:solidFill>
                <a:latin typeface="Palatino Linotype"/>
                <a:cs typeface="Palatino Linotype"/>
                <a:hlinkClick r:id="rId2" action="ppaction://hlinksldjump"/>
              </a:rPr>
              <a:t>Turing</a:t>
            </a:r>
            <a:r>
              <a:rPr sz="600" spc="55" dirty="0">
                <a:solidFill>
                  <a:srgbClr val="191959"/>
                </a:solidFill>
                <a:latin typeface="Palatino Linotype"/>
                <a:cs typeface="Palatino Linotype"/>
                <a:hlinkClick r:id="rId2" action="ppaction://hlinksldjump"/>
              </a:rPr>
              <a:t> </a:t>
            </a:r>
            <a:r>
              <a:rPr sz="600" spc="45" dirty="0">
                <a:solidFill>
                  <a:srgbClr val="191959"/>
                </a:solidFill>
                <a:latin typeface="Palatino Linotype"/>
                <a:cs typeface="Palatino Linotype"/>
                <a:hlinkClick r:id="rId2" action="ppaction://hlinksldjump"/>
              </a:rPr>
              <a:t>Machines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41623" y="0"/>
            <a:ext cx="11715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45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Equivalence</a:t>
            </a:r>
            <a:r>
              <a:rPr sz="600" spc="75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 </a:t>
            </a:r>
            <a:r>
              <a:rPr sz="600" spc="50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and</a:t>
            </a:r>
            <a:r>
              <a:rPr sz="600" spc="75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 </a:t>
            </a:r>
            <a:r>
              <a:rPr sz="600" spc="50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Algorithms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1858" y="211465"/>
            <a:ext cx="3768090" cy="27038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159510">
              <a:lnSpc>
                <a:spcPct val="100000"/>
              </a:lnSpc>
              <a:spcBef>
                <a:spcPts val="135"/>
              </a:spcBef>
            </a:pPr>
            <a:r>
              <a:rPr sz="1400" spc="45" dirty="0">
                <a:solidFill>
                  <a:srgbClr val="3333B2"/>
                </a:solidFill>
                <a:latin typeface="Times New Roman"/>
                <a:cs typeface="Times New Roman"/>
              </a:rPr>
              <a:t>Turing</a:t>
            </a:r>
            <a:r>
              <a:rPr sz="1400" spc="80" dirty="0">
                <a:solidFill>
                  <a:srgbClr val="3333B2"/>
                </a:solidFill>
                <a:latin typeface="Times New Roman"/>
                <a:cs typeface="Times New Roman"/>
              </a:rPr>
              <a:t> </a:t>
            </a:r>
            <a:r>
              <a:rPr sz="1400" spc="30" dirty="0">
                <a:solidFill>
                  <a:srgbClr val="3333B2"/>
                </a:solidFill>
                <a:latin typeface="Times New Roman"/>
                <a:cs typeface="Times New Roman"/>
              </a:rPr>
              <a:t>Machines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550">
              <a:latin typeface="Times New Roman"/>
              <a:cs typeface="Times New Roman"/>
            </a:endParaRPr>
          </a:p>
          <a:p>
            <a:pPr marL="144780" marR="5080" indent="-132715">
              <a:lnSpc>
                <a:spcPct val="102600"/>
              </a:lnSpc>
              <a:spcBef>
                <a:spcPts val="5"/>
              </a:spcBef>
              <a:buClr>
                <a:srgbClr val="3333B2"/>
              </a:buClr>
              <a:buSzPct val="90909"/>
              <a:buFont typeface="Lucida Sans Unicode"/>
              <a:buChar char="•"/>
              <a:tabLst>
                <a:tab pos="145415" algn="l"/>
              </a:tabLst>
            </a:pPr>
            <a:r>
              <a:rPr sz="1100" spc="-25" dirty="0">
                <a:latin typeface="Georgia"/>
                <a:cs typeface="Georgia"/>
              </a:rPr>
              <a:t>Turing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machine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model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uses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an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infinite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tape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its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unlimited </a:t>
            </a:r>
            <a:r>
              <a:rPr sz="1100" spc="-254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memory</a:t>
            </a:r>
            <a:endParaRPr sz="1100">
              <a:latin typeface="Georgia"/>
              <a:cs typeface="Georgia"/>
            </a:endParaRPr>
          </a:p>
          <a:p>
            <a:pPr marL="144780" marR="220345" indent="-13271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SzPct val="90909"/>
              <a:buFont typeface="Lucida Sans Unicode"/>
              <a:buChar char="•"/>
              <a:tabLst>
                <a:tab pos="145415" algn="l"/>
              </a:tabLst>
            </a:pPr>
            <a:r>
              <a:rPr sz="1100" dirty="0">
                <a:latin typeface="Georgia"/>
                <a:cs typeface="Georgia"/>
              </a:rPr>
              <a:t>It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has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tape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head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5" dirty="0">
                <a:latin typeface="Georgia"/>
                <a:cs typeface="Georgia"/>
              </a:rPr>
              <a:t>that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can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read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and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write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symbols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and </a:t>
            </a:r>
            <a:r>
              <a:rPr sz="1100" spc="-250" dirty="0">
                <a:latin typeface="Georgia"/>
                <a:cs typeface="Georgia"/>
              </a:rPr>
              <a:t> </a:t>
            </a:r>
            <a:r>
              <a:rPr sz="1100" spc="-50" dirty="0">
                <a:latin typeface="Georgia"/>
                <a:cs typeface="Georgia"/>
              </a:rPr>
              <a:t>move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around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50" dirty="0">
                <a:latin typeface="Georgia"/>
                <a:cs typeface="Georgia"/>
              </a:rPr>
              <a:t>on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tape</a:t>
            </a:r>
            <a:endParaRPr sz="1100">
              <a:latin typeface="Georgia"/>
              <a:cs typeface="Georgia"/>
            </a:endParaRPr>
          </a:p>
          <a:p>
            <a:pPr marL="144780" marR="59055" indent="-132715">
              <a:lnSpc>
                <a:spcPct val="102600"/>
              </a:lnSpc>
              <a:spcBef>
                <a:spcPts val="295"/>
              </a:spcBef>
              <a:buClr>
                <a:srgbClr val="3333B2"/>
              </a:buClr>
              <a:buSzPct val="90909"/>
              <a:buFont typeface="Lucida Sans Unicode"/>
              <a:buChar char="•"/>
              <a:tabLst>
                <a:tab pos="145415" algn="l"/>
              </a:tabLst>
            </a:pPr>
            <a:r>
              <a:rPr sz="1100" spc="-20" dirty="0">
                <a:latin typeface="Georgia"/>
                <a:cs typeface="Georgia"/>
              </a:rPr>
              <a:t>Initially,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tape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contains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only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input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string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and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blank </a:t>
            </a:r>
            <a:r>
              <a:rPr sz="1100" spc="-25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everywhere</a:t>
            </a:r>
            <a:endParaRPr sz="1100">
              <a:latin typeface="Georgia"/>
              <a:cs typeface="Georgia"/>
            </a:endParaRPr>
          </a:p>
          <a:p>
            <a:pPr marL="144780" marR="500380" indent="-132715">
              <a:lnSpc>
                <a:spcPct val="102699"/>
              </a:lnSpc>
              <a:spcBef>
                <a:spcPts val="300"/>
              </a:spcBef>
              <a:buClr>
                <a:srgbClr val="3333B2"/>
              </a:buClr>
              <a:buSzPct val="90909"/>
              <a:buFont typeface="Lucida Sans Unicode"/>
              <a:buChar char="•"/>
              <a:tabLst>
                <a:tab pos="145415" algn="l"/>
              </a:tabLst>
            </a:pPr>
            <a:r>
              <a:rPr sz="1100" spc="-40" dirty="0">
                <a:latin typeface="Georgia"/>
                <a:cs typeface="Georgia"/>
              </a:rPr>
              <a:t>Machine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can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continue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computing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until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10" dirty="0">
                <a:latin typeface="Georgia"/>
                <a:cs typeface="Georgia"/>
              </a:rPr>
              <a:t>it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decides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to </a:t>
            </a:r>
            <a:r>
              <a:rPr sz="1100" spc="-25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produce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an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output</a:t>
            </a:r>
            <a:endParaRPr sz="1100">
              <a:latin typeface="Georgia"/>
              <a:cs typeface="Georgia"/>
            </a:endParaRPr>
          </a:p>
          <a:p>
            <a:pPr marL="144780" indent="-13271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SzPct val="90909"/>
              <a:buFont typeface="Lucida Sans Unicode"/>
              <a:buChar char="•"/>
              <a:tabLst>
                <a:tab pos="145415" algn="l"/>
              </a:tabLst>
            </a:pPr>
            <a:r>
              <a:rPr sz="1100" spc="-10" dirty="0">
                <a:latin typeface="Georgia"/>
                <a:cs typeface="Georgia"/>
              </a:rPr>
              <a:t>There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are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designated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b="1" spc="-25" dirty="0">
                <a:latin typeface="Georgia"/>
                <a:cs typeface="Georgia"/>
              </a:rPr>
              <a:t>accept</a:t>
            </a:r>
            <a:r>
              <a:rPr sz="1100" b="1" spc="7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and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b="1" spc="-30" dirty="0">
                <a:latin typeface="Georgia"/>
                <a:cs typeface="Georgia"/>
              </a:rPr>
              <a:t>reject</a:t>
            </a:r>
            <a:r>
              <a:rPr sz="1100" b="1" spc="8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states</a:t>
            </a:r>
            <a:endParaRPr sz="1100">
              <a:latin typeface="Georgia"/>
              <a:cs typeface="Georgia"/>
            </a:endParaRPr>
          </a:p>
          <a:p>
            <a:pPr marL="144780" marR="43815" indent="-13271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SzPct val="90909"/>
              <a:buFont typeface="Lucida Sans Unicode"/>
              <a:buChar char="•"/>
              <a:tabLst>
                <a:tab pos="145415" algn="l"/>
              </a:tabLst>
            </a:pPr>
            <a:r>
              <a:rPr sz="1100" dirty="0">
                <a:latin typeface="Georgia"/>
                <a:cs typeface="Georgia"/>
              </a:rPr>
              <a:t>It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40" dirty="0">
                <a:latin typeface="Georgia"/>
                <a:cs typeface="Georgia"/>
              </a:rPr>
              <a:t>TM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does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not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enter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an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accepting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or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rejecting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state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10" dirty="0">
                <a:latin typeface="Georgia"/>
                <a:cs typeface="Georgia"/>
              </a:rPr>
              <a:t>it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will </a:t>
            </a:r>
            <a:r>
              <a:rPr sz="1100" spc="-25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go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50" dirty="0">
                <a:latin typeface="Georgia"/>
                <a:cs typeface="Georgia"/>
              </a:rPr>
              <a:t>on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forever,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never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halting</a:t>
            </a:r>
            <a:endParaRPr sz="11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0"/>
            <a:ext cx="7042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45" dirty="0">
                <a:solidFill>
                  <a:srgbClr val="191959"/>
                </a:solidFill>
                <a:latin typeface="Palatino Linotype"/>
                <a:cs typeface="Palatino Linotype"/>
                <a:hlinkClick r:id="rId2" action="ppaction://hlinksldjump"/>
              </a:rPr>
              <a:t>Turing</a:t>
            </a:r>
            <a:r>
              <a:rPr sz="600" spc="55" dirty="0">
                <a:solidFill>
                  <a:srgbClr val="191959"/>
                </a:solidFill>
                <a:latin typeface="Palatino Linotype"/>
                <a:cs typeface="Palatino Linotype"/>
                <a:hlinkClick r:id="rId2" action="ppaction://hlinksldjump"/>
              </a:rPr>
              <a:t> </a:t>
            </a:r>
            <a:r>
              <a:rPr sz="600" spc="45" dirty="0">
                <a:solidFill>
                  <a:srgbClr val="191959"/>
                </a:solidFill>
                <a:latin typeface="Palatino Linotype"/>
                <a:cs typeface="Palatino Linotype"/>
                <a:hlinkClick r:id="rId2" action="ppaction://hlinksldjump"/>
              </a:rPr>
              <a:t>Machines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41623" y="0"/>
            <a:ext cx="11715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45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Equivalence</a:t>
            </a:r>
            <a:r>
              <a:rPr sz="600" spc="75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 </a:t>
            </a:r>
            <a:r>
              <a:rPr sz="600" spc="50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and</a:t>
            </a:r>
            <a:r>
              <a:rPr sz="600" spc="75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 </a:t>
            </a:r>
            <a:r>
              <a:rPr sz="600" spc="50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Algorithms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39176" y="211465"/>
            <a:ext cx="13303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45" dirty="0">
                <a:solidFill>
                  <a:srgbClr val="3333B2"/>
                </a:solidFill>
                <a:latin typeface="Times New Roman"/>
                <a:cs typeface="Times New Roman"/>
              </a:rPr>
              <a:t>Turing</a:t>
            </a:r>
            <a:r>
              <a:rPr sz="1400" spc="60" dirty="0">
                <a:solidFill>
                  <a:srgbClr val="3333B2"/>
                </a:solidFill>
                <a:latin typeface="Times New Roman"/>
                <a:cs typeface="Times New Roman"/>
              </a:rPr>
              <a:t> </a:t>
            </a:r>
            <a:r>
              <a:rPr sz="1400" spc="30" dirty="0">
                <a:solidFill>
                  <a:srgbClr val="3333B2"/>
                </a:solidFill>
                <a:latin typeface="Times New Roman"/>
                <a:cs typeface="Times New Roman"/>
              </a:rPr>
              <a:t>Machines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3471" y="744574"/>
            <a:ext cx="1873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25" dirty="0">
                <a:latin typeface="Calibri"/>
                <a:cs typeface="Calibri"/>
              </a:rPr>
              <a:t>.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25" dirty="0">
                <a:latin typeface="Calibri"/>
                <a:cs typeface="Calibri"/>
              </a:rPr>
              <a:t>.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25" dirty="0"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16181" y="754912"/>
          <a:ext cx="2087879" cy="25200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7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2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2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2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22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2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22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571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200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b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336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b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336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a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158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a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158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a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158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100" dirty="0">
                          <a:latin typeface="Georgia"/>
                          <a:cs typeface="Georgia"/>
                        </a:rPr>
                        <a:t>a</a:t>
                      </a:r>
                      <a:endParaRPr sz="1100">
                        <a:latin typeface="Georgia"/>
                        <a:cs typeface="Georgia"/>
                      </a:endParaRPr>
                    </a:p>
                  </a:txBody>
                  <a:tcPr marL="0" marR="0" marT="158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2751467" y="744574"/>
            <a:ext cx="1873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25" dirty="0">
                <a:latin typeface="Calibri"/>
                <a:cs typeface="Calibri"/>
              </a:rPr>
              <a:t>.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25" dirty="0">
                <a:latin typeface="Calibri"/>
                <a:cs typeface="Calibri"/>
              </a:rPr>
              <a:t>.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25" dirty="0"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15221" y="780915"/>
            <a:ext cx="12776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latin typeface="Georgia"/>
                <a:cs typeface="Georgia"/>
              </a:rPr>
              <a:t>Input/Output</a:t>
            </a:r>
            <a:r>
              <a:rPr sz="1000" b="1" spc="90" dirty="0">
                <a:latin typeface="Georgia"/>
                <a:cs typeface="Georgia"/>
              </a:rPr>
              <a:t> </a:t>
            </a:r>
            <a:r>
              <a:rPr sz="1000" b="1" spc="-15" dirty="0">
                <a:latin typeface="Georgia"/>
                <a:cs typeface="Georgia"/>
              </a:rPr>
              <a:t>Tape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86612" y="2373603"/>
            <a:ext cx="1797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1100" i="1" spc="-50" dirty="0">
                <a:latin typeface="Calibri"/>
                <a:cs typeface="Calibri"/>
              </a:rPr>
              <a:t>q</a:t>
            </a:r>
            <a:r>
              <a:rPr sz="1200" spc="-75" baseline="-10416" dirty="0">
                <a:latin typeface="Cambria"/>
                <a:cs typeface="Cambria"/>
              </a:rPr>
              <a:t>2</a:t>
            </a:r>
            <a:endParaRPr sz="1200" baseline="-10416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29614" y="1952725"/>
            <a:ext cx="1797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1100" i="1" spc="-50" dirty="0">
                <a:latin typeface="Calibri"/>
                <a:cs typeface="Calibri"/>
              </a:rPr>
              <a:t>q</a:t>
            </a:r>
            <a:r>
              <a:rPr sz="1200" spc="-75" baseline="-10416" dirty="0">
                <a:latin typeface="Cambria"/>
                <a:cs typeface="Cambria"/>
              </a:rPr>
              <a:t>3</a:t>
            </a:r>
            <a:endParaRPr sz="1200" baseline="-10416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03463" y="1943683"/>
            <a:ext cx="2101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1100" spc="5" dirty="0">
                <a:latin typeface="Georgia"/>
                <a:cs typeface="Georgia"/>
              </a:rPr>
              <a:t>.</a:t>
            </a:r>
            <a:r>
              <a:rPr sz="1100" spc="-145" dirty="0">
                <a:latin typeface="Georgia"/>
                <a:cs typeface="Georgia"/>
              </a:rPr>
              <a:t> </a:t>
            </a:r>
            <a:r>
              <a:rPr sz="1650" spc="7" baseline="-15151" dirty="0">
                <a:latin typeface="Georgia"/>
                <a:cs typeface="Georgia"/>
              </a:rPr>
              <a:t>.</a:t>
            </a:r>
            <a:r>
              <a:rPr sz="1650" spc="-217" baseline="-15151" dirty="0">
                <a:latin typeface="Georgia"/>
                <a:cs typeface="Georgia"/>
              </a:rPr>
              <a:t> </a:t>
            </a:r>
            <a:r>
              <a:rPr sz="1650" spc="7" baseline="-30303" dirty="0">
                <a:latin typeface="Georgia"/>
                <a:cs typeface="Georgia"/>
              </a:rPr>
              <a:t>.</a:t>
            </a:r>
            <a:endParaRPr sz="1650" baseline="-30303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52866" y="2373603"/>
            <a:ext cx="1911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1100" i="1" spc="10" dirty="0">
                <a:latin typeface="Calibri"/>
                <a:cs typeface="Calibri"/>
              </a:rPr>
              <a:t>q</a:t>
            </a:r>
            <a:r>
              <a:rPr sz="1200" i="1" spc="15" baseline="-10416" dirty="0">
                <a:latin typeface="Calibri"/>
                <a:cs typeface="Calibri"/>
              </a:rPr>
              <a:t>n</a:t>
            </a:r>
            <a:endParaRPr sz="1200" baseline="-10416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06998" y="1886717"/>
            <a:ext cx="1310005" cy="1191260"/>
            <a:chOff x="806998" y="1886717"/>
            <a:chExt cx="1310005" cy="1191260"/>
          </a:xfrm>
        </p:grpSpPr>
        <p:sp>
          <p:nvSpPr>
            <p:cNvPr id="14" name="object 14"/>
            <p:cNvSpPr/>
            <p:nvPr/>
          </p:nvSpPr>
          <p:spPr>
            <a:xfrm>
              <a:off x="1278127" y="2562282"/>
              <a:ext cx="149860" cy="259715"/>
            </a:xfrm>
            <a:custGeom>
              <a:avLst/>
              <a:gdLst/>
              <a:ahLst/>
              <a:cxnLst/>
              <a:rect l="l" t="t" r="r" b="b"/>
              <a:pathLst>
                <a:path w="149859" h="259714">
                  <a:moveTo>
                    <a:pt x="149837" y="0"/>
                  </a:moveTo>
                  <a:lnTo>
                    <a:pt x="0" y="259504"/>
                  </a:lnTo>
                </a:path>
              </a:pathLst>
            </a:custGeom>
            <a:ln w="151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62172" y="2784435"/>
              <a:ext cx="56515" cy="43180"/>
            </a:xfrm>
            <a:custGeom>
              <a:avLst/>
              <a:gdLst/>
              <a:ahLst/>
              <a:cxnLst/>
              <a:rect l="l" t="t" r="r" b="b"/>
              <a:pathLst>
                <a:path w="56515" h="43180">
                  <a:moveTo>
                    <a:pt x="56280" y="32494"/>
                  </a:moveTo>
                  <a:lnTo>
                    <a:pt x="45298" y="31650"/>
                  </a:lnTo>
                  <a:lnTo>
                    <a:pt x="32058" y="34338"/>
                  </a:lnTo>
                  <a:lnTo>
                    <a:pt x="20085" y="38638"/>
                  </a:lnTo>
                  <a:lnTo>
                    <a:pt x="12908" y="42628"/>
                  </a:lnTo>
                  <a:lnTo>
                    <a:pt x="12776" y="34417"/>
                  </a:lnTo>
                  <a:lnTo>
                    <a:pt x="10513" y="21899"/>
                  </a:lnTo>
                  <a:lnTo>
                    <a:pt x="6221" y="9088"/>
                  </a:lnTo>
                  <a:lnTo>
                    <a:pt x="0" y="0"/>
                  </a:lnTo>
                </a:path>
              </a:pathLst>
            </a:custGeom>
            <a:ln w="121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12078" y="1891797"/>
              <a:ext cx="1299845" cy="1181100"/>
            </a:xfrm>
            <a:custGeom>
              <a:avLst/>
              <a:gdLst/>
              <a:ahLst/>
              <a:cxnLst/>
              <a:rect l="l" t="t" r="r" b="b"/>
              <a:pathLst>
                <a:path w="1299845" h="1181100">
                  <a:moveTo>
                    <a:pt x="1248972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130237"/>
                  </a:lnTo>
                  <a:lnTo>
                    <a:pt x="3977" y="1149937"/>
                  </a:lnTo>
                  <a:lnTo>
                    <a:pt x="14823" y="1166024"/>
                  </a:lnTo>
                  <a:lnTo>
                    <a:pt x="30910" y="1176870"/>
                  </a:lnTo>
                  <a:lnTo>
                    <a:pt x="50610" y="1180848"/>
                  </a:lnTo>
                  <a:lnTo>
                    <a:pt x="1248972" y="1180848"/>
                  </a:lnTo>
                  <a:lnTo>
                    <a:pt x="1268672" y="1176870"/>
                  </a:lnTo>
                  <a:lnTo>
                    <a:pt x="1284759" y="1166024"/>
                  </a:lnTo>
                  <a:lnTo>
                    <a:pt x="1295606" y="1149937"/>
                  </a:lnTo>
                  <a:lnTo>
                    <a:pt x="1299583" y="1130237"/>
                  </a:lnTo>
                  <a:lnTo>
                    <a:pt x="1299583" y="50610"/>
                  </a:lnTo>
                  <a:lnTo>
                    <a:pt x="1295606" y="30910"/>
                  </a:lnTo>
                  <a:lnTo>
                    <a:pt x="1284759" y="14823"/>
                  </a:lnTo>
                  <a:lnTo>
                    <a:pt x="1268672" y="3977"/>
                  </a:lnTo>
                  <a:lnTo>
                    <a:pt x="1248972" y="0"/>
                  </a:lnTo>
                  <a:close/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969010" y="2794494"/>
            <a:ext cx="985519" cy="463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3810" algn="ctr">
              <a:lnSpc>
                <a:spcPct val="100000"/>
              </a:lnSpc>
              <a:spcBef>
                <a:spcPts val="90"/>
              </a:spcBef>
              <a:tabLst>
                <a:tab pos="485775" algn="l"/>
              </a:tabLst>
            </a:pPr>
            <a:r>
              <a:rPr sz="1100" i="1" spc="-50" dirty="0">
                <a:latin typeface="Calibri"/>
                <a:cs typeface="Calibri"/>
              </a:rPr>
              <a:t>q</a:t>
            </a:r>
            <a:r>
              <a:rPr sz="1200" spc="-75" baseline="-10416" dirty="0">
                <a:latin typeface="Cambria"/>
                <a:cs typeface="Cambria"/>
              </a:rPr>
              <a:t>1	</a:t>
            </a:r>
            <a:r>
              <a:rPr sz="1100" i="1" spc="-50" dirty="0">
                <a:latin typeface="Calibri"/>
                <a:cs typeface="Calibri"/>
              </a:rPr>
              <a:t>q</a:t>
            </a:r>
            <a:r>
              <a:rPr sz="1200" spc="-75" baseline="-10416" dirty="0">
                <a:latin typeface="Cambria"/>
                <a:cs typeface="Cambria"/>
              </a:rPr>
              <a:t>0</a:t>
            </a:r>
            <a:endParaRPr sz="1200" baseline="-10416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940"/>
              </a:spcBef>
            </a:pPr>
            <a:r>
              <a:rPr sz="1000" b="1" spc="-20" dirty="0">
                <a:latin typeface="Georgia"/>
                <a:cs typeface="Georgia"/>
              </a:rPr>
              <a:t>Finite</a:t>
            </a:r>
            <a:r>
              <a:rPr sz="1000" b="1" spc="80" dirty="0">
                <a:latin typeface="Georgia"/>
                <a:cs typeface="Georgia"/>
              </a:rPr>
              <a:t> </a:t>
            </a:r>
            <a:r>
              <a:rPr sz="1000" b="1" spc="-20" dirty="0">
                <a:latin typeface="Georgia"/>
                <a:cs typeface="Georgia"/>
              </a:rPr>
              <a:t>Control</a:t>
            </a:r>
            <a:endParaRPr sz="1000">
              <a:latin typeface="Georgia"/>
              <a:cs typeface="Georgi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99219" y="1032506"/>
            <a:ext cx="770255" cy="862330"/>
            <a:chOff x="799219" y="1032506"/>
            <a:chExt cx="770255" cy="862330"/>
          </a:xfrm>
        </p:grpSpPr>
        <p:sp>
          <p:nvSpPr>
            <p:cNvPr id="19" name="object 19"/>
            <p:cNvSpPr/>
            <p:nvPr/>
          </p:nvSpPr>
          <p:spPr>
            <a:xfrm>
              <a:off x="806810" y="1040098"/>
              <a:ext cx="755015" cy="847090"/>
            </a:xfrm>
            <a:custGeom>
              <a:avLst/>
              <a:gdLst/>
              <a:ahLst/>
              <a:cxnLst/>
              <a:rect l="l" t="t" r="r" b="b"/>
              <a:pathLst>
                <a:path w="755015" h="847089">
                  <a:moveTo>
                    <a:pt x="311896" y="0"/>
                  </a:moveTo>
                  <a:lnTo>
                    <a:pt x="311896" y="67500"/>
                  </a:lnTo>
                  <a:lnTo>
                    <a:pt x="341985" y="67500"/>
                  </a:lnTo>
                  <a:lnTo>
                    <a:pt x="341985" y="22500"/>
                  </a:lnTo>
                  <a:lnTo>
                    <a:pt x="409489" y="90000"/>
                  </a:lnTo>
                  <a:lnTo>
                    <a:pt x="341985" y="157501"/>
                  </a:lnTo>
                  <a:lnTo>
                    <a:pt x="341985" y="112501"/>
                  </a:lnTo>
                  <a:lnTo>
                    <a:pt x="311896" y="112501"/>
                  </a:lnTo>
                  <a:lnTo>
                    <a:pt x="311896" y="180001"/>
                  </a:lnTo>
                  <a:lnTo>
                    <a:pt x="97592" y="180001"/>
                  </a:lnTo>
                  <a:lnTo>
                    <a:pt x="97592" y="112501"/>
                  </a:lnTo>
                  <a:lnTo>
                    <a:pt x="67503" y="112501"/>
                  </a:lnTo>
                  <a:lnTo>
                    <a:pt x="67503" y="157501"/>
                  </a:lnTo>
                  <a:lnTo>
                    <a:pt x="0" y="90000"/>
                  </a:lnTo>
                  <a:lnTo>
                    <a:pt x="67503" y="22500"/>
                  </a:lnTo>
                  <a:lnTo>
                    <a:pt x="67503" y="67500"/>
                  </a:lnTo>
                  <a:lnTo>
                    <a:pt x="97592" y="67500"/>
                  </a:lnTo>
                  <a:lnTo>
                    <a:pt x="97592" y="0"/>
                  </a:lnTo>
                  <a:lnTo>
                    <a:pt x="311896" y="0"/>
                  </a:lnTo>
                  <a:close/>
                </a:path>
                <a:path w="755015" h="847089">
                  <a:moveTo>
                    <a:pt x="655055" y="846634"/>
                  </a:moveTo>
                  <a:lnTo>
                    <a:pt x="678712" y="812062"/>
                  </a:lnTo>
                  <a:lnTo>
                    <a:pt x="698911" y="779280"/>
                  </a:lnTo>
                  <a:lnTo>
                    <a:pt x="729442" y="718878"/>
                  </a:lnTo>
                  <a:lnTo>
                    <a:pt x="747663" y="665008"/>
                  </a:lnTo>
                  <a:lnTo>
                    <a:pt x="754587" y="617248"/>
                  </a:lnTo>
                  <a:lnTo>
                    <a:pt x="754130" y="595527"/>
                  </a:lnTo>
                  <a:lnTo>
                    <a:pt x="746012" y="556143"/>
                  </a:lnTo>
                  <a:lnTo>
                    <a:pt x="729134" y="521817"/>
                  </a:lnTo>
                  <a:lnTo>
                    <a:pt x="704509" y="492127"/>
                  </a:lnTo>
                  <a:lnTo>
                    <a:pt x="673151" y="466651"/>
                  </a:lnTo>
                  <a:lnTo>
                    <a:pt x="636077" y="444971"/>
                  </a:lnTo>
                  <a:lnTo>
                    <a:pt x="594298" y="426662"/>
                  </a:lnTo>
                  <a:lnTo>
                    <a:pt x="548830" y="411306"/>
                  </a:lnTo>
                  <a:lnTo>
                    <a:pt x="500688" y="398480"/>
                  </a:lnTo>
                  <a:lnTo>
                    <a:pt x="450884" y="387764"/>
                  </a:lnTo>
                  <a:lnTo>
                    <a:pt x="400434" y="378736"/>
                  </a:lnTo>
                  <a:lnTo>
                    <a:pt x="350352" y="370976"/>
                  </a:lnTo>
                  <a:lnTo>
                    <a:pt x="301651" y="364061"/>
                  </a:lnTo>
                  <a:lnTo>
                    <a:pt x="278136" y="360789"/>
                  </a:lnTo>
                  <a:lnTo>
                    <a:pt x="255347" y="357571"/>
                  </a:lnTo>
                  <a:lnTo>
                    <a:pt x="212454" y="351085"/>
                  </a:lnTo>
                  <a:lnTo>
                    <a:pt x="173985" y="344181"/>
                  </a:lnTo>
                  <a:lnTo>
                    <a:pt x="126797" y="332122"/>
                  </a:lnTo>
                  <a:lnTo>
                    <a:pt x="88833" y="310652"/>
                  </a:lnTo>
                  <a:lnTo>
                    <a:pt x="82827" y="296658"/>
                  </a:lnTo>
                  <a:lnTo>
                    <a:pt x="83512" y="288662"/>
                  </a:lnTo>
                  <a:lnTo>
                    <a:pt x="113796" y="248793"/>
                  </a:lnTo>
                  <a:lnTo>
                    <a:pt x="147239" y="223389"/>
                  </a:lnTo>
                  <a:lnTo>
                    <a:pt x="168979" y="209135"/>
                  </a:lnTo>
                  <a:lnTo>
                    <a:pt x="194235" y="193777"/>
                  </a:lnTo>
                </a:path>
              </a:pathLst>
            </a:custGeom>
            <a:ln w="151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63536" y="1218227"/>
              <a:ext cx="43180" cy="56515"/>
            </a:xfrm>
            <a:custGeom>
              <a:avLst/>
              <a:gdLst/>
              <a:ahLst/>
              <a:cxnLst/>
              <a:rect l="l" t="t" r="r" b="b"/>
              <a:pathLst>
                <a:path w="43180" h="56515">
                  <a:moveTo>
                    <a:pt x="0" y="0"/>
                  </a:moveTo>
                  <a:lnTo>
                    <a:pt x="9146" y="6148"/>
                  </a:lnTo>
                  <a:lnTo>
                    <a:pt x="22001" y="10334"/>
                  </a:lnTo>
                  <a:lnTo>
                    <a:pt x="34546" y="12492"/>
                  </a:lnTo>
                  <a:lnTo>
                    <a:pt x="42763" y="12555"/>
                  </a:lnTo>
                  <a:lnTo>
                    <a:pt x="38831" y="19770"/>
                  </a:lnTo>
                  <a:lnTo>
                    <a:pt x="34630" y="31786"/>
                  </a:lnTo>
                  <a:lnTo>
                    <a:pt x="32053" y="45057"/>
                  </a:lnTo>
                  <a:lnTo>
                    <a:pt x="32990" y="56038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899769" y="914236"/>
            <a:ext cx="2340610" cy="65024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725"/>
              </a:spcBef>
            </a:pPr>
            <a:r>
              <a:rPr sz="1100" i="1" spc="-50" dirty="0">
                <a:latin typeface="Calibri"/>
                <a:cs typeface="Calibri"/>
              </a:rPr>
              <a:t>q</a:t>
            </a:r>
            <a:r>
              <a:rPr sz="1200" spc="-75" baseline="-10416" dirty="0">
                <a:latin typeface="Cambria"/>
                <a:cs typeface="Cambria"/>
              </a:rPr>
              <a:t>1</a:t>
            </a:r>
            <a:endParaRPr sz="1200" baseline="-10416">
              <a:latin typeface="Cambria"/>
              <a:cs typeface="Cambria"/>
            </a:endParaRPr>
          </a:p>
          <a:p>
            <a:pPr marL="613410" marR="17780" indent="-19685">
              <a:lnSpc>
                <a:spcPct val="100000"/>
              </a:lnSpc>
              <a:spcBef>
                <a:spcPts val="580"/>
              </a:spcBef>
            </a:pPr>
            <a:r>
              <a:rPr sz="1000" b="1" spc="-25" dirty="0">
                <a:latin typeface="Georgia"/>
                <a:cs typeface="Georgia"/>
              </a:rPr>
              <a:t>Reading </a:t>
            </a:r>
            <a:r>
              <a:rPr sz="1000" b="1" spc="-40" dirty="0">
                <a:latin typeface="Georgia"/>
                <a:cs typeface="Georgia"/>
              </a:rPr>
              <a:t>and</a:t>
            </a:r>
            <a:r>
              <a:rPr sz="1000" b="1" spc="-35" dirty="0">
                <a:latin typeface="Georgia"/>
                <a:cs typeface="Georgia"/>
              </a:rPr>
              <a:t> </a:t>
            </a:r>
            <a:r>
              <a:rPr sz="1000" b="1" spc="-30" dirty="0">
                <a:latin typeface="Georgia"/>
                <a:cs typeface="Georgia"/>
              </a:rPr>
              <a:t>Writing</a:t>
            </a:r>
            <a:r>
              <a:rPr sz="1000" b="1" spc="-25" dirty="0">
                <a:latin typeface="Georgia"/>
                <a:cs typeface="Georgia"/>
              </a:rPr>
              <a:t> </a:t>
            </a:r>
            <a:r>
              <a:rPr sz="1000" b="1" spc="-35" dirty="0">
                <a:latin typeface="Georgia"/>
                <a:cs typeface="Georgia"/>
              </a:rPr>
              <a:t>Head </a:t>
            </a:r>
            <a:r>
              <a:rPr sz="1000" b="1" spc="-240" dirty="0">
                <a:latin typeface="Georgia"/>
                <a:cs typeface="Georgia"/>
              </a:rPr>
              <a:t> </a:t>
            </a:r>
            <a:r>
              <a:rPr sz="1000" b="1" spc="-45" dirty="0">
                <a:latin typeface="Georgia"/>
                <a:cs typeface="Georgia"/>
              </a:rPr>
              <a:t>(moves</a:t>
            </a:r>
            <a:r>
              <a:rPr sz="1000" b="1" spc="110" dirty="0">
                <a:latin typeface="Georgia"/>
                <a:cs typeface="Georgia"/>
              </a:rPr>
              <a:t> </a:t>
            </a:r>
            <a:r>
              <a:rPr sz="1000" b="1" spc="-45" dirty="0">
                <a:latin typeface="Georgia"/>
                <a:cs typeface="Georgia"/>
              </a:rPr>
              <a:t>in</a:t>
            </a:r>
            <a:r>
              <a:rPr sz="1000" b="1" spc="110" dirty="0">
                <a:latin typeface="Georgia"/>
                <a:cs typeface="Georgia"/>
              </a:rPr>
              <a:t> </a:t>
            </a:r>
            <a:r>
              <a:rPr sz="1000" b="1" spc="-10" dirty="0">
                <a:latin typeface="Georgia"/>
                <a:cs typeface="Georgia"/>
              </a:rPr>
              <a:t>both</a:t>
            </a:r>
            <a:r>
              <a:rPr sz="1000" b="1" spc="110" dirty="0">
                <a:latin typeface="Georgia"/>
                <a:cs typeface="Georgia"/>
              </a:rPr>
              <a:t> </a:t>
            </a:r>
            <a:r>
              <a:rPr sz="1000" b="1" spc="-40" dirty="0">
                <a:latin typeface="Georgia"/>
                <a:cs typeface="Georgia"/>
              </a:rPr>
              <a:t>directions)</a:t>
            </a:r>
            <a:endParaRPr sz="10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0"/>
            <a:ext cx="7042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45" dirty="0">
                <a:solidFill>
                  <a:srgbClr val="191959"/>
                </a:solidFill>
                <a:latin typeface="Palatino Linotype"/>
                <a:cs typeface="Palatino Linotype"/>
                <a:hlinkClick r:id="rId2" action="ppaction://hlinksldjump"/>
              </a:rPr>
              <a:t>Turing</a:t>
            </a:r>
            <a:r>
              <a:rPr sz="600" spc="55" dirty="0">
                <a:solidFill>
                  <a:srgbClr val="191959"/>
                </a:solidFill>
                <a:latin typeface="Palatino Linotype"/>
                <a:cs typeface="Palatino Linotype"/>
                <a:hlinkClick r:id="rId2" action="ppaction://hlinksldjump"/>
              </a:rPr>
              <a:t> </a:t>
            </a:r>
            <a:r>
              <a:rPr sz="600" spc="45" dirty="0">
                <a:solidFill>
                  <a:srgbClr val="191959"/>
                </a:solidFill>
                <a:latin typeface="Palatino Linotype"/>
                <a:cs typeface="Palatino Linotype"/>
                <a:hlinkClick r:id="rId2" action="ppaction://hlinksldjump"/>
              </a:rPr>
              <a:t>Machines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41623" y="0"/>
            <a:ext cx="11715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45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Equivalence</a:t>
            </a:r>
            <a:r>
              <a:rPr sz="600" spc="75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 </a:t>
            </a:r>
            <a:r>
              <a:rPr sz="600" spc="50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and</a:t>
            </a:r>
            <a:r>
              <a:rPr sz="600" spc="75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 </a:t>
            </a:r>
            <a:r>
              <a:rPr sz="600" spc="50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Algorithms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4588" y="211465"/>
            <a:ext cx="291973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45" dirty="0">
                <a:solidFill>
                  <a:srgbClr val="3333B2"/>
                </a:solidFill>
                <a:latin typeface="Times New Roman"/>
                <a:cs typeface="Times New Roman"/>
              </a:rPr>
              <a:t>Turing</a:t>
            </a:r>
            <a:r>
              <a:rPr sz="1400" spc="105" dirty="0">
                <a:solidFill>
                  <a:srgbClr val="3333B2"/>
                </a:solidFill>
                <a:latin typeface="Times New Roman"/>
                <a:cs typeface="Times New Roman"/>
              </a:rPr>
              <a:t> </a:t>
            </a:r>
            <a:r>
              <a:rPr sz="1400" spc="30" dirty="0">
                <a:solidFill>
                  <a:srgbClr val="3333B2"/>
                </a:solidFill>
                <a:latin typeface="Times New Roman"/>
                <a:cs typeface="Times New Roman"/>
              </a:rPr>
              <a:t>Machines</a:t>
            </a:r>
            <a:r>
              <a:rPr sz="1400" spc="105" dirty="0">
                <a:solidFill>
                  <a:srgbClr val="3333B2"/>
                </a:solidFill>
                <a:latin typeface="Times New Roman"/>
                <a:cs typeface="Times New Roman"/>
              </a:rPr>
              <a:t> </a:t>
            </a:r>
            <a:r>
              <a:rPr sz="1400" spc="20" dirty="0">
                <a:solidFill>
                  <a:srgbClr val="3333B2"/>
                </a:solidFill>
                <a:latin typeface="Times New Roman"/>
                <a:cs typeface="Times New Roman"/>
              </a:rPr>
              <a:t>vs</a:t>
            </a:r>
            <a:r>
              <a:rPr sz="1400" spc="105" dirty="0">
                <a:solidFill>
                  <a:srgbClr val="3333B2"/>
                </a:solidFill>
                <a:latin typeface="Times New Roman"/>
                <a:cs typeface="Times New Roman"/>
              </a:rPr>
              <a:t> </a:t>
            </a:r>
            <a:r>
              <a:rPr sz="1400" spc="60" dirty="0">
                <a:solidFill>
                  <a:srgbClr val="3333B2"/>
                </a:solidFill>
                <a:latin typeface="Times New Roman"/>
                <a:cs typeface="Times New Roman"/>
              </a:rPr>
              <a:t>Finite</a:t>
            </a:r>
            <a:r>
              <a:rPr sz="1400" spc="105" dirty="0">
                <a:solidFill>
                  <a:srgbClr val="3333B2"/>
                </a:solidFill>
                <a:latin typeface="Times New Roman"/>
                <a:cs typeface="Times New Roman"/>
              </a:rPr>
              <a:t> </a:t>
            </a:r>
            <a:r>
              <a:rPr sz="1400" spc="80" dirty="0">
                <a:solidFill>
                  <a:srgbClr val="3333B2"/>
                </a:solidFill>
                <a:latin typeface="Times New Roman"/>
                <a:cs typeface="Times New Roman"/>
              </a:rPr>
              <a:t>Automata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7357" y="1118563"/>
            <a:ext cx="3724910" cy="133858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89230" marR="173355" indent="-1771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AutoNum type="arabicPeriod"/>
              <a:tabLst>
                <a:tab pos="189865" algn="l"/>
              </a:tabLst>
            </a:pPr>
            <a:r>
              <a:rPr sz="1100" spc="80" dirty="0">
                <a:latin typeface="Georgia"/>
                <a:cs typeface="Georgia"/>
              </a:rPr>
              <a:t>A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Turing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machine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can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both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write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50" dirty="0">
                <a:latin typeface="Georgia"/>
                <a:cs typeface="Georgia"/>
              </a:rPr>
              <a:t>on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tape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and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read </a:t>
            </a:r>
            <a:r>
              <a:rPr sz="1100" spc="-250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from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5" dirty="0">
                <a:latin typeface="Georgia"/>
                <a:cs typeface="Georgia"/>
              </a:rPr>
              <a:t>it</a:t>
            </a:r>
            <a:endParaRPr sz="1100">
              <a:latin typeface="Georgia"/>
              <a:cs typeface="Georgia"/>
            </a:endParaRPr>
          </a:p>
          <a:p>
            <a:pPr marL="189230" marR="508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AutoNum type="arabicPeriod"/>
              <a:tabLst>
                <a:tab pos="189865" algn="l"/>
              </a:tabLst>
            </a:pPr>
            <a:r>
              <a:rPr sz="1100" spc="5" dirty="0">
                <a:latin typeface="Georgia"/>
                <a:cs typeface="Georgia"/>
              </a:rPr>
              <a:t>The </a:t>
            </a:r>
            <a:r>
              <a:rPr sz="1100" spc="-30" dirty="0">
                <a:latin typeface="Georgia"/>
                <a:cs typeface="Georgia"/>
              </a:rPr>
              <a:t>read-write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head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can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spc="-50" dirty="0">
                <a:latin typeface="Georgia"/>
                <a:cs typeface="Georgia"/>
              </a:rPr>
              <a:t>move</a:t>
            </a:r>
            <a:r>
              <a:rPr sz="1100" spc="-45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both </a:t>
            </a:r>
            <a:r>
              <a:rPr sz="1100" spc="-50" dirty="0">
                <a:latin typeface="Georgia"/>
                <a:cs typeface="Georgia"/>
              </a:rPr>
              <a:t>on</a:t>
            </a:r>
            <a:r>
              <a:rPr sz="1100" spc="-4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 </a:t>
            </a:r>
            <a:r>
              <a:rPr sz="1100" spc="-15" dirty="0">
                <a:latin typeface="Georgia"/>
                <a:cs typeface="Georgia"/>
              </a:rPr>
              <a:t>left </a:t>
            </a:r>
            <a:r>
              <a:rPr sz="1100" spc="-30" dirty="0">
                <a:latin typeface="Georgia"/>
                <a:cs typeface="Georgia"/>
              </a:rPr>
              <a:t>and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to </a:t>
            </a:r>
            <a:r>
              <a:rPr sz="1100" spc="-20" dirty="0">
                <a:latin typeface="Georgia"/>
                <a:cs typeface="Georgia"/>
              </a:rPr>
              <a:t>the </a:t>
            </a:r>
            <a:r>
              <a:rPr sz="1100" spc="-254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right</a:t>
            </a:r>
            <a:endParaRPr sz="1100">
              <a:latin typeface="Georgia"/>
              <a:cs typeface="Georgia"/>
            </a:endParaRPr>
          </a:p>
          <a:p>
            <a:pPr marL="189230" indent="-177165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AutoNum type="arabicPeriod"/>
              <a:tabLst>
                <a:tab pos="189865" algn="l"/>
              </a:tabLst>
            </a:pPr>
            <a:r>
              <a:rPr sz="1100" spc="5" dirty="0">
                <a:latin typeface="Georgia"/>
                <a:cs typeface="Georgia"/>
              </a:rPr>
              <a:t>The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tape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is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infinite</a:t>
            </a:r>
            <a:endParaRPr sz="1100">
              <a:latin typeface="Georgia"/>
              <a:cs typeface="Georgia"/>
            </a:endParaRPr>
          </a:p>
          <a:p>
            <a:pPr marL="189230" marR="113664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AutoNum type="arabicPeriod"/>
              <a:tabLst>
                <a:tab pos="189865" algn="l"/>
              </a:tabLst>
            </a:pPr>
            <a:r>
              <a:rPr sz="1100" spc="5" dirty="0">
                <a:latin typeface="Georgia"/>
                <a:cs typeface="Georgia"/>
              </a:rPr>
              <a:t>The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special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states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for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rejecting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and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accepting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take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effect </a:t>
            </a:r>
            <a:r>
              <a:rPr sz="1100" spc="-25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immediately</a:t>
            </a:r>
            <a:endParaRPr sz="11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0"/>
            <a:ext cx="7042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45" dirty="0">
                <a:solidFill>
                  <a:srgbClr val="191959"/>
                </a:solidFill>
                <a:latin typeface="Palatino Linotype"/>
                <a:cs typeface="Palatino Linotype"/>
                <a:hlinkClick r:id="rId2" action="ppaction://hlinksldjump"/>
              </a:rPr>
              <a:t>Turing</a:t>
            </a:r>
            <a:r>
              <a:rPr sz="600" spc="55" dirty="0">
                <a:solidFill>
                  <a:srgbClr val="191959"/>
                </a:solidFill>
                <a:latin typeface="Palatino Linotype"/>
                <a:cs typeface="Palatino Linotype"/>
                <a:hlinkClick r:id="rId2" action="ppaction://hlinksldjump"/>
              </a:rPr>
              <a:t> </a:t>
            </a:r>
            <a:r>
              <a:rPr sz="600" spc="45" dirty="0">
                <a:solidFill>
                  <a:srgbClr val="191959"/>
                </a:solidFill>
                <a:latin typeface="Palatino Linotype"/>
                <a:cs typeface="Palatino Linotype"/>
                <a:hlinkClick r:id="rId2" action="ppaction://hlinksldjump"/>
              </a:rPr>
              <a:t>Machines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41623" y="0"/>
            <a:ext cx="11715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45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Equivalence</a:t>
            </a:r>
            <a:r>
              <a:rPr sz="600" spc="75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 </a:t>
            </a:r>
            <a:r>
              <a:rPr sz="600" spc="50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and</a:t>
            </a:r>
            <a:r>
              <a:rPr sz="600" spc="75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 </a:t>
            </a:r>
            <a:r>
              <a:rPr sz="600" spc="50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Algorithms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5658" y="211465"/>
            <a:ext cx="3702050" cy="10833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00430">
              <a:lnSpc>
                <a:spcPct val="100000"/>
              </a:lnSpc>
              <a:spcBef>
                <a:spcPts val="135"/>
              </a:spcBef>
            </a:pPr>
            <a:r>
              <a:rPr sz="1400" spc="55" dirty="0">
                <a:solidFill>
                  <a:srgbClr val="3333B2"/>
                </a:solidFill>
                <a:latin typeface="Times New Roman"/>
                <a:cs typeface="Times New Roman"/>
              </a:rPr>
              <a:t>Example</a:t>
            </a:r>
            <a:r>
              <a:rPr sz="1400" spc="90" dirty="0">
                <a:solidFill>
                  <a:srgbClr val="3333B2"/>
                </a:solidFill>
                <a:latin typeface="Times New Roman"/>
                <a:cs typeface="Times New Roman"/>
              </a:rPr>
              <a:t> </a:t>
            </a:r>
            <a:r>
              <a:rPr sz="1400" spc="45" dirty="0">
                <a:solidFill>
                  <a:srgbClr val="3333B2"/>
                </a:solidFill>
                <a:latin typeface="Times New Roman"/>
                <a:cs typeface="Times New Roman"/>
              </a:rPr>
              <a:t>Turing</a:t>
            </a:r>
            <a:r>
              <a:rPr sz="1400" spc="90" dirty="0">
                <a:solidFill>
                  <a:srgbClr val="3333B2"/>
                </a:solidFill>
                <a:latin typeface="Times New Roman"/>
                <a:cs typeface="Times New Roman"/>
              </a:rPr>
              <a:t> </a:t>
            </a:r>
            <a:r>
              <a:rPr sz="1400" spc="35" dirty="0">
                <a:solidFill>
                  <a:srgbClr val="3333B2"/>
                </a:solidFill>
                <a:latin typeface="Times New Roman"/>
                <a:cs typeface="Times New Roman"/>
              </a:rPr>
              <a:t>Machine</a:t>
            </a:r>
            <a:endParaRPr sz="1400">
              <a:latin typeface="Times New Roman"/>
              <a:cs typeface="Times New Roman"/>
            </a:endParaRPr>
          </a:p>
          <a:p>
            <a:pPr marL="220979" marR="81280" indent="-132715">
              <a:lnSpc>
                <a:spcPct val="102600"/>
              </a:lnSpc>
              <a:spcBef>
                <a:spcPts val="894"/>
              </a:spcBef>
              <a:buClr>
                <a:srgbClr val="3333B2"/>
              </a:buClr>
              <a:buSzPct val="90909"/>
              <a:buFont typeface="Lucida Sans Unicode"/>
              <a:buChar char="•"/>
              <a:tabLst>
                <a:tab pos="221615" algn="l"/>
              </a:tabLst>
            </a:pPr>
            <a:r>
              <a:rPr sz="1100" spc="5" dirty="0">
                <a:latin typeface="Georgia"/>
                <a:cs typeface="Georgia"/>
              </a:rPr>
              <a:t>Let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i="1" spc="280" dirty="0">
                <a:latin typeface="Calibri"/>
                <a:cs typeface="Calibri"/>
              </a:rPr>
              <a:t>L</a:t>
            </a:r>
            <a:r>
              <a:rPr sz="1100" i="1" spc="50" dirty="0">
                <a:latin typeface="Calibri"/>
                <a:cs typeface="Calibri"/>
              </a:rPr>
              <a:t> </a:t>
            </a:r>
            <a:r>
              <a:rPr sz="1100" spc="140" dirty="0">
                <a:latin typeface="Georgia"/>
                <a:cs typeface="Georgia"/>
              </a:rPr>
              <a:t>=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185" dirty="0">
                <a:latin typeface="Lucida Sans Unicode"/>
                <a:cs typeface="Lucida Sans Unicode"/>
              </a:rPr>
              <a:t>{</a:t>
            </a:r>
            <a:r>
              <a:rPr sz="1100" i="1" spc="15" dirty="0">
                <a:latin typeface="Calibri"/>
                <a:cs typeface="Calibri"/>
              </a:rPr>
              <a:t>w</a:t>
            </a:r>
            <a:r>
              <a:rPr sz="1100" spc="200" dirty="0">
                <a:latin typeface="Georgia"/>
                <a:cs typeface="Georgia"/>
              </a:rPr>
              <a:t>#</a:t>
            </a:r>
            <a:r>
              <a:rPr sz="1100" i="1" spc="-10" dirty="0">
                <a:latin typeface="Calibri"/>
                <a:cs typeface="Calibri"/>
              </a:rPr>
              <a:t>w</a:t>
            </a:r>
            <a:r>
              <a:rPr sz="1100" i="1" spc="80" dirty="0">
                <a:latin typeface="Calibri"/>
                <a:cs typeface="Calibri"/>
              </a:rPr>
              <a:t> </a:t>
            </a:r>
            <a:r>
              <a:rPr sz="1100" spc="-45" dirty="0">
                <a:latin typeface="Georgia"/>
                <a:cs typeface="Georgia"/>
              </a:rPr>
              <a:t>: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w</a:t>
            </a:r>
            <a:r>
              <a:rPr sz="1100" i="1" spc="80" dirty="0">
                <a:latin typeface="Calibri"/>
                <a:cs typeface="Calibri"/>
              </a:rPr>
              <a:t> </a:t>
            </a:r>
            <a:r>
              <a:rPr sz="1100" spc="-150" dirty="0">
                <a:latin typeface="Lucida Sans Unicode"/>
                <a:cs typeface="Lucida Sans Unicode"/>
              </a:rPr>
              <a:t>∈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spc="180" dirty="0">
                <a:latin typeface="Lucida Sans Unicode"/>
                <a:cs typeface="Lucida Sans Unicode"/>
              </a:rPr>
              <a:t>{</a:t>
            </a:r>
            <a:r>
              <a:rPr sz="1100" spc="-130" dirty="0">
                <a:latin typeface="Georgia"/>
                <a:cs typeface="Georgia"/>
              </a:rPr>
              <a:t>0</a:t>
            </a:r>
            <a:r>
              <a:rPr sz="1100" i="1" spc="2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spc="70" dirty="0">
                <a:latin typeface="Georgia"/>
                <a:cs typeface="Georgia"/>
              </a:rPr>
              <a:t>1</a:t>
            </a:r>
            <a:r>
              <a:rPr sz="1100" spc="180" dirty="0">
                <a:latin typeface="Lucida Sans Unicode"/>
                <a:cs typeface="Lucida Sans Unicode"/>
              </a:rPr>
              <a:t>}</a:t>
            </a:r>
            <a:r>
              <a:rPr sz="1200" spc="-247" baseline="27777" dirty="0">
                <a:latin typeface="Lucida Sans Unicode"/>
                <a:cs typeface="Lucida Sans Unicode"/>
              </a:rPr>
              <a:t>∗</a:t>
            </a:r>
            <a:r>
              <a:rPr sz="1100" spc="185" dirty="0">
                <a:latin typeface="Lucida Sans Unicode"/>
                <a:cs typeface="Lucida Sans Unicode"/>
              </a:rPr>
              <a:t>}</a:t>
            </a:r>
            <a:r>
              <a:rPr sz="1100" spc="15" dirty="0">
                <a:latin typeface="Lucida Sans Unicode"/>
                <a:cs typeface="Lucida Sans Unicode"/>
              </a:rPr>
              <a:t> </a:t>
            </a:r>
            <a:r>
              <a:rPr sz="1100" spc="-30" dirty="0">
                <a:latin typeface="Georgia"/>
                <a:cs typeface="Georgia"/>
              </a:rPr>
              <a:t>and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i="1" spc="114" dirty="0">
                <a:latin typeface="Calibri"/>
                <a:cs typeface="Calibri"/>
              </a:rPr>
              <a:t>M</a:t>
            </a:r>
            <a:r>
              <a:rPr sz="1100" i="1" dirty="0">
                <a:latin typeface="Calibri"/>
                <a:cs typeface="Calibri"/>
              </a:rPr>
              <a:t> 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spc="-35" dirty="0">
                <a:latin typeface="Georgia"/>
                <a:cs typeface="Georgia"/>
              </a:rPr>
              <a:t>i</a:t>
            </a:r>
            <a:r>
              <a:rPr sz="1100" spc="-40" dirty="0">
                <a:latin typeface="Georgia"/>
                <a:cs typeface="Georgia"/>
              </a:rPr>
              <a:t>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40" dirty="0">
                <a:latin typeface="Georgia"/>
                <a:cs typeface="Georgia"/>
              </a:rPr>
              <a:t>TM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5" dirty="0">
                <a:latin typeface="Georgia"/>
                <a:cs typeface="Georgia"/>
              </a:rPr>
              <a:t>that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tests  </a:t>
            </a:r>
            <a:r>
              <a:rPr sz="1100" spc="-40" dirty="0">
                <a:latin typeface="Georgia"/>
                <a:cs typeface="Georgia"/>
              </a:rPr>
              <a:t>membership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for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i="1" spc="280" dirty="0">
                <a:latin typeface="Calibri"/>
                <a:cs typeface="Calibri"/>
              </a:rPr>
              <a:t>L</a:t>
            </a:r>
            <a:endParaRPr sz="1100">
              <a:latin typeface="Calibri"/>
              <a:cs typeface="Calibri"/>
            </a:endParaRPr>
          </a:p>
          <a:p>
            <a:pPr marL="220979" marR="316230" indent="-13271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SzPct val="90909"/>
              <a:buFont typeface="Lucida Sans Unicode"/>
              <a:buChar char="•"/>
              <a:tabLst>
                <a:tab pos="221615" algn="l"/>
              </a:tabLst>
            </a:pPr>
            <a:r>
              <a:rPr sz="1100" spc="25" dirty="0">
                <a:latin typeface="Georgia"/>
                <a:cs typeface="Georgia"/>
              </a:rPr>
              <a:t>That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is</a:t>
            </a:r>
            <a:r>
              <a:rPr sz="1100" spc="-20" dirty="0">
                <a:latin typeface="Georgia"/>
                <a:cs typeface="Georgia"/>
              </a:rPr>
              <a:t>,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60" dirty="0">
                <a:latin typeface="Georgia"/>
                <a:cs typeface="Georgia"/>
              </a:rPr>
              <a:t>w</a:t>
            </a:r>
            <a:r>
              <a:rPr sz="1100" spc="-50" dirty="0">
                <a:latin typeface="Georgia"/>
                <a:cs typeface="Georgia"/>
              </a:rPr>
              <a:t>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60" dirty="0">
                <a:latin typeface="Georgia"/>
                <a:cs typeface="Georgia"/>
              </a:rPr>
              <a:t>w</a:t>
            </a:r>
            <a:r>
              <a:rPr sz="1100" spc="-25" dirty="0">
                <a:latin typeface="Georgia"/>
                <a:cs typeface="Georgia"/>
              </a:rPr>
              <a:t>a</a:t>
            </a:r>
            <a:r>
              <a:rPr sz="1100" spc="-60" dirty="0">
                <a:latin typeface="Georgia"/>
                <a:cs typeface="Georgia"/>
              </a:rPr>
              <a:t>n</a:t>
            </a:r>
            <a:r>
              <a:rPr sz="1100" spc="40" dirty="0">
                <a:latin typeface="Georgia"/>
                <a:cs typeface="Georgia"/>
              </a:rPr>
              <a:t>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i="1" spc="114" dirty="0">
                <a:latin typeface="Calibri"/>
                <a:cs typeface="Calibri"/>
              </a:rPr>
              <a:t>M</a:t>
            </a:r>
            <a:r>
              <a:rPr sz="1100" i="1" dirty="0">
                <a:latin typeface="Calibri"/>
                <a:cs typeface="Calibri"/>
              </a:rPr>
              <a:t> 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Georgia"/>
                <a:cs typeface="Georgia"/>
              </a:rPr>
              <a:t>t</a:t>
            </a:r>
            <a:r>
              <a:rPr sz="1100" spc="-5" dirty="0">
                <a:latin typeface="Georgia"/>
                <a:cs typeface="Georgia"/>
              </a:rPr>
              <a:t>o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accept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w</a:t>
            </a:r>
            <a:r>
              <a:rPr sz="1100" i="1" dirty="0">
                <a:latin typeface="Calibri"/>
                <a:cs typeface="Calibri"/>
              </a:rPr>
              <a:t> </a:t>
            </a:r>
            <a:r>
              <a:rPr sz="1100" i="1" spc="-105" dirty="0">
                <a:latin typeface="Calibri"/>
                <a:cs typeface="Calibri"/>
              </a:rPr>
              <a:t> </a:t>
            </a:r>
            <a:r>
              <a:rPr sz="1100" spc="-30" dirty="0">
                <a:latin typeface="Georgia"/>
                <a:cs typeface="Georgia"/>
              </a:rPr>
              <a:t>i</a:t>
            </a:r>
            <a:r>
              <a:rPr sz="1100" spc="-25" dirty="0">
                <a:latin typeface="Georgia"/>
                <a:cs typeface="Georgia"/>
              </a:rPr>
              <a:t>f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w</a:t>
            </a:r>
            <a:r>
              <a:rPr sz="1100" i="1" spc="80" dirty="0">
                <a:latin typeface="Calibri"/>
                <a:cs typeface="Calibri"/>
              </a:rPr>
              <a:t> </a:t>
            </a:r>
            <a:r>
              <a:rPr sz="1100" spc="-150" dirty="0">
                <a:latin typeface="Lucida Sans Unicode"/>
                <a:cs typeface="Lucida Sans Unicode"/>
              </a:rPr>
              <a:t>∈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i="1" spc="280" dirty="0">
                <a:latin typeface="Calibri"/>
                <a:cs typeface="Calibri"/>
              </a:rPr>
              <a:t>L</a:t>
            </a:r>
            <a:r>
              <a:rPr sz="1100" i="1" spc="110" dirty="0">
                <a:latin typeface="Calibri"/>
                <a:cs typeface="Calibri"/>
              </a:rPr>
              <a:t> </a:t>
            </a:r>
            <a:r>
              <a:rPr sz="1100" spc="-30" dirty="0">
                <a:latin typeface="Georgia"/>
                <a:cs typeface="Georgia"/>
              </a:rPr>
              <a:t>and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reject  </a:t>
            </a:r>
            <a:r>
              <a:rPr sz="1100" spc="-30" dirty="0">
                <a:latin typeface="Georgia"/>
                <a:cs typeface="Georgia"/>
              </a:rPr>
              <a:t>otherwise</a:t>
            </a:r>
            <a:endParaRPr sz="11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0"/>
            <a:ext cx="7042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45" dirty="0">
                <a:solidFill>
                  <a:srgbClr val="191959"/>
                </a:solidFill>
                <a:latin typeface="Palatino Linotype"/>
                <a:cs typeface="Palatino Linotype"/>
                <a:hlinkClick r:id="rId2" action="ppaction://hlinksldjump"/>
              </a:rPr>
              <a:t>Turing</a:t>
            </a:r>
            <a:r>
              <a:rPr sz="600" spc="55" dirty="0">
                <a:solidFill>
                  <a:srgbClr val="191959"/>
                </a:solidFill>
                <a:latin typeface="Palatino Linotype"/>
                <a:cs typeface="Palatino Linotype"/>
                <a:hlinkClick r:id="rId2" action="ppaction://hlinksldjump"/>
              </a:rPr>
              <a:t> </a:t>
            </a:r>
            <a:r>
              <a:rPr sz="600" spc="45" dirty="0">
                <a:solidFill>
                  <a:srgbClr val="191959"/>
                </a:solidFill>
                <a:latin typeface="Palatino Linotype"/>
                <a:cs typeface="Palatino Linotype"/>
                <a:hlinkClick r:id="rId2" action="ppaction://hlinksldjump"/>
              </a:rPr>
              <a:t>Machines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41623" y="0"/>
            <a:ext cx="11715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45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Equivalence</a:t>
            </a:r>
            <a:r>
              <a:rPr sz="600" spc="75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 </a:t>
            </a:r>
            <a:r>
              <a:rPr sz="600" spc="50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and</a:t>
            </a:r>
            <a:r>
              <a:rPr sz="600" spc="75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 </a:t>
            </a:r>
            <a:r>
              <a:rPr sz="600" spc="50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Algorithms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5658" y="211465"/>
            <a:ext cx="3702050" cy="12934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00430">
              <a:lnSpc>
                <a:spcPct val="100000"/>
              </a:lnSpc>
              <a:spcBef>
                <a:spcPts val="135"/>
              </a:spcBef>
            </a:pPr>
            <a:r>
              <a:rPr sz="1400" spc="55" dirty="0">
                <a:solidFill>
                  <a:srgbClr val="3333B2"/>
                </a:solidFill>
                <a:latin typeface="Times New Roman"/>
                <a:cs typeface="Times New Roman"/>
              </a:rPr>
              <a:t>Example</a:t>
            </a:r>
            <a:r>
              <a:rPr sz="1400" spc="90" dirty="0">
                <a:solidFill>
                  <a:srgbClr val="3333B2"/>
                </a:solidFill>
                <a:latin typeface="Times New Roman"/>
                <a:cs typeface="Times New Roman"/>
              </a:rPr>
              <a:t> </a:t>
            </a:r>
            <a:r>
              <a:rPr sz="1400" spc="45" dirty="0">
                <a:solidFill>
                  <a:srgbClr val="3333B2"/>
                </a:solidFill>
                <a:latin typeface="Times New Roman"/>
                <a:cs typeface="Times New Roman"/>
              </a:rPr>
              <a:t>Turing</a:t>
            </a:r>
            <a:r>
              <a:rPr sz="1400" spc="90" dirty="0">
                <a:solidFill>
                  <a:srgbClr val="3333B2"/>
                </a:solidFill>
                <a:latin typeface="Times New Roman"/>
                <a:cs typeface="Times New Roman"/>
              </a:rPr>
              <a:t> </a:t>
            </a:r>
            <a:r>
              <a:rPr sz="1400" spc="35" dirty="0">
                <a:solidFill>
                  <a:srgbClr val="3333B2"/>
                </a:solidFill>
                <a:latin typeface="Times New Roman"/>
                <a:cs typeface="Times New Roman"/>
              </a:rPr>
              <a:t>Machine</a:t>
            </a:r>
            <a:endParaRPr sz="1400">
              <a:latin typeface="Times New Roman"/>
              <a:cs typeface="Times New Roman"/>
            </a:endParaRPr>
          </a:p>
          <a:p>
            <a:pPr marL="220979" marR="81280" indent="-132715">
              <a:lnSpc>
                <a:spcPct val="102600"/>
              </a:lnSpc>
              <a:spcBef>
                <a:spcPts val="894"/>
              </a:spcBef>
              <a:buClr>
                <a:srgbClr val="3333B2"/>
              </a:buClr>
              <a:buSzPct val="90909"/>
              <a:buFont typeface="Lucida Sans Unicode"/>
              <a:buChar char="•"/>
              <a:tabLst>
                <a:tab pos="221615" algn="l"/>
              </a:tabLst>
            </a:pPr>
            <a:r>
              <a:rPr sz="1100" spc="5" dirty="0">
                <a:latin typeface="Georgia"/>
                <a:cs typeface="Georgia"/>
              </a:rPr>
              <a:t>Let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i="1" spc="280" dirty="0">
                <a:latin typeface="Calibri"/>
                <a:cs typeface="Calibri"/>
              </a:rPr>
              <a:t>L</a:t>
            </a:r>
            <a:r>
              <a:rPr sz="1100" i="1" spc="50" dirty="0">
                <a:latin typeface="Calibri"/>
                <a:cs typeface="Calibri"/>
              </a:rPr>
              <a:t> </a:t>
            </a:r>
            <a:r>
              <a:rPr sz="1100" spc="140" dirty="0">
                <a:latin typeface="Georgia"/>
                <a:cs typeface="Georgia"/>
              </a:rPr>
              <a:t>=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185" dirty="0">
                <a:latin typeface="Lucida Sans Unicode"/>
                <a:cs typeface="Lucida Sans Unicode"/>
              </a:rPr>
              <a:t>{</a:t>
            </a:r>
            <a:r>
              <a:rPr sz="1100" i="1" spc="15" dirty="0">
                <a:latin typeface="Calibri"/>
                <a:cs typeface="Calibri"/>
              </a:rPr>
              <a:t>w</a:t>
            </a:r>
            <a:r>
              <a:rPr sz="1100" spc="200" dirty="0">
                <a:latin typeface="Georgia"/>
                <a:cs typeface="Georgia"/>
              </a:rPr>
              <a:t>#</a:t>
            </a:r>
            <a:r>
              <a:rPr sz="1100" i="1" spc="-10" dirty="0">
                <a:latin typeface="Calibri"/>
                <a:cs typeface="Calibri"/>
              </a:rPr>
              <a:t>w</a:t>
            </a:r>
            <a:r>
              <a:rPr sz="1100" i="1" spc="80" dirty="0">
                <a:latin typeface="Calibri"/>
                <a:cs typeface="Calibri"/>
              </a:rPr>
              <a:t> </a:t>
            </a:r>
            <a:r>
              <a:rPr sz="1100" spc="-45" dirty="0">
                <a:latin typeface="Georgia"/>
                <a:cs typeface="Georgia"/>
              </a:rPr>
              <a:t>: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w</a:t>
            </a:r>
            <a:r>
              <a:rPr sz="1100" i="1" spc="80" dirty="0">
                <a:latin typeface="Calibri"/>
                <a:cs typeface="Calibri"/>
              </a:rPr>
              <a:t> </a:t>
            </a:r>
            <a:r>
              <a:rPr sz="1100" spc="-150" dirty="0">
                <a:latin typeface="Lucida Sans Unicode"/>
                <a:cs typeface="Lucida Sans Unicode"/>
              </a:rPr>
              <a:t>∈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spc="180" dirty="0">
                <a:latin typeface="Lucida Sans Unicode"/>
                <a:cs typeface="Lucida Sans Unicode"/>
              </a:rPr>
              <a:t>{</a:t>
            </a:r>
            <a:r>
              <a:rPr sz="1100" spc="-130" dirty="0">
                <a:latin typeface="Georgia"/>
                <a:cs typeface="Georgia"/>
              </a:rPr>
              <a:t>0</a:t>
            </a:r>
            <a:r>
              <a:rPr sz="1100" i="1" spc="2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spc="70" dirty="0">
                <a:latin typeface="Georgia"/>
                <a:cs typeface="Georgia"/>
              </a:rPr>
              <a:t>1</a:t>
            </a:r>
            <a:r>
              <a:rPr sz="1100" spc="180" dirty="0">
                <a:latin typeface="Lucida Sans Unicode"/>
                <a:cs typeface="Lucida Sans Unicode"/>
              </a:rPr>
              <a:t>}</a:t>
            </a:r>
            <a:r>
              <a:rPr sz="1200" spc="-247" baseline="27777" dirty="0">
                <a:latin typeface="Lucida Sans Unicode"/>
                <a:cs typeface="Lucida Sans Unicode"/>
              </a:rPr>
              <a:t>∗</a:t>
            </a:r>
            <a:r>
              <a:rPr sz="1100" spc="185" dirty="0">
                <a:latin typeface="Lucida Sans Unicode"/>
                <a:cs typeface="Lucida Sans Unicode"/>
              </a:rPr>
              <a:t>}</a:t>
            </a:r>
            <a:r>
              <a:rPr sz="1100" spc="15" dirty="0">
                <a:latin typeface="Lucida Sans Unicode"/>
                <a:cs typeface="Lucida Sans Unicode"/>
              </a:rPr>
              <a:t> </a:t>
            </a:r>
            <a:r>
              <a:rPr sz="1100" spc="-30" dirty="0">
                <a:latin typeface="Georgia"/>
                <a:cs typeface="Georgia"/>
              </a:rPr>
              <a:t>and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i="1" spc="114" dirty="0">
                <a:latin typeface="Calibri"/>
                <a:cs typeface="Calibri"/>
              </a:rPr>
              <a:t>M</a:t>
            </a:r>
            <a:r>
              <a:rPr sz="1100" i="1" dirty="0">
                <a:latin typeface="Calibri"/>
                <a:cs typeface="Calibri"/>
              </a:rPr>
              <a:t> 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spc="-35" dirty="0">
                <a:latin typeface="Georgia"/>
                <a:cs typeface="Georgia"/>
              </a:rPr>
              <a:t>i</a:t>
            </a:r>
            <a:r>
              <a:rPr sz="1100" spc="-40" dirty="0">
                <a:latin typeface="Georgia"/>
                <a:cs typeface="Georgia"/>
              </a:rPr>
              <a:t>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40" dirty="0">
                <a:latin typeface="Georgia"/>
                <a:cs typeface="Georgia"/>
              </a:rPr>
              <a:t>TM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5" dirty="0">
                <a:latin typeface="Georgia"/>
                <a:cs typeface="Georgia"/>
              </a:rPr>
              <a:t>that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tests  </a:t>
            </a:r>
            <a:r>
              <a:rPr sz="1100" spc="-40" dirty="0">
                <a:latin typeface="Georgia"/>
                <a:cs typeface="Georgia"/>
              </a:rPr>
              <a:t>membership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for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i="1" spc="280" dirty="0">
                <a:latin typeface="Calibri"/>
                <a:cs typeface="Calibri"/>
              </a:rPr>
              <a:t>L</a:t>
            </a:r>
            <a:endParaRPr sz="1100">
              <a:latin typeface="Calibri"/>
              <a:cs typeface="Calibri"/>
            </a:endParaRPr>
          </a:p>
          <a:p>
            <a:pPr marL="220979" marR="316230" indent="-13271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SzPct val="90909"/>
              <a:buFont typeface="Lucida Sans Unicode"/>
              <a:buChar char="•"/>
              <a:tabLst>
                <a:tab pos="221615" algn="l"/>
              </a:tabLst>
            </a:pPr>
            <a:r>
              <a:rPr sz="1100" spc="25" dirty="0">
                <a:latin typeface="Georgia"/>
                <a:cs typeface="Georgia"/>
              </a:rPr>
              <a:t>That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is</a:t>
            </a:r>
            <a:r>
              <a:rPr sz="1100" spc="-20" dirty="0">
                <a:latin typeface="Georgia"/>
                <a:cs typeface="Georgia"/>
              </a:rPr>
              <a:t>,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60" dirty="0">
                <a:latin typeface="Georgia"/>
                <a:cs typeface="Georgia"/>
              </a:rPr>
              <a:t>w</a:t>
            </a:r>
            <a:r>
              <a:rPr sz="1100" spc="-50" dirty="0">
                <a:latin typeface="Georgia"/>
                <a:cs typeface="Georgia"/>
              </a:rPr>
              <a:t>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60" dirty="0">
                <a:latin typeface="Georgia"/>
                <a:cs typeface="Georgia"/>
              </a:rPr>
              <a:t>w</a:t>
            </a:r>
            <a:r>
              <a:rPr sz="1100" spc="-25" dirty="0">
                <a:latin typeface="Georgia"/>
                <a:cs typeface="Georgia"/>
              </a:rPr>
              <a:t>a</a:t>
            </a:r>
            <a:r>
              <a:rPr sz="1100" spc="-60" dirty="0">
                <a:latin typeface="Georgia"/>
                <a:cs typeface="Georgia"/>
              </a:rPr>
              <a:t>n</a:t>
            </a:r>
            <a:r>
              <a:rPr sz="1100" spc="40" dirty="0">
                <a:latin typeface="Georgia"/>
                <a:cs typeface="Georgia"/>
              </a:rPr>
              <a:t>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i="1" spc="114" dirty="0">
                <a:latin typeface="Calibri"/>
                <a:cs typeface="Calibri"/>
              </a:rPr>
              <a:t>M</a:t>
            </a:r>
            <a:r>
              <a:rPr sz="1100" i="1" dirty="0">
                <a:latin typeface="Calibri"/>
                <a:cs typeface="Calibri"/>
              </a:rPr>
              <a:t> 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Georgia"/>
                <a:cs typeface="Georgia"/>
              </a:rPr>
              <a:t>t</a:t>
            </a:r>
            <a:r>
              <a:rPr sz="1100" spc="-5" dirty="0">
                <a:latin typeface="Georgia"/>
                <a:cs typeface="Georgia"/>
              </a:rPr>
              <a:t>o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accept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w</a:t>
            </a:r>
            <a:r>
              <a:rPr sz="1100" i="1" dirty="0">
                <a:latin typeface="Calibri"/>
                <a:cs typeface="Calibri"/>
              </a:rPr>
              <a:t> </a:t>
            </a:r>
            <a:r>
              <a:rPr sz="1100" i="1" spc="-105" dirty="0">
                <a:latin typeface="Calibri"/>
                <a:cs typeface="Calibri"/>
              </a:rPr>
              <a:t> </a:t>
            </a:r>
            <a:r>
              <a:rPr sz="1100" spc="-30" dirty="0">
                <a:latin typeface="Georgia"/>
                <a:cs typeface="Georgia"/>
              </a:rPr>
              <a:t>i</a:t>
            </a:r>
            <a:r>
              <a:rPr sz="1100" spc="-25" dirty="0">
                <a:latin typeface="Georgia"/>
                <a:cs typeface="Georgia"/>
              </a:rPr>
              <a:t>f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w</a:t>
            </a:r>
            <a:r>
              <a:rPr sz="1100" i="1" spc="80" dirty="0">
                <a:latin typeface="Calibri"/>
                <a:cs typeface="Calibri"/>
              </a:rPr>
              <a:t> </a:t>
            </a:r>
            <a:r>
              <a:rPr sz="1100" spc="-150" dirty="0">
                <a:latin typeface="Lucida Sans Unicode"/>
                <a:cs typeface="Lucida Sans Unicode"/>
              </a:rPr>
              <a:t>∈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i="1" spc="280" dirty="0">
                <a:latin typeface="Calibri"/>
                <a:cs typeface="Calibri"/>
              </a:rPr>
              <a:t>L</a:t>
            </a:r>
            <a:r>
              <a:rPr sz="1100" i="1" spc="110" dirty="0">
                <a:latin typeface="Calibri"/>
                <a:cs typeface="Calibri"/>
              </a:rPr>
              <a:t> </a:t>
            </a:r>
            <a:r>
              <a:rPr sz="1100" spc="-30" dirty="0">
                <a:latin typeface="Georgia"/>
                <a:cs typeface="Georgia"/>
              </a:rPr>
              <a:t>and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reject  </a:t>
            </a:r>
            <a:r>
              <a:rPr sz="1100" spc="-30" dirty="0">
                <a:latin typeface="Georgia"/>
                <a:cs typeface="Georgia"/>
              </a:rPr>
              <a:t>otherwise</a:t>
            </a:r>
            <a:endParaRPr sz="1100">
              <a:latin typeface="Georgia"/>
              <a:cs typeface="Georgia"/>
            </a:endParaRPr>
          </a:p>
          <a:p>
            <a:pPr marL="220979" indent="-13271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SzPct val="90909"/>
              <a:buFont typeface="Lucida Sans Unicode"/>
              <a:buChar char="•"/>
              <a:tabLst>
                <a:tab pos="221615" algn="l"/>
              </a:tabLst>
            </a:pPr>
            <a:r>
              <a:rPr sz="1100" spc="-25" dirty="0">
                <a:latin typeface="Georgia"/>
                <a:cs typeface="Georgia"/>
              </a:rPr>
              <a:t>Assume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i="1" spc="145" dirty="0">
                <a:latin typeface="Calibri"/>
                <a:cs typeface="Calibri"/>
              </a:rPr>
              <a:t>x</a:t>
            </a:r>
            <a:r>
              <a:rPr sz="1100" i="1" spc="40" dirty="0">
                <a:latin typeface="Calibri"/>
                <a:cs typeface="Calibri"/>
              </a:rPr>
              <a:t> </a:t>
            </a:r>
            <a:r>
              <a:rPr sz="1100" spc="140" dirty="0">
                <a:latin typeface="Georgia"/>
                <a:cs typeface="Georgia"/>
              </a:rPr>
              <a:t>=</a:t>
            </a:r>
            <a:r>
              <a:rPr sz="1100" spc="30" dirty="0">
                <a:latin typeface="Georgia"/>
                <a:cs typeface="Georgia"/>
              </a:rPr>
              <a:t> </a:t>
            </a:r>
            <a:r>
              <a:rPr sz="1100" spc="10" dirty="0">
                <a:latin typeface="Trebuchet MS"/>
                <a:cs typeface="Trebuchet MS"/>
              </a:rPr>
              <a:t>01100</a:t>
            </a:r>
            <a:r>
              <a:rPr sz="1100" spc="10" dirty="0">
                <a:latin typeface="Georgia"/>
                <a:cs typeface="Georgia"/>
              </a:rPr>
              <a:t>#</a:t>
            </a:r>
            <a:r>
              <a:rPr sz="1100" spc="10" dirty="0">
                <a:latin typeface="Trebuchet MS"/>
                <a:cs typeface="Trebuchet MS"/>
              </a:rPr>
              <a:t>01100</a:t>
            </a:r>
            <a:endParaRPr sz="11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07477" y="1567256"/>
            <a:ext cx="2427287" cy="1700212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0"/>
            <a:ext cx="7042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45" dirty="0">
                <a:solidFill>
                  <a:srgbClr val="191959"/>
                </a:solidFill>
                <a:latin typeface="Palatino Linotype"/>
                <a:cs typeface="Palatino Linotype"/>
                <a:hlinkClick r:id="rId2" action="ppaction://hlinksldjump"/>
              </a:rPr>
              <a:t>Turing</a:t>
            </a:r>
            <a:r>
              <a:rPr sz="600" spc="55" dirty="0">
                <a:solidFill>
                  <a:srgbClr val="191959"/>
                </a:solidFill>
                <a:latin typeface="Palatino Linotype"/>
                <a:cs typeface="Palatino Linotype"/>
                <a:hlinkClick r:id="rId2" action="ppaction://hlinksldjump"/>
              </a:rPr>
              <a:t> </a:t>
            </a:r>
            <a:r>
              <a:rPr sz="600" spc="45" dirty="0">
                <a:solidFill>
                  <a:srgbClr val="191959"/>
                </a:solidFill>
                <a:latin typeface="Palatino Linotype"/>
                <a:cs typeface="Palatino Linotype"/>
                <a:hlinkClick r:id="rId2" action="ppaction://hlinksldjump"/>
              </a:rPr>
              <a:t>Machines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41623" y="0"/>
            <a:ext cx="11715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45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Equivalence</a:t>
            </a:r>
            <a:r>
              <a:rPr sz="600" spc="75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 </a:t>
            </a:r>
            <a:r>
              <a:rPr sz="600" spc="50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and</a:t>
            </a:r>
            <a:r>
              <a:rPr sz="600" spc="75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 </a:t>
            </a:r>
            <a:r>
              <a:rPr sz="600" spc="50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Algorithms</a:t>
            </a:r>
            <a:endParaRPr sz="600">
              <a:latin typeface="Palatino Linotype"/>
              <a:cs typeface="Palatino Linotype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09193" y="758126"/>
            <a:ext cx="4040504" cy="2308860"/>
            <a:chOff x="309193" y="758126"/>
            <a:chExt cx="4040504" cy="2308860"/>
          </a:xfrm>
        </p:grpSpPr>
        <p:sp>
          <p:nvSpPr>
            <p:cNvPr id="5" name="object 5"/>
            <p:cNvSpPr/>
            <p:nvPr/>
          </p:nvSpPr>
          <p:spPr>
            <a:xfrm>
              <a:off x="309193" y="758126"/>
              <a:ext cx="3989704" cy="198120"/>
            </a:xfrm>
            <a:custGeom>
              <a:avLst/>
              <a:gdLst/>
              <a:ahLst/>
              <a:cxnLst/>
              <a:rect l="l" t="t" r="r" b="b"/>
              <a:pathLst>
                <a:path w="3989704" h="198119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7521"/>
                  </a:lnTo>
                  <a:lnTo>
                    <a:pt x="3989652" y="197521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D6D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9194" y="943000"/>
              <a:ext cx="3989651" cy="506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9994" y="2964954"/>
              <a:ext cx="101600" cy="101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0794" y="2952254"/>
              <a:ext cx="3938802" cy="1143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98846" y="802360"/>
              <a:ext cx="50751" cy="216259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09193" y="987248"/>
              <a:ext cx="3989704" cy="2028825"/>
            </a:xfrm>
            <a:custGeom>
              <a:avLst/>
              <a:gdLst/>
              <a:ahLst/>
              <a:cxnLst/>
              <a:rect l="l" t="t" r="r" b="b"/>
              <a:pathLst>
                <a:path w="3989704" h="2028825">
                  <a:moveTo>
                    <a:pt x="3989652" y="0"/>
                  </a:moveTo>
                  <a:lnTo>
                    <a:pt x="0" y="0"/>
                  </a:lnTo>
                  <a:lnTo>
                    <a:pt x="0" y="1977706"/>
                  </a:lnTo>
                  <a:lnTo>
                    <a:pt x="4008" y="1997430"/>
                  </a:lnTo>
                  <a:lnTo>
                    <a:pt x="14922" y="2013583"/>
                  </a:lnTo>
                  <a:lnTo>
                    <a:pt x="31075" y="2024498"/>
                  </a:lnTo>
                  <a:lnTo>
                    <a:pt x="50800" y="2028506"/>
                  </a:lnTo>
                  <a:lnTo>
                    <a:pt x="3938852" y="2028506"/>
                  </a:lnTo>
                  <a:lnTo>
                    <a:pt x="3958576" y="2024498"/>
                  </a:lnTo>
                  <a:lnTo>
                    <a:pt x="3974729" y="2013583"/>
                  </a:lnTo>
                  <a:lnTo>
                    <a:pt x="3985644" y="1997430"/>
                  </a:lnTo>
                  <a:lnTo>
                    <a:pt x="3989652" y="1977706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F7F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98846" y="840432"/>
              <a:ext cx="0" cy="2143760"/>
            </a:xfrm>
            <a:custGeom>
              <a:avLst/>
              <a:gdLst/>
              <a:ahLst/>
              <a:cxnLst/>
              <a:rect l="l" t="t" r="r" b="b"/>
              <a:pathLst>
                <a:path h="2143760">
                  <a:moveTo>
                    <a:pt x="0" y="214357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98846" y="82773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98846" y="81503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98846" y="80233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71094" y="211465"/>
            <a:ext cx="3931920" cy="27603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33985" algn="ctr">
              <a:lnSpc>
                <a:spcPct val="100000"/>
              </a:lnSpc>
              <a:spcBef>
                <a:spcPts val="135"/>
              </a:spcBef>
            </a:pPr>
            <a:r>
              <a:rPr sz="1400" spc="45" dirty="0">
                <a:solidFill>
                  <a:srgbClr val="3333B2"/>
                </a:solidFill>
                <a:latin typeface="Times New Roman"/>
                <a:cs typeface="Times New Roman"/>
              </a:rPr>
              <a:t>Turing</a:t>
            </a:r>
            <a:r>
              <a:rPr sz="1400" spc="80" dirty="0">
                <a:solidFill>
                  <a:srgbClr val="3333B2"/>
                </a:solidFill>
                <a:latin typeface="Times New Roman"/>
                <a:cs typeface="Times New Roman"/>
              </a:rPr>
              <a:t> </a:t>
            </a:r>
            <a:r>
              <a:rPr sz="1400" spc="30" dirty="0">
                <a:solidFill>
                  <a:srgbClr val="3333B2"/>
                </a:solidFill>
                <a:latin typeface="Times New Roman"/>
                <a:cs typeface="Times New Roman"/>
              </a:rPr>
              <a:t>Machines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05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</a:pPr>
            <a:r>
              <a:rPr sz="1200" spc="20" dirty="0">
                <a:latin typeface="Times New Roman"/>
                <a:cs typeface="Times New Roman"/>
              </a:rPr>
              <a:t>Turing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Machine</a:t>
            </a:r>
            <a:endParaRPr sz="1200">
              <a:latin typeface="Times New Roman"/>
              <a:cs typeface="Times New Roman"/>
            </a:endParaRPr>
          </a:p>
          <a:p>
            <a:pPr marL="88900" marR="81280">
              <a:lnSpc>
                <a:spcPct val="102600"/>
              </a:lnSpc>
              <a:spcBef>
                <a:spcPts val="325"/>
              </a:spcBef>
            </a:pPr>
            <a:r>
              <a:rPr sz="1100" spc="80" dirty="0">
                <a:latin typeface="Georgia"/>
                <a:cs typeface="Georgia"/>
              </a:rPr>
              <a:t>A </a:t>
            </a:r>
            <a:r>
              <a:rPr sz="1100" b="1" spc="-40" dirty="0">
                <a:latin typeface="Georgia"/>
                <a:cs typeface="Georgia"/>
              </a:rPr>
              <a:t>Turing</a:t>
            </a:r>
            <a:r>
              <a:rPr sz="1100" b="1" spc="-35" dirty="0">
                <a:latin typeface="Georgia"/>
                <a:cs typeface="Georgia"/>
              </a:rPr>
              <a:t> </a:t>
            </a:r>
            <a:r>
              <a:rPr sz="1100" b="1" spc="-40" dirty="0">
                <a:latin typeface="Georgia"/>
                <a:cs typeface="Georgia"/>
              </a:rPr>
              <a:t>Machine </a:t>
            </a:r>
            <a:r>
              <a:rPr sz="1100" spc="-35" dirty="0">
                <a:latin typeface="Georgia"/>
                <a:cs typeface="Georgia"/>
              </a:rPr>
              <a:t>is </a:t>
            </a:r>
            <a:r>
              <a:rPr sz="1100" spc="-10" dirty="0">
                <a:latin typeface="Georgia"/>
                <a:cs typeface="Georgia"/>
              </a:rPr>
              <a:t>a </a:t>
            </a:r>
            <a:r>
              <a:rPr sz="1100" spc="-15" dirty="0">
                <a:latin typeface="Georgia"/>
                <a:cs typeface="Georgia"/>
              </a:rPr>
              <a:t>7-tuple, </a:t>
            </a:r>
            <a:r>
              <a:rPr sz="1100" spc="50" dirty="0">
                <a:latin typeface="Georgia"/>
                <a:cs typeface="Georgia"/>
              </a:rPr>
              <a:t>(</a:t>
            </a:r>
            <a:r>
              <a:rPr sz="1100" i="1" spc="50" dirty="0">
                <a:latin typeface="Calibri"/>
                <a:cs typeface="Calibri"/>
              </a:rPr>
              <a:t>Q, </a:t>
            </a:r>
            <a:r>
              <a:rPr sz="1100" spc="75" dirty="0">
                <a:latin typeface="Georgia"/>
                <a:cs typeface="Georgia"/>
              </a:rPr>
              <a:t>Σ</a:t>
            </a:r>
            <a:r>
              <a:rPr sz="1100" i="1" spc="75" dirty="0">
                <a:latin typeface="Calibri"/>
                <a:cs typeface="Calibri"/>
              </a:rPr>
              <a:t>, </a:t>
            </a:r>
            <a:r>
              <a:rPr sz="1100" spc="30" dirty="0">
                <a:latin typeface="Georgia"/>
                <a:cs typeface="Georgia"/>
              </a:rPr>
              <a:t>Γ</a:t>
            </a:r>
            <a:r>
              <a:rPr sz="1100" i="1" spc="30" dirty="0">
                <a:latin typeface="Calibri"/>
                <a:cs typeface="Calibri"/>
              </a:rPr>
              <a:t>, </a:t>
            </a:r>
            <a:r>
              <a:rPr sz="1100" i="1" spc="-45" dirty="0">
                <a:latin typeface="Calibri"/>
                <a:cs typeface="Calibri"/>
              </a:rPr>
              <a:t>δ, </a:t>
            </a:r>
            <a:r>
              <a:rPr sz="1100" i="1" spc="-10" dirty="0">
                <a:latin typeface="Calibri"/>
                <a:cs typeface="Calibri"/>
              </a:rPr>
              <a:t>q</a:t>
            </a:r>
            <a:r>
              <a:rPr sz="1200" spc="-15" baseline="-10416" dirty="0">
                <a:latin typeface="Cambria"/>
                <a:cs typeface="Cambria"/>
              </a:rPr>
              <a:t>0</a:t>
            </a:r>
            <a:r>
              <a:rPr sz="1100" i="1" spc="-10" dirty="0">
                <a:latin typeface="Calibri"/>
                <a:cs typeface="Calibri"/>
              </a:rPr>
              <a:t>, </a:t>
            </a:r>
            <a:r>
              <a:rPr sz="1100" i="1" spc="15" dirty="0">
                <a:latin typeface="Calibri"/>
                <a:cs typeface="Calibri"/>
              </a:rPr>
              <a:t>q</a:t>
            </a:r>
            <a:r>
              <a:rPr sz="1200" spc="22" baseline="-10416" dirty="0">
                <a:latin typeface="Cambria"/>
                <a:cs typeface="Cambria"/>
              </a:rPr>
              <a:t>accept</a:t>
            </a:r>
            <a:r>
              <a:rPr sz="1100" i="1" spc="15" dirty="0">
                <a:latin typeface="Calibri"/>
                <a:cs typeface="Calibri"/>
              </a:rPr>
              <a:t>, </a:t>
            </a:r>
            <a:r>
              <a:rPr sz="1100" i="1" spc="5" dirty="0">
                <a:latin typeface="Calibri"/>
                <a:cs typeface="Calibri"/>
              </a:rPr>
              <a:t>q</a:t>
            </a:r>
            <a:r>
              <a:rPr sz="1200" spc="7" baseline="-10416" dirty="0">
                <a:latin typeface="Cambria"/>
                <a:cs typeface="Cambria"/>
              </a:rPr>
              <a:t>reject</a:t>
            </a:r>
            <a:r>
              <a:rPr sz="1100" spc="5" dirty="0">
                <a:latin typeface="Georgia"/>
                <a:cs typeface="Georgia"/>
              </a:rPr>
              <a:t>), </a:t>
            </a:r>
            <a:r>
              <a:rPr sz="1100" spc="-254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where</a:t>
            </a:r>
            <a:endParaRPr sz="1100">
              <a:latin typeface="Georgia"/>
              <a:cs typeface="Georgia"/>
            </a:endParaRPr>
          </a:p>
          <a:p>
            <a:pPr marL="365760" indent="-177800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Font typeface="Georgia"/>
              <a:buAutoNum type="arabicPeriod"/>
              <a:tabLst>
                <a:tab pos="366395" algn="l"/>
              </a:tabLst>
            </a:pPr>
            <a:r>
              <a:rPr sz="1100" i="1" spc="130" dirty="0">
                <a:latin typeface="Calibri"/>
                <a:cs typeface="Calibri"/>
              </a:rPr>
              <a:t>Q</a:t>
            </a:r>
            <a:r>
              <a:rPr sz="1100" i="1" spc="100" dirty="0">
                <a:latin typeface="Calibri"/>
                <a:cs typeface="Calibri"/>
              </a:rPr>
              <a:t> </a:t>
            </a:r>
            <a:r>
              <a:rPr sz="1100" spc="-35" dirty="0">
                <a:latin typeface="Georgia"/>
                <a:cs typeface="Georgia"/>
              </a:rPr>
              <a:t>is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set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of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states,</a:t>
            </a:r>
            <a:endParaRPr sz="1100">
              <a:latin typeface="Georgia"/>
              <a:cs typeface="Georgia"/>
            </a:endParaRPr>
          </a:p>
          <a:p>
            <a:pPr marL="365760" marR="549275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AutoNum type="arabicPeriod"/>
              <a:tabLst>
                <a:tab pos="366395" algn="l"/>
              </a:tabLst>
            </a:pPr>
            <a:r>
              <a:rPr sz="1100" spc="120" dirty="0">
                <a:latin typeface="Georgia"/>
                <a:cs typeface="Georgia"/>
              </a:rPr>
              <a:t>Σ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is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input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alphabet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not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containing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b="1" spc="-45" dirty="0">
                <a:latin typeface="Georgia"/>
                <a:cs typeface="Georgia"/>
              </a:rPr>
              <a:t>blank </a:t>
            </a:r>
            <a:r>
              <a:rPr sz="1100" b="1" spc="-265" dirty="0">
                <a:latin typeface="Georgia"/>
                <a:cs typeface="Georgia"/>
              </a:rPr>
              <a:t> </a:t>
            </a:r>
            <a:r>
              <a:rPr sz="1100" b="1" spc="-40" dirty="0">
                <a:latin typeface="Georgia"/>
                <a:cs typeface="Georgia"/>
              </a:rPr>
              <a:t>symbol</a:t>
            </a:r>
            <a:r>
              <a:rPr sz="1100" b="1" spc="80" dirty="0">
                <a:latin typeface="Georgia"/>
                <a:cs typeface="Georgia"/>
              </a:rPr>
              <a:t> </a:t>
            </a:r>
            <a:r>
              <a:rPr sz="1100" spc="10" dirty="0">
                <a:latin typeface="SimSun"/>
                <a:cs typeface="SimSun"/>
              </a:rPr>
              <a:t>.</a:t>
            </a:r>
            <a:r>
              <a:rPr sz="1100" spc="10" dirty="0">
                <a:latin typeface="Georgia"/>
                <a:cs typeface="Georgia"/>
              </a:rPr>
              <a:t>,</a:t>
            </a:r>
            <a:endParaRPr sz="1100">
              <a:latin typeface="Georgia"/>
              <a:cs typeface="Georgia"/>
            </a:endParaRPr>
          </a:p>
          <a:p>
            <a:pPr marL="365760" indent="-177800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AutoNum type="arabicPeriod"/>
              <a:tabLst>
                <a:tab pos="366395" algn="l"/>
              </a:tabLst>
            </a:pPr>
            <a:r>
              <a:rPr sz="1100" spc="40" dirty="0">
                <a:latin typeface="Georgia"/>
                <a:cs typeface="Georgia"/>
              </a:rPr>
              <a:t>Γ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i</a:t>
            </a:r>
            <a:r>
              <a:rPr sz="1100" spc="-40" dirty="0">
                <a:latin typeface="Georgia"/>
                <a:cs typeface="Georgia"/>
              </a:rPr>
              <a:t>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</a:t>
            </a:r>
            <a:r>
              <a:rPr sz="1100" spc="-15" dirty="0">
                <a:latin typeface="Georgia"/>
                <a:cs typeface="Georgia"/>
              </a:rPr>
              <a:t>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ta</a:t>
            </a:r>
            <a:r>
              <a:rPr sz="1100" spc="35" dirty="0">
                <a:latin typeface="Georgia"/>
                <a:cs typeface="Georgia"/>
              </a:rPr>
              <a:t>p</a:t>
            </a:r>
            <a:r>
              <a:rPr sz="1100" spc="-50" dirty="0">
                <a:latin typeface="Georgia"/>
                <a:cs typeface="Georgia"/>
              </a:rPr>
              <a:t>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alpha</a:t>
            </a:r>
            <a:r>
              <a:rPr sz="1100" spc="10" dirty="0">
                <a:latin typeface="Georgia"/>
                <a:cs typeface="Georgia"/>
              </a:rPr>
              <a:t>b</a:t>
            </a:r>
            <a:r>
              <a:rPr sz="1100" spc="-5" dirty="0">
                <a:latin typeface="Georgia"/>
                <a:cs typeface="Georgia"/>
              </a:rPr>
              <a:t>et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where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20" dirty="0">
                <a:latin typeface="SimSun"/>
                <a:cs typeface="SimSun"/>
              </a:rPr>
              <a:t>.</a:t>
            </a:r>
            <a:r>
              <a:rPr sz="1100" spc="-250" dirty="0">
                <a:latin typeface="SimSun"/>
                <a:cs typeface="SimSun"/>
              </a:rPr>
              <a:t> </a:t>
            </a:r>
            <a:r>
              <a:rPr sz="1100" spc="-150" dirty="0">
                <a:latin typeface="Lucida Sans Unicode"/>
                <a:cs typeface="Lucida Sans Unicode"/>
              </a:rPr>
              <a:t>∈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spc="40" dirty="0">
                <a:latin typeface="Georgia"/>
                <a:cs typeface="Georgia"/>
              </a:rPr>
              <a:t>Γ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and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120" dirty="0">
                <a:latin typeface="Georgia"/>
                <a:cs typeface="Georgia"/>
              </a:rPr>
              <a:t>Σ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-30" dirty="0">
                <a:latin typeface="Lucida Sans Unicode"/>
                <a:cs typeface="Lucida Sans Unicode"/>
              </a:rPr>
              <a:t>⊆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spc="40" dirty="0">
                <a:latin typeface="Georgia"/>
                <a:cs typeface="Georgia"/>
              </a:rPr>
              <a:t>Γ</a:t>
            </a:r>
            <a:r>
              <a:rPr sz="1100" spc="5" dirty="0">
                <a:latin typeface="Georgia"/>
                <a:cs typeface="Georgia"/>
              </a:rPr>
              <a:t>,</a:t>
            </a:r>
            <a:endParaRPr sz="1100">
              <a:latin typeface="Georgia"/>
              <a:cs typeface="Georgia"/>
            </a:endParaRPr>
          </a:p>
          <a:p>
            <a:pPr marL="365760" indent="-177800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Georgia"/>
              <a:buAutoNum type="arabicPeriod"/>
              <a:tabLst>
                <a:tab pos="366395" algn="l"/>
              </a:tabLst>
            </a:pPr>
            <a:r>
              <a:rPr sz="1100" i="1" spc="-95" dirty="0">
                <a:latin typeface="Calibri"/>
                <a:cs typeface="Calibri"/>
              </a:rPr>
              <a:t>δ</a:t>
            </a:r>
            <a:r>
              <a:rPr sz="1100" i="1" spc="-50" dirty="0">
                <a:latin typeface="Calibri"/>
                <a:cs typeface="Calibri"/>
              </a:rPr>
              <a:t> </a:t>
            </a:r>
            <a:r>
              <a:rPr sz="1100" spc="-45" dirty="0">
                <a:latin typeface="Georgia"/>
                <a:cs typeface="Georgia"/>
              </a:rPr>
              <a:t>: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i="1" spc="130" dirty="0">
                <a:latin typeface="Calibri"/>
                <a:cs typeface="Calibri"/>
              </a:rPr>
              <a:t>Q</a:t>
            </a:r>
            <a:r>
              <a:rPr sz="1100" i="1" spc="-10" dirty="0">
                <a:latin typeface="Calibri"/>
                <a:cs typeface="Calibri"/>
              </a:rPr>
              <a:t> </a:t>
            </a:r>
            <a:r>
              <a:rPr sz="1100" spc="-30" dirty="0">
                <a:latin typeface="Lucida Sans Unicode"/>
                <a:cs typeface="Lucida Sans Unicode"/>
              </a:rPr>
              <a:t>×</a:t>
            </a:r>
            <a:r>
              <a:rPr sz="1100" spc="-110" dirty="0">
                <a:latin typeface="Lucida Sans Unicode"/>
                <a:cs typeface="Lucida Sans Unicode"/>
              </a:rPr>
              <a:t> </a:t>
            </a:r>
            <a:r>
              <a:rPr sz="1100" spc="40" dirty="0">
                <a:latin typeface="Georgia"/>
                <a:cs typeface="Georgia"/>
              </a:rPr>
              <a:t>Γ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55" dirty="0">
                <a:latin typeface="Lucida Sans Unicode"/>
                <a:cs typeface="Lucida Sans Unicode"/>
              </a:rPr>
              <a:t>→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i="1" spc="130" dirty="0">
                <a:latin typeface="Calibri"/>
                <a:cs typeface="Calibri"/>
              </a:rPr>
              <a:t>Q</a:t>
            </a:r>
            <a:r>
              <a:rPr sz="1100" i="1" spc="-5" dirty="0">
                <a:latin typeface="Calibri"/>
                <a:cs typeface="Calibri"/>
              </a:rPr>
              <a:t> </a:t>
            </a:r>
            <a:r>
              <a:rPr sz="1100" spc="-30" dirty="0">
                <a:latin typeface="Lucida Sans Unicode"/>
                <a:cs typeface="Lucida Sans Unicode"/>
              </a:rPr>
              <a:t>×</a:t>
            </a:r>
            <a:r>
              <a:rPr sz="1100" spc="-110" dirty="0">
                <a:latin typeface="Lucida Sans Unicode"/>
                <a:cs typeface="Lucida Sans Unicode"/>
              </a:rPr>
              <a:t> </a:t>
            </a:r>
            <a:r>
              <a:rPr sz="1100" spc="40" dirty="0">
                <a:latin typeface="Georgia"/>
                <a:cs typeface="Georgia"/>
              </a:rPr>
              <a:t>Γ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spc="-30" dirty="0">
                <a:latin typeface="Lucida Sans Unicode"/>
                <a:cs typeface="Lucida Sans Unicode"/>
              </a:rPr>
              <a:t>×</a:t>
            </a:r>
            <a:r>
              <a:rPr sz="1100" spc="-110" dirty="0">
                <a:latin typeface="Lucida Sans Unicode"/>
                <a:cs typeface="Lucida Sans Unicode"/>
              </a:rPr>
              <a:t> </a:t>
            </a:r>
            <a:r>
              <a:rPr sz="1100" spc="160" dirty="0">
                <a:latin typeface="Lucida Sans Unicode"/>
                <a:cs typeface="Lucida Sans Unicode"/>
              </a:rPr>
              <a:t>{</a:t>
            </a:r>
            <a:r>
              <a:rPr sz="1100" i="1" spc="160" dirty="0">
                <a:latin typeface="Calibri"/>
                <a:cs typeface="Calibri"/>
              </a:rPr>
              <a:t>L,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210" dirty="0">
                <a:latin typeface="Calibri"/>
                <a:cs typeface="Calibri"/>
              </a:rPr>
              <a:t>R</a:t>
            </a:r>
            <a:r>
              <a:rPr sz="1100" spc="210" dirty="0">
                <a:latin typeface="Lucida Sans Unicode"/>
                <a:cs typeface="Lucida Sans Unicode"/>
              </a:rPr>
              <a:t>}</a:t>
            </a:r>
            <a:r>
              <a:rPr sz="1100" spc="15" dirty="0">
                <a:latin typeface="Lucida Sans Unicode"/>
                <a:cs typeface="Lucida Sans Unicode"/>
              </a:rPr>
              <a:t> </a:t>
            </a:r>
            <a:r>
              <a:rPr sz="1100" spc="-35" dirty="0">
                <a:latin typeface="Georgia"/>
                <a:cs typeface="Georgia"/>
              </a:rPr>
              <a:t>is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transition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function,</a:t>
            </a:r>
            <a:endParaRPr sz="1100">
              <a:latin typeface="Georgia"/>
              <a:cs typeface="Georgia"/>
            </a:endParaRPr>
          </a:p>
          <a:p>
            <a:pPr marL="365760" indent="-177800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Font typeface="Georgia"/>
              <a:buAutoNum type="arabicPeriod"/>
              <a:tabLst>
                <a:tab pos="366395" algn="l"/>
              </a:tabLst>
            </a:pPr>
            <a:r>
              <a:rPr sz="1100" i="1" spc="-50" dirty="0">
                <a:latin typeface="Calibri"/>
                <a:cs typeface="Calibri"/>
              </a:rPr>
              <a:t>q</a:t>
            </a:r>
            <a:r>
              <a:rPr sz="1200" spc="-75" baseline="-10416" dirty="0">
                <a:latin typeface="Cambria"/>
                <a:cs typeface="Cambria"/>
              </a:rPr>
              <a:t>0</a:t>
            </a:r>
            <a:r>
              <a:rPr sz="1200" spc="-30" baseline="-10416" dirty="0">
                <a:latin typeface="Cambria"/>
                <a:cs typeface="Cambria"/>
              </a:rPr>
              <a:t> </a:t>
            </a:r>
            <a:r>
              <a:rPr sz="1100" spc="-35" dirty="0">
                <a:latin typeface="Georgia"/>
                <a:cs typeface="Georgia"/>
              </a:rPr>
              <a:t>is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state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state,</a:t>
            </a:r>
            <a:endParaRPr sz="1100">
              <a:latin typeface="Georgia"/>
              <a:cs typeface="Georgia"/>
            </a:endParaRPr>
          </a:p>
          <a:p>
            <a:pPr marL="365760" indent="-177800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Font typeface="Georgia"/>
              <a:buAutoNum type="arabicPeriod"/>
              <a:tabLst>
                <a:tab pos="366395" algn="l"/>
              </a:tabLst>
            </a:pPr>
            <a:r>
              <a:rPr sz="1100" i="1" spc="-80" dirty="0">
                <a:latin typeface="Calibri"/>
                <a:cs typeface="Calibri"/>
              </a:rPr>
              <a:t>q</a:t>
            </a:r>
            <a:r>
              <a:rPr sz="1200" spc="30" baseline="-10416" dirty="0">
                <a:latin typeface="Cambria"/>
                <a:cs typeface="Cambria"/>
              </a:rPr>
              <a:t>accept</a:t>
            </a:r>
            <a:r>
              <a:rPr sz="1200" baseline="-10416" dirty="0">
                <a:latin typeface="Cambria"/>
                <a:cs typeface="Cambria"/>
              </a:rPr>
              <a:t>  </a:t>
            </a:r>
            <a:r>
              <a:rPr sz="1100" spc="-150" dirty="0">
                <a:latin typeface="Lucida Sans Unicode"/>
                <a:cs typeface="Lucida Sans Unicode"/>
              </a:rPr>
              <a:t>∈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i="1" spc="130" dirty="0">
                <a:latin typeface="Calibri"/>
                <a:cs typeface="Calibri"/>
              </a:rPr>
              <a:t>Q</a:t>
            </a:r>
            <a:r>
              <a:rPr sz="1100" i="1" spc="110" dirty="0">
                <a:latin typeface="Calibri"/>
                <a:cs typeface="Calibri"/>
              </a:rPr>
              <a:t> </a:t>
            </a:r>
            <a:r>
              <a:rPr sz="1100" spc="-35" dirty="0">
                <a:latin typeface="Georgia"/>
                <a:cs typeface="Georgia"/>
              </a:rPr>
              <a:t>i</a:t>
            </a:r>
            <a:r>
              <a:rPr sz="1100" spc="-40" dirty="0">
                <a:latin typeface="Georgia"/>
                <a:cs typeface="Georgia"/>
              </a:rPr>
              <a:t>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</a:t>
            </a:r>
            <a:r>
              <a:rPr sz="1100" spc="-15" dirty="0">
                <a:latin typeface="Georgia"/>
                <a:cs typeface="Georgia"/>
              </a:rPr>
              <a:t>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accept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state,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and</a:t>
            </a:r>
            <a:endParaRPr sz="1100">
              <a:latin typeface="Georgia"/>
              <a:cs typeface="Georgia"/>
            </a:endParaRPr>
          </a:p>
          <a:p>
            <a:pPr marL="365760" indent="-177800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Georgia"/>
              <a:buAutoNum type="arabicPeriod"/>
              <a:tabLst>
                <a:tab pos="366395" algn="l"/>
              </a:tabLst>
            </a:pPr>
            <a:r>
              <a:rPr sz="1100" i="1" dirty="0">
                <a:latin typeface="Calibri"/>
                <a:cs typeface="Calibri"/>
              </a:rPr>
              <a:t>q</a:t>
            </a:r>
            <a:r>
              <a:rPr sz="1200" baseline="-10416" dirty="0">
                <a:latin typeface="Cambria"/>
                <a:cs typeface="Cambria"/>
              </a:rPr>
              <a:t>reject</a:t>
            </a:r>
            <a:r>
              <a:rPr sz="1200" spc="7" baseline="-10416" dirty="0">
                <a:latin typeface="Cambria"/>
                <a:cs typeface="Cambria"/>
              </a:rPr>
              <a:t> </a:t>
            </a:r>
            <a:r>
              <a:rPr sz="1100" spc="-150" dirty="0">
                <a:latin typeface="Lucida Sans Unicode"/>
                <a:cs typeface="Lucida Sans Unicode"/>
              </a:rPr>
              <a:t>∈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i="1" spc="130" dirty="0">
                <a:latin typeface="Calibri"/>
                <a:cs typeface="Calibri"/>
              </a:rPr>
              <a:t>Q</a:t>
            </a:r>
            <a:r>
              <a:rPr sz="1100" i="1" spc="110" dirty="0">
                <a:latin typeface="Calibri"/>
                <a:cs typeface="Calibri"/>
              </a:rPr>
              <a:t> </a:t>
            </a:r>
            <a:r>
              <a:rPr sz="1100" spc="-35" dirty="0">
                <a:latin typeface="Georgia"/>
                <a:cs typeface="Georgia"/>
              </a:rPr>
              <a:t>is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reject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state,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where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i="1" dirty="0">
                <a:latin typeface="Calibri"/>
                <a:cs typeface="Calibri"/>
              </a:rPr>
              <a:t>q</a:t>
            </a:r>
            <a:r>
              <a:rPr sz="1200" baseline="-10416" dirty="0">
                <a:latin typeface="Cambria"/>
                <a:cs typeface="Cambria"/>
              </a:rPr>
              <a:t>reject</a:t>
            </a:r>
            <a:r>
              <a:rPr sz="1200" spc="270" baseline="-10416" dirty="0">
                <a:latin typeface="Cambria"/>
                <a:cs typeface="Cambria"/>
              </a:rPr>
              <a:t> </a:t>
            </a:r>
            <a:r>
              <a:rPr sz="1100" spc="65" dirty="0">
                <a:latin typeface="Lucida Sans Unicode"/>
                <a:cs typeface="Lucida Sans Unicode"/>
              </a:rPr>
              <a:t>/</a:t>
            </a:r>
            <a:r>
              <a:rPr sz="1100" spc="65" dirty="0">
                <a:latin typeface="Georgia"/>
                <a:cs typeface="Georgia"/>
              </a:rPr>
              <a:t>=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i="1" spc="15" dirty="0">
                <a:latin typeface="Calibri"/>
                <a:cs typeface="Calibri"/>
              </a:rPr>
              <a:t>q</a:t>
            </a:r>
            <a:r>
              <a:rPr sz="1200" spc="22" baseline="-10416" dirty="0">
                <a:latin typeface="Cambria"/>
                <a:cs typeface="Cambria"/>
              </a:rPr>
              <a:t>accept</a:t>
            </a:r>
            <a:r>
              <a:rPr sz="1100" spc="15" dirty="0">
                <a:latin typeface="Georgia"/>
                <a:cs typeface="Georgia"/>
              </a:rPr>
              <a:t>.</a:t>
            </a:r>
            <a:endParaRPr sz="11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0"/>
            <a:ext cx="7042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45" dirty="0">
                <a:solidFill>
                  <a:srgbClr val="191959"/>
                </a:solidFill>
                <a:latin typeface="Palatino Linotype"/>
                <a:cs typeface="Palatino Linotype"/>
                <a:hlinkClick r:id="rId2" action="ppaction://hlinksldjump"/>
              </a:rPr>
              <a:t>Turing</a:t>
            </a:r>
            <a:r>
              <a:rPr sz="600" spc="55" dirty="0">
                <a:solidFill>
                  <a:srgbClr val="191959"/>
                </a:solidFill>
                <a:latin typeface="Palatino Linotype"/>
                <a:cs typeface="Palatino Linotype"/>
                <a:hlinkClick r:id="rId2" action="ppaction://hlinksldjump"/>
              </a:rPr>
              <a:t> </a:t>
            </a:r>
            <a:r>
              <a:rPr sz="600" spc="45" dirty="0">
                <a:solidFill>
                  <a:srgbClr val="191959"/>
                </a:solidFill>
                <a:latin typeface="Palatino Linotype"/>
                <a:cs typeface="Palatino Linotype"/>
                <a:hlinkClick r:id="rId2" action="ppaction://hlinksldjump"/>
              </a:rPr>
              <a:t>Machines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41623" y="0"/>
            <a:ext cx="11715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45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Equivalence</a:t>
            </a:r>
            <a:r>
              <a:rPr sz="600" spc="75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 </a:t>
            </a:r>
            <a:r>
              <a:rPr sz="600" spc="50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and</a:t>
            </a:r>
            <a:r>
              <a:rPr sz="600" spc="75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 </a:t>
            </a:r>
            <a:r>
              <a:rPr sz="600" spc="50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Algorithms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1011" y="211465"/>
            <a:ext cx="27470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70" dirty="0">
                <a:solidFill>
                  <a:srgbClr val="3333B2"/>
                </a:solidFill>
                <a:latin typeface="Times New Roman"/>
                <a:cs typeface="Times New Roman"/>
              </a:rPr>
              <a:t>Computation</a:t>
            </a:r>
            <a:r>
              <a:rPr sz="1400" spc="110" dirty="0">
                <a:solidFill>
                  <a:srgbClr val="3333B2"/>
                </a:solidFill>
                <a:latin typeface="Times New Roman"/>
                <a:cs typeface="Times New Roman"/>
              </a:rPr>
              <a:t> </a:t>
            </a:r>
            <a:r>
              <a:rPr sz="1400" spc="40" dirty="0">
                <a:solidFill>
                  <a:srgbClr val="3333B2"/>
                </a:solidFill>
                <a:latin typeface="Times New Roman"/>
                <a:cs typeface="Times New Roman"/>
              </a:rPr>
              <a:t>by</a:t>
            </a:r>
            <a:r>
              <a:rPr sz="1400" spc="110" dirty="0">
                <a:solidFill>
                  <a:srgbClr val="3333B2"/>
                </a:solidFill>
                <a:latin typeface="Times New Roman"/>
                <a:cs typeface="Times New Roman"/>
              </a:rPr>
              <a:t> </a:t>
            </a:r>
            <a:r>
              <a:rPr sz="1400" spc="80" dirty="0">
                <a:solidFill>
                  <a:srgbClr val="3333B2"/>
                </a:solidFill>
                <a:latin typeface="Times New Roman"/>
                <a:cs typeface="Times New Roman"/>
              </a:rPr>
              <a:t>a</a:t>
            </a:r>
            <a:r>
              <a:rPr sz="1400" spc="114" dirty="0">
                <a:solidFill>
                  <a:srgbClr val="3333B2"/>
                </a:solidFill>
                <a:latin typeface="Times New Roman"/>
                <a:cs typeface="Times New Roman"/>
              </a:rPr>
              <a:t> </a:t>
            </a:r>
            <a:r>
              <a:rPr sz="1400" spc="45" dirty="0">
                <a:solidFill>
                  <a:srgbClr val="3333B2"/>
                </a:solidFill>
                <a:latin typeface="Times New Roman"/>
                <a:cs typeface="Times New Roman"/>
              </a:rPr>
              <a:t>Turing</a:t>
            </a:r>
            <a:r>
              <a:rPr sz="1400" spc="110" dirty="0">
                <a:solidFill>
                  <a:srgbClr val="3333B2"/>
                </a:solidFill>
                <a:latin typeface="Times New Roman"/>
                <a:cs typeface="Times New Roman"/>
              </a:rPr>
              <a:t> </a:t>
            </a:r>
            <a:r>
              <a:rPr sz="1400" spc="30" dirty="0">
                <a:solidFill>
                  <a:srgbClr val="3333B2"/>
                </a:solidFill>
                <a:latin typeface="Times New Roman"/>
                <a:cs typeface="Times New Roman"/>
              </a:rPr>
              <a:t>Machine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0258" y="1074785"/>
            <a:ext cx="3955415" cy="138176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6379" indent="-132715">
              <a:lnSpc>
                <a:spcPct val="100000"/>
              </a:lnSpc>
              <a:spcBef>
                <a:spcPts val="434"/>
              </a:spcBef>
              <a:buClr>
                <a:srgbClr val="3333B2"/>
              </a:buClr>
              <a:buSzPct val="90909"/>
              <a:buFont typeface="Lucida Sans Unicode"/>
              <a:buChar char="•"/>
              <a:tabLst>
                <a:tab pos="247015" algn="l"/>
              </a:tabLst>
            </a:pPr>
            <a:r>
              <a:rPr sz="1100" spc="5" dirty="0">
                <a:latin typeface="Georgia"/>
                <a:cs typeface="Georgia"/>
              </a:rPr>
              <a:t>Let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i="1" spc="114" dirty="0">
                <a:latin typeface="Calibri"/>
                <a:cs typeface="Calibri"/>
              </a:rPr>
              <a:t>M</a:t>
            </a:r>
            <a:r>
              <a:rPr sz="1100" i="1" spc="170" dirty="0">
                <a:latin typeface="Calibri"/>
                <a:cs typeface="Calibri"/>
              </a:rPr>
              <a:t> </a:t>
            </a:r>
            <a:r>
              <a:rPr sz="1100" spc="140" dirty="0">
                <a:latin typeface="Georgia"/>
                <a:cs typeface="Georgia"/>
              </a:rPr>
              <a:t>=</a:t>
            </a:r>
            <a:r>
              <a:rPr sz="1100" spc="40" dirty="0">
                <a:latin typeface="Georgia"/>
                <a:cs typeface="Georgia"/>
              </a:rPr>
              <a:t> </a:t>
            </a:r>
            <a:r>
              <a:rPr sz="1100" spc="50" dirty="0">
                <a:latin typeface="Georgia"/>
                <a:cs typeface="Georgia"/>
              </a:rPr>
              <a:t>(</a:t>
            </a:r>
            <a:r>
              <a:rPr sz="1100" i="1" spc="50" dirty="0">
                <a:latin typeface="Calibri"/>
                <a:cs typeface="Calibri"/>
              </a:rPr>
              <a:t>Q,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spc="75" dirty="0">
                <a:latin typeface="Georgia"/>
                <a:cs typeface="Georgia"/>
              </a:rPr>
              <a:t>Σ</a:t>
            </a:r>
            <a:r>
              <a:rPr sz="1100" i="1" spc="7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spc="30" dirty="0">
                <a:latin typeface="Georgia"/>
                <a:cs typeface="Georgia"/>
              </a:rPr>
              <a:t>Γ</a:t>
            </a:r>
            <a:r>
              <a:rPr sz="1100" i="1" spc="30" dirty="0">
                <a:latin typeface="Calibri"/>
                <a:cs typeface="Calibri"/>
              </a:rPr>
              <a:t>,</a:t>
            </a:r>
            <a:r>
              <a:rPr sz="1100" i="1" spc="-65" dirty="0">
                <a:latin typeface="Calibri"/>
                <a:cs typeface="Calibri"/>
              </a:rPr>
              <a:t> </a:t>
            </a:r>
            <a:r>
              <a:rPr sz="1100" i="1" spc="-45" dirty="0">
                <a:latin typeface="Calibri"/>
                <a:cs typeface="Calibri"/>
              </a:rPr>
              <a:t>δ,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q</a:t>
            </a:r>
            <a:r>
              <a:rPr sz="1200" spc="-15" baseline="-10416" dirty="0">
                <a:latin typeface="Cambria"/>
                <a:cs typeface="Cambria"/>
              </a:rPr>
              <a:t>0</a:t>
            </a:r>
            <a:r>
              <a:rPr sz="1100" i="1" spc="-10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15" dirty="0">
                <a:latin typeface="Calibri"/>
                <a:cs typeface="Calibri"/>
              </a:rPr>
              <a:t>q</a:t>
            </a:r>
            <a:r>
              <a:rPr sz="1200" spc="22" baseline="-10416" dirty="0">
                <a:latin typeface="Cambria"/>
                <a:cs typeface="Cambria"/>
              </a:rPr>
              <a:t>accept</a:t>
            </a:r>
            <a:r>
              <a:rPr sz="1100" i="1" spc="1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10" dirty="0">
                <a:latin typeface="Calibri"/>
                <a:cs typeface="Calibri"/>
              </a:rPr>
              <a:t>q</a:t>
            </a:r>
            <a:r>
              <a:rPr sz="1200" spc="15" baseline="-10416" dirty="0">
                <a:latin typeface="Cambria"/>
                <a:cs typeface="Cambria"/>
              </a:rPr>
              <a:t>reject</a:t>
            </a:r>
            <a:r>
              <a:rPr sz="1100" spc="10" dirty="0">
                <a:latin typeface="Georgia"/>
                <a:cs typeface="Georgia"/>
              </a:rPr>
              <a:t>)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be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Turing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Machine</a:t>
            </a:r>
            <a:endParaRPr sz="1100">
              <a:latin typeface="Georgia"/>
              <a:cs typeface="Georgia"/>
            </a:endParaRPr>
          </a:p>
          <a:p>
            <a:pPr marL="246379" indent="-132715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SzPct val="90909"/>
              <a:buFont typeface="Lucida Sans Unicode"/>
              <a:buChar char="•"/>
              <a:tabLst>
                <a:tab pos="247015" algn="l"/>
              </a:tabLst>
            </a:pPr>
            <a:r>
              <a:rPr sz="1100" i="1" spc="114" dirty="0">
                <a:latin typeface="Calibri"/>
                <a:cs typeface="Calibri"/>
              </a:rPr>
              <a:t>M</a:t>
            </a:r>
            <a:r>
              <a:rPr sz="1100" i="1" dirty="0">
                <a:latin typeface="Calibri"/>
                <a:cs typeface="Calibri"/>
              </a:rPr>
              <a:t> </a:t>
            </a:r>
            <a:r>
              <a:rPr sz="1100" i="1" spc="-15" dirty="0">
                <a:latin typeface="Calibri"/>
                <a:cs typeface="Calibri"/>
              </a:rPr>
              <a:t> </a:t>
            </a:r>
            <a:r>
              <a:rPr sz="1100" spc="-25" dirty="0">
                <a:latin typeface="Georgia"/>
                <a:cs typeface="Georgia"/>
              </a:rPr>
              <a:t>recei</a:t>
            </a:r>
            <a:r>
              <a:rPr sz="1100" spc="-60" dirty="0">
                <a:latin typeface="Georgia"/>
                <a:cs typeface="Georgia"/>
              </a:rPr>
              <a:t>v</a:t>
            </a:r>
            <a:r>
              <a:rPr sz="1100" spc="-50" dirty="0">
                <a:latin typeface="Georgia"/>
                <a:cs typeface="Georgia"/>
              </a:rPr>
              <a:t>es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</a:t>
            </a:r>
            <a:r>
              <a:rPr sz="1100" spc="-15" dirty="0">
                <a:latin typeface="Georgia"/>
                <a:cs typeface="Georgia"/>
              </a:rPr>
              <a:t>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inpu</a:t>
            </a:r>
            <a:r>
              <a:rPr sz="1100" spc="-10" dirty="0">
                <a:latin typeface="Georgia"/>
                <a:cs typeface="Georgia"/>
              </a:rPr>
              <a:t>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i="1" spc="-10" dirty="0">
                <a:latin typeface="Calibri"/>
                <a:cs typeface="Calibri"/>
              </a:rPr>
              <a:t>w</a:t>
            </a:r>
            <a:r>
              <a:rPr sz="1100" i="1" spc="80" dirty="0">
                <a:latin typeface="Calibri"/>
                <a:cs typeface="Calibri"/>
              </a:rPr>
              <a:t> </a:t>
            </a:r>
            <a:r>
              <a:rPr sz="1100" spc="140" dirty="0">
                <a:latin typeface="Georgia"/>
                <a:cs typeface="Georgia"/>
              </a:rPr>
              <a:t>=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i="1" spc="-15" dirty="0">
                <a:latin typeface="Calibri"/>
                <a:cs typeface="Calibri"/>
              </a:rPr>
              <a:t>w</a:t>
            </a:r>
            <a:r>
              <a:rPr sz="1200" spc="44" baseline="-10416" dirty="0">
                <a:latin typeface="Cambria"/>
                <a:cs typeface="Cambria"/>
              </a:rPr>
              <a:t>1</a:t>
            </a:r>
            <a:r>
              <a:rPr sz="1100" i="1" spc="-15" dirty="0">
                <a:latin typeface="Calibri"/>
                <a:cs typeface="Calibri"/>
              </a:rPr>
              <a:t>w</a:t>
            </a:r>
            <a:r>
              <a:rPr sz="1200" spc="-30" baseline="-10416" dirty="0">
                <a:latin typeface="Cambria"/>
                <a:cs typeface="Cambria"/>
              </a:rPr>
              <a:t>2</a:t>
            </a:r>
            <a:r>
              <a:rPr sz="1200" spc="82" baseline="-10416" dirty="0">
                <a:latin typeface="Cambria"/>
                <a:cs typeface="Cambria"/>
              </a:rPr>
              <a:t> </a:t>
            </a:r>
            <a:r>
              <a:rPr sz="1100" i="1" spc="25" dirty="0">
                <a:latin typeface="Calibri"/>
                <a:cs typeface="Calibri"/>
              </a:rPr>
              <a:t>.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25" dirty="0">
                <a:latin typeface="Calibri"/>
                <a:cs typeface="Calibri"/>
              </a:rPr>
              <a:t>.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25" dirty="0">
                <a:latin typeface="Calibri"/>
                <a:cs typeface="Calibri"/>
              </a:rPr>
              <a:t>.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-15" dirty="0">
                <a:latin typeface="Calibri"/>
                <a:cs typeface="Calibri"/>
              </a:rPr>
              <a:t>w</a:t>
            </a:r>
            <a:r>
              <a:rPr sz="1200" i="1" spc="150" baseline="-10416" dirty="0">
                <a:latin typeface="Calibri"/>
                <a:cs typeface="Calibri"/>
              </a:rPr>
              <a:t>n</a:t>
            </a:r>
            <a:r>
              <a:rPr sz="1200" i="1" baseline="-10416" dirty="0">
                <a:latin typeface="Calibri"/>
                <a:cs typeface="Calibri"/>
              </a:rPr>
              <a:t> </a:t>
            </a:r>
            <a:r>
              <a:rPr sz="1200" i="1" spc="-15" baseline="-10416" dirty="0">
                <a:latin typeface="Calibri"/>
                <a:cs typeface="Calibri"/>
              </a:rPr>
              <a:t> </a:t>
            </a:r>
            <a:r>
              <a:rPr sz="1100" spc="-150" dirty="0">
                <a:latin typeface="Lucida Sans Unicode"/>
                <a:cs typeface="Lucida Sans Unicode"/>
              </a:rPr>
              <a:t>∈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spc="120" dirty="0">
                <a:latin typeface="Georgia"/>
                <a:cs typeface="Georgia"/>
              </a:rPr>
              <a:t>Σ</a:t>
            </a:r>
            <a:r>
              <a:rPr sz="1200" spc="-322" baseline="27777" dirty="0">
                <a:latin typeface="Lucida Sans Unicode"/>
                <a:cs typeface="Lucida Sans Unicode"/>
              </a:rPr>
              <a:t>∗</a:t>
            </a:r>
            <a:r>
              <a:rPr sz="1200" baseline="27777" dirty="0">
                <a:latin typeface="Lucida Sans Unicode"/>
                <a:cs typeface="Lucida Sans Unicode"/>
              </a:rPr>
              <a:t> </a:t>
            </a:r>
            <a:r>
              <a:rPr sz="1200" spc="-142" baseline="27777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Georgia"/>
                <a:cs typeface="Georgia"/>
              </a:rPr>
              <a:t>on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</a:t>
            </a:r>
            <a:r>
              <a:rPr sz="1100" spc="-15" dirty="0">
                <a:latin typeface="Georgia"/>
                <a:cs typeface="Georgia"/>
              </a:rPr>
              <a:t>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leftmost</a:t>
            </a:r>
            <a:endParaRPr sz="1100">
              <a:latin typeface="Georgia"/>
              <a:cs typeface="Georgia"/>
            </a:endParaRPr>
          </a:p>
          <a:p>
            <a:pPr marL="246379">
              <a:lnSpc>
                <a:spcPct val="100000"/>
              </a:lnSpc>
              <a:spcBef>
                <a:spcPts val="35"/>
              </a:spcBef>
            </a:pPr>
            <a:r>
              <a:rPr sz="1100" i="1" spc="85" dirty="0">
                <a:latin typeface="Calibri"/>
                <a:cs typeface="Calibri"/>
              </a:rPr>
              <a:t>n</a:t>
            </a:r>
            <a:r>
              <a:rPr sz="1100" i="1" spc="114" dirty="0">
                <a:latin typeface="Calibri"/>
                <a:cs typeface="Calibri"/>
              </a:rPr>
              <a:t> </a:t>
            </a:r>
            <a:r>
              <a:rPr sz="1100" spc="-35" dirty="0">
                <a:latin typeface="Georgia"/>
                <a:cs typeface="Georgia"/>
              </a:rPr>
              <a:t>squares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of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tape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(rest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of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tape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is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blank)</a:t>
            </a:r>
            <a:endParaRPr sz="1100">
              <a:latin typeface="Georgia"/>
              <a:cs typeface="Georgia"/>
            </a:endParaRPr>
          </a:p>
          <a:p>
            <a:pPr marL="246379" marR="163195" indent="-132715">
              <a:lnSpc>
                <a:spcPct val="102600"/>
              </a:lnSpc>
              <a:spcBef>
                <a:spcPts val="295"/>
              </a:spcBef>
              <a:buClr>
                <a:srgbClr val="3333B2"/>
              </a:buClr>
              <a:buSzPct val="90909"/>
              <a:buFont typeface="Lucida Sans Unicode"/>
              <a:buChar char="•"/>
              <a:tabLst>
                <a:tab pos="247015" algn="l"/>
              </a:tabLst>
            </a:pPr>
            <a:r>
              <a:rPr sz="1100" spc="-25" dirty="0">
                <a:latin typeface="Georgia"/>
                <a:cs typeface="Georgia"/>
              </a:rPr>
              <a:t>Once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i="1" spc="114" dirty="0">
                <a:latin typeface="Calibri"/>
                <a:cs typeface="Calibri"/>
              </a:rPr>
              <a:t>M</a:t>
            </a:r>
            <a:r>
              <a:rPr sz="1100" i="1" spc="235" dirty="0">
                <a:latin typeface="Calibri"/>
                <a:cs typeface="Calibri"/>
              </a:rPr>
              <a:t> </a:t>
            </a:r>
            <a:r>
              <a:rPr sz="1100" spc="-10" dirty="0">
                <a:latin typeface="Georgia"/>
                <a:cs typeface="Georgia"/>
              </a:rPr>
              <a:t>starts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computation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proceeds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according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to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 </a:t>
            </a:r>
            <a:r>
              <a:rPr sz="1100" spc="-25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transition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function</a:t>
            </a:r>
            <a:endParaRPr sz="1100">
              <a:latin typeface="Georgia"/>
              <a:cs typeface="Georgia"/>
            </a:endParaRPr>
          </a:p>
          <a:p>
            <a:pPr marL="246379" marR="186690" indent="-13271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SzPct val="90909"/>
              <a:buFont typeface="Lucida Sans Unicode"/>
              <a:buChar char="•"/>
              <a:tabLst>
                <a:tab pos="247015" algn="l"/>
              </a:tabLst>
            </a:pPr>
            <a:r>
              <a:rPr sz="1100" spc="-10" dirty="0">
                <a:latin typeface="Georgia"/>
                <a:cs typeface="Georgia"/>
              </a:rPr>
              <a:t>Computation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continues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until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10" dirty="0">
                <a:latin typeface="Georgia"/>
                <a:cs typeface="Georgia"/>
              </a:rPr>
              <a:t>it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enters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either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accept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or </a:t>
            </a:r>
            <a:r>
              <a:rPr sz="1100" spc="-25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reject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states</a:t>
            </a:r>
            <a:endParaRPr sz="11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0"/>
            <a:ext cx="7042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45" dirty="0">
                <a:solidFill>
                  <a:srgbClr val="191959"/>
                </a:solidFill>
                <a:latin typeface="Palatino Linotype"/>
                <a:cs typeface="Palatino Linotype"/>
                <a:hlinkClick r:id="rId2" action="ppaction://hlinksldjump"/>
              </a:rPr>
              <a:t>Turing</a:t>
            </a:r>
            <a:r>
              <a:rPr sz="600" spc="55" dirty="0">
                <a:solidFill>
                  <a:srgbClr val="191959"/>
                </a:solidFill>
                <a:latin typeface="Palatino Linotype"/>
                <a:cs typeface="Palatino Linotype"/>
                <a:hlinkClick r:id="rId2" action="ppaction://hlinksldjump"/>
              </a:rPr>
              <a:t> </a:t>
            </a:r>
            <a:r>
              <a:rPr sz="600" spc="45" dirty="0">
                <a:solidFill>
                  <a:srgbClr val="191959"/>
                </a:solidFill>
                <a:latin typeface="Palatino Linotype"/>
                <a:cs typeface="Palatino Linotype"/>
                <a:hlinkClick r:id="rId2" action="ppaction://hlinksldjump"/>
              </a:rPr>
              <a:t>Machines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41623" y="0"/>
            <a:ext cx="11715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45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Equivalence</a:t>
            </a:r>
            <a:r>
              <a:rPr sz="600" spc="75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 </a:t>
            </a:r>
            <a:r>
              <a:rPr sz="600" spc="50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and</a:t>
            </a:r>
            <a:r>
              <a:rPr sz="600" spc="75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 </a:t>
            </a:r>
            <a:r>
              <a:rPr sz="600" spc="50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Algorithms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0258" y="211465"/>
            <a:ext cx="3931285" cy="303212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R="94615" algn="ctr">
              <a:lnSpc>
                <a:spcPct val="100000"/>
              </a:lnSpc>
              <a:spcBef>
                <a:spcPts val="135"/>
              </a:spcBef>
            </a:pPr>
            <a:r>
              <a:rPr sz="1400" spc="70" dirty="0">
                <a:solidFill>
                  <a:srgbClr val="3333B2"/>
                </a:solidFill>
                <a:latin typeface="Times New Roman"/>
                <a:cs typeface="Times New Roman"/>
              </a:rPr>
              <a:t>Computation</a:t>
            </a:r>
            <a:r>
              <a:rPr sz="1400" spc="110" dirty="0">
                <a:solidFill>
                  <a:srgbClr val="3333B2"/>
                </a:solidFill>
                <a:latin typeface="Times New Roman"/>
                <a:cs typeface="Times New Roman"/>
              </a:rPr>
              <a:t> </a:t>
            </a:r>
            <a:r>
              <a:rPr sz="1400" spc="40" dirty="0">
                <a:solidFill>
                  <a:srgbClr val="3333B2"/>
                </a:solidFill>
                <a:latin typeface="Times New Roman"/>
                <a:cs typeface="Times New Roman"/>
              </a:rPr>
              <a:t>by</a:t>
            </a:r>
            <a:r>
              <a:rPr sz="1400" spc="110" dirty="0">
                <a:solidFill>
                  <a:srgbClr val="3333B2"/>
                </a:solidFill>
                <a:latin typeface="Times New Roman"/>
                <a:cs typeface="Times New Roman"/>
              </a:rPr>
              <a:t> </a:t>
            </a:r>
            <a:r>
              <a:rPr sz="1400" spc="80" dirty="0">
                <a:solidFill>
                  <a:srgbClr val="3333B2"/>
                </a:solidFill>
                <a:latin typeface="Times New Roman"/>
                <a:cs typeface="Times New Roman"/>
              </a:rPr>
              <a:t>a</a:t>
            </a:r>
            <a:r>
              <a:rPr sz="1400" spc="114" dirty="0">
                <a:solidFill>
                  <a:srgbClr val="3333B2"/>
                </a:solidFill>
                <a:latin typeface="Times New Roman"/>
                <a:cs typeface="Times New Roman"/>
              </a:rPr>
              <a:t> </a:t>
            </a:r>
            <a:r>
              <a:rPr sz="1400" spc="45" dirty="0">
                <a:solidFill>
                  <a:srgbClr val="3333B2"/>
                </a:solidFill>
                <a:latin typeface="Times New Roman"/>
                <a:cs typeface="Times New Roman"/>
              </a:rPr>
              <a:t>Turing</a:t>
            </a:r>
            <a:r>
              <a:rPr sz="1400" spc="110" dirty="0">
                <a:solidFill>
                  <a:srgbClr val="3333B2"/>
                </a:solidFill>
                <a:latin typeface="Times New Roman"/>
                <a:cs typeface="Times New Roman"/>
              </a:rPr>
              <a:t> </a:t>
            </a:r>
            <a:r>
              <a:rPr sz="1400" spc="30" dirty="0">
                <a:solidFill>
                  <a:srgbClr val="3333B2"/>
                </a:solidFill>
                <a:latin typeface="Times New Roman"/>
                <a:cs typeface="Times New Roman"/>
              </a:rPr>
              <a:t>Machine</a:t>
            </a:r>
            <a:endParaRPr sz="1400">
              <a:latin typeface="Times New Roman"/>
              <a:cs typeface="Times New Roman"/>
            </a:endParaRPr>
          </a:p>
          <a:p>
            <a:pPr marL="246379" marR="483234" indent="-132715">
              <a:lnSpc>
                <a:spcPct val="102600"/>
              </a:lnSpc>
              <a:spcBef>
                <a:spcPts val="1255"/>
              </a:spcBef>
              <a:buClr>
                <a:srgbClr val="3333B2"/>
              </a:buClr>
              <a:buSzPct val="90909"/>
              <a:buFont typeface="Lucida Sans Unicode"/>
              <a:buChar char="•"/>
              <a:tabLst>
                <a:tab pos="247015" algn="l"/>
              </a:tabLst>
            </a:pPr>
            <a:r>
              <a:rPr sz="1100" spc="40" dirty="0">
                <a:latin typeface="Georgia"/>
                <a:cs typeface="Georgia"/>
              </a:rPr>
              <a:t>At </a:t>
            </a:r>
            <a:r>
              <a:rPr sz="1100" spc="-20" dirty="0">
                <a:latin typeface="Georgia"/>
                <a:cs typeface="Georgia"/>
              </a:rPr>
              <a:t>any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instance,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the</a:t>
            </a:r>
            <a:r>
              <a:rPr sz="1100" spc="-1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current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state,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current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tape </a:t>
            </a:r>
            <a:r>
              <a:rPr sz="1100" spc="-254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contents,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and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head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location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together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are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called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 </a:t>
            </a:r>
            <a:r>
              <a:rPr sz="1100" spc="-250" dirty="0">
                <a:latin typeface="Georgia"/>
                <a:cs typeface="Georgia"/>
              </a:rPr>
              <a:t> </a:t>
            </a:r>
            <a:r>
              <a:rPr sz="1100" b="1" spc="-45" dirty="0">
                <a:latin typeface="Georgia"/>
                <a:cs typeface="Georgia"/>
              </a:rPr>
              <a:t>configuration</a:t>
            </a:r>
            <a:r>
              <a:rPr sz="1100" b="1" spc="8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of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40" dirty="0">
                <a:latin typeface="Georgia"/>
                <a:cs typeface="Georgia"/>
              </a:rPr>
              <a:t>TM</a:t>
            </a:r>
            <a:endParaRPr sz="1100">
              <a:latin typeface="Georgia"/>
              <a:cs typeface="Georgia"/>
            </a:endParaRPr>
          </a:p>
          <a:p>
            <a:pPr marL="246379" marR="106680" indent="-132715" algn="just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SzPct val="90909"/>
              <a:buFont typeface="Lucida Sans Unicode"/>
              <a:buChar char="•"/>
              <a:tabLst>
                <a:tab pos="247015" algn="l"/>
              </a:tabLst>
            </a:pPr>
            <a:r>
              <a:rPr sz="1100" spc="-20" dirty="0">
                <a:latin typeface="Georgia"/>
                <a:cs typeface="Georgia"/>
              </a:rPr>
              <a:t>Example </a:t>
            </a:r>
            <a:r>
              <a:rPr sz="1100" spc="-30" dirty="0">
                <a:latin typeface="Georgia"/>
                <a:cs typeface="Georgia"/>
              </a:rPr>
              <a:t>configuration:</a:t>
            </a:r>
            <a:r>
              <a:rPr sz="1100" spc="204" dirty="0">
                <a:latin typeface="Georgia"/>
                <a:cs typeface="Georgia"/>
              </a:rPr>
              <a:t> </a:t>
            </a:r>
            <a:r>
              <a:rPr sz="1100" spc="15" dirty="0">
                <a:latin typeface="Georgia"/>
                <a:cs typeface="Georgia"/>
              </a:rPr>
              <a:t>1011</a:t>
            </a:r>
            <a:r>
              <a:rPr sz="1100" i="1" spc="15" dirty="0">
                <a:latin typeface="Calibri"/>
                <a:cs typeface="Calibri"/>
              </a:rPr>
              <a:t>q</a:t>
            </a:r>
            <a:r>
              <a:rPr sz="1200" spc="22" baseline="-10416" dirty="0">
                <a:latin typeface="Cambria"/>
                <a:cs typeface="Cambria"/>
              </a:rPr>
              <a:t>7</a:t>
            </a:r>
            <a:r>
              <a:rPr sz="1100" spc="15" dirty="0">
                <a:latin typeface="Georgia"/>
                <a:cs typeface="Georgia"/>
              </a:rPr>
              <a:t>01111 </a:t>
            </a:r>
            <a:r>
              <a:rPr sz="1100" spc="140" dirty="0">
                <a:latin typeface="Georgia"/>
                <a:cs typeface="Georgia"/>
              </a:rPr>
              <a:t>= </a:t>
            </a:r>
            <a:r>
              <a:rPr sz="1100" i="1" spc="55" dirty="0">
                <a:latin typeface="Calibri"/>
                <a:cs typeface="Calibri"/>
              </a:rPr>
              <a:t>u </a:t>
            </a:r>
            <a:r>
              <a:rPr sz="1100" i="1" spc="-80" dirty="0">
                <a:latin typeface="Calibri"/>
                <a:cs typeface="Calibri"/>
              </a:rPr>
              <a:t>q</a:t>
            </a:r>
            <a:r>
              <a:rPr sz="1100" i="1" spc="85" dirty="0">
                <a:latin typeface="Calibri"/>
                <a:cs typeface="Calibri"/>
              </a:rPr>
              <a:t> </a:t>
            </a:r>
            <a:r>
              <a:rPr sz="1100" i="1" spc="40" dirty="0">
                <a:latin typeface="Calibri"/>
                <a:cs typeface="Calibri"/>
              </a:rPr>
              <a:t>v</a:t>
            </a:r>
            <a:r>
              <a:rPr sz="1100" spc="40" dirty="0">
                <a:latin typeface="Georgia"/>
                <a:cs typeface="Georgia"/>
              </a:rPr>
              <a:t>, </a:t>
            </a:r>
            <a:r>
              <a:rPr sz="1100" spc="-25" dirty="0">
                <a:latin typeface="Georgia"/>
                <a:cs typeface="Georgia"/>
              </a:rPr>
              <a:t>current </a:t>
            </a:r>
            <a:r>
              <a:rPr sz="1100" spc="-5" dirty="0">
                <a:latin typeface="Georgia"/>
                <a:cs typeface="Georgia"/>
              </a:rPr>
              <a:t>state </a:t>
            </a:r>
            <a:r>
              <a:rPr sz="110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is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i="1" spc="-80" dirty="0">
                <a:latin typeface="Calibri"/>
                <a:cs typeface="Calibri"/>
              </a:rPr>
              <a:t>q</a:t>
            </a:r>
            <a:r>
              <a:rPr sz="1100" i="1" spc="-75" dirty="0">
                <a:latin typeface="Calibri"/>
                <a:cs typeface="Calibri"/>
              </a:rPr>
              <a:t> </a:t>
            </a:r>
            <a:r>
              <a:rPr sz="1100" spc="-15" dirty="0">
                <a:latin typeface="Georgia"/>
                <a:cs typeface="Georgia"/>
              </a:rPr>
              <a:t>i.e., </a:t>
            </a:r>
            <a:r>
              <a:rPr sz="1100" i="1" spc="-15" dirty="0">
                <a:latin typeface="Calibri"/>
                <a:cs typeface="Calibri"/>
              </a:rPr>
              <a:t>q</a:t>
            </a:r>
            <a:r>
              <a:rPr sz="1200" spc="-22" baseline="-10416" dirty="0">
                <a:latin typeface="Cambria"/>
                <a:cs typeface="Cambria"/>
              </a:rPr>
              <a:t>7</a:t>
            </a:r>
            <a:r>
              <a:rPr sz="1100" spc="-15" dirty="0">
                <a:latin typeface="Georgia"/>
                <a:cs typeface="Georgia"/>
              </a:rPr>
              <a:t>, </a:t>
            </a:r>
            <a:r>
              <a:rPr sz="1100" spc="-25" dirty="0">
                <a:latin typeface="Georgia"/>
                <a:cs typeface="Georgia"/>
              </a:rPr>
              <a:t>current </a:t>
            </a:r>
            <a:r>
              <a:rPr sz="1100" spc="-5" dirty="0">
                <a:latin typeface="Georgia"/>
                <a:cs typeface="Georgia"/>
              </a:rPr>
              <a:t>tape </a:t>
            </a:r>
            <a:r>
              <a:rPr sz="1100" spc="-30" dirty="0">
                <a:latin typeface="Georgia"/>
                <a:cs typeface="Georgia"/>
              </a:rPr>
              <a:t>content</a:t>
            </a:r>
            <a:r>
              <a:rPr sz="1100" spc="204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is</a:t>
            </a:r>
            <a:r>
              <a:rPr sz="1100" spc="195" dirty="0">
                <a:latin typeface="Georgia"/>
                <a:cs typeface="Georgia"/>
              </a:rPr>
              <a:t> </a:t>
            </a:r>
            <a:r>
              <a:rPr sz="1100" i="1" spc="45" dirty="0">
                <a:latin typeface="Calibri"/>
                <a:cs typeface="Calibri"/>
              </a:rPr>
              <a:t>uv </a:t>
            </a:r>
            <a:r>
              <a:rPr sz="1100" spc="-15" dirty="0">
                <a:latin typeface="Georgia"/>
                <a:cs typeface="Georgia"/>
              </a:rPr>
              <a:t>i.e., </a:t>
            </a:r>
            <a:r>
              <a:rPr sz="1100" spc="25" dirty="0">
                <a:latin typeface="Georgia"/>
                <a:cs typeface="Georgia"/>
              </a:rPr>
              <a:t>101101111, </a:t>
            </a:r>
            <a:r>
              <a:rPr sz="1100" spc="-30" dirty="0">
                <a:latin typeface="Georgia"/>
                <a:cs typeface="Georgia"/>
              </a:rPr>
              <a:t>and 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head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is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currently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50" dirty="0">
                <a:latin typeface="Georgia"/>
                <a:cs typeface="Georgia"/>
              </a:rPr>
              <a:t>on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second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65" dirty="0">
                <a:latin typeface="Georgia"/>
                <a:cs typeface="Georgia"/>
              </a:rPr>
              <a:t>0.</a:t>
            </a:r>
            <a:endParaRPr sz="1100">
              <a:latin typeface="Georgia"/>
              <a:cs typeface="Georgia"/>
            </a:endParaRPr>
          </a:p>
          <a:p>
            <a:pPr marL="246379" marR="280670" indent="-132715" algn="just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SzPct val="90909"/>
              <a:buFont typeface="Lucida Sans Unicode"/>
              <a:buChar char="•"/>
              <a:tabLst>
                <a:tab pos="247015" algn="l"/>
              </a:tabLst>
            </a:pPr>
            <a:r>
              <a:rPr sz="1100" spc="-30" dirty="0">
                <a:latin typeface="Georgia"/>
                <a:cs typeface="Georgia"/>
              </a:rPr>
              <a:t>Suppose </a:t>
            </a:r>
            <a:r>
              <a:rPr sz="1100" spc="-25" dirty="0">
                <a:latin typeface="Georgia"/>
                <a:cs typeface="Georgia"/>
              </a:rPr>
              <a:t>configuration </a:t>
            </a:r>
            <a:r>
              <a:rPr sz="1100" i="1" spc="90" dirty="0">
                <a:latin typeface="Calibri"/>
                <a:cs typeface="Calibri"/>
              </a:rPr>
              <a:t>C</a:t>
            </a:r>
            <a:r>
              <a:rPr sz="1200" spc="135" baseline="-10416" dirty="0">
                <a:latin typeface="Cambria"/>
                <a:cs typeface="Cambria"/>
              </a:rPr>
              <a:t>1 </a:t>
            </a:r>
            <a:r>
              <a:rPr sz="1100" b="1" spc="-35" dirty="0">
                <a:latin typeface="Georgia"/>
                <a:cs typeface="Georgia"/>
              </a:rPr>
              <a:t>yields </a:t>
            </a:r>
            <a:r>
              <a:rPr sz="1100" spc="-25" dirty="0">
                <a:latin typeface="Georgia"/>
                <a:cs typeface="Georgia"/>
              </a:rPr>
              <a:t>configuration </a:t>
            </a:r>
            <a:r>
              <a:rPr sz="1100" i="1" spc="90" dirty="0">
                <a:latin typeface="Calibri"/>
                <a:cs typeface="Calibri"/>
              </a:rPr>
              <a:t>C</a:t>
            </a:r>
            <a:r>
              <a:rPr sz="1200" spc="135" baseline="-10416" dirty="0">
                <a:latin typeface="Cambria"/>
                <a:cs typeface="Cambria"/>
              </a:rPr>
              <a:t>2 </a:t>
            </a:r>
            <a:r>
              <a:rPr sz="1100" spc="-25" dirty="0">
                <a:latin typeface="Georgia"/>
                <a:cs typeface="Georgia"/>
              </a:rPr>
              <a:t>if </a:t>
            </a:r>
            <a:r>
              <a:rPr sz="1100" spc="-20" dirty="0">
                <a:latin typeface="Georgia"/>
                <a:cs typeface="Georgia"/>
              </a:rPr>
              <a:t>the 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40" dirty="0">
                <a:latin typeface="Georgia"/>
                <a:cs typeface="Georgia"/>
              </a:rPr>
              <a:t>TM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can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legally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go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from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i="1" spc="90" dirty="0">
                <a:latin typeface="Calibri"/>
                <a:cs typeface="Calibri"/>
              </a:rPr>
              <a:t>C</a:t>
            </a:r>
            <a:r>
              <a:rPr sz="1200" spc="135" baseline="-10416" dirty="0">
                <a:latin typeface="Cambria"/>
                <a:cs typeface="Cambria"/>
              </a:rPr>
              <a:t>1</a:t>
            </a:r>
            <a:r>
              <a:rPr sz="1200" spc="352" baseline="-10416" dirty="0">
                <a:latin typeface="Cambria"/>
                <a:cs typeface="Cambria"/>
              </a:rPr>
              <a:t> </a:t>
            </a:r>
            <a:r>
              <a:rPr sz="1100" spc="-5" dirty="0">
                <a:latin typeface="Georgia"/>
                <a:cs typeface="Georgia"/>
              </a:rPr>
              <a:t>to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i="1" spc="90" dirty="0">
                <a:latin typeface="Calibri"/>
                <a:cs typeface="Calibri"/>
              </a:rPr>
              <a:t>C</a:t>
            </a:r>
            <a:r>
              <a:rPr sz="1200" spc="135" baseline="-10416" dirty="0">
                <a:latin typeface="Cambria"/>
                <a:cs typeface="Cambria"/>
              </a:rPr>
              <a:t>2</a:t>
            </a:r>
            <a:r>
              <a:rPr sz="1200" spc="352" baseline="-10416" dirty="0">
                <a:latin typeface="Cambria"/>
                <a:cs typeface="Cambria"/>
              </a:rPr>
              <a:t> </a:t>
            </a:r>
            <a:r>
              <a:rPr sz="1100" spc="-35" dirty="0">
                <a:latin typeface="Georgia"/>
                <a:cs typeface="Georgia"/>
              </a:rPr>
              <a:t>in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single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step</a:t>
            </a:r>
            <a:endParaRPr sz="1100">
              <a:latin typeface="Georgia"/>
              <a:cs typeface="Georgia"/>
            </a:endParaRPr>
          </a:p>
          <a:p>
            <a:pPr marL="246379" marR="285750" indent="-132715" algn="just">
              <a:lnSpc>
                <a:spcPct val="102699"/>
              </a:lnSpc>
              <a:spcBef>
                <a:spcPts val="295"/>
              </a:spcBef>
              <a:buClr>
                <a:srgbClr val="3333B2"/>
              </a:buClr>
              <a:buSzPct val="90909"/>
              <a:buFont typeface="Lucida Sans Unicode"/>
              <a:buChar char="•"/>
              <a:tabLst>
                <a:tab pos="247015" algn="l"/>
              </a:tabLst>
            </a:pPr>
            <a:r>
              <a:rPr sz="1100" spc="25" dirty="0">
                <a:latin typeface="Georgia"/>
                <a:cs typeface="Georgia"/>
              </a:rPr>
              <a:t>That </a:t>
            </a:r>
            <a:r>
              <a:rPr sz="1100" spc="-25" dirty="0">
                <a:latin typeface="Georgia"/>
                <a:cs typeface="Georgia"/>
              </a:rPr>
              <a:t>is, </a:t>
            </a:r>
            <a:r>
              <a:rPr sz="1100" spc="-35" dirty="0">
                <a:latin typeface="Georgia"/>
                <a:cs typeface="Georgia"/>
              </a:rPr>
              <a:t>suppose </a:t>
            </a:r>
            <a:r>
              <a:rPr sz="1100" spc="-55" dirty="0">
                <a:latin typeface="Georgia"/>
                <a:cs typeface="Georgia"/>
              </a:rPr>
              <a:t>we </a:t>
            </a:r>
            <a:r>
              <a:rPr sz="1100" spc="-35" dirty="0">
                <a:latin typeface="Georgia"/>
                <a:cs typeface="Georgia"/>
              </a:rPr>
              <a:t>have </a:t>
            </a:r>
            <a:r>
              <a:rPr sz="1100" i="1" spc="15" dirty="0">
                <a:latin typeface="Calibri"/>
                <a:cs typeface="Calibri"/>
              </a:rPr>
              <a:t>a, </a:t>
            </a:r>
            <a:r>
              <a:rPr sz="1100" i="1" spc="-35" dirty="0">
                <a:latin typeface="Calibri"/>
                <a:cs typeface="Calibri"/>
              </a:rPr>
              <a:t>b, </a:t>
            </a:r>
            <a:r>
              <a:rPr sz="1100" i="1" spc="10" dirty="0">
                <a:latin typeface="Calibri"/>
                <a:cs typeface="Calibri"/>
              </a:rPr>
              <a:t>c </a:t>
            </a:r>
            <a:r>
              <a:rPr sz="1100" spc="-150" dirty="0">
                <a:latin typeface="Lucida Sans Unicode"/>
                <a:cs typeface="Lucida Sans Unicode"/>
              </a:rPr>
              <a:t>∈ </a:t>
            </a:r>
            <a:r>
              <a:rPr sz="1100" i="1" spc="70" dirty="0">
                <a:latin typeface="Calibri"/>
                <a:cs typeface="Calibri"/>
              </a:rPr>
              <a:t>Gamma </a:t>
            </a:r>
            <a:r>
              <a:rPr sz="1100" spc="-30" dirty="0">
                <a:latin typeface="Georgia"/>
                <a:cs typeface="Georgia"/>
              </a:rPr>
              <a:t>and </a:t>
            </a:r>
            <a:r>
              <a:rPr sz="1100" i="1" spc="40" dirty="0">
                <a:latin typeface="Calibri"/>
                <a:cs typeface="Calibri"/>
              </a:rPr>
              <a:t>u, </a:t>
            </a:r>
            <a:r>
              <a:rPr sz="1100" i="1" spc="35" dirty="0">
                <a:latin typeface="Calibri"/>
                <a:cs typeface="Calibri"/>
              </a:rPr>
              <a:t>v </a:t>
            </a:r>
            <a:r>
              <a:rPr sz="1100" spc="-150" dirty="0">
                <a:latin typeface="Lucida Sans Unicode"/>
                <a:cs typeface="Lucida Sans Unicode"/>
              </a:rPr>
              <a:t>∈ </a:t>
            </a:r>
            <a:r>
              <a:rPr sz="1100" spc="-90" dirty="0">
                <a:latin typeface="Georgia"/>
                <a:cs typeface="Georgia"/>
              </a:rPr>
              <a:t>Γ</a:t>
            </a:r>
            <a:r>
              <a:rPr sz="1200" spc="-135" baseline="27777" dirty="0">
                <a:latin typeface="Lucida Sans Unicode"/>
                <a:cs typeface="Lucida Sans Unicode"/>
              </a:rPr>
              <a:t>∗ </a:t>
            </a:r>
            <a:r>
              <a:rPr sz="1200" spc="-127" baseline="27777" dirty="0">
                <a:latin typeface="Lucida Sans Unicode"/>
                <a:cs typeface="Lucida Sans Unicode"/>
              </a:rPr>
              <a:t> </a:t>
            </a:r>
            <a:r>
              <a:rPr sz="1100" spc="-30" dirty="0">
                <a:latin typeface="Georgia"/>
                <a:cs typeface="Georgia"/>
              </a:rPr>
              <a:t>and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states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i="1" spc="10" dirty="0">
                <a:latin typeface="Calibri"/>
                <a:cs typeface="Calibri"/>
              </a:rPr>
              <a:t>q</a:t>
            </a:r>
            <a:r>
              <a:rPr sz="1200" i="1" spc="15" baseline="-10416" dirty="0">
                <a:latin typeface="Calibri"/>
                <a:cs typeface="Calibri"/>
              </a:rPr>
              <a:t>i</a:t>
            </a:r>
            <a:r>
              <a:rPr sz="1200" i="1" spc="67" baseline="-10416" dirty="0">
                <a:latin typeface="Calibri"/>
                <a:cs typeface="Calibri"/>
              </a:rPr>
              <a:t> </a:t>
            </a:r>
            <a:r>
              <a:rPr sz="1100" spc="-30" dirty="0">
                <a:latin typeface="Georgia"/>
                <a:cs typeface="Georgia"/>
              </a:rPr>
              <a:t>and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i="1" spc="35" dirty="0">
                <a:latin typeface="Calibri"/>
                <a:cs typeface="Calibri"/>
              </a:rPr>
              <a:t>q</a:t>
            </a:r>
            <a:r>
              <a:rPr sz="1200" i="1" spc="52" baseline="-10416" dirty="0">
                <a:latin typeface="Calibri"/>
                <a:cs typeface="Calibri"/>
              </a:rPr>
              <a:t>j</a:t>
            </a:r>
            <a:r>
              <a:rPr sz="1200" i="1" spc="-135" baseline="-10416" dirty="0">
                <a:latin typeface="Calibri"/>
                <a:cs typeface="Calibri"/>
              </a:rPr>
              <a:t> </a:t>
            </a:r>
            <a:r>
              <a:rPr sz="1100" spc="5" dirty="0">
                <a:latin typeface="Georgia"/>
                <a:cs typeface="Georgia"/>
              </a:rPr>
              <a:t>,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i="1" spc="35" dirty="0">
                <a:latin typeface="Calibri"/>
                <a:cs typeface="Calibri"/>
              </a:rPr>
              <a:t>ua</a:t>
            </a:r>
            <a:r>
              <a:rPr sz="1100" i="1" spc="110" dirty="0">
                <a:latin typeface="Calibri"/>
                <a:cs typeface="Calibri"/>
              </a:rPr>
              <a:t> </a:t>
            </a:r>
            <a:r>
              <a:rPr sz="1100" i="1" spc="10" dirty="0">
                <a:latin typeface="Calibri"/>
                <a:cs typeface="Calibri"/>
              </a:rPr>
              <a:t>q</a:t>
            </a:r>
            <a:r>
              <a:rPr sz="1200" i="1" spc="15" baseline="-10416" dirty="0">
                <a:latin typeface="Calibri"/>
                <a:cs typeface="Calibri"/>
              </a:rPr>
              <a:t>i</a:t>
            </a:r>
            <a:r>
              <a:rPr sz="1200" i="1" spc="60" baseline="-10416" dirty="0">
                <a:latin typeface="Calibri"/>
                <a:cs typeface="Calibri"/>
              </a:rPr>
              <a:t> </a:t>
            </a:r>
            <a:r>
              <a:rPr sz="1100" i="1" spc="-30" dirty="0">
                <a:latin typeface="Calibri"/>
                <a:cs typeface="Calibri"/>
              </a:rPr>
              <a:t>bv</a:t>
            </a:r>
            <a:r>
              <a:rPr sz="1100" i="1" spc="155" dirty="0">
                <a:latin typeface="Calibri"/>
                <a:cs typeface="Calibri"/>
              </a:rPr>
              <a:t> </a:t>
            </a:r>
            <a:r>
              <a:rPr sz="1100" spc="-25" dirty="0">
                <a:latin typeface="Georgia"/>
                <a:cs typeface="Georgia"/>
              </a:rPr>
              <a:t>yields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i="1" spc="55" dirty="0">
                <a:latin typeface="Calibri"/>
                <a:cs typeface="Calibri"/>
              </a:rPr>
              <a:t>u</a:t>
            </a:r>
            <a:r>
              <a:rPr sz="1100" i="1" spc="114" dirty="0">
                <a:latin typeface="Calibri"/>
                <a:cs typeface="Calibri"/>
              </a:rPr>
              <a:t> </a:t>
            </a:r>
            <a:r>
              <a:rPr sz="1100" i="1" spc="35" dirty="0">
                <a:latin typeface="Calibri"/>
                <a:cs typeface="Calibri"/>
              </a:rPr>
              <a:t>q</a:t>
            </a:r>
            <a:r>
              <a:rPr sz="1200" i="1" spc="52" baseline="-10416" dirty="0">
                <a:latin typeface="Calibri"/>
                <a:cs typeface="Calibri"/>
              </a:rPr>
              <a:t>j</a:t>
            </a:r>
            <a:r>
              <a:rPr sz="1200" i="1" spc="-142" baseline="-10416" dirty="0">
                <a:latin typeface="Calibri"/>
                <a:cs typeface="Calibri"/>
              </a:rPr>
              <a:t> </a:t>
            </a:r>
            <a:r>
              <a:rPr sz="1100" i="1" spc="15" dirty="0">
                <a:latin typeface="Calibri"/>
                <a:cs typeface="Calibri"/>
              </a:rPr>
              <a:t>acv</a:t>
            </a:r>
            <a:r>
              <a:rPr sz="1100" i="1" spc="155" dirty="0">
                <a:latin typeface="Calibri"/>
                <a:cs typeface="Calibri"/>
              </a:rPr>
              <a:t> </a:t>
            </a:r>
            <a:r>
              <a:rPr sz="1100" spc="-30" dirty="0">
                <a:latin typeface="Georgia"/>
                <a:cs typeface="Georgia"/>
              </a:rPr>
              <a:t>if</a:t>
            </a:r>
            <a:endParaRPr sz="1100">
              <a:latin typeface="Georgia"/>
              <a:cs typeface="Georgia"/>
            </a:endParaRPr>
          </a:p>
          <a:p>
            <a:pPr marL="173355" algn="ctr">
              <a:lnSpc>
                <a:spcPct val="100000"/>
              </a:lnSpc>
              <a:spcBef>
                <a:spcPts val="1130"/>
              </a:spcBef>
            </a:pPr>
            <a:r>
              <a:rPr sz="1100" i="1" spc="-55" dirty="0">
                <a:latin typeface="Calibri"/>
                <a:cs typeface="Calibri"/>
              </a:rPr>
              <a:t>δ</a:t>
            </a:r>
            <a:r>
              <a:rPr sz="1100" spc="5" dirty="0">
                <a:latin typeface="Georgia"/>
                <a:cs typeface="Georgia"/>
              </a:rPr>
              <a:t>(</a:t>
            </a:r>
            <a:r>
              <a:rPr sz="1100" i="1" spc="-80" dirty="0">
                <a:latin typeface="Calibri"/>
                <a:cs typeface="Calibri"/>
              </a:rPr>
              <a:t>q</a:t>
            </a:r>
            <a:r>
              <a:rPr sz="1200" i="1" spc="217" baseline="-10416" dirty="0">
                <a:latin typeface="Calibri"/>
                <a:cs typeface="Calibri"/>
              </a:rPr>
              <a:t>i</a:t>
            </a:r>
            <a:r>
              <a:rPr sz="1100" i="1" spc="2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-105" dirty="0">
                <a:latin typeface="Calibri"/>
                <a:cs typeface="Calibri"/>
              </a:rPr>
              <a:t>b</a:t>
            </a:r>
            <a:r>
              <a:rPr sz="1100" spc="10" dirty="0">
                <a:latin typeface="Georgia"/>
                <a:cs typeface="Georgia"/>
              </a:rPr>
              <a:t>)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140" dirty="0">
                <a:latin typeface="Georgia"/>
                <a:cs typeface="Georgia"/>
              </a:rPr>
              <a:t>=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5" dirty="0">
                <a:latin typeface="Georgia"/>
                <a:cs typeface="Georgia"/>
              </a:rPr>
              <a:t>(</a:t>
            </a:r>
            <a:r>
              <a:rPr sz="1100" i="1" spc="-80" dirty="0">
                <a:latin typeface="Calibri"/>
                <a:cs typeface="Calibri"/>
              </a:rPr>
              <a:t>q</a:t>
            </a:r>
            <a:r>
              <a:rPr sz="1200" i="1" spc="367" baseline="-10416" dirty="0">
                <a:latin typeface="Calibri"/>
                <a:cs typeface="Calibri"/>
              </a:rPr>
              <a:t>j</a:t>
            </a:r>
            <a:r>
              <a:rPr sz="1100" i="1" spc="2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20" dirty="0">
                <a:latin typeface="Calibri"/>
                <a:cs typeface="Calibri"/>
              </a:rPr>
              <a:t>c</a:t>
            </a:r>
            <a:r>
              <a:rPr sz="1100" i="1" spc="1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254" dirty="0">
                <a:latin typeface="Calibri"/>
                <a:cs typeface="Calibri"/>
              </a:rPr>
              <a:t>D</a:t>
            </a:r>
            <a:r>
              <a:rPr sz="1100" spc="10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 marL="246379" marR="147320">
              <a:lnSpc>
                <a:spcPct val="102600"/>
              </a:lnSpc>
              <a:spcBef>
                <a:spcPts val="1100"/>
              </a:spcBef>
            </a:pPr>
            <a:r>
              <a:rPr sz="1100" spc="-35" dirty="0">
                <a:latin typeface="Georgia"/>
                <a:cs typeface="Georgia"/>
              </a:rPr>
              <a:t>where </a:t>
            </a:r>
            <a:r>
              <a:rPr sz="1100" i="1" spc="225" dirty="0">
                <a:latin typeface="Calibri"/>
                <a:cs typeface="Calibri"/>
              </a:rPr>
              <a:t>D </a:t>
            </a:r>
            <a:r>
              <a:rPr sz="1100" spc="140" dirty="0">
                <a:latin typeface="Georgia"/>
                <a:cs typeface="Georgia"/>
              </a:rPr>
              <a:t>= </a:t>
            </a:r>
            <a:r>
              <a:rPr sz="1100" i="1" spc="280" dirty="0">
                <a:latin typeface="Calibri"/>
                <a:cs typeface="Calibri"/>
              </a:rPr>
              <a:t>L </a:t>
            </a:r>
            <a:r>
              <a:rPr sz="1100" spc="-25" dirty="0">
                <a:latin typeface="Georgia"/>
                <a:cs typeface="Georgia"/>
              </a:rPr>
              <a:t>if </a:t>
            </a:r>
            <a:r>
              <a:rPr sz="1100" i="1" spc="114" dirty="0">
                <a:latin typeface="Calibri"/>
                <a:cs typeface="Calibri"/>
              </a:rPr>
              <a:t>M </a:t>
            </a:r>
            <a:r>
              <a:rPr sz="1100" spc="-50" dirty="0">
                <a:latin typeface="Georgia"/>
                <a:cs typeface="Georgia"/>
              </a:rPr>
              <a:t>moves</a:t>
            </a:r>
            <a:r>
              <a:rPr sz="1100" spc="-4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leftward and </a:t>
            </a:r>
            <a:r>
              <a:rPr sz="1100" i="1" spc="225" dirty="0">
                <a:latin typeface="Calibri"/>
                <a:cs typeface="Calibri"/>
              </a:rPr>
              <a:t>D </a:t>
            </a:r>
            <a:r>
              <a:rPr sz="1100" spc="140" dirty="0">
                <a:latin typeface="Georgia"/>
                <a:cs typeface="Georgia"/>
              </a:rPr>
              <a:t>= </a:t>
            </a:r>
            <a:r>
              <a:rPr sz="1100" i="1" spc="229" dirty="0">
                <a:latin typeface="Calibri"/>
                <a:cs typeface="Calibri"/>
              </a:rPr>
              <a:t>R </a:t>
            </a:r>
            <a:r>
              <a:rPr sz="1100" spc="-25" dirty="0">
                <a:latin typeface="Georgia"/>
                <a:cs typeface="Georgia"/>
              </a:rPr>
              <a:t>if </a:t>
            </a:r>
            <a:r>
              <a:rPr sz="1100" i="1" spc="114" dirty="0">
                <a:latin typeface="Calibri"/>
                <a:cs typeface="Calibri"/>
              </a:rPr>
              <a:t>M </a:t>
            </a:r>
            <a:r>
              <a:rPr sz="1100" spc="-50" dirty="0">
                <a:latin typeface="Georgia"/>
                <a:cs typeface="Georgia"/>
              </a:rPr>
              <a:t>moves </a:t>
            </a:r>
            <a:r>
              <a:rPr sz="1100" spc="-254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rightward</a:t>
            </a:r>
            <a:endParaRPr sz="11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0"/>
            <a:ext cx="7042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45" dirty="0">
                <a:solidFill>
                  <a:srgbClr val="191959"/>
                </a:solidFill>
                <a:latin typeface="Palatino Linotype"/>
                <a:cs typeface="Palatino Linotype"/>
                <a:hlinkClick r:id="rId2" action="ppaction://hlinksldjump"/>
              </a:rPr>
              <a:t>Turing</a:t>
            </a:r>
            <a:r>
              <a:rPr sz="600" spc="55" dirty="0">
                <a:solidFill>
                  <a:srgbClr val="191959"/>
                </a:solidFill>
                <a:latin typeface="Palatino Linotype"/>
                <a:cs typeface="Palatino Linotype"/>
                <a:hlinkClick r:id="rId2" action="ppaction://hlinksldjump"/>
              </a:rPr>
              <a:t> </a:t>
            </a:r>
            <a:r>
              <a:rPr sz="600" spc="45" dirty="0">
                <a:solidFill>
                  <a:srgbClr val="191959"/>
                </a:solidFill>
                <a:latin typeface="Palatino Linotype"/>
                <a:cs typeface="Palatino Linotype"/>
                <a:hlinkClick r:id="rId2" action="ppaction://hlinksldjump"/>
              </a:rPr>
              <a:t>Machines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41623" y="0"/>
            <a:ext cx="11715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45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Equivalence</a:t>
            </a:r>
            <a:r>
              <a:rPr sz="600" spc="75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 </a:t>
            </a:r>
            <a:r>
              <a:rPr sz="600" spc="50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and</a:t>
            </a:r>
            <a:r>
              <a:rPr sz="600" spc="75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 </a:t>
            </a:r>
            <a:r>
              <a:rPr sz="600" spc="50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Algorithms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74355" y="211465"/>
            <a:ext cx="125984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45" dirty="0">
                <a:solidFill>
                  <a:srgbClr val="3333B2"/>
                </a:solidFill>
                <a:latin typeface="Times New Roman"/>
                <a:cs typeface="Times New Roman"/>
              </a:rPr>
              <a:t>Turing</a:t>
            </a:r>
            <a:r>
              <a:rPr sz="1400" spc="50" dirty="0">
                <a:solidFill>
                  <a:srgbClr val="3333B2"/>
                </a:solidFill>
                <a:latin typeface="Times New Roman"/>
                <a:cs typeface="Times New Roman"/>
              </a:rPr>
              <a:t> </a:t>
            </a:r>
            <a:r>
              <a:rPr sz="1400" spc="35" dirty="0">
                <a:solidFill>
                  <a:srgbClr val="3333B2"/>
                </a:solidFill>
                <a:latin typeface="Times New Roman"/>
                <a:cs typeface="Times New Roman"/>
              </a:rPr>
              <a:t>Machine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09193" y="986954"/>
            <a:ext cx="4040504" cy="817880"/>
            <a:chOff x="309193" y="986954"/>
            <a:chExt cx="4040504" cy="817880"/>
          </a:xfrm>
        </p:grpSpPr>
        <p:sp>
          <p:nvSpPr>
            <p:cNvPr id="6" name="object 6"/>
            <p:cNvSpPr/>
            <p:nvPr/>
          </p:nvSpPr>
          <p:spPr>
            <a:xfrm>
              <a:off x="309193" y="986954"/>
              <a:ext cx="3989704" cy="198120"/>
            </a:xfrm>
            <a:custGeom>
              <a:avLst/>
              <a:gdLst/>
              <a:ahLst/>
              <a:cxnLst/>
              <a:rect l="l" t="t" r="r" b="b"/>
              <a:pathLst>
                <a:path w="3989704" h="198119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7521"/>
                  </a:lnTo>
                  <a:lnTo>
                    <a:pt x="3989652" y="197521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D6D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9194" y="1171816"/>
              <a:ext cx="3989651" cy="5060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9994" y="1702968"/>
              <a:ext cx="101600" cy="1016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0794" y="1690268"/>
              <a:ext cx="3938802" cy="1143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98846" y="1031189"/>
              <a:ext cx="50751" cy="67177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09193" y="1216092"/>
              <a:ext cx="3989704" cy="537845"/>
            </a:xfrm>
            <a:custGeom>
              <a:avLst/>
              <a:gdLst/>
              <a:ahLst/>
              <a:cxnLst/>
              <a:rect l="l" t="t" r="r" b="b"/>
              <a:pathLst>
                <a:path w="3989704" h="537844">
                  <a:moveTo>
                    <a:pt x="3989652" y="0"/>
                  </a:moveTo>
                  <a:lnTo>
                    <a:pt x="0" y="0"/>
                  </a:lnTo>
                  <a:lnTo>
                    <a:pt x="0" y="486876"/>
                  </a:lnTo>
                  <a:lnTo>
                    <a:pt x="4008" y="506600"/>
                  </a:lnTo>
                  <a:lnTo>
                    <a:pt x="14922" y="522753"/>
                  </a:lnTo>
                  <a:lnTo>
                    <a:pt x="31075" y="533667"/>
                  </a:lnTo>
                  <a:lnTo>
                    <a:pt x="50800" y="537676"/>
                  </a:lnTo>
                  <a:lnTo>
                    <a:pt x="3938852" y="537676"/>
                  </a:lnTo>
                  <a:lnTo>
                    <a:pt x="3958576" y="533667"/>
                  </a:lnTo>
                  <a:lnTo>
                    <a:pt x="3974729" y="522753"/>
                  </a:lnTo>
                  <a:lnTo>
                    <a:pt x="3985644" y="506600"/>
                  </a:lnTo>
                  <a:lnTo>
                    <a:pt x="3989652" y="486876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F7F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98846" y="1069276"/>
              <a:ext cx="0" cy="652780"/>
            </a:xfrm>
            <a:custGeom>
              <a:avLst/>
              <a:gdLst/>
              <a:ahLst/>
              <a:cxnLst/>
              <a:rect l="l" t="t" r="r" b="b"/>
              <a:pathLst>
                <a:path h="652780">
                  <a:moveTo>
                    <a:pt x="0" y="65274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98846" y="105657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98846" y="104387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98846" y="103117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47294" y="921589"/>
            <a:ext cx="3723004" cy="80137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200" spc="20" dirty="0">
                <a:latin typeface="Times New Roman"/>
                <a:cs typeface="Times New Roman"/>
              </a:rPr>
              <a:t>Turing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Recognizable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ct val="102600"/>
              </a:lnSpc>
              <a:spcBef>
                <a:spcPts val="270"/>
              </a:spcBef>
            </a:pPr>
            <a:r>
              <a:rPr sz="1100" spc="80" dirty="0">
                <a:latin typeface="Georgia"/>
                <a:cs typeface="Georgia"/>
              </a:rPr>
              <a:t>A </a:t>
            </a:r>
            <a:r>
              <a:rPr sz="1100" spc="-30" dirty="0">
                <a:latin typeface="Georgia"/>
                <a:cs typeface="Georgia"/>
              </a:rPr>
              <a:t>language </a:t>
            </a:r>
            <a:r>
              <a:rPr sz="1100" i="1" spc="280" dirty="0">
                <a:latin typeface="Calibri"/>
                <a:cs typeface="Calibri"/>
              </a:rPr>
              <a:t>L </a:t>
            </a:r>
            <a:r>
              <a:rPr sz="1100" spc="-35" dirty="0">
                <a:latin typeface="Georgia"/>
                <a:cs typeface="Georgia"/>
              </a:rPr>
              <a:t>is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called </a:t>
            </a:r>
            <a:r>
              <a:rPr sz="1100" b="1" spc="-45" dirty="0">
                <a:latin typeface="Georgia"/>
                <a:cs typeface="Georgia"/>
              </a:rPr>
              <a:t>Turing-recognizable</a:t>
            </a:r>
            <a:r>
              <a:rPr sz="1100" b="1" spc="-4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if </a:t>
            </a:r>
            <a:r>
              <a:rPr sz="1100" spc="-55" dirty="0">
                <a:latin typeface="Georgia"/>
                <a:cs typeface="Georgia"/>
              </a:rPr>
              <a:t>some</a:t>
            </a:r>
            <a:r>
              <a:rPr sz="1100" spc="-5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Turing </a:t>
            </a:r>
            <a:r>
              <a:rPr sz="1100" spc="-254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machine</a:t>
            </a:r>
            <a:r>
              <a:rPr sz="1100" spc="-35" dirty="0">
                <a:latin typeface="Georgia"/>
                <a:cs typeface="Georgia"/>
              </a:rPr>
              <a:t> recognizes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spc="5" dirty="0">
                <a:latin typeface="Georgia"/>
                <a:cs typeface="Georgia"/>
              </a:rPr>
              <a:t>it.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i="1" spc="280" dirty="0">
                <a:latin typeface="Calibri"/>
                <a:cs typeface="Calibri"/>
              </a:rPr>
              <a:t>L </a:t>
            </a:r>
            <a:r>
              <a:rPr sz="1100" spc="-35" dirty="0">
                <a:latin typeface="Georgia"/>
                <a:cs typeface="Georgia"/>
              </a:rPr>
              <a:t>is</a:t>
            </a:r>
            <a:r>
              <a:rPr sz="1100" spc="-30" dirty="0">
                <a:latin typeface="Georgia"/>
                <a:cs typeface="Georgia"/>
              </a:rPr>
              <a:t> also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called </a:t>
            </a:r>
            <a:r>
              <a:rPr sz="1100" b="1" spc="-40" dirty="0">
                <a:latin typeface="Georgia"/>
                <a:cs typeface="Georgia"/>
              </a:rPr>
              <a:t>recursively </a:t>
            </a:r>
            <a:r>
              <a:rPr sz="1100" b="1" spc="-35" dirty="0">
                <a:latin typeface="Georgia"/>
                <a:cs typeface="Georgia"/>
              </a:rPr>
              <a:t> </a:t>
            </a:r>
            <a:r>
              <a:rPr sz="1100" b="1" spc="-60" dirty="0">
                <a:latin typeface="Georgia"/>
                <a:cs typeface="Georgia"/>
              </a:rPr>
              <a:t>enumerable</a:t>
            </a:r>
            <a:r>
              <a:rPr sz="1100" b="1" spc="130" dirty="0">
                <a:latin typeface="Georgia"/>
                <a:cs typeface="Georgia"/>
              </a:rPr>
              <a:t> </a:t>
            </a:r>
            <a:r>
              <a:rPr sz="1100" b="1" spc="-35" dirty="0">
                <a:latin typeface="Georgia"/>
                <a:cs typeface="Georgia"/>
              </a:rPr>
              <a:t>language</a:t>
            </a:r>
            <a:r>
              <a:rPr sz="1100" spc="-35" dirty="0">
                <a:latin typeface="Georgia"/>
                <a:cs typeface="Georgia"/>
              </a:rPr>
              <a:t>.</a:t>
            </a:r>
            <a:endParaRPr sz="11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0"/>
            <a:ext cx="7042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45" dirty="0">
                <a:solidFill>
                  <a:srgbClr val="191959"/>
                </a:solidFill>
                <a:latin typeface="Palatino Linotype"/>
                <a:cs typeface="Palatino Linotype"/>
                <a:hlinkClick r:id="rId2" action="ppaction://hlinksldjump"/>
              </a:rPr>
              <a:t>Turing</a:t>
            </a:r>
            <a:r>
              <a:rPr sz="600" spc="55" dirty="0">
                <a:solidFill>
                  <a:srgbClr val="191959"/>
                </a:solidFill>
                <a:latin typeface="Palatino Linotype"/>
                <a:cs typeface="Palatino Linotype"/>
                <a:hlinkClick r:id="rId2" action="ppaction://hlinksldjump"/>
              </a:rPr>
              <a:t> </a:t>
            </a:r>
            <a:r>
              <a:rPr sz="600" spc="45" dirty="0">
                <a:solidFill>
                  <a:srgbClr val="191959"/>
                </a:solidFill>
                <a:latin typeface="Palatino Linotype"/>
                <a:cs typeface="Palatino Linotype"/>
                <a:hlinkClick r:id="rId2" action="ppaction://hlinksldjump"/>
              </a:rPr>
              <a:t>Machines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41623" y="0"/>
            <a:ext cx="11715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45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Equivalence</a:t>
            </a:r>
            <a:r>
              <a:rPr sz="600" spc="75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 </a:t>
            </a:r>
            <a:r>
              <a:rPr sz="600" spc="50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and</a:t>
            </a:r>
            <a:r>
              <a:rPr sz="600" spc="75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 </a:t>
            </a:r>
            <a:r>
              <a:rPr sz="600" spc="50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Algorithms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74355" y="211465"/>
            <a:ext cx="125984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45" dirty="0">
                <a:solidFill>
                  <a:srgbClr val="3333B2"/>
                </a:solidFill>
                <a:latin typeface="Times New Roman"/>
                <a:cs typeface="Times New Roman"/>
              </a:rPr>
              <a:t>Turing</a:t>
            </a:r>
            <a:r>
              <a:rPr sz="1400" spc="50" dirty="0">
                <a:solidFill>
                  <a:srgbClr val="3333B2"/>
                </a:solidFill>
                <a:latin typeface="Times New Roman"/>
                <a:cs typeface="Times New Roman"/>
              </a:rPr>
              <a:t> </a:t>
            </a:r>
            <a:r>
              <a:rPr sz="1400" spc="35" dirty="0">
                <a:solidFill>
                  <a:srgbClr val="3333B2"/>
                </a:solidFill>
                <a:latin typeface="Times New Roman"/>
                <a:cs typeface="Times New Roman"/>
              </a:rPr>
              <a:t>Machine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09193" y="986954"/>
            <a:ext cx="4040504" cy="817880"/>
            <a:chOff x="309193" y="986954"/>
            <a:chExt cx="4040504" cy="817880"/>
          </a:xfrm>
        </p:grpSpPr>
        <p:sp>
          <p:nvSpPr>
            <p:cNvPr id="6" name="object 6"/>
            <p:cNvSpPr/>
            <p:nvPr/>
          </p:nvSpPr>
          <p:spPr>
            <a:xfrm>
              <a:off x="309193" y="986954"/>
              <a:ext cx="3989704" cy="198120"/>
            </a:xfrm>
            <a:custGeom>
              <a:avLst/>
              <a:gdLst/>
              <a:ahLst/>
              <a:cxnLst/>
              <a:rect l="l" t="t" r="r" b="b"/>
              <a:pathLst>
                <a:path w="3989704" h="198119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7521"/>
                  </a:lnTo>
                  <a:lnTo>
                    <a:pt x="3989652" y="197521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D6D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9194" y="1171816"/>
              <a:ext cx="3989651" cy="5060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9994" y="1702968"/>
              <a:ext cx="101600" cy="1016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0794" y="1690268"/>
              <a:ext cx="3938802" cy="1143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98846" y="1031189"/>
              <a:ext cx="50751" cy="67177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09193" y="1216092"/>
              <a:ext cx="3989704" cy="537845"/>
            </a:xfrm>
            <a:custGeom>
              <a:avLst/>
              <a:gdLst/>
              <a:ahLst/>
              <a:cxnLst/>
              <a:rect l="l" t="t" r="r" b="b"/>
              <a:pathLst>
                <a:path w="3989704" h="537844">
                  <a:moveTo>
                    <a:pt x="3989652" y="0"/>
                  </a:moveTo>
                  <a:lnTo>
                    <a:pt x="0" y="0"/>
                  </a:lnTo>
                  <a:lnTo>
                    <a:pt x="0" y="486876"/>
                  </a:lnTo>
                  <a:lnTo>
                    <a:pt x="4008" y="506600"/>
                  </a:lnTo>
                  <a:lnTo>
                    <a:pt x="14922" y="522753"/>
                  </a:lnTo>
                  <a:lnTo>
                    <a:pt x="31075" y="533667"/>
                  </a:lnTo>
                  <a:lnTo>
                    <a:pt x="50800" y="537676"/>
                  </a:lnTo>
                  <a:lnTo>
                    <a:pt x="3938852" y="537676"/>
                  </a:lnTo>
                  <a:lnTo>
                    <a:pt x="3958576" y="533667"/>
                  </a:lnTo>
                  <a:lnTo>
                    <a:pt x="3974729" y="522753"/>
                  </a:lnTo>
                  <a:lnTo>
                    <a:pt x="3985644" y="506600"/>
                  </a:lnTo>
                  <a:lnTo>
                    <a:pt x="3989652" y="486876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F7F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98846" y="1069276"/>
              <a:ext cx="0" cy="652780"/>
            </a:xfrm>
            <a:custGeom>
              <a:avLst/>
              <a:gdLst/>
              <a:ahLst/>
              <a:cxnLst/>
              <a:rect l="l" t="t" r="r" b="b"/>
              <a:pathLst>
                <a:path h="652780">
                  <a:moveTo>
                    <a:pt x="0" y="65274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98846" y="105657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98846" y="104387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98846" y="103117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309193" y="1905698"/>
            <a:ext cx="4040504" cy="817880"/>
            <a:chOff x="309193" y="1905698"/>
            <a:chExt cx="4040504" cy="817880"/>
          </a:xfrm>
        </p:grpSpPr>
        <p:sp>
          <p:nvSpPr>
            <p:cNvPr id="17" name="object 17"/>
            <p:cNvSpPr/>
            <p:nvPr/>
          </p:nvSpPr>
          <p:spPr>
            <a:xfrm>
              <a:off x="309193" y="1905698"/>
              <a:ext cx="3989704" cy="198120"/>
            </a:xfrm>
            <a:custGeom>
              <a:avLst/>
              <a:gdLst/>
              <a:ahLst/>
              <a:cxnLst/>
              <a:rect l="l" t="t" r="r" b="b"/>
              <a:pathLst>
                <a:path w="3989704" h="198119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7521"/>
                  </a:lnTo>
                  <a:lnTo>
                    <a:pt x="3989652" y="197521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D6D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9194" y="2090559"/>
              <a:ext cx="3989651" cy="5060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9994" y="2621724"/>
              <a:ext cx="101600" cy="1016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0794" y="2609024"/>
              <a:ext cx="3938802" cy="1143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98846" y="1949932"/>
              <a:ext cx="50751" cy="671791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309193" y="2134848"/>
              <a:ext cx="3989704" cy="537845"/>
            </a:xfrm>
            <a:custGeom>
              <a:avLst/>
              <a:gdLst/>
              <a:ahLst/>
              <a:cxnLst/>
              <a:rect l="l" t="t" r="r" b="b"/>
              <a:pathLst>
                <a:path w="3989704" h="537844">
                  <a:moveTo>
                    <a:pt x="3989652" y="0"/>
                  </a:moveTo>
                  <a:lnTo>
                    <a:pt x="0" y="0"/>
                  </a:lnTo>
                  <a:lnTo>
                    <a:pt x="0" y="486876"/>
                  </a:lnTo>
                  <a:lnTo>
                    <a:pt x="4008" y="506600"/>
                  </a:lnTo>
                  <a:lnTo>
                    <a:pt x="14922" y="522753"/>
                  </a:lnTo>
                  <a:lnTo>
                    <a:pt x="31075" y="533667"/>
                  </a:lnTo>
                  <a:lnTo>
                    <a:pt x="50800" y="537676"/>
                  </a:lnTo>
                  <a:lnTo>
                    <a:pt x="3938852" y="537676"/>
                  </a:lnTo>
                  <a:lnTo>
                    <a:pt x="3958576" y="533667"/>
                  </a:lnTo>
                  <a:lnTo>
                    <a:pt x="3974729" y="522753"/>
                  </a:lnTo>
                  <a:lnTo>
                    <a:pt x="3985644" y="506600"/>
                  </a:lnTo>
                  <a:lnTo>
                    <a:pt x="3989652" y="486876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F7F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298846" y="1988032"/>
              <a:ext cx="0" cy="652780"/>
            </a:xfrm>
            <a:custGeom>
              <a:avLst/>
              <a:gdLst/>
              <a:ahLst/>
              <a:cxnLst/>
              <a:rect l="l" t="t" r="r" b="b"/>
              <a:pathLst>
                <a:path h="652780">
                  <a:moveTo>
                    <a:pt x="0" y="65274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298846" y="197533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298846" y="196263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298846" y="194993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347294" y="921589"/>
            <a:ext cx="3914140" cy="1720214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200" spc="20" dirty="0">
                <a:latin typeface="Times New Roman"/>
                <a:cs typeface="Times New Roman"/>
              </a:rPr>
              <a:t>Turing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Recognizable</a:t>
            </a:r>
            <a:endParaRPr sz="1200">
              <a:latin typeface="Times New Roman"/>
              <a:cs typeface="Times New Roman"/>
            </a:endParaRPr>
          </a:p>
          <a:p>
            <a:pPr marL="12700" marR="195580">
              <a:lnSpc>
                <a:spcPct val="102600"/>
              </a:lnSpc>
              <a:spcBef>
                <a:spcPts val="270"/>
              </a:spcBef>
            </a:pPr>
            <a:r>
              <a:rPr sz="1100" spc="80" dirty="0">
                <a:latin typeface="Georgia"/>
                <a:cs typeface="Georgia"/>
              </a:rPr>
              <a:t>A </a:t>
            </a:r>
            <a:r>
              <a:rPr sz="1100" spc="-30" dirty="0">
                <a:latin typeface="Georgia"/>
                <a:cs typeface="Georgia"/>
              </a:rPr>
              <a:t>language </a:t>
            </a:r>
            <a:r>
              <a:rPr sz="1100" i="1" spc="280" dirty="0">
                <a:latin typeface="Calibri"/>
                <a:cs typeface="Calibri"/>
              </a:rPr>
              <a:t>L </a:t>
            </a:r>
            <a:r>
              <a:rPr sz="1100" spc="-35" dirty="0">
                <a:latin typeface="Georgia"/>
                <a:cs typeface="Georgia"/>
              </a:rPr>
              <a:t>is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called </a:t>
            </a:r>
            <a:r>
              <a:rPr sz="1100" b="1" spc="-45" dirty="0">
                <a:latin typeface="Georgia"/>
                <a:cs typeface="Georgia"/>
              </a:rPr>
              <a:t>Turing-recognizable</a:t>
            </a:r>
            <a:r>
              <a:rPr sz="1100" b="1" spc="-4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if </a:t>
            </a:r>
            <a:r>
              <a:rPr sz="1100" spc="-55" dirty="0">
                <a:latin typeface="Georgia"/>
                <a:cs typeface="Georgia"/>
              </a:rPr>
              <a:t>some</a:t>
            </a:r>
            <a:r>
              <a:rPr sz="1100" spc="-5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Turing </a:t>
            </a:r>
            <a:r>
              <a:rPr sz="1100" spc="-254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machine</a:t>
            </a:r>
            <a:r>
              <a:rPr sz="1100" spc="-35" dirty="0">
                <a:latin typeface="Georgia"/>
                <a:cs typeface="Georgia"/>
              </a:rPr>
              <a:t> recognizes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spc="5" dirty="0">
                <a:latin typeface="Georgia"/>
                <a:cs typeface="Georgia"/>
              </a:rPr>
              <a:t>it.</a:t>
            </a:r>
            <a:r>
              <a:rPr sz="1100" spc="10" dirty="0">
                <a:latin typeface="Georgia"/>
                <a:cs typeface="Georgia"/>
              </a:rPr>
              <a:t> </a:t>
            </a:r>
            <a:r>
              <a:rPr sz="1100" i="1" spc="280" dirty="0">
                <a:latin typeface="Calibri"/>
                <a:cs typeface="Calibri"/>
              </a:rPr>
              <a:t>L </a:t>
            </a:r>
            <a:r>
              <a:rPr sz="1100" spc="-35" dirty="0">
                <a:latin typeface="Georgia"/>
                <a:cs typeface="Georgia"/>
              </a:rPr>
              <a:t>is</a:t>
            </a:r>
            <a:r>
              <a:rPr sz="1100" spc="-30" dirty="0">
                <a:latin typeface="Georgia"/>
                <a:cs typeface="Georgia"/>
              </a:rPr>
              <a:t> also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called </a:t>
            </a:r>
            <a:r>
              <a:rPr sz="1100" b="1" spc="-40" dirty="0">
                <a:latin typeface="Georgia"/>
                <a:cs typeface="Georgia"/>
              </a:rPr>
              <a:t>recursively </a:t>
            </a:r>
            <a:r>
              <a:rPr sz="1100" b="1" spc="-35" dirty="0">
                <a:latin typeface="Georgia"/>
                <a:cs typeface="Georgia"/>
              </a:rPr>
              <a:t> </a:t>
            </a:r>
            <a:r>
              <a:rPr sz="1100" b="1" spc="-60" dirty="0">
                <a:latin typeface="Georgia"/>
                <a:cs typeface="Georgia"/>
              </a:rPr>
              <a:t>enumerable</a:t>
            </a:r>
            <a:r>
              <a:rPr sz="1100" b="1" spc="130" dirty="0">
                <a:latin typeface="Georgia"/>
                <a:cs typeface="Georgia"/>
              </a:rPr>
              <a:t> </a:t>
            </a:r>
            <a:r>
              <a:rPr sz="1100" b="1" spc="-35" dirty="0">
                <a:latin typeface="Georgia"/>
                <a:cs typeface="Georgia"/>
              </a:rPr>
              <a:t>language</a:t>
            </a:r>
            <a:r>
              <a:rPr sz="1100" spc="-35" dirty="0">
                <a:latin typeface="Georgia"/>
                <a:cs typeface="Georgia"/>
              </a:rPr>
              <a:t>.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1200" spc="20" dirty="0">
                <a:latin typeface="Times New Roman"/>
                <a:cs typeface="Times New Roman"/>
              </a:rPr>
              <a:t>Turing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Times New Roman"/>
                <a:cs typeface="Times New Roman"/>
              </a:rPr>
              <a:t>Decidable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ct val="102600"/>
              </a:lnSpc>
              <a:spcBef>
                <a:spcPts val="270"/>
              </a:spcBef>
            </a:pPr>
            <a:r>
              <a:rPr sz="1100" spc="80" dirty="0">
                <a:latin typeface="Georgia"/>
                <a:cs typeface="Georgia"/>
              </a:rPr>
              <a:t>A </a:t>
            </a:r>
            <a:r>
              <a:rPr sz="1100" spc="-30" dirty="0">
                <a:latin typeface="Georgia"/>
                <a:cs typeface="Georgia"/>
              </a:rPr>
              <a:t>language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i="1" spc="280" dirty="0">
                <a:latin typeface="Calibri"/>
                <a:cs typeface="Calibri"/>
              </a:rPr>
              <a:t>L</a:t>
            </a:r>
            <a:r>
              <a:rPr sz="1100" i="1" spc="105" dirty="0">
                <a:latin typeface="Calibri"/>
                <a:cs typeface="Calibri"/>
              </a:rPr>
              <a:t> </a:t>
            </a:r>
            <a:r>
              <a:rPr sz="1100" spc="-35" dirty="0">
                <a:latin typeface="Georgia"/>
                <a:cs typeface="Georgia"/>
              </a:rPr>
              <a:t>is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called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b="1" spc="-40" dirty="0">
                <a:latin typeface="Georgia"/>
                <a:cs typeface="Georgia"/>
              </a:rPr>
              <a:t>Turing-decidable</a:t>
            </a:r>
            <a:r>
              <a:rPr sz="1100" b="1" spc="7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or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b="1" spc="-45" dirty="0">
                <a:latin typeface="Georgia"/>
                <a:cs typeface="Georgia"/>
              </a:rPr>
              <a:t>decidable</a:t>
            </a:r>
            <a:r>
              <a:rPr sz="1100" b="1" spc="7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if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spc="-55" dirty="0">
                <a:latin typeface="Georgia"/>
                <a:cs typeface="Georgia"/>
              </a:rPr>
              <a:t>some </a:t>
            </a:r>
            <a:r>
              <a:rPr sz="1100" spc="-25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Turing </a:t>
            </a:r>
            <a:r>
              <a:rPr sz="1100" spc="-40" dirty="0">
                <a:latin typeface="Georgia"/>
                <a:cs typeface="Georgia"/>
              </a:rPr>
              <a:t>machine</a:t>
            </a:r>
            <a:r>
              <a:rPr sz="1100" spc="18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decides</a:t>
            </a:r>
            <a:r>
              <a:rPr sz="1100" spc="185" dirty="0">
                <a:latin typeface="Georgia"/>
                <a:cs typeface="Georgia"/>
              </a:rPr>
              <a:t> </a:t>
            </a:r>
            <a:r>
              <a:rPr sz="1100" spc="5" dirty="0">
                <a:latin typeface="Georgia"/>
                <a:cs typeface="Georgia"/>
              </a:rPr>
              <a:t>it.  </a:t>
            </a:r>
            <a:r>
              <a:rPr sz="1100" i="1" spc="280" dirty="0">
                <a:latin typeface="Calibri"/>
                <a:cs typeface="Calibri"/>
              </a:rPr>
              <a:t>L </a:t>
            </a:r>
            <a:r>
              <a:rPr sz="1100" spc="-35" dirty="0">
                <a:latin typeface="Georgia"/>
                <a:cs typeface="Georgia"/>
              </a:rPr>
              <a:t>is</a:t>
            </a:r>
            <a:r>
              <a:rPr sz="1100" spc="1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also</a:t>
            </a:r>
            <a:r>
              <a:rPr sz="1100" spc="204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called </a:t>
            </a:r>
            <a:r>
              <a:rPr sz="1100" b="1" spc="-50" dirty="0">
                <a:latin typeface="Georgia"/>
                <a:cs typeface="Georgia"/>
              </a:rPr>
              <a:t>recursive </a:t>
            </a:r>
            <a:r>
              <a:rPr sz="1100" b="1" spc="-45" dirty="0">
                <a:latin typeface="Georgia"/>
                <a:cs typeface="Georgia"/>
              </a:rPr>
              <a:t> </a:t>
            </a:r>
            <a:r>
              <a:rPr sz="1100" b="1" spc="-35" dirty="0">
                <a:latin typeface="Georgia"/>
                <a:cs typeface="Georgia"/>
              </a:rPr>
              <a:t>language</a:t>
            </a:r>
            <a:r>
              <a:rPr sz="1100" spc="-35" dirty="0">
                <a:latin typeface="Georgia"/>
                <a:cs typeface="Georgia"/>
              </a:rPr>
              <a:t>.</a:t>
            </a:r>
            <a:endParaRPr sz="11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0"/>
            <a:ext cx="7042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45" dirty="0">
                <a:solidFill>
                  <a:srgbClr val="191959"/>
                </a:solidFill>
                <a:latin typeface="Palatino Linotype"/>
                <a:cs typeface="Palatino Linotype"/>
                <a:hlinkClick r:id="rId2" action="ppaction://hlinksldjump"/>
              </a:rPr>
              <a:t>Turing</a:t>
            </a:r>
            <a:r>
              <a:rPr sz="600" spc="55" dirty="0">
                <a:solidFill>
                  <a:srgbClr val="191959"/>
                </a:solidFill>
                <a:latin typeface="Palatino Linotype"/>
                <a:cs typeface="Palatino Linotype"/>
                <a:hlinkClick r:id="rId2" action="ppaction://hlinksldjump"/>
              </a:rPr>
              <a:t> </a:t>
            </a:r>
            <a:r>
              <a:rPr sz="600" spc="45" dirty="0">
                <a:solidFill>
                  <a:srgbClr val="191959"/>
                </a:solidFill>
                <a:latin typeface="Palatino Linotype"/>
                <a:cs typeface="Palatino Linotype"/>
                <a:hlinkClick r:id="rId2" action="ppaction://hlinksldjump"/>
              </a:rPr>
              <a:t>Machines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41623" y="0"/>
            <a:ext cx="11715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45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Equivalence</a:t>
            </a:r>
            <a:r>
              <a:rPr sz="600" spc="75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 </a:t>
            </a:r>
            <a:r>
              <a:rPr sz="600" spc="50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and</a:t>
            </a:r>
            <a:r>
              <a:rPr sz="600" spc="75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 </a:t>
            </a:r>
            <a:r>
              <a:rPr sz="600" spc="50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Algorithms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39176" y="211465"/>
            <a:ext cx="13303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45" dirty="0">
                <a:solidFill>
                  <a:srgbClr val="3333B2"/>
                </a:solidFill>
                <a:latin typeface="Times New Roman"/>
                <a:cs typeface="Times New Roman"/>
              </a:rPr>
              <a:t>Turing</a:t>
            </a:r>
            <a:r>
              <a:rPr sz="1400" spc="60" dirty="0">
                <a:solidFill>
                  <a:srgbClr val="3333B2"/>
                </a:solidFill>
                <a:latin typeface="Times New Roman"/>
                <a:cs typeface="Times New Roman"/>
              </a:rPr>
              <a:t> </a:t>
            </a:r>
            <a:r>
              <a:rPr sz="1400" spc="30" dirty="0">
                <a:solidFill>
                  <a:srgbClr val="3333B2"/>
                </a:solidFill>
                <a:latin typeface="Times New Roman"/>
                <a:cs typeface="Times New Roman"/>
              </a:rPr>
              <a:t>Machines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6458" y="1052219"/>
            <a:ext cx="16090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0180" indent="-132715">
              <a:lnSpc>
                <a:spcPct val="100000"/>
              </a:lnSpc>
              <a:spcBef>
                <a:spcPts val="90"/>
              </a:spcBef>
              <a:buClr>
                <a:srgbClr val="3333B2"/>
              </a:buClr>
              <a:buSzPct val="90909"/>
              <a:buFont typeface="Lucida Sans Unicode"/>
              <a:buChar char="•"/>
              <a:tabLst>
                <a:tab pos="170815" algn="l"/>
              </a:tabLst>
            </a:pPr>
            <a:r>
              <a:rPr sz="1100" spc="5" dirty="0">
                <a:latin typeface="Georgia"/>
                <a:cs typeface="Georgia"/>
              </a:rPr>
              <a:t>Let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i="1" spc="280" dirty="0">
                <a:latin typeface="Calibri"/>
                <a:cs typeface="Calibri"/>
              </a:rPr>
              <a:t>L</a:t>
            </a:r>
            <a:r>
              <a:rPr sz="1100" i="1" spc="45" dirty="0">
                <a:latin typeface="Calibri"/>
                <a:cs typeface="Calibri"/>
              </a:rPr>
              <a:t> </a:t>
            </a:r>
            <a:r>
              <a:rPr sz="1100" spc="140" dirty="0">
                <a:latin typeface="Georgia"/>
                <a:cs typeface="Georgia"/>
              </a:rPr>
              <a:t>=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spc="70" dirty="0">
                <a:latin typeface="Lucida Sans Unicode"/>
                <a:cs typeface="Lucida Sans Unicode"/>
              </a:rPr>
              <a:t>{</a:t>
            </a:r>
            <a:r>
              <a:rPr sz="1100" spc="70" dirty="0">
                <a:latin typeface="Georgia"/>
                <a:cs typeface="Georgia"/>
              </a:rPr>
              <a:t>0</a:t>
            </a:r>
            <a:r>
              <a:rPr sz="1200" i="1" spc="104" baseline="27777" dirty="0">
                <a:latin typeface="Calibri"/>
                <a:cs typeface="Calibri"/>
              </a:rPr>
              <a:t>n</a:t>
            </a:r>
            <a:r>
              <a:rPr sz="1100" spc="70" dirty="0">
                <a:latin typeface="Georgia"/>
                <a:cs typeface="Georgia"/>
              </a:rPr>
              <a:t>1</a:t>
            </a:r>
            <a:r>
              <a:rPr sz="1200" i="1" spc="104" baseline="27777" dirty="0">
                <a:latin typeface="Calibri"/>
                <a:cs typeface="Calibri"/>
              </a:rPr>
              <a:t>n</a:t>
            </a:r>
            <a:r>
              <a:rPr sz="1200" i="1" spc="247" baseline="27777" dirty="0">
                <a:latin typeface="Calibri"/>
                <a:cs typeface="Calibri"/>
              </a:rPr>
              <a:t> </a:t>
            </a:r>
            <a:r>
              <a:rPr sz="1100" spc="-45" dirty="0">
                <a:latin typeface="Georgia"/>
                <a:cs typeface="Georgia"/>
              </a:rPr>
              <a:t>:</a:t>
            </a:r>
            <a:r>
              <a:rPr sz="1100" spc="25" dirty="0">
                <a:latin typeface="Georgia"/>
                <a:cs typeface="Georgia"/>
              </a:rPr>
              <a:t> </a:t>
            </a:r>
            <a:r>
              <a:rPr sz="1100" i="1" spc="85" dirty="0">
                <a:latin typeface="Calibri"/>
                <a:cs typeface="Calibri"/>
              </a:rPr>
              <a:t>n</a:t>
            </a:r>
            <a:r>
              <a:rPr sz="1100" i="1" spc="45" dirty="0">
                <a:latin typeface="Calibri"/>
                <a:cs typeface="Calibri"/>
              </a:rPr>
              <a:t> </a:t>
            </a:r>
            <a:r>
              <a:rPr sz="1100" spc="-30" dirty="0">
                <a:latin typeface="Lucida Sans Unicode"/>
                <a:cs typeface="Lucida Sans Unicode"/>
              </a:rPr>
              <a:t>≥</a:t>
            </a:r>
            <a:r>
              <a:rPr sz="1100" spc="-55" dirty="0">
                <a:latin typeface="Lucida Sans Unicode"/>
                <a:cs typeface="Lucida Sans Unicode"/>
              </a:rPr>
              <a:t> </a:t>
            </a:r>
            <a:r>
              <a:rPr sz="1100" spc="125" dirty="0">
                <a:latin typeface="Georgia"/>
                <a:cs typeface="Georgia"/>
              </a:rPr>
              <a:t>1</a:t>
            </a:r>
            <a:r>
              <a:rPr sz="1100" spc="125" dirty="0">
                <a:latin typeface="Lucida Sans Unicode"/>
                <a:cs typeface="Lucida Sans Unicode"/>
              </a:rPr>
              <a:t>}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93648" y="1326667"/>
            <a:ext cx="0" cy="172085"/>
          </a:xfrm>
          <a:custGeom>
            <a:avLst/>
            <a:gdLst/>
            <a:ahLst/>
            <a:cxnLst/>
            <a:rect l="l" t="t" r="r" b="b"/>
            <a:pathLst>
              <a:path h="172084">
                <a:moveTo>
                  <a:pt x="0" y="172072"/>
                </a:moveTo>
                <a:lnTo>
                  <a:pt x="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21894" y="1467953"/>
            <a:ext cx="3194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Georgia"/>
                <a:cs typeface="Georgia"/>
              </a:rPr>
              <a:t>state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93648" y="1498739"/>
            <a:ext cx="0" cy="172085"/>
          </a:xfrm>
          <a:custGeom>
            <a:avLst/>
            <a:gdLst/>
            <a:ahLst/>
            <a:cxnLst/>
            <a:rect l="l" t="t" r="r" b="b"/>
            <a:pathLst>
              <a:path h="172085">
                <a:moveTo>
                  <a:pt x="0" y="172072"/>
                </a:moveTo>
                <a:lnTo>
                  <a:pt x="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251265" y="1295868"/>
            <a:ext cx="530225" cy="363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Georgia"/>
                <a:cs typeface="Georgia"/>
              </a:rPr>
              <a:t>Symbols</a:t>
            </a:r>
            <a:endParaRPr sz="1100">
              <a:latin typeface="Georgia"/>
              <a:cs typeface="Georgia"/>
            </a:endParaRPr>
          </a:p>
          <a:p>
            <a:pPr marR="8890" algn="ctr">
              <a:lnSpc>
                <a:spcPct val="100000"/>
              </a:lnSpc>
              <a:spcBef>
                <a:spcPts val="35"/>
              </a:spcBef>
            </a:pPr>
            <a:r>
              <a:rPr sz="1100" i="1" spc="330" dirty="0">
                <a:latin typeface="Calibri"/>
                <a:cs typeface="Calibri"/>
              </a:rPr>
              <a:t>X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19041" y="1467953"/>
            <a:ext cx="1308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225" dirty="0">
                <a:latin typeface="Calibri"/>
                <a:cs typeface="Calibri"/>
              </a:rPr>
              <a:t>B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68795" y="1670812"/>
            <a:ext cx="3870960" cy="179705"/>
            <a:chOff x="368795" y="1670812"/>
            <a:chExt cx="3870960" cy="179705"/>
          </a:xfrm>
        </p:grpSpPr>
        <p:sp>
          <p:nvSpPr>
            <p:cNvPr id="12" name="object 12"/>
            <p:cNvSpPr/>
            <p:nvPr/>
          </p:nvSpPr>
          <p:spPr>
            <a:xfrm>
              <a:off x="371335" y="1673352"/>
              <a:ext cx="3865879" cy="0"/>
            </a:xfrm>
            <a:custGeom>
              <a:avLst/>
              <a:gdLst/>
              <a:ahLst/>
              <a:cxnLst/>
              <a:rect l="l" t="t" r="r" b="b"/>
              <a:pathLst>
                <a:path w="3865879">
                  <a:moveTo>
                    <a:pt x="0" y="0"/>
                  </a:moveTo>
                  <a:lnTo>
                    <a:pt x="3865333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93648" y="1675879"/>
              <a:ext cx="0" cy="172085"/>
            </a:xfrm>
            <a:custGeom>
              <a:avLst/>
              <a:gdLst/>
              <a:ahLst/>
              <a:cxnLst/>
              <a:rect l="l" t="t" r="r" b="b"/>
              <a:pathLst>
                <a:path h="172085">
                  <a:moveTo>
                    <a:pt x="0" y="172072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890354" y="1457081"/>
            <a:ext cx="623570" cy="37973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R="22860" algn="ctr">
              <a:lnSpc>
                <a:spcPct val="100000"/>
              </a:lnSpc>
              <a:spcBef>
                <a:spcPts val="175"/>
              </a:spcBef>
            </a:pPr>
            <a:r>
              <a:rPr sz="1100" i="1" spc="95" dirty="0">
                <a:latin typeface="Calibri"/>
                <a:cs typeface="Calibri"/>
              </a:rPr>
              <a:t>Y</a:t>
            </a:r>
            <a:endParaRPr sz="11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75"/>
              </a:spcBef>
            </a:pPr>
            <a:r>
              <a:rPr sz="1100" spc="5" dirty="0">
                <a:latin typeface="Georgia"/>
                <a:cs typeface="Georgia"/>
              </a:rPr>
              <a:t>(</a:t>
            </a:r>
            <a:r>
              <a:rPr sz="1100" i="1" spc="-80" dirty="0">
                <a:latin typeface="Calibri"/>
                <a:cs typeface="Calibri"/>
              </a:rPr>
              <a:t>q</a:t>
            </a:r>
            <a:r>
              <a:rPr sz="1200" spc="44" baseline="-10416" dirty="0">
                <a:latin typeface="Cambria"/>
                <a:cs typeface="Cambria"/>
              </a:rPr>
              <a:t>3</a:t>
            </a:r>
            <a:r>
              <a:rPr sz="1100" i="1" spc="2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150" dirty="0">
                <a:latin typeface="Calibri"/>
                <a:cs typeface="Calibri"/>
              </a:rPr>
              <a:t>Y</a:t>
            </a:r>
            <a:r>
              <a:rPr sz="1100" i="1" spc="2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235" dirty="0">
                <a:latin typeface="Calibri"/>
                <a:cs typeface="Calibri"/>
              </a:rPr>
              <a:t>R</a:t>
            </a:r>
            <a:r>
              <a:rPr sz="1100" spc="10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91121" y="1847951"/>
            <a:ext cx="5080" cy="688340"/>
            <a:chOff x="791121" y="1847951"/>
            <a:chExt cx="5080" cy="688340"/>
          </a:xfrm>
        </p:grpSpPr>
        <p:sp>
          <p:nvSpPr>
            <p:cNvPr id="16" name="object 16"/>
            <p:cNvSpPr/>
            <p:nvPr/>
          </p:nvSpPr>
          <p:spPr>
            <a:xfrm>
              <a:off x="793648" y="1847951"/>
              <a:ext cx="0" cy="172085"/>
            </a:xfrm>
            <a:custGeom>
              <a:avLst/>
              <a:gdLst/>
              <a:ahLst/>
              <a:cxnLst/>
              <a:rect l="l" t="t" r="r" b="b"/>
              <a:pathLst>
                <a:path h="172085">
                  <a:moveTo>
                    <a:pt x="0" y="172072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93648" y="2020024"/>
              <a:ext cx="0" cy="172085"/>
            </a:xfrm>
            <a:custGeom>
              <a:avLst/>
              <a:gdLst/>
              <a:ahLst/>
              <a:cxnLst/>
              <a:rect l="l" t="t" r="r" b="b"/>
              <a:pathLst>
                <a:path h="172085">
                  <a:moveTo>
                    <a:pt x="0" y="172072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93648" y="2192109"/>
              <a:ext cx="0" cy="172085"/>
            </a:xfrm>
            <a:custGeom>
              <a:avLst/>
              <a:gdLst/>
              <a:ahLst/>
              <a:cxnLst/>
              <a:rect l="l" t="t" r="r" b="b"/>
              <a:pathLst>
                <a:path h="172085">
                  <a:moveTo>
                    <a:pt x="0" y="172072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93648" y="2364181"/>
              <a:ext cx="0" cy="172085"/>
            </a:xfrm>
            <a:custGeom>
              <a:avLst/>
              <a:gdLst/>
              <a:ahLst/>
              <a:cxnLst/>
              <a:rect l="l" t="t" r="r" b="b"/>
              <a:pathLst>
                <a:path h="172085">
                  <a:moveTo>
                    <a:pt x="0" y="172072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821239" y="1645080"/>
            <a:ext cx="133350" cy="5359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0" dirty="0">
                <a:latin typeface="Lucida Sans Unicode"/>
                <a:cs typeface="Lucida Sans Unicode"/>
              </a:rPr>
              <a:t>−</a:t>
            </a:r>
            <a:endParaRPr sz="11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-30" dirty="0">
                <a:latin typeface="Lucida Sans Unicode"/>
                <a:cs typeface="Lucida Sans Unicode"/>
              </a:rPr>
              <a:t>−</a:t>
            </a:r>
            <a:endParaRPr sz="11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-30" dirty="0">
                <a:latin typeface="Lucida Sans Unicode"/>
                <a:cs typeface="Lucida Sans Unicode"/>
              </a:rPr>
              <a:t>−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56755" y="1457081"/>
            <a:ext cx="1705610" cy="106807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656590">
              <a:lnSpc>
                <a:spcPct val="100000"/>
              </a:lnSpc>
              <a:spcBef>
                <a:spcPts val="175"/>
              </a:spcBef>
              <a:tabLst>
                <a:tab pos="1339215" algn="l"/>
              </a:tabLst>
            </a:pPr>
            <a:r>
              <a:rPr sz="1100" spc="-130" dirty="0">
                <a:latin typeface="Georgia"/>
                <a:cs typeface="Georgia"/>
              </a:rPr>
              <a:t>0	</a:t>
            </a:r>
            <a:r>
              <a:rPr sz="1100" spc="70" dirty="0">
                <a:latin typeface="Georgia"/>
                <a:cs typeface="Georgia"/>
              </a:rPr>
              <a:t>1</a:t>
            </a:r>
            <a:endParaRPr sz="1100">
              <a:latin typeface="Georgia"/>
              <a:cs typeface="Georgia"/>
            </a:endParaRPr>
          </a:p>
          <a:p>
            <a:pPr marL="63500">
              <a:lnSpc>
                <a:spcPct val="100000"/>
              </a:lnSpc>
              <a:spcBef>
                <a:spcPts val="75"/>
              </a:spcBef>
              <a:tabLst>
                <a:tab pos="402590" algn="l"/>
                <a:tab pos="1319530" algn="l"/>
              </a:tabLst>
            </a:pPr>
            <a:r>
              <a:rPr sz="1100" i="1" spc="-50" dirty="0">
                <a:latin typeface="Calibri"/>
                <a:cs typeface="Calibri"/>
              </a:rPr>
              <a:t>q</a:t>
            </a:r>
            <a:r>
              <a:rPr sz="1200" spc="-75" baseline="-10416" dirty="0">
                <a:latin typeface="Cambria"/>
                <a:cs typeface="Cambria"/>
              </a:rPr>
              <a:t>0	</a:t>
            </a:r>
            <a:r>
              <a:rPr sz="1100" spc="-5" dirty="0">
                <a:latin typeface="Georgia"/>
                <a:cs typeface="Georgia"/>
              </a:rPr>
              <a:t>(</a:t>
            </a:r>
            <a:r>
              <a:rPr sz="1100" i="1" spc="-5" dirty="0">
                <a:latin typeface="Calibri"/>
                <a:cs typeface="Calibri"/>
              </a:rPr>
              <a:t>q</a:t>
            </a:r>
            <a:r>
              <a:rPr sz="1200" spc="-7" baseline="-10416" dirty="0">
                <a:latin typeface="Cambria"/>
                <a:cs typeface="Cambria"/>
              </a:rPr>
              <a:t>1</a:t>
            </a:r>
            <a:r>
              <a:rPr sz="1100" i="1" spc="-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190" dirty="0">
                <a:latin typeface="Calibri"/>
                <a:cs typeface="Calibri"/>
              </a:rPr>
              <a:t>X,</a:t>
            </a:r>
            <a:r>
              <a:rPr sz="1100" i="1" spc="-65" dirty="0">
                <a:latin typeface="Calibri"/>
                <a:cs typeface="Calibri"/>
              </a:rPr>
              <a:t> </a:t>
            </a:r>
            <a:r>
              <a:rPr sz="1100" i="1" spc="120" dirty="0">
                <a:latin typeface="Calibri"/>
                <a:cs typeface="Calibri"/>
              </a:rPr>
              <a:t>R</a:t>
            </a:r>
            <a:r>
              <a:rPr sz="1100" spc="120" dirty="0">
                <a:latin typeface="Georgia"/>
                <a:cs typeface="Georgia"/>
              </a:rPr>
              <a:t>)	</a:t>
            </a:r>
            <a:r>
              <a:rPr sz="1100" spc="-30" dirty="0">
                <a:latin typeface="Lucida Sans Unicode"/>
                <a:cs typeface="Lucida Sans Unicode"/>
              </a:rPr>
              <a:t>−</a:t>
            </a:r>
            <a:endParaRPr sz="1100">
              <a:latin typeface="Lucida Sans Unicode"/>
              <a:cs typeface="Lucida Sans Unicode"/>
            </a:endParaRPr>
          </a:p>
          <a:p>
            <a:pPr marL="63500" marR="55880">
              <a:lnSpc>
                <a:spcPct val="102600"/>
              </a:lnSpc>
              <a:tabLst>
                <a:tab pos="426720" algn="l"/>
                <a:tab pos="1106170" algn="l"/>
                <a:tab pos="1319530" algn="l"/>
              </a:tabLst>
            </a:pPr>
            <a:r>
              <a:rPr sz="1100" i="1" spc="-80" dirty="0">
                <a:latin typeface="Calibri"/>
                <a:cs typeface="Calibri"/>
              </a:rPr>
              <a:t>q</a:t>
            </a:r>
            <a:r>
              <a:rPr sz="1200" spc="-30" baseline="-10416" dirty="0">
                <a:latin typeface="Cambria"/>
                <a:cs typeface="Cambria"/>
              </a:rPr>
              <a:t>1	</a:t>
            </a:r>
            <a:r>
              <a:rPr sz="1100" spc="5" dirty="0">
                <a:latin typeface="Georgia"/>
                <a:cs typeface="Georgia"/>
              </a:rPr>
              <a:t>(</a:t>
            </a:r>
            <a:r>
              <a:rPr sz="1100" i="1" spc="-80" dirty="0">
                <a:latin typeface="Calibri"/>
                <a:cs typeface="Calibri"/>
              </a:rPr>
              <a:t>q</a:t>
            </a:r>
            <a:r>
              <a:rPr sz="1200" spc="44" baseline="-10416" dirty="0">
                <a:latin typeface="Cambria"/>
                <a:cs typeface="Cambria"/>
              </a:rPr>
              <a:t>1</a:t>
            </a:r>
            <a:r>
              <a:rPr sz="1100" i="1" spc="2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spc="-130" dirty="0">
                <a:latin typeface="Georgia"/>
                <a:cs typeface="Georgia"/>
              </a:rPr>
              <a:t>0</a:t>
            </a:r>
            <a:r>
              <a:rPr sz="1100" i="1" spc="2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235" dirty="0">
                <a:latin typeface="Calibri"/>
                <a:cs typeface="Calibri"/>
              </a:rPr>
              <a:t>R</a:t>
            </a:r>
            <a:r>
              <a:rPr sz="1100" spc="10" dirty="0">
                <a:latin typeface="Georgia"/>
                <a:cs typeface="Georgia"/>
              </a:rPr>
              <a:t>)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spc="5" dirty="0">
                <a:latin typeface="Georgia"/>
                <a:cs typeface="Georgia"/>
              </a:rPr>
              <a:t>(</a:t>
            </a:r>
            <a:r>
              <a:rPr sz="1100" i="1" spc="-80" dirty="0">
                <a:latin typeface="Calibri"/>
                <a:cs typeface="Calibri"/>
              </a:rPr>
              <a:t>q</a:t>
            </a:r>
            <a:r>
              <a:rPr sz="1200" spc="44" baseline="-10416" dirty="0">
                <a:latin typeface="Cambria"/>
                <a:cs typeface="Cambria"/>
              </a:rPr>
              <a:t>2</a:t>
            </a:r>
            <a:r>
              <a:rPr sz="1100" i="1" spc="2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150" dirty="0">
                <a:latin typeface="Calibri"/>
                <a:cs typeface="Calibri"/>
              </a:rPr>
              <a:t>Y</a:t>
            </a:r>
            <a:r>
              <a:rPr sz="1100" i="1" spc="2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275" dirty="0">
                <a:latin typeface="Calibri"/>
                <a:cs typeface="Calibri"/>
              </a:rPr>
              <a:t>L</a:t>
            </a:r>
            <a:r>
              <a:rPr sz="1100" spc="5" dirty="0">
                <a:latin typeface="Georgia"/>
                <a:cs typeface="Georgia"/>
              </a:rPr>
              <a:t>)  </a:t>
            </a:r>
            <a:r>
              <a:rPr sz="1100" i="1" spc="-50" dirty="0">
                <a:latin typeface="Calibri"/>
                <a:cs typeface="Calibri"/>
              </a:rPr>
              <a:t>q</a:t>
            </a:r>
            <a:r>
              <a:rPr sz="1200" spc="-75" baseline="-10416" dirty="0">
                <a:latin typeface="Cambria"/>
                <a:cs typeface="Cambria"/>
              </a:rPr>
              <a:t>2	</a:t>
            </a:r>
            <a:r>
              <a:rPr sz="1100" spc="-5" dirty="0">
                <a:latin typeface="Georgia"/>
                <a:cs typeface="Georgia"/>
              </a:rPr>
              <a:t>(</a:t>
            </a:r>
            <a:r>
              <a:rPr sz="1100" i="1" spc="-5" dirty="0">
                <a:latin typeface="Calibri"/>
                <a:cs typeface="Calibri"/>
              </a:rPr>
              <a:t>q</a:t>
            </a:r>
            <a:r>
              <a:rPr sz="1200" spc="-7" baseline="-10416" dirty="0">
                <a:latin typeface="Cambria"/>
                <a:cs typeface="Cambria"/>
              </a:rPr>
              <a:t>2</a:t>
            </a:r>
            <a:r>
              <a:rPr sz="1100" i="1" spc="-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spc="-55" dirty="0">
                <a:latin typeface="Georgia"/>
                <a:cs typeface="Georgia"/>
              </a:rPr>
              <a:t>0</a:t>
            </a:r>
            <a:r>
              <a:rPr sz="1100" i="1" spc="-55" dirty="0">
                <a:latin typeface="Calibri"/>
                <a:cs typeface="Calibri"/>
              </a:rPr>
              <a:t>,</a:t>
            </a:r>
            <a:r>
              <a:rPr sz="1100" i="1" spc="-65" dirty="0">
                <a:latin typeface="Calibri"/>
                <a:cs typeface="Calibri"/>
              </a:rPr>
              <a:t> </a:t>
            </a:r>
            <a:r>
              <a:rPr sz="1100" i="1" spc="140" dirty="0">
                <a:latin typeface="Calibri"/>
                <a:cs typeface="Calibri"/>
              </a:rPr>
              <a:t>L</a:t>
            </a:r>
            <a:r>
              <a:rPr sz="1100" spc="140" dirty="0">
                <a:latin typeface="Georgia"/>
                <a:cs typeface="Georgia"/>
              </a:rPr>
              <a:t>)		</a:t>
            </a:r>
            <a:r>
              <a:rPr sz="1100" spc="-30" dirty="0">
                <a:latin typeface="Lucida Sans Unicode"/>
                <a:cs typeface="Lucida Sans Unicode"/>
              </a:rPr>
              <a:t>−</a:t>
            </a:r>
            <a:endParaRPr sz="1100">
              <a:latin typeface="Lucida Sans Unicode"/>
              <a:cs typeface="Lucida Sans Unicode"/>
            </a:endParaRPr>
          </a:p>
          <a:p>
            <a:pPr marL="63500">
              <a:lnSpc>
                <a:spcPct val="100000"/>
              </a:lnSpc>
              <a:spcBef>
                <a:spcPts val="35"/>
              </a:spcBef>
              <a:tabLst>
                <a:tab pos="636905" algn="l"/>
                <a:tab pos="1319530" algn="l"/>
              </a:tabLst>
            </a:pPr>
            <a:r>
              <a:rPr sz="1100" i="1" spc="-50" dirty="0">
                <a:latin typeface="Calibri"/>
                <a:cs typeface="Calibri"/>
              </a:rPr>
              <a:t>q</a:t>
            </a:r>
            <a:r>
              <a:rPr sz="1200" spc="-75" baseline="-10416" dirty="0">
                <a:latin typeface="Cambria"/>
                <a:cs typeface="Cambria"/>
              </a:rPr>
              <a:t>3	</a:t>
            </a:r>
            <a:r>
              <a:rPr sz="1100" spc="-30" dirty="0">
                <a:latin typeface="Lucida Sans Unicode"/>
                <a:cs typeface="Lucida Sans Unicode"/>
              </a:rPr>
              <a:t>−	−</a:t>
            </a:r>
            <a:endParaRPr sz="1100">
              <a:latin typeface="Lucida Sans Unicode"/>
              <a:cs typeface="Lucida Sans Unicode"/>
            </a:endParaRPr>
          </a:p>
          <a:p>
            <a:pPr marL="63500">
              <a:lnSpc>
                <a:spcPct val="100000"/>
              </a:lnSpc>
              <a:spcBef>
                <a:spcPts val="35"/>
              </a:spcBef>
              <a:tabLst>
                <a:tab pos="636905" algn="l"/>
                <a:tab pos="1319530" algn="l"/>
              </a:tabLst>
            </a:pPr>
            <a:r>
              <a:rPr sz="1100" i="1" spc="-50" dirty="0">
                <a:latin typeface="Calibri"/>
                <a:cs typeface="Calibri"/>
              </a:rPr>
              <a:t>q</a:t>
            </a:r>
            <a:r>
              <a:rPr sz="1200" spc="-75" baseline="-10416" dirty="0">
                <a:latin typeface="Cambria"/>
                <a:cs typeface="Cambria"/>
              </a:rPr>
              <a:t>4	</a:t>
            </a:r>
            <a:r>
              <a:rPr sz="1100" spc="-30" dirty="0">
                <a:latin typeface="Lucida Sans Unicode"/>
                <a:cs typeface="Lucida Sans Unicode"/>
              </a:rPr>
              <a:t>−	−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161349" y="1817165"/>
            <a:ext cx="1377950" cy="7080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7815">
              <a:lnSpc>
                <a:spcPts val="660"/>
              </a:lnSpc>
              <a:spcBef>
                <a:spcPts val="90"/>
              </a:spcBef>
              <a:tabLst>
                <a:tab pos="766445" algn="l"/>
              </a:tabLst>
            </a:pPr>
            <a:r>
              <a:rPr sz="1650" spc="-44" baseline="68181" dirty="0">
                <a:latin typeface="Lucida Sans Unicode"/>
                <a:cs typeface="Lucida Sans Unicode"/>
              </a:rPr>
              <a:t>−	</a:t>
            </a:r>
            <a:r>
              <a:rPr sz="1100" spc="5" dirty="0">
                <a:latin typeface="Georgia"/>
                <a:cs typeface="Georgia"/>
              </a:rPr>
              <a:t>(</a:t>
            </a:r>
            <a:r>
              <a:rPr sz="1100" i="1" spc="-80" dirty="0">
                <a:latin typeface="Calibri"/>
                <a:cs typeface="Calibri"/>
              </a:rPr>
              <a:t>q</a:t>
            </a:r>
            <a:r>
              <a:rPr sz="1200" spc="44" baseline="-10416" dirty="0">
                <a:latin typeface="Cambria"/>
                <a:cs typeface="Cambria"/>
              </a:rPr>
              <a:t>1</a:t>
            </a:r>
            <a:r>
              <a:rPr sz="1100" i="1" spc="2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150" dirty="0">
                <a:latin typeface="Calibri"/>
                <a:cs typeface="Calibri"/>
              </a:rPr>
              <a:t>Y</a:t>
            </a:r>
            <a:r>
              <a:rPr sz="1100" i="1" spc="2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235" dirty="0">
                <a:latin typeface="Calibri"/>
                <a:cs typeface="Calibri"/>
              </a:rPr>
              <a:t>R</a:t>
            </a:r>
            <a:r>
              <a:rPr sz="1100" spc="10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 marL="297815">
              <a:lnSpc>
                <a:spcPts val="660"/>
              </a:lnSpc>
            </a:pPr>
            <a:r>
              <a:rPr sz="1100" spc="-30" dirty="0">
                <a:latin typeface="Lucida Sans Unicode"/>
                <a:cs typeface="Lucida Sans Unicode"/>
              </a:rPr>
              <a:t>−</a:t>
            </a:r>
            <a:endParaRPr sz="1100">
              <a:latin typeface="Lucida Sans Unicode"/>
              <a:cs typeface="Lucida Sans Unicode"/>
            </a:endParaRPr>
          </a:p>
          <a:p>
            <a:pPr marL="63500">
              <a:lnSpc>
                <a:spcPct val="100000"/>
              </a:lnSpc>
              <a:spcBef>
                <a:spcPts val="35"/>
              </a:spcBef>
              <a:tabLst>
                <a:tab pos="772795" algn="l"/>
              </a:tabLst>
            </a:pPr>
            <a:r>
              <a:rPr sz="1100" spc="5" dirty="0">
                <a:latin typeface="Georgia"/>
                <a:cs typeface="Georgia"/>
              </a:rPr>
              <a:t>(</a:t>
            </a:r>
            <a:r>
              <a:rPr sz="1100" i="1" spc="-80" dirty="0">
                <a:latin typeface="Calibri"/>
                <a:cs typeface="Calibri"/>
              </a:rPr>
              <a:t>q</a:t>
            </a:r>
            <a:r>
              <a:rPr sz="1200" spc="44" baseline="-10416" dirty="0">
                <a:latin typeface="Cambria"/>
                <a:cs typeface="Cambria"/>
              </a:rPr>
              <a:t>0</a:t>
            </a:r>
            <a:r>
              <a:rPr sz="1100" i="1" spc="2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355" dirty="0">
                <a:latin typeface="Calibri"/>
                <a:cs typeface="Calibri"/>
              </a:rPr>
              <a:t>X</a:t>
            </a:r>
            <a:r>
              <a:rPr sz="1100" i="1" spc="2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235" dirty="0">
                <a:latin typeface="Calibri"/>
                <a:cs typeface="Calibri"/>
              </a:rPr>
              <a:t>R</a:t>
            </a:r>
            <a:r>
              <a:rPr sz="1100" spc="10" dirty="0">
                <a:latin typeface="Georgia"/>
                <a:cs typeface="Georgia"/>
              </a:rPr>
              <a:t>)</a:t>
            </a:r>
            <a:r>
              <a:rPr sz="1100" dirty="0">
                <a:latin typeface="Georgia"/>
                <a:cs typeface="Georgia"/>
              </a:rPr>
              <a:t>	</a:t>
            </a:r>
            <a:r>
              <a:rPr sz="1100" spc="10" dirty="0">
                <a:latin typeface="Georgia"/>
                <a:cs typeface="Georgia"/>
              </a:rPr>
              <a:t>(</a:t>
            </a:r>
            <a:r>
              <a:rPr sz="1100" i="1" spc="-80" dirty="0">
                <a:latin typeface="Calibri"/>
                <a:cs typeface="Calibri"/>
              </a:rPr>
              <a:t>q</a:t>
            </a:r>
            <a:r>
              <a:rPr sz="1200" spc="44" baseline="-10416" dirty="0">
                <a:latin typeface="Cambria"/>
                <a:cs typeface="Cambria"/>
              </a:rPr>
              <a:t>2</a:t>
            </a:r>
            <a:r>
              <a:rPr sz="1100" i="1" spc="2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150" dirty="0">
                <a:latin typeface="Calibri"/>
                <a:cs typeface="Calibri"/>
              </a:rPr>
              <a:t>Y</a:t>
            </a:r>
            <a:r>
              <a:rPr sz="1100" i="1" spc="2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275" dirty="0">
                <a:latin typeface="Calibri"/>
                <a:cs typeface="Calibri"/>
              </a:rPr>
              <a:t>L</a:t>
            </a:r>
            <a:r>
              <a:rPr sz="1100" spc="10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 marL="297815">
              <a:lnSpc>
                <a:spcPct val="100000"/>
              </a:lnSpc>
              <a:spcBef>
                <a:spcPts val="35"/>
              </a:spcBef>
              <a:tabLst>
                <a:tab pos="766445" algn="l"/>
              </a:tabLst>
            </a:pPr>
            <a:r>
              <a:rPr sz="1100" spc="-30" dirty="0">
                <a:latin typeface="Lucida Sans Unicode"/>
                <a:cs typeface="Lucida Sans Unicode"/>
              </a:rPr>
              <a:t>−	</a:t>
            </a:r>
            <a:r>
              <a:rPr sz="1100" spc="5" dirty="0">
                <a:latin typeface="Georgia"/>
                <a:cs typeface="Georgia"/>
              </a:rPr>
              <a:t>(</a:t>
            </a:r>
            <a:r>
              <a:rPr sz="1100" i="1" spc="-80" dirty="0">
                <a:latin typeface="Calibri"/>
                <a:cs typeface="Calibri"/>
              </a:rPr>
              <a:t>q</a:t>
            </a:r>
            <a:r>
              <a:rPr sz="1200" spc="44" baseline="-10416" dirty="0">
                <a:latin typeface="Cambria"/>
                <a:cs typeface="Cambria"/>
              </a:rPr>
              <a:t>3</a:t>
            </a:r>
            <a:r>
              <a:rPr sz="1100" i="1" spc="2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150" dirty="0">
                <a:latin typeface="Calibri"/>
                <a:cs typeface="Calibri"/>
              </a:rPr>
              <a:t>Y</a:t>
            </a:r>
            <a:r>
              <a:rPr sz="1100" i="1" spc="2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235" dirty="0">
                <a:latin typeface="Calibri"/>
                <a:cs typeface="Calibri"/>
              </a:rPr>
              <a:t>R</a:t>
            </a:r>
            <a:r>
              <a:rPr sz="1100" spc="10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 marL="297815">
              <a:lnSpc>
                <a:spcPct val="100000"/>
              </a:lnSpc>
              <a:spcBef>
                <a:spcPts val="35"/>
              </a:spcBef>
              <a:tabLst>
                <a:tab pos="986790" algn="l"/>
              </a:tabLst>
            </a:pPr>
            <a:r>
              <a:rPr sz="1100" spc="-30" dirty="0">
                <a:latin typeface="Lucida Sans Unicode"/>
                <a:cs typeface="Lucida Sans Unicode"/>
              </a:rPr>
              <a:t>−	−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564109" y="2161310"/>
            <a:ext cx="647700" cy="363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100" spc="10" dirty="0">
                <a:latin typeface="Georgia"/>
                <a:cs typeface="Georgia"/>
              </a:rPr>
              <a:t>(</a:t>
            </a:r>
            <a:r>
              <a:rPr sz="1100" i="1" spc="-80" dirty="0">
                <a:latin typeface="Calibri"/>
                <a:cs typeface="Calibri"/>
              </a:rPr>
              <a:t>q</a:t>
            </a:r>
            <a:r>
              <a:rPr sz="1200" spc="44" baseline="-10416" dirty="0">
                <a:latin typeface="Cambria"/>
                <a:cs typeface="Cambria"/>
              </a:rPr>
              <a:t>4</a:t>
            </a:r>
            <a:r>
              <a:rPr sz="1100" i="1" spc="2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275" dirty="0">
                <a:latin typeface="Calibri"/>
                <a:cs typeface="Calibri"/>
              </a:rPr>
              <a:t>B</a:t>
            </a:r>
            <a:r>
              <a:rPr sz="1100" i="1" spc="2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235" dirty="0">
                <a:latin typeface="Calibri"/>
                <a:cs typeface="Calibri"/>
              </a:rPr>
              <a:t>R</a:t>
            </a:r>
            <a:r>
              <a:rPr sz="1100" spc="10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1100" spc="-30" dirty="0">
                <a:latin typeface="Lucida Sans Unicode"/>
                <a:cs typeface="Lucida Sans Unicode"/>
              </a:rPr>
              <a:t>−</a:t>
            </a:r>
            <a:endParaRPr sz="11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0"/>
            <a:ext cx="7042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45" dirty="0">
                <a:solidFill>
                  <a:srgbClr val="191959"/>
                </a:solidFill>
                <a:latin typeface="Palatino Linotype"/>
                <a:cs typeface="Palatino Linotype"/>
                <a:hlinkClick r:id="rId2" action="ppaction://hlinksldjump"/>
              </a:rPr>
              <a:t>Turing</a:t>
            </a:r>
            <a:r>
              <a:rPr sz="600" spc="55" dirty="0">
                <a:solidFill>
                  <a:srgbClr val="191959"/>
                </a:solidFill>
                <a:latin typeface="Palatino Linotype"/>
                <a:cs typeface="Palatino Linotype"/>
                <a:hlinkClick r:id="rId2" action="ppaction://hlinksldjump"/>
              </a:rPr>
              <a:t> </a:t>
            </a:r>
            <a:r>
              <a:rPr sz="600" spc="45" dirty="0">
                <a:solidFill>
                  <a:srgbClr val="191959"/>
                </a:solidFill>
                <a:latin typeface="Palatino Linotype"/>
                <a:cs typeface="Palatino Linotype"/>
                <a:hlinkClick r:id="rId2" action="ppaction://hlinksldjump"/>
              </a:rPr>
              <a:t>Machines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41623" y="0"/>
            <a:ext cx="11715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45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Equivalence</a:t>
            </a:r>
            <a:r>
              <a:rPr sz="600" spc="75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 </a:t>
            </a:r>
            <a:r>
              <a:rPr sz="600" spc="50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and</a:t>
            </a:r>
            <a:r>
              <a:rPr sz="600" spc="75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 </a:t>
            </a:r>
            <a:r>
              <a:rPr sz="600" spc="50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Algorithms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74355" y="211465"/>
            <a:ext cx="125984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45" dirty="0">
                <a:solidFill>
                  <a:srgbClr val="3333B2"/>
                </a:solidFill>
                <a:latin typeface="Times New Roman"/>
                <a:cs typeface="Times New Roman"/>
              </a:rPr>
              <a:t>Turing</a:t>
            </a:r>
            <a:r>
              <a:rPr sz="1400" spc="50" dirty="0">
                <a:solidFill>
                  <a:srgbClr val="3333B2"/>
                </a:solidFill>
                <a:latin typeface="Times New Roman"/>
                <a:cs typeface="Times New Roman"/>
              </a:rPr>
              <a:t> </a:t>
            </a:r>
            <a:r>
              <a:rPr sz="1400" spc="35" dirty="0">
                <a:solidFill>
                  <a:srgbClr val="3333B2"/>
                </a:solidFill>
                <a:latin typeface="Times New Roman"/>
                <a:cs typeface="Times New Roman"/>
              </a:rPr>
              <a:t>Machine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36554" y="1229124"/>
            <a:ext cx="346710" cy="346710"/>
          </a:xfrm>
          <a:custGeom>
            <a:avLst/>
            <a:gdLst/>
            <a:ahLst/>
            <a:cxnLst/>
            <a:rect l="l" t="t" r="r" b="b"/>
            <a:pathLst>
              <a:path w="346709" h="346709">
                <a:moveTo>
                  <a:pt x="346367" y="173183"/>
                </a:moveTo>
                <a:lnTo>
                  <a:pt x="340181" y="127144"/>
                </a:lnTo>
                <a:lnTo>
                  <a:pt x="322723" y="85774"/>
                </a:lnTo>
                <a:lnTo>
                  <a:pt x="295643" y="50723"/>
                </a:lnTo>
                <a:lnTo>
                  <a:pt x="260593" y="23644"/>
                </a:lnTo>
                <a:lnTo>
                  <a:pt x="219223" y="6186"/>
                </a:lnTo>
                <a:lnTo>
                  <a:pt x="173183" y="0"/>
                </a:lnTo>
                <a:lnTo>
                  <a:pt x="127144" y="6186"/>
                </a:lnTo>
                <a:lnTo>
                  <a:pt x="85774" y="23644"/>
                </a:lnTo>
                <a:lnTo>
                  <a:pt x="50723" y="50723"/>
                </a:lnTo>
                <a:lnTo>
                  <a:pt x="23644" y="85774"/>
                </a:lnTo>
                <a:lnTo>
                  <a:pt x="6186" y="127144"/>
                </a:lnTo>
                <a:lnTo>
                  <a:pt x="0" y="173183"/>
                </a:lnTo>
                <a:lnTo>
                  <a:pt x="6186" y="219223"/>
                </a:lnTo>
                <a:lnTo>
                  <a:pt x="23644" y="260593"/>
                </a:lnTo>
                <a:lnTo>
                  <a:pt x="50723" y="295643"/>
                </a:lnTo>
                <a:lnTo>
                  <a:pt x="85774" y="322723"/>
                </a:lnTo>
                <a:lnTo>
                  <a:pt x="127144" y="340181"/>
                </a:lnTo>
                <a:lnTo>
                  <a:pt x="173183" y="346367"/>
                </a:lnTo>
                <a:lnTo>
                  <a:pt x="219223" y="340181"/>
                </a:lnTo>
                <a:lnTo>
                  <a:pt x="260593" y="322723"/>
                </a:lnTo>
                <a:lnTo>
                  <a:pt x="295643" y="295643"/>
                </a:lnTo>
                <a:lnTo>
                  <a:pt x="322723" y="260593"/>
                </a:lnTo>
                <a:lnTo>
                  <a:pt x="340181" y="219223"/>
                </a:lnTo>
                <a:lnTo>
                  <a:pt x="346367" y="173183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10665" y="1267420"/>
            <a:ext cx="1924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-50" dirty="0">
                <a:latin typeface="Calibri"/>
                <a:cs typeface="Calibri"/>
              </a:rPr>
              <a:t>q</a:t>
            </a:r>
            <a:r>
              <a:rPr sz="1200" spc="-75" baseline="-10416" dirty="0">
                <a:latin typeface="Cambria"/>
                <a:cs typeface="Cambria"/>
              </a:rPr>
              <a:t>0</a:t>
            </a:r>
            <a:endParaRPr sz="1200" baseline="-10416">
              <a:latin typeface="Cambria"/>
              <a:cs typeface="Cambri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52530" y="1226584"/>
            <a:ext cx="1577340" cy="351790"/>
            <a:chOff x="852530" y="1226584"/>
            <a:chExt cx="1577340" cy="351790"/>
          </a:xfrm>
        </p:grpSpPr>
        <p:sp>
          <p:nvSpPr>
            <p:cNvPr id="8" name="object 8"/>
            <p:cNvSpPr/>
            <p:nvPr/>
          </p:nvSpPr>
          <p:spPr>
            <a:xfrm>
              <a:off x="855070" y="1402308"/>
              <a:ext cx="160655" cy="0"/>
            </a:xfrm>
            <a:custGeom>
              <a:avLst/>
              <a:gdLst/>
              <a:ahLst/>
              <a:cxnLst/>
              <a:rect l="l" t="t" r="r" b="b"/>
              <a:pathLst>
                <a:path w="160655">
                  <a:moveTo>
                    <a:pt x="0" y="0"/>
                  </a:moveTo>
                  <a:lnTo>
                    <a:pt x="160481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00368" y="1382064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40">
                  <a:moveTo>
                    <a:pt x="0" y="0"/>
                  </a:moveTo>
                  <a:lnTo>
                    <a:pt x="2965" y="6187"/>
                  </a:lnTo>
                  <a:lnTo>
                    <a:pt x="8540" y="12494"/>
                  </a:lnTo>
                  <a:lnTo>
                    <a:pt x="14589" y="17614"/>
                  </a:lnTo>
                  <a:lnTo>
                    <a:pt x="18978" y="20243"/>
                  </a:lnTo>
                  <a:lnTo>
                    <a:pt x="14589" y="22873"/>
                  </a:lnTo>
                  <a:lnTo>
                    <a:pt x="8540" y="27993"/>
                  </a:lnTo>
                  <a:lnTo>
                    <a:pt x="2965" y="34300"/>
                  </a:lnTo>
                  <a:lnTo>
                    <a:pt x="0" y="40487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080565" y="1229124"/>
              <a:ext cx="346710" cy="346710"/>
            </a:xfrm>
            <a:custGeom>
              <a:avLst/>
              <a:gdLst/>
              <a:ahLst/>
              <a:cxnLst/>
              <a:rect l="l" t="t" r="r" b="b"/>
              <a:pathLst>
                <a:path w="346710" h="346709">
                  <a:moveTo>
                    <a:pt x="346367" y="173183"/>
                  </a:moveTo>
                  <a:lnTo>
                    <a:pt x="340181" y="127144"/>
                  </a:lnTo>
                  <a:lnTo>
                    <a:pt x="322723" y="85774"/>
                  </a:lnTo>
                  <a:lnTo>
                    <a:pt x="295643" y="50723"/>
                  </a:lnTo>
                  <a:lnTo>
                    <a:pt x="260593" y="23644"/>
                  </a:lnTo>
                  <a:lnTo>
                    <a:pt x="219223" y="6186"/>
                  </a:lnTo>
                  <a:lnTo>
                    <a:pt x="173183" y="0"/>
                  </a:lnTo>
                  <a:lnTo>
                    <a:pt x="127144" y="6186"/>
                  </a:lnTo>
                  <a:lnTo>
                    <a:pt x="85774" y="23644"/>
                  </a:lnTo>
                  <a:lnTo>
                    <a:pt x="50723" y="50723"/>
                  </a:lnTo>
                  <a:lnTo>
                    <a:pt x="23644" y="85774"/>
                  </a:lnTo>
                  <a:lnTo>
                    <a:pt x="6186" y="127144"/>
                  </a:lnTo>
                  <a:lnTo>
                    <a:pt x="0" y="173183"/>
                  </a:lnTo>
                  <a:lnTo>
                    <a:pt x="6186" y="219223"/>
                  </a:lnTo>
                  <a:lnTo>
                    <a:pt x="23644" y="260593"/>
                  </a:lnTo>
                  <a:lnTo>
                    <a:pt x="50723" y="295643"/>
                  </a:lnTo>
                  <a:lnTo>
                    <a:pt x="85774" y="322723"/>
                  </a:lnTo>
                  <a:lnTo>
                    <a:pt x="127144" y="340181"/>
                  </a:lnTo>
                  <a:lnTo>
                    <a:pt x="173183" y="346367"/>
                  </a:lnTo>
                  <a:lnTo>
                    <a:pt x="219223" y="340181"/>
                  </a:lnTo>
                  <a:lnTo>
                    <a:pt x="260593" y="322723"/>
                  </a:lnTo>
                  <a:lnTo>
                    <a:pt x="295643" y="295643"/>
                  </a:lnTo>
                  <a:lnTo>
                    <a:pt x="322723" y="260593"/>
                  </a:lnTo>
                  <a:lnTo>
                    <a:pt x="340181" y="219223"/>
                  </a:lnTo>
                  <a:lnTo>
                    <a:pt x="346367" y="173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07720" y="1294687"/>
            <a:ext cx="3117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Georgia"/>
                <a:cs typeface="Georgia"/>
              </a:rPr>
              <a:t>start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54656" y="1267420"/>
            <a:ext cx="1924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-50" dirty="0">
                <a:latin typeface="Calibri"/>
                <a:cs typeface="Calibri"/>
              </a:rPr>
              <a:t>q</a:t>
            </a:r>
            <a:r>
              <a:rPr sz="1200" spc="-75" baseline="-10416" dirty="0">
                <a:latin typeface="Cambria"/>
                <a:cs typeface="Cambria"/>
              </a:rPr>
              <a:t>1</a:t>
            </a:r>
            <a:endParaRPr sz="1200" baseline="-10416">
              <a:latin typeface="Cambria"/>
              <a:cs typeface="Cambr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124577" y="1229124"/>
            <a:ext cx="346710" cy="346710"/>
          </a:xfrm>
          <a:custGeom>
            <a:avLst/>
            <a:gdLst/>
            <a:ahLst/>
            <a:cxnLst/>
            <a:rect l="l" t="t" r="r" b="b"/>
            <a:pathLst>
              <a:path w="346710" h="346709">
                <a:moveTo>
                  <a:pt x="346367" y="173183"/>
                </a:moveTo>
                <a:lnTo>
                  <a:pt x="340181" y="127144"/>
                </a:lnTo>
                <a:lnTo>
                  <a:pt x="322723" y="85774"/>
                </a:lnTo>
                <a:lnTo>
                  <a:pt x="295643" y="50723"/>
                </a:lnTo>
                <a:lnTo>
                  <a:pt x="260593" y="23644"/>
                </a:lnTo>
                <a:lnTo>
                  <a:pt x="219223" y="6186"/>
                </a:lnTo>
                <a:lnTo>
                  <a:pt x="173183" y="0"/>
                </a:lnTo>
                <a:lnTo>
                  <a:pt x="127144" y="6186"/>
                </a:lnTo>
                <a:lnTo>
                  <a:pt x="85774" y="23644"/>
                </a:lnTo>
                <a:lnTo>
                  <a:pt x="50723" y="50723"/>
                </a:lnTo>
                <a:lnTo>
                  <a:pt x="23644" y="85774"/>
                </a:lnTo>
                <a:lnTo>
                  <a:pt x="6186" y="127144"/>
                </a:lnTo>
                <a:lnTo>
                  <a:pt x="0" y="173183"/>
                </a:lnTo>
                <a:lnTo>
                  <a:pt x="6186" y="219223"/>
                </a:lnTo>
                <a:lnTo>
                  <a:pt x="23644" y="260593"/>
                </a:lnTo>
                <a:lnTo>
                  <a:pt x="50723" y="295643"/>
                </a:lnTo>
                <a:lnTo>
                  <a:pt x="85774" y="322723"/>
                </a:lnTo>
                <a:lnTo>
                  <a:pt x="127144" y="340181"/>
                </a:lnTo>
                <a:lnTo>
                  <a:pt x="173183" y="346367"/>
                </a:lnTo>
                <a:lnTo>
                  <a:pt x="219223" y="340181"/>
                </a:lnTo>
                <a:lnTo>
                  <a:pt x="260593" y="322723"/>
                </a:lnTo>
                <a:lnTo>
                  <a:pt x="295643" y="295643"/>
                </a:lnTo>
                <a:lnTo>
                  <a:pt x="322723" y="260593"/>
                </a:lnTo>
                <a:lnTo>
                  <a:pt x="340181" y="219223"/>
                </a:lnTo>
                <a:lnTo>
                  <a:pt x="346367" y="173183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198660" y="1267420"/>
            <a:ext cx="1924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-50" dirty="0">
                <a:latin typeface="Calibri"/>
                <a:cs typeface="Calibri"/>
              </a:rPr>
              <a:t>q</a:t>
            </a:r>
            <a:r>
              <a:rPr sz="1200" spc="-75" baseline="-10416" dirty="0">
                <a:latin typeface="Cambria"/>
                <a:cs typeface="Cambria"/>
              </a:rPr>
              <a:t>2</a:t>
            </a:r>
            <a:endParaRPr sz="1200" baseline="-10416">
              <a:latin typeface="Cambria"/>
              <a:cs typeface="Cambri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36554" y="2273136"/>
            <a:ext cx="346710" cy="346710"/>
          </a:xfrm>
          <a:custGeom>
            <a:avLst/>
            <a:gdLst/>
            <a:ahLst/>
            <a:cxnLst/>
            <a:rect l="l" t="t" r="r" b="b"/>
            <a:pathLst>
              <a:path w="346709" h="346710">
                <a:moveTo>
                  <a:pt x="346367" y="173183"/>
                </a:moveTo>
                <a:lnTo>
                  <a:pt x="340181" y="127144"/>
                </a:lnTo>
                <a:lnTo>
                  <a:pt x="322723" y="85774"/>
                </a:lnTo>
                <a:lnTo>
                  <a:pt x="295643" y="50723"/>
                </a:lnTo>
                <a:lnTo>
                  <a:pt x="260593" y="23644"/>
                </a:lnTo>
                <a:lnTo>
                  <a:pt x="219223" y="6186"/>
                </a:lnTo>
                <a:lnTo>
                  <a:pt x="173183" y="0"/>
                </a:lnTo>
                <a:lnTo>
                  <a:pt x="127144" y="6186"/>
                </a:lnTo>
                <a:lnTo>
                  <a:pt x="85774" y="23644"/>
                </a:lnTo>
                <a:lnTo>
                  <a:pt x="50723" y="50723"/>
                </a:lnTo>
                <a:lnTo>
                  <a:pt x="23644" y="85774"/>
                </a:lnTo>
                <a:lnTo>
                  <a:pt x="6186" y="127144"/>
                </a:lnTo>
                <a:lnTo>
                  <a:pt x="0" y="173183"/>
                </a:lnTo>
                <a:lnTo>
                  <a:pt x="6186" y="219223"/>
                </a:lnTo>
                <a:lnTo>
                  <a:pt x="23644" y="260593"/>
                </a:lnTo>
                <a:lnTo>
                  <a:pt x="50723" y="295643"/>
                </a:lnTo>
                <a:lnTo>
                  <a:pt x="85774" y="322723"/>
                </a:lnTo>
                <a:lnTo>
                  <a:pt x="127144" y="340181"/>
                </a:lnTo>
                <a:lnTo>
                  <a:pt x="173183" y="346367"/>
                </a:lnTo>
                <a:lnTo>
                  <a:pt x="219223" y="340181"/>
                </a:lnTo>
                <a:lnTo>
                  <a:pt x="260593" y="322723"/>
                </a:lnTo>
                <a:lnTo>
                  <a:pt x="295643" y="295643"/>
                </a:lnTo>
                <a:lnTo>
                  <a:pt x="322723" y="260593"/>
                </a:lnTo>
                <a:lnTo>
                  <a:pt x="340181" y="219223"/>
                </a:lnTo>
                <a:lnTo>
                  <a:pt x="346367" y="173183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10665" y="2311411"/>
            <a:ext cx="1924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-50" dirty="0">
                <a:latin typeface="Calibri"/>
                <a:cs typeface="Calibri"/>
              </a:rPr>
              <a:t>q</a:t>
            </a:r>
            <a:r>
              <a:rPr sz="1200" spc="-75" baseline="-10416" dirty="0">
                <a:latin typeface="Cambria"/>
                <a:cs typeface="Cambria"/>
              </a:rPr>
              <a:t>3</a:t>
            </a:r>
            <a:endParaRPr sz="1200" baseline="-10416">
              <a:latin typeface="Cambria"/>
              <a:cs typeface="Cambri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080565" y="2273136"/>
            <a:ext cx="346710" cy="346710"/>
          </a:xfrm>
          <a:custGeom>
            <a:avLst/>
            <a:gdLst/>
            <a:ahLst/>
            <a:cxnLst/>
            <a:rect l="l" t="t" r="r" b="b"/>
            <a:pathLst>
              <a:path w="346710" h="346710">
                <a:moveTo>
                  <a:pt x="346367" y="173183"/>
                </a:moveTo>
                <a:lnTo>
                  <a:pt x="340181" y="127144"/>
                </a:lnTo>
                <a:lnTo>
                  <a:pt x="322723" y="85774"/>
                </a:lnTo>
                <a:lnTo>
                  <a:pt x="295643" y="50723"/>
                </a:lnTo>
                <a:lnTo>
                  <a:pt x="260593" y="23644"/>
                </a:lnTo>
                <a:lnTo>
                  <a:pt x="219223" y="6186"/>
                </a:lnTo>
                <a:lnTo>
                  <a:pt x="173183" y="0"/>
                </a:lnTo>
                <a:lnTo>
                  <a:pt x="127144" y="6186"/>
                </a:lnTo>
                <a:lnTo>
                  <a:pt x="85774" y="23644"/>
                </a:lnTo>
                <a:lnTo>
                  <a:pt x="50723" y="50723"/>
                </a:lnTo>
                <a:lnTo>
                  <a:pt x="23644" y="85774"/>
                </a:lnTo>
                <a:lnTo>
                  <a:pt x="6186" y="127144"/>
                </a:lnTo>
                <a:lnTo>
                  <a:pt x="0" y="173183"/>
                </a:lnTo>
                <a:lnTo>
                  <a:pt x="6186" y="219223"/>
                </a:lnTo>
                <a:lnTo>
                  <a:pt x="23644" y="260593"/>
                </a:lnTo>
                <a:lnTo>
                  <a:pt x="50723" y="295643"/>
                </a:lnTo>
                <a:lnTo>
                  <a:pt x="85774" y="322723"/>
                </a:lnTo>
                <a:lnTo>
                  <a:pt x="127144" y="340181"/>
                </a:lnTo>
                <a:lnTo>
                  <a:pt x="173183" y="346367"/>
                </a:lnTo>
                <a:lnTo>
                  <a:pt x="219223" y="340181"/>
                </a:lnTo>
                <a:lnTo>
                  <a:pt x="260593" y="322723"/>
                </a:lnTo>
                <a:lnTo>
                  <a:pt x="295643" y="295643"/>
                </a:lnTo>
                <a:lnTo>
                  <a:pt x="322723" y="260593"/>
                </a:lnTo>
                <a:lnTo>
                  <a:pt x="340181" y="219223"/>
                </a:lnTo>
                <a:lnTo>
                  <a:pt x="346367" y="173183"/>
                </a:lnTo>
                <a:close/>
              </a:path>
            </a:pathLst>
          </a:custGeom>
          <a:ln w="177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154656" y="2311411"/>
            <a:ext cx="1924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-50" dirty="0">
                <a:latin typeface="Calibri"/>
                <a:cs typeface="Calibri"/>
              </a:rPr>
              <a:t>q</a:t>
            </a:r>
            <a:r>
              <a:rPr sz="1200" spc="-75" baseline="-10416" dirty="0">
                <a:latin typeface="Cambria"/>
                <a:cs typeface="Cambria"/>
              </a:rPr>
              <a:t>4</a:t>
            </a:r>
            <a:endParaRPr sz="1200" baseline="-10416">
              <a:latin typeface="Cambria"/>
              <a:cs typeface="Cambri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382912" y="1379842"/>
            <a:ext cx="683260" cy="45085"/>
            <a:chOff x="1382912" y="1379842"/>
            <a:chExt cx="683260" cy="45085"/>
          </a:xfrm>
        </p:grpSpPr>
        <p:sp>
          <p:nvSpPr>
            <p:cNvPr id="20" name="object 20"/>
            <p:cNvSpPr/>
            <p:nvPr/>
          </p:nvSpPr>
          <p:spPr>
            <a:xfrm>
              <a:off x="1385452" y="1402308"/>
              <a:ext cx="674370" cy="0"/>
            </a:xfrm>
            <a:custGeom>
              <a:avLst/>
              <a:gdLst/>
              <a:ahLst/>
              <a:cxnLst/>
              <a:rect l="l" t="t" r="r" b="b"/>
              <a:pathLst>
                <a:path w="674369">
                  <a:moveTo>
                    <a:pt x="0" y="0"/>
                  </a:moveTo>
                  <a:lnTo>
                    <a:pt x="674109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044379" y="1382064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40">
                  <a:moveTo>
                    <a:pt x="0" y="0"/>
                  </a:moveTo>
                  <a:lnTo>
                    <a:pt x="2965" y="6187"/>
                  </a:lnTo>
                  <a:lnTo>
                    <a:pt x="8540" y="12494"/>
                  </a:lnTo>
                  <a:lnTo>
                    <a:pt x="14589" y="17614"/>
                  </a:lnTo>
                  <a:lnTo>
                    <a:pt x="18978" y="20243"/>
                  </a:lnTo>
                  <a:lnTo>
                    <a:pt x="14589" y="22873"/>
                  </a:lnTo>
                  <a:lnTo>
                    <a:pt x="8540" y="27993"/>
                  </a:lnTo>
                  <a:lnTo>
                    <a:pt x="2965" y="34300"/>
                  </a:lnTo>
                  <a:lnTo>
                    <a:pt x="0" y="40487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433741" y="1175421"/>
            <a:ext cx="5949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30" dirty="0">
                <a:latin typeface="Georgia"/>
                <a:cs typeface="Georgia"/>
              </a:rPr>
              <a:t>0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55" dirty="0">
                <a:latin typeface="Lucida Sans Unicode"/>
                <a:cs typeface="Lucida Sans Unicode"/>
              </a:rPr>
              <a:t>→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i="1" spc="355" dirty="0">
                <a:latin typeface="Calibri"/>
                <a:cs typeface="Calibri"/>
              </a:rPr>
              <a:t>X</a:t>
            </a:r>
            <a:r>
              <a:rPr sz="1100" i="1" spc="2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229" dirty="0">
                <a:latin typeface="Calibri"/>
                <a:cs typeface="Calibri"/>
              </a:rPr>
              <a:t>R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133821" y="1575483"/>
            <a:ext cx="138430" cy="1252220"/>
            <a:chOff x="1133821" y="1575483"/>
            <a:chExt cx="138430" cy="1252220"/>
          </a:xfrm>
        </p:grpSpPr>
        <p:sp>
          <p:nvSpPr>
            <p:cNvPr id="24" name="object 24"/>
            <p:cNvSpPr/>
            <p:nvPr/>
          </p:nvSpPr>
          <p:spPr>
            <a:xfrm>
              <a:off x="1209738" y="1578023"/>
              <a:ext cx="0" cy="674370"/>
            </a:xfrm>
            <a:custGeom>
              <a:avLst/>
              <a:gdLst/>
              <a:ahLst/>
              <a:cxnLst/>
              <a:rect l="l" t="t" r="r" b="b"/>
              <a:pathLst>
                <a:path h="674369">
                  <a:moveTo>
                    <a:pt x="0" y="0"/>
                  </a:moveTo>
                  <a:lnTo>
                    <a:pt x="0" y="674109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189494" y="2236949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40" h="19050">
                  <a:moveTo>
                    <a:pt x="40487" y="0"/>
                  </a:moveTo>
                  <a:lnTo>
                    <a:pt x="34300" y="2965"/>
                  </a:lnTo>
                  <a:lnTo>
                    <a:pt x="27993" y="8540"/>
                  </a:lnTo>
                  <a:lnTo>
                    <a:pt x="22873" y="14589"/>
                  </a:lnTo>
                  <a:lnTo>
                    <a:pt x="20243" y="18978"/>
                  </a:lnTo>
                  <a:lnTo>
                    <a:pt x="17614" y="14589"/>
                  </a:lnTo>
                  <a:lnTo>
                    <a:pt x="12494" y="8540"/>
                  </a:lnTo>
                  <a:lnTo>
                    <a:pt x="6187" y="2965"/>
                  </a:lnTo>
                  <a:lnTo>
                    <a:pt x="0" y="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33821" y="2613849"/>
              <a:ext cx="138199" cy="213277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905687" y="2814471"/>
            <a:ext cx="6070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95" dirty="0">
                <a:latin typeface="Calibri"/>
                <a:cs typeface="Calibri"/>
              </a:rPr>
              <a:t>Y </a:t>
            </a:r>
            <a:r>
              <a:rPr sz="1100" i="1" spc="45" dirty="0">
                <a:latin typeface="Calibri"/>
                <a:cs typeface="Calibri"/>
              </a:rPr>
              <a:t> </a:t>
            </a:r>
            <a:r>
              <a:rPr sz="1100" spc="55" dirty="0">
                <a:latin typeface="Lucida Sans Unicode"/>
                <a:cs typeface="Lucida Sans Unicode"/>
              </a:rPr>
              <a:t>→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i="1" spc="155" dirty="0">
                <a:latin typeface="Calibri"/>
                <a:cs typeface="Calibri"/>
              </a:rPr>
              <a:t>Y</a:t>
            </a:r>
            <a:r>
              <a:rPr sz="1100" i="1" spc="2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229" dirty="0">
                <a:latin typeface="Calibri"/>
                <a:cs typeface="Calibri"/>
              </a:rPr>
              <a:t>R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382912" y="2423853"/>
            <a:ext cx="679450" cy="45085"/>
            <a:chOff x="1382912" y="2423853"/>
            <a:chExt cx="679450" cy="45085"/>
          </a:xfrm>
        </p:grpSpPr>
        <p:sp>
          <p:nvSpPr>
            <p:cNvPr id="29" name="object 29"/>
            <p:cNvSpPr/>
            <p:nvPr/>
          </p:nvSpPr>
          <p:spPr>
            <a:xfrm>
              <a:off x="1385452" y="2446319"/>
              <a:ext cx="670560" cy="0"/>
            </a:xfrm>
            <a:custGeom>
              <a:avLst/>
              <a:gdLst/>
              <a:ahLst/>
              <a:cxnLst/>
              <a:rect l="l" t="t" r="r" b="b"/>
              <a:pathLst>
                <a:path w="670560">
                  <a:moveTo>
                    <a:pt x="0" y="0"/>
                  </a:moveTo>
                  <a:lnTo>
                    <a:pt x="670313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40583" y="2426075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39">
                  <a:moveTo>
                    <a:pt x="0" y="0"/>
                  </a:moveTo>
                  <a:lnTo>
                    <a:pt x="2965" y="6187"/>
                  </a:lnTo>
                  <a:lnTo>
                    <a:pt x="8540" y="12494"/>
                  </a:lnTo>
                  <a:lnTo>
                    <a:pt x="14589" y="17614"/>
                  </a:lnTo>
                  <a:lnTo>
                    <a:pt x="18978" y="20243"/>
                  </a:lnTo>
                  <a:lnTo>
                    <a:pt x="14589" y="22873"/>
                  </a:lnTo>
                  <a:lnTo>
                    <a:pt x="8540" y="27993"/>
                  </a:lnTo>
                  <a:lnTo>
                    <a:pt x="2965" y="34300"/>
                  </a:lnTo>
                  <a:lnTo>
                    <a:pt x="0" y="40487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413421" y="2219412"/>
            <a:ext cx="6318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225" dirty="0">
                <a:latin typeface="Calibri"/>
                <a:cs typeface="Calibri"/>
              </a:rPr>
              <a:t>B</a:t>
            </a:r>
            <a:r>
              <a:rPr sz="1100" i="1" spc="105" dirty="0">
                <a:latin typeface="Calibri"/>
                <a:cs typeface="Calibri"/>
              </a:rPr>
              <a:t> </a:t>
            </a:r>
            <a:r>
              <a:rPr sz="1100" spc="55" dirty="0">
                <a:latin typeface="Lucida Sans Unicode"/>
                <a:cs typeface="Lucida Sans Unicode"/>
              </a:rPr>
              <a:t>→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i="1" spc="275" dirty="0">
                <a:latin typeface="Calibri"/>
                <a:cs typeface="Calibri"/>
              </a:rPr>
              <a:t>B</a:t>
            </a:r>
            <a:r>
              <a:rPr sz="1100" i="1" spc="2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229" dirty="0">
                <a:latin typeface="Calibri"/>
                <a:cs typeface="Calibri"/>
              </a:rPr>
              <a:t>R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2191467" y="1021501"/>
            <a:ext cx="918210" cy="403860"/>
            <a:chOff x="2191467" y="1021501"/>
            <a:chExt cx="918210" cy="403860"/>
          </a:xfrm>
        </p:grpSpPr>
        <p:pic>
          <p:nvPicPr>
            <p:cNvPr id="33" name="object 3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91467" y="1021501"/>
              <a:ext cx="138199" cy="213277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2429464" y="1402308"/>
              <a:ext cx="674370" cy="0"/>
            </a:xfrm>
            <a:custGeom>
              <a:avLst/>
              <a:gdLst/>
              <a:ahLst/>
              <a:cxnLst/>
              <a:rect l="l" t="t" r="r" b="b"/>
              <a:pathLst>
                <a:path w="674369">
                  <a:moveTo>
                    <a:pt x="0" y="0"/>
                  </a:moveTo>
                  <a:lnTo>
                    <a:pt x="674109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088390" y="1382064"/>
              <a:ext cx="19050" cy="40640"/>
            </a:xfrm>
            <a:custGeom>
              <a:avLst/>
              <a:gdLst/>
              <a:ahLst/>
              <a:cxnLst/>
              <a:rect l="l" t="t" r="r" b="b"/>
              <a:pathLst>
                <a:path w="19050" h="40640">
                  <a:moveTo>
                    <a:pt x="0" y="0"/>
                  </a:moveTo>
                  <a:lnTo>
                    <a:pt x="2965" y="6187"/>
                  </a:lnTo>
                  <a:lnTo>
                    <a:pt x="8540" y="12494"/>
                  </a:lnTo>
                  <a:lnTo>
                    <a:pt x="14589" y="17614"/>
                  </a:lnTo>
                  <a:lnTo>
                    <a:pt x="18978" y="20243"/>
                  </a:lnTo>
                  <a:lnTo>
                    <a:pt x="14589" y="22873"/>
                  </a:lnTo>
                  <a:lnTo>
                    <a:pt x="8540" y="27993"/>
                  </a:lnTo>
                  <a:lnTo>
                    <a:pt x="2965" y="34300"/>
                  </a:lnTo>
                  <a:lnTo>
                    <a:pt x="0" y="40487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2054237" y="739926"/>
            <a:ext cx="398780" cy="251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890"/>
              </a:lnSpc>
              <a:spcBef>
                <a:spcPts val="95"/>
              </a:spcBef>
            </a:pPr>
            <a:r>
              <a:rPr sz="800" i="1" spc="100" dirty="0">
                <a:latin typeface="Calibri"/>
                <a:cs typeface="Calibri"/>
              </a:rPr>
              <a:t>Y</a:t>
            </a:r>
            <a:r>
              <a:rPr sz="800" i="1" spc="5" dirty="0">
                <a:latin typeface="Calibri"/>
                <a:cs typeface="Calibri"/>
              </a:rPr>
              <a:t> </a:t>
            </a:r>
            <a:r>
              <a:rPr sz="800" spc="90" dirty="0">
                <a:latin typeface="Lucida Sans Unicode"/>
                <a:cs typeface="Lucida Sans Unicode"/>
              </a:rPr>
              <a:t>→</a:t>
            </a:r>
            <a:r>
              <a:rPr sz="800" i="1" spc="145" dirty="0">
                <a:latin typeface="Calibri"/>
                <a:cs typeface="Calibri"/>
              </a:rPr>
              <a:t>Y</a:t>
            </a:r>
            <a:r>
              <a:rPr sz="800" i="1" spc="114" dirty="0">
                <a:latin typeface="Calibri"/>
                <a:cs typeface="Calibri"/>
              </a:rPr>
              <a:t>,R</a:t>
            </a:r>
            <a:endParaRPr sz="800">
              <a:latin typeface="Calibri"/>
              <a:cs typeface="Calibri"/>
            </a:endParaRPr>
          </a:p>
          <a:p>
            <a:pPr marL="35560">
              <a:lnSpc>
                <a:spcPts val="890"/>
              </a:lnSpc>
            </a:pPr>
            <a:r>
              <a:rPr sz="800" spc="55" dirty="0">
                <a:latin typeface="Cambria"/>
                <a:cs typeface="Cambria"/>
              </a:rPr>
              <a:t>0</a:t>
            </a:r>
            <a:r>
              <a:rPr sz="800" spc="55" dirty="0">
                <a:latin typeface="Lucida Sans Unicode"/>
                <a:cs typeface="Lucida Sans Unicode"/>
              </a:rPr>
              <a:t>→</a:t>
            </a:r>
            <a:r>
              <a:rPr sz="800" spc="55" dirty="0">
                <a:latin typeface="Cambria"/>
                <a:cs typeface="Cambria"/>
              </a:rPr>
              <a:t>0</a:t>
            </a:r>
            <a:r>
              <a:rPr sz="800" i="1" spc="55" dirty="0">
                <a:latin typeface="Calibri"/>
                <a:cs typeface="Calibri"/>
              </a:rPr>
              <a:t>,R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498648" y="1175421"/>
            <a:ext cx="5543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70" dirty="0">
                <a:latin typeface="Georgia"/>
                <a:cs typeface="Georgia"/>
              </a:rPr>
              <a:t>1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55" dirty="0">
                <a:latin typeface="Lucida Sans Unicode"/>
                <a:cs typeface="Lucida Sans Unicode"/>
              </a:rPr>
              <a:t>→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i="1" spc="150" dirty="0">
                <a:latin typeface="Calibri"/>
                <a:cs typeface="Calibri"/>
              </a:rPr>
              <a:t>Y</a:t>
            </a:r>
            <a:r>
              <a:rPr sz="1100" i="1" spc="2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280" dirty="0">
                <a:latin typeface="Calibri"/>
                <a:cs typeface="Calibri"/>
              </a:rPr>
              <a:t>L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1380678" y="1340026"/>
            <a:ext cx="2298065" cy="358775"/>
            <a:chOff x="1380678" y="1340026"/>
            <a:chExt cx="2298065" cy="358775"/>
          </a:xfrm>
        </p:grpSpPr>
        <p:pic>
          <p:nvPicPr>
            <p:cNvPr id="39" name="object 3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65290" y="1340026"/>
              <a:ext cx="213277" cy="138199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1386155" y="1476741"/>
              <a:ext cx="1751964" cy="219710"/>
            </a:xfrm>
            <a:custGeom>
              <a:avLst/>
              <a:gdLst/>
              <a:ahLst/>
              <a:cxnLst/>
              <a:rect l="l" t="t" r="r" b="b"/>
              <a:pathLst>
                <a:path w="1751964" h="219710">
                  <a:moveTo>
                    <a:pt x="1751969" y="0"/>
                  </a:moveTo>
                  <a:lnTo>
                    <a:pt x="1701512" y="22997"/>
                  </a:lnTo>
                  <a:lnTo>
                    <a:pt x="1651499" y="44717"/>
                  </a:lnTo>
                  <a:lnTo>
                    <a:pt x="1601907" y="65162"/>
                  </a:lnTo>
                  <a:lnTo>
                    <a:pt x="1552713" y="84332"/>
                  </a:lnTo>
                  <a:lnTo>
                    <a:pt x="1503893" y="102228"/>
                  </a:lnTo>
                  <a:lnTo>
                    <a:pt x="1455424" y="118851"/>
                  </a:lnTo>
                  <a:lnTo>
                    <a:pt x="1407283" y="134202"/>
                  </a:lnTo>
                  <a:lnTo>
                    <a:pt x="1359447" y="148282"/>
                  </a:lnTo>
                  <a:lnTo>
                    <a:pt x="1311891" y="161092"/>
                  </a:lnTo>
                  <a:lnTo>
                    <a:pt x="1264594" y="172632"/>
                  </a:lnTo>
                  <a:lnTo>
                    <a:pt x="1217531" y="182904"/>
                  </a:lnTo>
                  <a:lnTo>
                    <a:pt x="1170680" y="191909"/>
                  </a:lnTo>
                  <a:lnTo>
                    <a:pt x="1124017" y="199647"/>
                  </a:lnTo>
                  <a:lnTo>
                    <a:pt x="1077518" y="206120"/>
                  </a:lnTo>
                  <a:lnTo>
                    <a:pt x="1031162" y="211328"/>
                  </a:lnTo>
                  <a:lnTo>
                    <a:pt x="984923" y="215272"/>
                  </a:lnTo>
                  <a:lnTo>
                    <a:pt x="938779" y="217953"/>
                  </a:lnTo>
                  <a:lnTo>
                    <a:pt x="892707" y="219373"/>
                  </a:lnTo>
                  <a:lnTo>
                    <a:pt x="846684" y="219531"/>
                  </a:lnTo>
                  <a:lnTo>
                    <a:pt x="800686" y="218430"/>
                  </a:lnTo>
                  <a:lnTo>
                    <a:pt x="754689" y="216070"/>
                  </a:lnTo>
                  <a:lnTo>
                    <a:pt x="708671" y="212451"/>
                  </a:lnTo>
                  <a:lnTo>
                    <a:pt x="662609" y="207575"/>
                  </a:lnTo>
                  <a:lnTo>
                    <a:pt x="616478" y="201443"/>
                  </a:lnTo>
                  <a:lnTo>
                    <a:pt x="570256" y="194056"/>
                  </a:lnTo>
                  <a:lnTo>
                    <a:pt x="523920" y="185414"/>
                  </a:lnTo>
                  <a:lnTo>
                    <a:pt x="477445" y="175518"/>
                  </a:lnTo>
                  <a:lnTo>
                    <a:pt x="430810" y="164370"/>
                  </a:lnTo>
                  <a:lnTo>
                    <a:pt x="383990" y="151971"/>
                  </a:lnTo>
                  <a:lnTo>
                    <a:pt x="336963" y="138320"/>
                  </a:lnTo>
                  <a:lnTo>
                    <a:pt x="289704" y="123420"/>
                  </a:lnTo>
                  <a:lnTo>
                    <a:pt x="242192" y="107271"/>
                  </a:lnTo>
                  <a:lnTo>
                    <a:pt x="194401" y="89874"/>
                  </a:lnTo>
                  <a:lnTo>
                    <a:pt x="146310" y="71230"/>
                  </a:lnTo>
                  <a:lnTo>
                    <a:pt x="97895" y="51340"/>
                  </a:lnTo>
                  <a:lnTo>
                    <a:pt x="49133" y="30205"/>
                  </a:lnTo>
                  <a:lnTo>
                    <a:pt x="0" y="7825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382707" y="1472606"/>
              <a:ext cx="26034" cy="36830"/>
            </a:xfrm>
            <a:custGeom>
              <a:avLst/>
              <a:gdLst/>
              <a:ahLst/>
              <a:cxnLst/>
              <a:rect l="l" t="t" r="r" b="b"/>
              <a:pathLst>
                <a:path w="26034" h="36830">
                  <a:moveTo>
                    <a:pt x="8666" y="36783"/>
                  </a:moveTo>
                  <a:lnTo>
                    <a:pt x="8593" y="29905"/>
                  </a:lnTo>
                  <a:lnTo>
                    <a:pt x="6200" y="21814"/>
                  </a:lnTo>
                  <a:lnTo>
                    <a:pt x="2873" y="14599"/>
                  </a:lnTo>
                  <a:lnTo>
                    <a:pt x="0" y="10351"/>
                  </a:lnTo>
                  <a:lnTo>
                    <a:pt x="5100" y="9822"/>
                  </a:lnTo>
                  <a:lnTo>
                    <a:pt x="12765" y="7733"/>
                  </a:lnTo>
                  <a:lnTo>
                    <a:pt x="20502" y="4365"/>
                  </a:lnTo>
                  <a:lnTo>
                    <a:pt x="25817" y="0"/>
                  </a:lnTo>
                </a:path>
              </a:pathLst>
            </a:custGeom>
            <a:ln w="40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1233042" y="1687498"/>
            <a:ext cx="13589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1650" i="1" spc="142" baseline="-47979" dirty="0">
                <a:latin typeface="Calibri"/>
                <a:cs typeface="Calibri"/>
              </a:rPr>
              <a:t>Y </a:t>
            </a:r>
            <a:r>
              <a:rPr sz="1650" i="1" spc="67" baseline="-47979" dirty="0">
                <a:latin typeface="Calibri"/>
                <a:cs typeface="Calibri"/>
              </a:rPr>
              <a:t> </a:t>
            </a:r>
            <a:r>
              <a:rPr sz="1650" spc="82" baseline="-47979" dirty="0">
                <a:latin typeface="Lucida Sans Unicode"/>
                <a:cs typeface="Lucida Sans Unicode"/>
              </a:rPr>
              <a:t>→</a:t>
            </a:r>
            <a:r>
              <a:rPr sz="1650" spc="-75" baseline="-47979" dirty="0">
                <a:latin typeface="Lucida Sans Unicode"/>
                <a:cs typeface="Lucida Sans Unicode"/>
              </a:rPr>
              <a:t> </a:t>
            </a:r>
            <a:r>
              <a:rPr sz="1650" i="1" spc="232" baseline="-47979" dirty="0">
                <a:latin typeface="Calibri"/>
                <a:cs typeface="Calibri"/>
              </a:rPr>
              <a:t>Y</a:t>
            </a:r>
            <a:r>
              <a:rPr sz="1650" i="1" spc="37" baseline="-47979" dirty="0">
                <a:latin typeface="Calibri"/>
                <a:cs typeface="Calibri"/>
              </a:rPr>
              <a:t>,</a:t>
            </a:r>
            <a:r>
              <a:rPr sz="1650" i="1" spc="-104" baseline="-47979" dirty="0">
                <a:latin typeface="Calibri"/>
                <a:cs typeface="Calibri"/>
              </a:rPr>
              <a:t> </a:t>
            </a:r>
            <a:r>
              <a:rPr sz="1650" i="1" spc="345" baseline="-47979" dirty="0">
                <a:latin typeface="Calibri"/>
                <a:cs typeface="Calibri"/>
              </a:rPr>
              <a:t>R</a:t>
            </a:r>
            <a:r>
              <a:rPr sz="1650" i="1" baseline="-47979" dirty="0">
                <a:latin typeface="Calibri"/>
                <a:cs typeface="Calibri"/>
              </a:rPr>
              <a:t>  </a:t>
            </a:r>
            <a:r>
              <a:rPr sz="1650" i="1" spc="60" baseline="-47979" dirty="0">
                <a:latin typeface="Calibri"/>
                <a:cs typeface="Calibri"/>
              </a:rPr>
              <a:t> </a:t>
            </a:r>
            <a:r>
              <a:rPr sz="1100" i="1" spc="330" dirty="0">
                <a:latin typeface="Calibri"/>
                <a:cs typeface="Calibri"/>
              </a:rPr>
              <a:t>X</a:t>
            </a:r>
            <a:r>
              <a:rPr sz="1100" i="1" dirty="0">
                <a:latin typeface="Calibri"/>
                <a:cs typeface="Calibri"/>
              </a:rPr>
              <a:t> </a:t>
            </a:r>
            <a:r>
              <a:rPr sz="1100" i="1" spc="-110" dirty="0">
                <a:latin typeface="Calibri"/>
                <a:cs typeface="Calibri"/>
              </a:rPr>
              <a:t> </a:t>
            </a:r>
            <a:r>
              <a:rPr sz="1100" spc="55" dirty="0">
                <a:latin typeface="Lucida Sans Unicode"/>
                <a:cs typeface="Lucida Sans Unicode"/>
              </a:rPr>
              <a:t>→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i="1" spc="355" dirty="0">
                <a:latin typeface="Calibri"/>
                <a:cs typeface="Calibri"/>
              </a:rPr>
              <a:t>X</a:t>
            </a:r>
            <a:r>
              <a:rPr sz="1100" i="1" spc="2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229" dirty="0">
                <a:latin typeface="Calibri"/>
                <a:cs typeface="Calibri"/>
              </a:rPr>
              <a:t>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709771" y="1261121"/>
            <a:ext cx="3911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100" dirty="0">
                <a:latin typeface="Calibri"/>
                <a:cs typeface="Calibri"/>
              </a:rPr>
              <a:t>Y</a:t>
            </a:r>
            <a:r>
              <a:rPr sz="800" i="1" spc="5" dirty="0">
                <a:latin typeface="Calibri"/>
                <a:cs typeface="Calibri"/>
              </a:rPr>
              <a:t> </a:t>
            </a:r>
            <a:r>
              <a:rPr sz="800" spc="90" dirty="0">
                <a:latin typeface="Lucida Sans Unicode"/>
                <a:cs typeface="Lucida Sans Unicode"/>
              </a:rPr>
              <a:t>→</a:t>
            </a:r>
            <a:r>
              <a:rPr sz="800" i="1" spc="145" dirty="0">
                <a:latin typeface="Calibri"/>
                <a:cs typeface="Calibri"/>
              </a:rPr>
              <a:t>Y</a:t>
            </a:r>
            <a:r>
              <a:rPr sz="800" i="1" spc="135" dirty="0">
                <a:latin typeface="Calibri"/>
                <a:cs typeface="Calibri"/>
              </a:rPr>
              <a:t>,L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733279" y="1365147"/>
            <a:ext cx="34417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0" dirty="0">
                <a:latin typeface="Cambria"/>
                <a:cs typeface="Cambria"/>
              </a:rPr>
              <a:t>0</a:t>
            </a:r>
            <a:r>
              <a:rPr sz="800" spc="90" dirty="0">
                <a:latin typeface="Lucida Sans Unicode"/>
                <a:cs typeface="Lucida Sans Unicode"/>
              </a:rPr>
              <a:t>→</a:t>
            </a:r>
            <a:r>
              <a:rPr sz="800" spc="-20" dirty="0">
                <a:latin typeface="Cambria"/>
                <a:cs typeface="Cambria"/>
              </a:rPr>
              <a:t>0</a:t>
            </a:r>
            <a:r>
              <a:rPr sz="800" i="1" spc="135" dirty="0">
                <a:latin typeface="Calibri"/>
                <a:cs typeface="Calibri"/>
              </a:rPr>
              <a:t>,L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0"/>
            <a:ext cx="7042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45" dirty="0">
                <a:solidFill>
                  <a:srgbClr val="191959"/>
                </a:solidFill>
                <a:latin typeface="Palatino Linotype"/>
                <a:cs typeface="Palatino Linotype"/>
                <a:hlinkClick r:id="rId2" action="ppaction://hlinksldjump"/>
              </a:rPr>
              <a:t>Turing</a:t>
            </a:r>
            <a:r>
              <a:rPr sz="600" spc="55" dirty="0">
                <a:solidFill>
                  <a:srgbClr val="191959"/>
                </a:solidFill>
                <a:latin typeface="Palatino Linotype"/>
                <a:cs typeface="Palatino Linotype"/>
                <a:hlinkClick r:id="rId2" action="ppaction://hlinksldjump"/>
              </a:rPr>
              <a:t> </a:t>
            </a:r>
            <a:r>
              <a:rPr sz="600" spc="45" dirty="0">
                <a:solidFill>
                  <a:srgbClr val="191959"/>
                </a:solidFill>
                <a:latin typeface="Palatino Linotype"/>
                <a:cs typeface="Palatino Linotype"/>
                <a:hlinkClick r:id="rId2" action="ppaction://hlinksldjump"/>
              </a:rPr>
              <a:t>Machines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41623" y="0"/>
            <a:ext cx="11715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45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Equivalence</a:t>
            </a:r>
            <a:r>
              <a:rPr sz="600" spc="75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 </a:t>
            </a:r>
            <a:r>
              <a:rPr sz="600" spc="50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and</a:t>
            </a:r>
            <a:r>
              <a:rPr sz="600" spc="75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 </a:t>
            </a:r>
            <a:r>
              <a:rPr sz="600" spc="50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Algorithms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8358" y="211465"/>
            <a:ext cx="3870960" cy="26873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58570">
              <a:lnSpc>
                <a:spcPct val="100000"/>
              </a:lnSpc>
              <a:spcBef>
                <a:spcPts val="135"/>
              </a:spcBef>
            </a:pPr>
            <a:r>
              <a:rPr sz="1400" spc="45" dirty="0">
                <a:solidFill>
                  <a:srgbClr val="3333B2"/>
                </a:solidFill>
                <a:latin typeface="Times New Roman"/>
                <a:cs typeface="Times New Roman"/>
              </a:rPr>
              <a:t>Turing</a:t>
            </a:r>
            <a:r>
              <a:rPr sz="1400" spc="75" dirty="0">
                <a:solidFill>
                  <a:srgbClr val="3333B2"/>
                </a:solidFill>
                <a:latin typeface="Times New Roman"/>
                <a:cs typeface="Times New Roman"/>
              </a:rPr>
              <a:t> </a:t>
            </a:r>
            <a:r>
              <a:rPr sz="1400" spc="35" dirty="0">
                <a:solidFill>
                  <a:srgbClr val="3333B2"/>
                </a:solidFill>
                <a:latin typeface="Times New Roman"/>
                <a:cs typeface="Times New Roman"/>
              </a:rPr>
              <a:t>Machine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650">
              <a:latin typeface="Times New Roman"/>
              <a:cs typeface="Times New Roman"/>
            </a:endParaRPr>
          </a:p>
          <a:p>
            <a:pPr marL="208279" indent="-132715">
              <a:lnSpc>
                <a:spcPct val="100000"/>
              </a:lnSpc>
              <a:buClr>
                <a:srgbClr val="3333B2"/>
              </a:buClr>
              <a:buSzPct val="90909"/>
              <a:buFont typeface="Lucida Sans Unicode"/>
              <a:buChar char="•"/>
              <a:tabLst>
                <a:tab pos="208915" algn="l"/>
              </a:tabLst>
            </a:pPr>
            <a:r>
              <a:rPr sz="1100" spc="5" dirty="0">
                <a:latin typeface="Georgia"/>
                <a:cs typeface="Georgia"/>
              </a:rPr>
              <a:t>Let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i="1" spc="280" dirty="0">
                <a:latin typeface="Calibri"/>
                <a:cs typeface="Calibri"/>
              </a:rPr>
              <a:t>L</a:t>
            </a:r>
            <a:r>
              <a:rPr sz="1100" i="1" spc="50" dirty="0">
                <a:latin typeface="Calibri"/>
                <a:cs typeface="Calibri"/>
              </a:rPr>
              <a:t> </a:t>
            </a:r>
            <a:r>
              <a:rPr sz="1100" spc="140" dirty="0">
                <a:latin typeface="Georgia"/>
                <a:cs typeface="Georgia"/>
              </a:rPr>
              <a:t>=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185" dirty="0">
                <a:latin typeface="Lucida Sans Unicode"/>
                <a:cs typeface="Lucida Sans Unicode"/>
              </a:rPr>
              <a:t>{</a:t>
            </a:r>
            <a:r>
              <a:rPr sz="1100" i="1" spc="5" dirty="0">
                <a:latin typeface="Calibri"/>
                <a:cs typeface="Calibri"/>
              </a:rPr>
              <a:t>a</a:t>
            </a:r>
            <a:r>
              <a:rPr sz="1200" i="1" spc="217" baseline="27777" dirty="0">
                <a:latin typeface="Calibri"/>
                <a:cs typeface="Calibri"/>
              </a:rPr>
              <a:t>i</a:t>
            </a:r>
            <a:r>
              <a:rPr sz="1100" i="1" spc="-100" dirty="0">
                <a:latin typeface="Calibri"/>
                <a:cs typeface="Calibri"/>
              </a:rPr>
              <a:t>b</a:t>
            </a:r>
            <a:r>
              <a:rPr sz="1200" i="1" spc="367" baseline="27777" dirty="0">
                <a:latin typeface="Calibri"/>
                <a:cs typeface="Calibri"/>
              </a:rPr>
              <a:t>j</a:t>
            </a:r>
            <a:r>
              <a:rPr sz="1100" i="1" spc="5" dirty="0">
                <a:latin typeface="Calibri"/>
                <a:cs typeface="Calibri"/>
              </a:rPr>
              <a:t>c</a:t>
            </a:r>
            <a:r>
              <a:rPr sz="1200" i="1" spc="112" baseline="27777" dirty="0">
                <a:latin typeface="Calibri"/>
                <a:cs typeface="Calibri"/>
              </a:rPr>
              <a:t>k</a:t>
            </a:r>
            <a:r>
              <a:rPr sz="1200" i="1" baseline="27777" dirty="0">
                <a:latin typeface="Calibri"/>
                <a:cs typeface="Calibri"/>
              </a:rPr>
              <a:t> </a:t>
            </a:r>
            <a:r>
              <a:rPr sz="1200" i="1" spc="15" baseline="27777" dirty="0">
                <a:latin typeface="Calibri"/>
                <a:cs typeface="Calibri"/>
              </a:rPr>
              <a:t> </a:t>
            </a:r>
            <a:r>
              <a:rPr sz="1100" spc="-45" dirty="0">
                <a:latin typeface="Georgia"/>
                <a:cs typeface="Georgia"/>
              </a:rPr>
              <a:t>: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i="1" spc="120" dirty="0">
                <a:latin typeface="Calibri"/>
                <a:cs typeface="Calibri"/>
              </a:rPr>
              <a:t>i</a:t>
            </a:r>
            <a:r>
              <a:rPr sz="1100" i="1" spc="-10" dirty="0">
                <a:latin typeface="Calibri"/>
                <a:cs typeface="Calibri"/>
              </a:rPr>
              <a:t> </a:t>
            </a:r>
            <a:r>
              <a:rPr sz="1100" spc="-30" dirty="0">
                <a:latin typeface="Lucida Sans Unicode"/>
                <a:cs typeface="Lucida Sans Unicode"/>
              </a:rPr>
              <a:t>×</a:t>
            </a:r>
            <a:r>
              <a:rPr sz="1100" spc="-110" dirty="0">
                <a:latin typeface="Lucida Sans Unicode"/>
                <a:cs typeface="Lucida Sans Unicode"/>
              </a:rPr>
              <a:t> </a:t>
            </a:r>
            <a:r>
              <a:rPr sz="1100" i="1" spc="185" dirty="0">
                <a:latin typeface="Calibri"/>
                <a:cs typeface="Calibri"/>
              </a:rPr>
              <a:t>j</a:t>
            </a:r>
            <a:r>
              <a:rPr sz="1100" i="1" spc="114" dirty="0">
                <a:latin typeface="Calibri"/>
                <a:cs typeface="Calibri"/>
              </a:rPr>
              <a:t> </a:t>
            </a:r>
            <a:r>
              <a:rPr sz="1100" spc="140" dirty="0">
                <a:latin typeface="Georgia"/>
                <a:cs typeface="Georgia"/>
              </a:rPr>
              <a:t>=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i="1" spc="65" dirty="0">
                <a:latin typeface="Calibri"/>
                <a:cs typeface="Calibri"/>
              </a:rPr>
              <a:t>k</a:t>
            </a:r>
            <a:r>
              <a:rPr sz="1100" i="1" spc="25" dirty="0">
                <a:latin typeface="Calibri"/>
                <a:cs typeface="Calibri"/>
              </a:rPr>
              <a:t> </a:t>
            </a:r>
            <a:r>
              <a:rPr sz="1100" spc="-150" dirty="0">
                <a:latin typeface="Lucida Sans Unicode"/>
                <a:cs typeface="Lucida Sans Unicode"/>
              </a:rPr>
              <a:t>∧</a:t>
            </a:r>
            <a:r>
              <a:rPr sz="1100" spc="-110" dirty="0">
                <a:latin typeface="Lucida Sans Unicode"/>
                <a:cs typeface="Lucida Sans Unicode"/>
              </a:rPr>
              <a:t> </a:t>
            </a:r>
            <a:r>
              <a:rPr sz="1100" i="1" spc="65" dirty="0">
                <a:latin typeface="Calibri"/>
                <a:cs typeface="Calibri"/>
              </a:rPr>
              <a:t>i</a:t>
            </a:r>
            <a:r>
              <a:rPr sz="1100" i="1" spc="7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185" dirty="0">
                <a:latin typeface="Calibri"/>
                <a:cs typeface="Calibri"/>
              </a:rPr>
              <a:t>j</a:t>
            </a:r>
            <a:r>
              <a:rPr sz="1100" i="1" spc="2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65" dirty="0">
                <a:latin typeface="Calibri"/>
                <a:cs typeface="Calibri"/>
              </a:rPr>
              <a:t>k</a:t>
            </a:r>
            <a:r>
              <a:rPr sz="1100" i="1" spc="85" dirty="0">
                <a:latin typeface="Calibri"/>
                <a:cs typeface="Calibri"/>
              </a:rPr>
              <a:t> </a:t>
            </a:r>
            <a:r>
              <a:rPr sz="1100" spc="-30" dirty="0">
                <a:latin typeface="Lucida Sans Unicode"/>
                <a:cs typeface="Lucida Sans Unicode"/>
              </a:rPr>
              <a:t>≥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spc="65" dirty="0">
                <a:latin typeface="Georgia"/>
                <a:cs typeface="Georgia"/>
              </a:rPr>
              <a:t>1</a:t>
            </a:r>
            <a:r>
              <a:rPr sz="1100" spc="185" dirty="0">
                <a:latin typeface="Lucida Sans Unicode"/>
                <a:cs typeface="Lucida Sans Unicode"/>
              </a:rPr>
              <a:t>}</a:t>
            </a:r>
            <a:endParaRPr sz="1100">
              <a:latin typeface="Lucida Sans Unicode"/>
              <a:cs typeface="Lucida Sans Unicode"/>
            </a:endParaRPr>
          </a:p>
          <a:p>
            <a:pPr marL="208279" indent="-133350">
              <a:lnSpc>
                <a:spcPct val="100000"/>
              </a:lnSpc>
              <a:spcBef>
                <a:spcPts val="175"/>
              </a:spcBef>
              <a:buClr>
                <a:srgbClr val="3333B2"/>
              </a:buClr>
              <a:buSzPct val="90909"/>
              <a:buFont typeface="Lucida Sans Unicode"/>
              <a:buChar char="•"/>
              <a:tabLst>
                <a:tab pos="208915" algn="l"/>
              </a:tabLst>
            </a:pPr>
            <a:r>
              <a:rPr sz="1100" spc="40" dirty="0">
                <a:latin typeface="Georgia"/>
                <a:cs typeface="Georgia"/>
              </a:rPr>
              <a:t>TM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i="1" spc="114" dirty="0">
                <a:latin typeface="Calibri"/>
                <a:cs typeface="Calibri"/>
              </a:rPr>
              <a:t>M</a:t>
            </a:r>
            <a:r>
              <a:rPr sz="1100" i="1" spc="225" dirty="0">
                <a:latin typeface="Calibri"/>
                <a:cs typeface="Calibri"/>
              </a:rPr>
              <a:t> </a:t>
            </a:r>
            <a:r>
              <a:rPr sz="1100" spc="-50" dirty="0">
                <a:latin typeface="Georgia"/>
                <a:cs typeface="Georgia"/>
              </a:rPr>
              <a:t>on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input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string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i="1" spc="-15" dirty="0">
                <a:latin typeface="Calibri"/>
                <a:cs typeface="Calibri"/>
              </a:rPr>
              <a:t>w</a:t>
            </a:r>
            <a:r>
              <a:rPr sz="1100" spc="-15" dirty="0">
                <a:latin typeface="Georgia"/>
                <a:cs typeface="Georgia"/>
              </a:rPr>
              <a:t>:</a:t>
            </a:r>
            <a:endParaRPr sz="1100">
              <a:latin typeface="Georgia"/>
              <a:cs typeface="Georgia"/>
            </a:endParaRPr>
          </a:p>
          <a:p>
            <a:pPr marL="485775" marR="95885" lvl="1" indent="-168275">
              <a:lnSpc>
                <a:spcPct val="100000"/>
              </a:lnSpc>
              <a:spcBef>
                <a:spcPts val="175"/>
              </a:spcBef>
              <a:buClr>
                <a:srgbClr val="3333B2"/>
              </a:buClr>
              <a:buAutoNum type="arabicPeriod"/>
              <a:tabLst>
                <a:tab pos="486409" algn="l"/>
              </a:tabLst>
            </a:pPr>
            <a:r>
              <a:rPr sz="1000" spc="-20" dirty="0">
                <a:latin typeface="Georgia"/>
                <a:cs typeface="Georgia"/>
              </a:rPr>
              <a:t>Scan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the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input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40" dirty="0">
                <a:latin typeface="Georgia"/>
                <a:cs typeface="Georgia"/>
              </a:rPr>
              <a:t>from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left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5" dirty="0">
                <a:latin typeface="Georgia"/>
                <a:cs typeface="Georgia"/>
              </a:rPr>
              <a:t>to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right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5" dirty="0">
                <a:latin typeface="Georgia"/>
                <a:cs typeface="Georgia"/>
              </a:rPr>
              <a:t>to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determine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whether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10" dirty="0">
                <a:latin typeface="Georgia"/>
                <a:cs typeface="Georgia"/>
              </a:rPr>
              <a:t>it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is </a:t>
            </a:r>
            <a:r>
              <a:rPr sz="1000" spc="-22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a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spc="-40" dirty="0">
                <a:latin typeface="Georgia"/>
                <a:cs typeface="Georgia"/>
              </a:rPr>
              <a:t>member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of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i="1" spc="-70" dirty="0">
                <a:latin typeface="Calibri"/>
                <a:cs typeface="Calibri"/>
              </a:rPr>
              <a:t>a</a:t>
            </a:r>
            <a:r>
              <a:rPr sz="1050" spc="-104" baseline="27777" dirty="0">
                <a:latin typeface="Lucida Sans Unicode"/>
                <a:cs typeface="Lucida Sans Unicode"/>
              </a:rPr>
              <a:t>∗</a:t>
            </a:r>
            <a:r>
              <a:rPr sz="1000" i="1" spc="-70" dirty="0">
                <a:latin typeface="Calibri"/>
                <a:cs typeface="Calibri"/>
              </a:rPr>
              <a:t>b</a:t>
            </a:r>
            <a:r>
              <a:rPr sz="1050" spc="-104" baseline="27777" dirty="0">
                <a:latin typeface="Lucida Sans Unicode"/>
                <a:cs typeface="Lucida Sans Unicode"/>
              </a:rPr>
              <a:t>∗</a:t>
            </a:r>
            <a:r>
              <a:rPr sz="1000" i="1" spc="-70" dirty="0">
                <a:latin typeface="Calibri"/>
                <a:cs typeface="Calibri"/>
              </a:rPr>
              <a:t>c</a:t>
            </a:r>
            <a:r>
              <a:rPr sz="1050" spc="-104" baseline="27777" dirty="0">
                <a:latin typeface="Lucida Sans Unicode"/>
                <a:cs typeface="Lucida Sans Unicode"/>
              </a:rPr>
              <a:t>∗</a:t>
            </a:r>
            <a:r>
              <a:rPr sz="1050" spc="15" baseline="27777" dirty="0">
                <a:latin typeface="Lucida Sans Unicode"/>
                <a:cs typeface="Lucida Sans Unicode"/>
              </a:rPr>
              <a:t> </a:t>
            </a:r>
            <a:r>
              <a:rPr sz="1000" spc="-25" dirty="0">
                <a:latin typeface="Georgia"/>
                <a:cs typeface="Georgia"/>
              </a:rPr>
              <a:t>and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b="1" spc="-25" dirty="0">
                <a:latin typeface="Georgia"/>
                <a:cs typeface="Georgia"/>
              </a:rPr>
              <a:t>reject</a:t>
            </a:r>
            <a:r>
              <a:rPr sz="1000" b="1" spc="8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otherwise</a:t>
            </a:r>
            <a:endParaRPr sz="1000">
              <a:latin typeface="Georgia"/>
              <a:cs typeface="Georgia"/>
            </a:endParaRPr>
          </a:p>
          <a:p>
            <a:pPr marL="485775" lvl="1" indent="-168275">
              <a:lnSpc>
                <a:spcPts val="1190"/>
              </a:lnSpc>
              <a:buClr>
                <a:srgbClr val="3333B2"/>
              </a:buClr>
              <a:buAutoNum type="arabicPeriod"/>
              <a:tabLst>
                <a:tab pos="486409" algn="l"/>
              </a:tabLst>
            </a:pPr>
            <a:r>
              <a:rPr sz="1000" spc="-10" dirty="0">
                <a:latin typeface="Georgia"/>
                <a:cs typeface="Georgia"/>
              </a:rPr>
              <a:t>Return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the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head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5" dirty="0">
                <a:latin typeface="Georgia"/>
                <a:cs typeface="Georgia"/>
              </a:rPr>
              <a:t>to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the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left-hand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end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of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the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5" dirty="0">
                <a:latin typeface="Georgia"/>
                <a:cs typeface="Georgia"/>
              </a:rPr>
              <a:t>tape</a:t>
            </a:r>
            <a:endParaRPr sz="1000">
              <a:latin typeface="Georgia"/>
              <a:cs typeface="Georgia"/>
            </a:endParaRPr>
          </a:p>
          <a:p>
            <a:pPr marL="485775" marR="43180" lvl="1" indent="-168275">
              <a:lnSpc>
                <a:spcPts val="1200"/>
              </a:lnSpc>
              <a:spcBef>
                <a:spcPts val="35"/>
              </a:spcBef>
              <a:buClr>
                <a:srgbClr val="3333B2"/>
              </a:buClr>
              <a:buAutoNum type="arabicPeriod"/>
              <a:tabLst>
                <a:tab pos="486409" algn="l"/>
              </a:tabLst>
            </a:pPr>
            <a:r>
              <a:rPr sz="1000" spc="-15" dirty="0">
                <a:latin typeface="Georgia"/>
                <a:cs typeface="Georgia"/>
              </a:rPr>
              <a:t>Cross</a:t>
            </a:r>
            <a:r>
              <a:rPr sz="1000" spc="75" dirty="0">
                <a:latin typeface="Georgia"/>
                <a:cs typeface="Georgia"/>
              </a:rPr>
              <a:t> </a:t>
            </a:r>
            <a:r>
              <a:rPr sz="1000" spc="-40" dirty="0">
                <a:latin typeface="Georgia"/>
                <a:cs typeface="Georgia"/>
              </a:rPr>
              <a:t>off</a:t>
            </a:r>
            <a:r>
              <a:rPr sz="1000" spc="8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an</a:t>
            </a:r>
            <a:r>
              <a:rPr sz="1000" spc="80" dirty="0">
                <a:latin typeface="Georgia"/>
                <a:cs typeface="Georgia"/>
              </a:rPr>
              <a:t> </a:t>
            </a:r>
            <a:r>
              <a:rPr sz="1000" i="1" spc="10" dirty="0">
                <a:latin typeface="Calibri"/>
                <a:cs typeface="Calibri"/>
              </a:rPr>
              <a:t>a</a:t>
            </a:r>
            <a:r>
              <a:rPr sz="1000" i="1" spc="95" dirty="0">
                <a:latin typeface="Calibri"/>
                <a:cs typeface="Calibri"/>
              </a:rPr>
              <a:t> </a:t>
            </a:r>
            <a:r>
              <a:rPr sz="1000" spc="-25" dirty="0">
                <a:latin typeface="Georgia"/>
                <a:cs typeface="Georgia"/>
              </a:rPr>
              <a:t>and</a:t>
            </a:r>
            <a:r>
              <a:rPr sz="1000" spc="8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scan</a:t>
            </a:r>
            <a:r>
              <a:rPr sz="1000" spc="80" dirty="0">
                <a:latin typeface="Georgia"/>
                <a:cs typeface="Georgia"/>
              </a:rPr>
              <a:t> </a:t>
            </a:r>
            <a:r>
              <a:rPr sz="1000" spc="-5" dirty="0">
                <a:latin typeface="Georgia"/>
                <a:cs typeface="Georgia"/>
              </a:rPr>
              <a:t>to</a:t>
            </a:r>
            <a:r>
              <a:rPr sz="1000" spc="80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the</a:t>
            </a:r>
            <a:r>
              <a:rPr sz="1000" spc="8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right</a:t>
            </a:r>
            <a:r>
              <a:rPr sz="1000" spc="7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until</a:t>
            </a:r>
            <a:r>
              <a:rPr sz="1000" spc="8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a</a:t>
            </a:r>
            <a:r>
              <a:rPr sz="1000" spc="80" dirty="0">
                <a:latin typeface="Georgia"/>
                <a:cs typeface="Georgia"/>
              </a:rPr>
              <a:t> </a:t>
            </a:r>
            <a:r>
              <a:rPr sz="1000" i="1" spc="-90" dirty="0">
                <a:latin typeface="Calibri"/>
                <a:cs typeface="Calibri"/>
              </a:rPr>
              <a:t>b</a:t>
            </a:r>
            <a:r>
              <a:rPr sz="1000" i="1" spc="-35" dirty="0">
                <a:latin typeface="Calibri"/>
                <a:cs typeface="Calibri"/>
              </a:rPr>
              <a:t> </a:t>
            </a:r>
            <a:r>
              <a:rPr sz="1000" spc="-20" dirty="0">
                <a:latin typeface="Georgia"/>
                <a:cs typeface="Georgia"/>
              </a:rPr>
              <a:t>occurs.</a:t>
            </a:r>
            <a:r>
              <a:rPr sz="1000" spc="-15" dirty="0">
                <a:latin typeface="Georgia"/>
                <a:cs typeface="Georgia"/>
              </a:rPr>
              <a:t> Shuttle </a:t>
            </a:r>
            <a:r>
              <a:rPr sz="1000" spc="-229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between</a:t>
            </a:r>
            <a:r>
              <a:rPr sz="1000" spc="-25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the </a:t>
            </a:r>
            <a:r>
              <a:rPr sz="1000" i="1" spc="-30" dirty="0">
                <a:latin typeface="Calibri"/>
                <a:cs typeface="Calibri"/>
              </a:rPr>
              <a:t>b</a:t>
            </a:r>
            <a:r>
              <a:rPr sz="1000" spc="-30" dirty="0">
                <a:latin typeface="Georgia"/>
                <a:cs typeface="Georgia"/>
              </a:rPr>
              <a:t>’s</a:t>
            </a:r>
            <a:r>
              <a:rPr sz="1000" spc="-25" dirty="0">
                <a:latin typeface="Georgia"/>
                <a:cs typeface="Georgia"/>
              </a:rPr>
              <a:t> and</a:t>
            </a:r>
            <a:r>
              <a:rPr sz="1000" spc="-20" dirty="0">
                <a:latin typeface="Georgia"/>
                <a:cs typeface="Georgia"/>
              </a:rPr>
              <a:t> </a:t>
            </a:r>
            <a:r>
              <a:rPr sz="1000" i="1" spc="5" dirty="0">
                <a:latin typeface="Calibri"/>
                <a:cs typeface="Calibri"/>
              </a:rPr>
              <a:t>c</a:t>
            </a:r>
            <a:r>
              <a:rPr sz="1000" spc="5" dirty="0">
                <a:latin typeface="Georgia"/>
                <a:cs typeface="Georgia"/>
              </a:rPr>
              <a:t>’s </a:t>
            </a:r>
            <a:r>
              <a:rPr sz="1000" spc="-30" dirty="0">
                <a:latin typeface="Georgia"/>
                <a:cs typeface="Georgia"/>
              </a:rPr>
              <a:t>crossing</a:t>
            </a:r>
            <a:r>
              <a:rPr sz="1000" spc="180" dirty="0">
                <a:latin typeface="Georgia"/>
                <a:cs typeface="Georgia"/>
              </a:rPr>
              <a:t> </a:t>
            </a:r>
            <a:r>
              <a:rPr sz="1000" spc="-40" dirty="0">
                <a:latin typeface="Georgia"/>
                <a:cs typeface="Georgia"/>
              </a:rPr>
              <a:t>off</a:t>
            </a:r>
            <a:r>
              <a:rPr sz="1000" spc="160" dirty="0">
                <a:latin typeface="Georgia"/>
                <a:cs typeface="Georgia"/>
              </a:rPr>
              <a:t> </a:t>
            </a:r>
            <a:r>
              <a:rPr sz="1000" spc="-40" dirty="0">
                <a:latin typeface="Georgia"/>
                <a:cs typeface="Georgia"/>
              </a:rPr>
              <a:t>one</a:t>
            </a:r>
            <a:r>
              <a:rPr sz="1000" spc="160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of</a:t>
            </a:r>
            <a:r>
              <a:rPr sz="1000" spc="170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each</a:t>
            </a:r>
            <a:r>
              <a:rPr sz="1000" spc="185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until </a:t>
            </a:r>
            <a:r>
              <a:rPr sz="1000" spc="-10" dirty="0">
                <a:latin typeface="Georgia"/>
                <a:cs typeface="Georgia"/>
              </a:rPr>
              <a:t>all </a:t>
            </a:r>
            <a:r>
              <a:rPr sz="1000" i="1" spc="-30" dirty="0">
                <a:latin typeface="Calibri"/>
                <a:cs typeface="Calibri"/>
              </a:rPr>
              <a:t>b</a:t>
            </a:r>
            <a:r>
              <a:rPr sz="1000" spc="-30" dirty="0">
                <a:latin typeface="Georgia"/>
                <a:cs typeface="Georgia"/>
              </a:rPr>
              <a:t>’s </a:t>
            </a:r>
            <a:r>
              <a:rPr sz="1000" spc="-25" dirty="0">
                <a:latin typeface="Georgia"/>
                <a:cs typeface="Georgia"/>
              </a:rPr>
              <a:t> are</a:t>
            </a:r>
            <a:r>
              <a:rPr sz="1000" spc="-2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gone.</a:t>
            </a:r>
            <a:r>
              <a:rPr sz="1000" spc="190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If</a:t>
            </a:r>
            <a:r>
              <a:rPr sz="1000" spc="18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all </a:t>
            </a:r>
            <a:r>
              <a:rPr sz="1000" i="1" spc="5" dirty="0">
                <a:latin typeface="Calibri"/>
                <a:cs typeface="Calibri"/>
              </a:rPr>
              <a:t>c</a:t>
            </a:r>
            <a:r>
              <a:rPr sz="1000" spc="5" dirty="0">
                <a:latin typeface="Georgia"/>
                <a:cs typeface="Georgia"/>
              </a:rPr>
              <a:t>’s </a:t>
            </a:r>
            <a:r>
              <a:rPr sz="1000" spc="-30" dirty="0">
                <a:latin typeface="Georgia"/>
                <a:cs typeface="Georgia"/>
              </a:rPr>
              <a:t>have</a:t>
            </a:r>
            <a:r>
              <a:rPr sz="1000" spc="18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been</a:t>
            </a:r>
            <a:r>
              <a:rPr sz="1000" spc="190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crossed</a:t>
            </a:r>
            <a:r>
              <a:rPr sz="1000" spc="175" dirty="0">
                <a:latin typeface="Georgia"/>
                <a:cs typeface="Georgia"/>
              </a:rPr>
              <a:t> </a:t>
            </a:r>
            <a:r>
              <a:rPr sz="1000" spc="-40" dirty="0">
                <a:latin typeface="Georgia"/>
                <a:cs typeface="Georgia"/>
              </a:rPr>
              <a:t>off</a:t>
            </a:r>
            <a:r>
              <a:rPr sz="1000" spc="16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and</a:t>
            </a:r>
            <a:r>
              <a:rPr sz="1000" spc="190" dirty="0">
                <a:latin typeface="Georgia"/>
                <a:cs typeface="Georgia"/>
              </a:rPr>
              <a:t> </a:t>
            </a:r>
            <a:r>
              <a:rPr sz="1000" spc="-45" dirty="0">
                <a:latin typeface="Georgia"/>
                <a:cs typeface="Georgia"/>
              </a:rPr>
              <a:t>some</a:t>
            </a:r>
            <a:r>
              <a:rPr sz="1000" spc="150" dirty="0">
                <a:latin typeface="Georgia"/>
                <a:cs typeface="Georgia"/>
              </a:rPr>
              <a:t> </a:t>
            </a:r>
            <a:r>
              <a:rPr sz="1000" i="1" spc="-30" dirty="0">
                <a:latin typeface="Calibri"/>
                <a:cs typeface="Calibri"/>
              </a:rPr>
              <a:t>b</a:t>
            </a:r>
            <a:r>
              <a:rPr sz="1000" spc="-30" dirty="0">
                <a:latin typeface="Georgia"/>
                <a:cs typeface="Georgia"/>
              </a:rPr>
              <a:t>’s </a:t>
            </a:r>
            <a:r>
              <a:rPr sz="1000" spc="-25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remain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b="1" spc="-25" dirty="0">
                <a:latin typeface="Georgia"/>
                <a:cs typeface="Georgia"/>
              </a:rPr>
              <a:t>reject</a:t>
            </a:r>
            <a:endParaRPr sz="1000">
              <a:latin typeface="Georgia"/>
              <a:cs typeface="Georgia"/>
            </a:endParaRPr>
          </a:p>
          <a:p>
            <a:pPr marL="485775" lvl="1" indent="-168275">
              <a:lnSpc>
                <a:spcPts val="1140"/>
              </a:lnSpc>
              <a:buClr>
                <a:srgbClr val="3333B2"/>
              </a:buClr>
              <a:buAutoNum type="arabicPeriod"/>
              <a:tabLst>
                <a:tab pos="486409" algn="l"/>
              </a:tabLst>
            </a:pPr>
            <a:r>
              <a:rPr sz="1000" spc="-20" dirty="0">
                <a:latin typeface="Georgia"/>
                <a:cs typeface="Georgia"/>
              </a:rPr>
              <a:t>Restore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the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crossed</a:t>
            </a:r>
            <a:r>
              <a:rPr sz="1000" spc="100" dirty="0">
                <a:latin typeface="Georgia"/>
                <a:cs typeface="Georgia"/>
              </a:rPr>
              <a:t> </a:t>
            </a:r>
            <a:r>
              <a:rPr sz="1000" spc="-40" dirty="0">
                <a:latin typeface="Georgia"/>
                <a:cs typeface="Georgia"/>
              </a:rPr>
              <a:t>off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i="1" spc="-30" dirty="0">
                <a:latin typeface="Calibri"/>
                <a:cs typeface="Calibri"/>
              </a:rPr>
              <a:t>b</a:t>
            </a:r>
            <a:r>
              <a:rPr sz="1000" spc="-30" dirty="0">
                <a:latin typeface="Georgia"/>
                <a:cs typeface="Georgia"/>
              </a:rPr>
              <a:t>’s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and</a:t>
            </a:r>
            <a:r>
              <a:rPr sz="1000" spc="100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repeat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15" dirty="0">
                <a:latin typeface="Georgia"/>
                <a:cs typeface="Georgia"/>
              </a:rPr>
              <a:t>stage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55" dirty="0">
                <a:latin typeface="Georgia"/>
                <a:cs typeface="Georgia"/>
              </a:rPr>
              <a:t>3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if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there</a:t>
            </a:r>
            <a:r>
              <a:rPr sz="1000" spc="100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is</a:t>
            </a:r>
            <a:endParaRPr sz="1000">
              <a:latin typeface="Georgia"/>
              <a:cs typeface="Georgia"/>
            </a:endParaRPr>
          </a:p>
          <a:p>
            <a:pPr marL="485775" marR="136525">
              <a:lnSpc>
                <a:spcPts val="1200"/>
              </a:lnSpc>
              <a:spcBef>
                <a:spcPts val="40"/>
              </a:spcBef>
            </a:pPr>
            <a:r>
              <a:rPr sz="1000" spc="-20" dirty="0">
                <a:latin typeface="Georgia"/>
                <a:cs typeface="Georgia"/>
              </a:rPr>
              <a:t>another</a:t>
            </a:r>
            <a:r>
              <a:rPr sz="1000" spc="-15" dirty="0">
                <a:latin typeface="Georgia"/>
                <a:cs typeface="Georgia"/>
              </a:rPr>
              <a:t> </a:t>
            </a:r>
            <a:r>
              <a:rPr sz="1000" i="1" spc="10" dirty="0">
                <a:latin typeface="Calibri"/>
                <a:cs typeface="Calibri"/>
              </a:rPr>
              <a:t>a </a:t>
            </a:r>
            <a:r>
              <a:rPr sz="1000" spc="-5" dirty="0">
                <a:latin typeface="Georgia"/>
                <a:cs typeface="Georgia"/>
              </a:rPr>
              <a:t>to </a:t>
            </a:r>
            <a:r>
              <a:rPr sz="1000" spc="-35" dirty="0">
                <a:latin typeface="Georgia"/>
                <a:cs typeface="Georgia"/>
              </a:rPr>
              <a:t>cross</a:t>
            </a:r>
            <a:r>
              <a:rPr sz="1000" spc="-30" dirty="0">
                <a:latin typeface="Georgia"/>
                <a:cs typeface="Georgia"/>
              </a:rPr>
              <a:t> off.</a:t>
            </a:r>
            <a:r>
              <a:rPr sz="1000" spc="-2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If</a:t>
            </a:r>
            <a:r>
              <a:rPr sz="1000" spc="-25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all </a:t>
            </a:r>
            <a:r>
              <a:rPr sz="1000" i="1" dirty="0">
                <a:latin typeface="Calibri"/>
                <a:cs typeface="Calibri"/>
              </a:rPr>
              <a:t>a</a:t>
            </a:r>
            <a:r>
              <a:rPr sz="1000" dirty="0">
                <a:latin typeface="Georgia"/>
                <a:cs typeface="Georgia"/>
              </a:rPr>
              <a:t>’s </a:t>
            </a:r>
            <a:r>
              <a:rPr sz="1000" spc="-30" dirty="0">
                <a:latin typeface="Georgia"/>
                <a:cs typeface="Georgia"/>
              </a:rPr>
              <a:t>have</a:t>
            </a:r>
            <a:r>
              <a:rPr sz="1000" spc="-25" dirty="0">
                <a:latin typeface="Georgia"/>
                <a:cs typeface="Georgia"/>
              </a:rPr>
              <a:t> been</a:t>
            </a:r>
            <a:r>
              <a:rPr sz="1000" spc="-20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crossed</a:t>
            </a:r>
            <a:r>
              <a:rPr sz="1000" spc="-30" dirty="0">
                <a:latin typeface="Georgia"/>
                <a:cs typeface="Georgia"/>
              </a:rPr>
              <a:t> off, </a:t>
            </a:r>
            <a:r>
              <a:rPr sz="1000" spc="-2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determine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0" dirty="0">
                <a:latin typeface="Georgia"/>
                <a:cs typeface="Georgia"/>
              </a:rPr>
              <a:t>whether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10" dirty="0">
                <a:latin typeface="Georgia"/>
                <a:cs typeface="Georgia"/>
              </a:rPr>
              <a:t>all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i="1" spc="5" dirty="0">
                <a:latin typeface="Calibri"/>
                <a:cs typeface="Calibri"/>
              </a:rPr>
              <a:t>c</a:t>
            </a:r>
            <a:r>
              <a:rPr sz="1000" spc="5" dirty="0">
                <a:latin typeface="Georgia"/>
                <a:cs typeface="Georgia"/>
              </a:rPr>
              <a:t>’s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also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have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been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35" dirty="0">
                <a:latin typeface="Georgia"/>
                <a:cs typeface="Georgia"/>
              </a:rPr>
              <a:t>crossed</a:t>
            </a:r>
            <a:r>
              <a:rPr sz="1000" spc="90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off.</a:t>
            </a:r>
            <a:r>
              <a:rPr sz="1000" spc="-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If</a:t>
            </a:r>
            <a:r>
              <a:rPr sz="1000" spc="95" dirty="0">
                <a:latin typeface="Georgia"/>
                <a:cs typeface="Georgia"/>
              </a:rPr>
              <a:t> </a:t>
            </a:r>
            <a:r>
              <a:rPr sz="1000" spc="-30" dirty="0">
                <a:latin typeface="Georgia"/>
                <a:cs typeface="Georgia"/>
              </a:rPr>
              <a:t>yes </a:t>
            </a:r>
            <a:r>
              <a:rPr sz="1000" spc="-229" dirty="0">
                <a:latin typeface="Georgia"/>
                <a:cs typeface="Georgia"/>
              </a:rPr>
              <a:t> </a:t>
            </a:r>
            <a:r>
              <a:rPr sz="1000" b="1" spc="-15" dirty="0">
                <a:latin typeface="Georgia"/>
                <a:cs typeface="Georgia"/>
              </a:rPr>
              <a:t>accept</a:t>
            </a:r>
            <a:r>
              <a:rPr sz="1000" spc="-15" dirty="0">
                <a:latin typeface="Georgia"/>
                <a:cs typeface="Georgia"/>
              </a:rPr>
              <a:t>,</a:t>
            </a:r>
            <a:r>
              <a:rPr sz="1000" spc="85" dirty="0">
                <a:latin typeface="Georgia"/>
                <a:cs typeface="Georgia"/>
              </a:rPr>
              <a:t> </a:t>
            </a:r>
            <a:r>
              <a:rPr sz="1000" b="1" spc="-25" dirty="0">
                <a:latin typeface="Georgia"/>
                <a:cs typeface="Georgia"/>
              </a:rPr>
              <a:t>reject</a:t>
            </a:r>
            <a:r>
              <a:rPr sz="1000" b="1" spc="80" dirty="0">
                <a:latin typeface="Georgia"/>
                <a:cs typeface="Georgia"/>
              </a:rPr>
              <a:t> </a:t>
            </a:r>
            <a:r>
              <a:rPr sz="1000" spc="-25" dirty="0">
                <a:latin typeface="Georgia"/>
                <a:cs typeface="Georgia"/>
              </a:rPr>
              <a:t>otherwise</a:t>
            </a:r>
            <a:endParaRPr sz="10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0"/>
            <a:ext cx="7042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45" dirty="0">
                <a:solidFill>
                  <a:srgbClr val="191959"/>
                </a:solidFill>
                <a:latin typeface="Palatino Linotype"/>
                <a:cs typeface="Palatino Linotype"/>
                <a:hlinkClick r:id="rId2" action="ppaction://hlinksldjump"/>
              </a:rPr>
              <a:t>Turing</a:t>
            </a:r>
            <a:r>
              <a:rPr sz="600" spc="55" dirty="0">
                <a:solidFill>
                  <a:srgbClr val="191959"/>
                </a:solidFill>
                <a:latin typeface="Palatino Linotype"/>
                <a:cs typeface="Palatino Linotype"/>
                <a:hlinkClick r:id="rId2" action="ppaction://hlinksldjump"/>
              </a:rPr>
              <a:t> </a:t>
            </a:r>
            <a:r>
              <a:rPr sz="600" spc="45" dirty="0">
                <a:solidFill>
                  <a:srgbClr val="191959"/>
                </a:solidFill>
                <a:latin typeface="Palatino Linotype"/>
                <a:cs typeface="Palatino Linotype"/>
                <a:hlinkClick r:id="rId2" action="ppaction://hlinksldjump"/>
              </a:rPr>
              <a:t>Machines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41623" y="0"/>
            <a:ext cx="11715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45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Equivalence</a:t>
            </a:r>
            <a:r>
              <a:rPr sz="600" spc="75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 </a:t>
            </a:r>
            <a:r>
              <a:rPr sz="600" spc="50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and</a:t>
            </a:r>
            <a:r>
              <a:rPr sz="600" spc="75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 </a:t>
            </a:r>
            <a:r>
              <a:rPr sz="600" spc="50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Algorithms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3758" y="211465"/>
            <a:ext cx="3845560" cy="24701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R="137160" algn="ctr">
              <a:lnSpc>
                <a:spcPct val="100000"/>
              </a:lnSpc>
              <a:spcBef>
                <a:spcPts val="135"/>
              </a:spcBef>
            </a:pPr>
            <a:r>
              <a:rPr sz="1400" spc="40" dirty="0">
                <a:solidFill>
                  <a:srgbClr val="3333B2"/>
                </a:solidFill>
                <a:latin typeface="Times New Roman"/>
                <a:cs typeface="Times New Roman"/>
              </a:rPr>
              <a:t>Variants</a:t>
            </a:r>
            <a:r>
              <a:rPr sz="1400" spc="105" dirty="0">
                <a:solidFill>
                  <a:srgbClr val="3333B2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3333B2"/>
                </a:solidFill>
                <a:latin typeface="Times New Roman"/>
                <a:cs typeface="Times New Roman"/>
              </a:rPr>
              <a:t>of</a:t>
            </a:r>
            <a:r>
              <a:rPr sz="1400" spc="105" dirty="0">
                <a:solidFill>
                  <a:srgbClr val="3333B2"/>
                </a:solidFill>
                <a:latin typeface="Times New Roman"/>
                <a:cs typeface="Times New Roman"/>
              </a:rPr>
              <a:t> </a:t>
            </a:r>
            <a:r>
              <a:rPr sz="1400" spc="45" dirty="0">
                <a:solidFill>
                  <a:srgbClr val="3333B2"/>
                </a:solidFill>
                <a:latin typeface="Times New Roman"/>
                <a:cs typeface="Times New Roman"/>
              </a:rPr>
              <a:t>Turing</a:t>
            </a:r>
            <a:r>
              <a:rPr sz="1400" spc="105" dirty="0">
                <a:solidFill>
                  <a:srgbClr val="3333B2"/>
                </a:solidFill>
                <a:latin typeface="Times New Roman"/>
                <a:cs typeface="Times New Roman"/>
              </a:rPr>
              <a:t> </a:t>
            </a:r>
            <a:r>
              <a:rPr sz="1400" spc="30" dirty="0">
                <a:solidFill>
                  <a:srgbClr val="3333B2"/>
                </a:solidFill>
                <a:latin typeface="Times New Roman"/>
                <a:cs typeface="Times New Roman"/>
              </a:rPr>
              <a:t>Machines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R="137160" algn="ctr">
              <a:lnSpc>
                <a:spcPct val="100000"/>
              </a:lnSpc>
              <a:spcBef>
                <a:spcPts val="1340"/>
              </a:spcBef>
            </a:pPr>
            <a:r>
              <a:rPr sz="1100" b="1" spc="-10" dirty="0">
                <a:latin typeface="Georgia"/>
                <a:cs typeface="Georgia"/>
              </a:rPr>
              <a:t>Multitape</a:t>
            </a:r>
            <a:r>
              <a:rPr sz="1100" b="1" spc="110" dirty="0">
                <a:latin typeface="Georgia"/>
                <a:cs typeface="Georgia"/>
              </a:rPr>
              <a:t> </a:t>
            </a:r>
            <a:r>
              <a:rPr sz="1100" b="1" spc="-40" dirty="0">
                <a:latin typeface="Georgia"/>
                <a:cs typeface="Georgia"/>
              </a:rPr>
              <a:t>Turing</a:t>
            </a:r>
            <a:r>
              <a:rPr sz="1100" b="1" spc="110" dirty="0">
                <a:latin typeface="Georgia"/>
                <a:cs typeface="Georgia"/>
              </a:rPr>
              <a:t> </a:t>
            </a:r>
            <a:r>
              <a:rPr sz="1100" b="1" spc="-45" dirty="0">
                <a:latin typeface="Georgia"/>
                <a:cs typeface="Georgia"/>
              </a:rPr>
              <a:t>Machines</a:t>
            </a:r>
            <a:endParaRPr sz="1100">
              <a:latin typeface="Georgia"/>
              <a:cs typeface="Georgia"/>
            </a:endParaRPr>
          </a:p>
          <a:p>
            <a:pPr marL="182880" indent="-132715">
              <a:lnSpc>
                <a:spcPct val="100000"/>
              </a:lnSpc>
              <a:spcBef>
                <a:spcPts val="630"/>
              </a:spcBef>
              <a:buClr>
                <a:srgbClr val="3333B2"/>
              </a:buClr>
              <a:buSzPct val="90909"/>
              <a:buFont typeface="Lucida Sans Unicode"/>
              <a:buChar char="•"/>
              <a:tabLst>
                <a:tab pos="183515" algn="l"/>
              </a:tabLst>
            </a:pPr>
            <a:r>
              <a:rPr sz="1100" i="1" spc="-95" dirty="0">
                <a:latin typeface="Calibri"/>
                <a:cs typeface="Calibri"/>
              </a:rPr>
              <a:t>δ</a:t>
            </a:r>
            <a:r>
              <a:rPr sz="1100" i="1" spc="95" dirty="0">
                <a:latin typeface="Calibri"/>
                <a:cs typeface="Calibri"/>
              </a:rPr>
              <a:t> </a:t>
            </a:r>
            <a:r>
              <a:rPr sz="1100" spc="-45" dirty="0">
                <a:latin typeface="Georgia"/>
                <a:cs typeface="Georgia"/>
              </a:rPr>
              <a:t>: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i="1" spc="130" dirty="0">
                <a:latin typeface="Calibri"/>
                <a:cs typeface="Calibri"/>
              </a:rPr>
              <a:t>Q</a:t>
            </a:r>
            <a:r>
              <a:rPr sz="1100" i="1" spc="-10" dirty="0">
                <a:latin typeface="Calibri"/>
                <a:cs typeface="Calibri"/>
              </a:rPr>
              <a:t> </a:t>
            </a:r>
            <a:r>
              <a:rPr sz="1100" spc="-30" dirty="0">
                <a:latin typeface="Lucida Sans Unicode"/>
                <a:cs typeface="Lucida Sans Unicode"/>
              </a:rPr>
              <a:t>×</a:t>
            </a:r>
            <a:r>
              <a:rPr sz="1100" spc="-110" dirty="0">
                <a:latin typeface="Lucida Sans Unicode"/>
                <a:cs typeface="Lucida Sans Unicode"/>
              </a:rPr>
              <a:t> </a:t>
            </a:r>
            <a:r>
              <a:rPr sz="1100" spc="40" dirty="0">
                <a:latin typeface="Georgia"/>
                <a:cs typeface="Georgia"/>
              </a:rPr>
              <a:t>Γ</a:t>
            </a:r>
            <a:r>
              <a:rPr sz="1200" i="1" spc="112" baseline="27777" dirty="0">
                <a:latin typeface="Calibri"/>
                <a:cs typeface="Calibri"/>
              </a:rPr>
              <a:t>k</a:t>
            </a:r>
            <a:r>
              <a:rPr sz="1200" i="1" baseline="27777" dirty="0">
                <a:latin typeface="Calibri"/>
                <a:cs typeface="Calibri"/>
              </a:rPr>
              <a:t> </a:t>
            </a:r>
            <a:r>
              <a:rPr sz="1200" i="1" spc="15" baseline="27777" dirty="0">
                <a:latin typeface="Calibri"/>
                <a:cs typeface="Calibri"/>
              </a:rPr>
              <a:t> </a:t>
            </a:r>
            <a:r>
              <a:rPr sz="1100" spc="55" dirty="0">
                <a:latin typeface="Lucida Sans Unicode"/>
                <a:cs typeface="Lucida Sans Unicode"/>
              </a:rPr>
              <a:t>→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i="1" spc="130" dirty="0">
                <a:latin typeface="Calibri"/>
                <a:cs typeface="Calibri"/>
              </a:rPr>
              <a:t>Q</a:t>
            </a:r>
            <a:r>
              <a:rPr sz="1100" i="1" spc="-10" dirty="0">
                <a:latin typeface="Calibri"/>
                <a:cs typeface="Calibri"/>
              </a:rPr>
              <a:t> </a:t>
            </a:r>
            <a:r>
              <a:rPr sz="1100" spc="-30" dirty="0">
                <a:latin typeface="Lucida Sans Unicode"/>
                <a:cs typeface="Lucida Sans Unicode"/>
              </a:rPr>
              <a:t>×</a:t>
            </a:r>
            <a:r>
              <a:rPr sz="1100" spc="-110" dirty="0">
                <a:latin typeface="Lucida Sans Unicode"/>
                <a:cs typeface="Lucida Sans Unicode"/>
              </a:rPr>
              <a:t> </a:t>
            </a:r>
            <a:r>
              <a:rPr sz="1100" spc="40" dirty="0">
                <a:latin typeface="Georgia"/>
                <a:cs typeface="Georgia"/>
              </a:rPr>
              <a:t>Γ</a:t>
            </a:r>
            <a:r>
              <a:rPr sz="1200" i="1" spc="112" baseline="27777" dirty="0">
                <a:latin typeface="Calibri"/>
                <a:cs typeface="Calibri"/>
              </a:rPr>
              <a:t>k</a:t>
            </a:r>
            <a:r>
              <a:rPr sz="1200" i="1" baseline="27777" dirty="0">
                <a:latin typeface="Calibri"/>
                <a:cs typeface="Calibri"/>
              </a:rPr>
              <a:t> </a:t>
            </a:r>
            <a:r>
              <a:rPr sz="1200" i="1" spc="-75" baseline="27777" dirty="0">
                <a:latin typeface="Calibri"/>
                <a:cs typeface="Calibri"/>
              </a:rPr>
              <a:t> </a:t>
            </a:r>
            <a:r>
              <a:rPr sz="1100" spc="-30" dirty="0">
                <a:latin typeface="Lucida Sans Unicode"/>
                <a:cs typeface="Lucida Sans Unicode"/>
              </a:rPr>
              <a:t>×</a:t>
            </a:r>
            <a:r>
              <a:rPr sz="1100" spc="-110" dirty="0">
                <a:latin typeface="Lucida Sans Unicode"/>
                <a:cs typeface="Lucida Sans Unicode"/>
              </a:rPr>
              <a:t> </a:t>
            </a:r>
            <a:r>
              <a:rPr sz="1100" spc="185" dirty="0">
                <a:latin typeface="Lucida Sans Unicode"/>
                <a:cs typeface="Lucida Sans Unicode"/>
              </a:rPr>
              <a:t>{</a:t>
            </a:r>
            <a:r>
              <a:rPr sz="1100" i="1" spc="185" dirty="0">
                <a:latin typeface="Calibri"/>
                <a:cs typeface="Calibri"/>
              </a:rPr>
              <a:t>L</a:t>
            </a:r>
            <a:r>
              <a:rPr sz="1100" i="1" spc="114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235" dirty="0">
                <a:latin typeface="Calibri"/>
                <a:cs typeface="Calibri"/>
              </a:rPr>
              <a:t>R</a:t>
            </a:r>
            <a:r>
              <a:rPr sz="1100" i="1" spc="2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229" dirty="0">
                <a:latin typeface="Calibri"/>
                <a:cs typeface="Calibri"/>
              </a:rPr>
              <a:t>S</a:t>
            </a:r>
            <a:r>
              <a:rPr sz="1100" spc="180" dirty="0">
                <a:latin typeface="Lucida Sans Unicode"/>
                <a:cs typeface="Lucida Sans Unicode"/>
              </a:rPr>
              <a:t>}</a:t>
            </a:r>
            <a:r>
              <a:rPr sz="1200" i="1" spc="112" baseline="27777" dirty="0">
                <a:latin typeface="Calibri"/>
                <a:cs typeface="Calibri"/>
              </a:rPr>
              <a:t>k</a:t>
            </a:r>
            <a:endParaRPr sz="1200" baseline="27777">
              <a:latin typeface="Calibri"/>
              <a:cs typeface="Calibri"/>
            </a:endParaRPr>
          </a:p>
          <a:p>
            <a:pPr marL="182880" indent="-13271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SzPct val="90909"/>
              <a:buFont typeface="Lucida Sans Unicode"/>
              <a:buChar char="•"/>
              <a:tabLst>
                <a:tab pos="183515" algn="l"/>
              </a:tabLst>
            </a:pPr>
            <a:r>
              <a:rPr sz="1100" spc="-35" dirty="0">
                <a:latin typeface="Georgia"/>
                <a:cs typeface="Georgia"/>
              </a:rPr>
              <a:t>where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i="1" spc="65" dirty="0">
                <a:latin typeface="Calibri"/>
                <a:cs typeface="Calibri"/>
              </a:rPr>
              <a:t>k</a:t>
            </a:r>
            <a:r>
              <a:rPr sz="1100" i="1" spc="150" dirty="0">
                <a:latin typeface="Calibri"/>
                <a:cs typeface="Calibri"/>
              </a:rPr>
              <a:t> </a:t>
            </a:r>
            <a:r>
              <a:rPr sz="1100" spc="-35" dirty="0">
                <a:latin typeface="Georgia"/>
                <a:cs typeface="Georgia"/>
              </a:rPr>
              <a:t>is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number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of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tapes,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expression</a:t>
            </a:r>
            <a:endParaRPr sz="1100">
              <a:latin typeface="Georgia"/>
              <a:cs typeface="Georgia"/>
            </a:endParaRPr>
          </a:p>
          <a:p>
            <a:pPr marL="132080" algn="ctr">
              <a:lnSpc>
                <a:spcPct val="100000"/>
              </a:lnSpc>
              <a:spcBef>
                <a:spcPts val="1130"/>
              </a:spcBef>
            </a:pPr>
            <a:r>
              <a:rPr sz="1100" i="1" spc="-55" dirty="0">
                <a:latin typeface="Calibri"/>
                <a:cs typeface="Calibri"/>
              </a:rPr>
              <a:t>δ</a:t>
            </a:r>
            <a:r>
              <a:rPr sz="1100" spc="5" dirty="0">
                <a:latin typeface="Georgia"/>
                <a:cs typeface="Georgia"/>
              </a:rPr>
              <a:t>(</a:t>
            </a:r>
            <a:r>
              <a:rPr sz="1100" i="1" spc="-80" dirty="0">
                <a:latin typeface="Calibri"/>
                <a:cs typeface="Calibri"/>
              </a:rPr>
              <a:t>q</a:t>
            </a:r>
            <a:r>
              <a:rPr sz="1200" i="1" spc="217" baseline="-10416" dirty="0">
                <a:latin typeface="Calibri"/>
                <a:cs typeface="Calibri"/>
              </a:rPr>
              <a:t>i</a:t>
            </a:r>
            <a:r>
              <a:rPr sz="1100" i="1" spc="2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5" dirty="0">
                <a:latin typeface="Calibri"/>
                <a:cs typeface="Calibri"/>
              </a:rPr>
              <a:t>a</a:t>
            </a:r>
            <a:r>
              <a:rPr sz="1200" spc="44" baseline="-10416" dirty="0">
                <a:latin typeface="Cambria"/>
                <a:cs typeface="Cambria"/>
              </a:rPr>
              <a:t>1</a:t>
            </a:r>
            <a:r>
              <a:rPr sz="1100" i="1" spc="2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25" dirty="0">
                <a:latin typeface="Calibri"/>
                <a:cs typeface="Calibri"/>
              </a:rPr>
              <a:t>.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25" dirty="0">
                <a:latin typeface="Calibri"/>
                <a:cs typeface="Calibri"/>
              </a:rPr>
              <a:t>.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25" dirty="0">
                <a:latin typeface="Calibri"/>
                <a:cs typeface="Calibri"/>
              </a:rPr>
              <a:t>.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2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5" dirty="0">
                <a:latin typeface="Calibri"/>
                <a:cs typeface="Calibri"/>
              </a:rPr>
              <a:t>a</a:t>
            </a:r>
            <a:r>
              <a:rPr sz="1200" i="1" spc="217" baseline="-13888" dirty="0">
                <a:latin typeface="Calibri"/>
                <a:cs typeface="Calibri"/>
              </a:rPr>
              <a:t>k</a:t>
            </a:r>
            <a:r>
              <a:rPr sz="1100" spc="10" dirty="0">
                <a:latin typeface="Georgia"/>
                <a:cs typeface="Georgia"/>
              </a:rPr>
              <a:t>)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140" dirty="0">
                <a:latin typeface="Georgia"/>
                <a:cs typeface="Georgia"/>
              </a:rPr>
              <a:t>=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5" dirty="0">
                <a:latin typeface="Georgia"/>
                <a:cs typeface="Georgia"/>
              </a:rPr>
              <a:t>(</a:t>
            </a:r>
            <a:r>
              <a:rPr sz="1100" i="1" spc="-80" dirty="0">
                <a:latin typeface="Calibri"/>
                <a:cs typeface="Calibri"/>
              </a:rPr>
              <a:t>q</a:t>
            </a:r>
            <a:r>
              <a:rPr sz="1200" i="1" spc="367" baseline="-10416" dirty="0">
                <a:latin typeface="Calibri"/>
                <a:cs typeface="Calibri"/>
              </a:rPr>
              <a:t>j</a:t>
            </a:r>
            <a:r>
              <a:rPr sz="1100" i="1" spc="2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-105" dirty="0">
                <a:latin typeface="Calibri"/>
                <a:cs typeface="Calibri"/>
              </a:rPr>
              <a:t>b</a:t>
            </a:r>
            <a:r>
              <a:rPr sz="1200" spc="44" baseline="-10416" dirty="0">
                <a:latin typeface="Cambria"/>
                <a:cs typeface="Cambria"/>
              </a:rPr>
              <a:t>1</a:t>
            </a:r>
            <a:r>
              <a:rPr sz="1100" i="1" spc="2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25" dirty="0">
                <a:latin typeface="Calibri"/>
                <a:cs typeface="Calibri"/>
              </a:rPr>
              <a:t>.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25" dirty="0">
                <a:latin typeface="Calibri"/>
                <a:cs typeface="Calibri"/>
              </a:rPr>
              <a:t>.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25" dirty="0">
                <a:latin typeface="Calibri"/>
                <a:cs typeface="Calibri"/>
              </a:rPr>
              <a:t>.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2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-100" dirty="0">
                <a:latin typeface="Calibri"/>
                <a:cs typeface="Calibri"/>
              </a:rPr>
              <a:t>b</a:t>
            </a:r>
            <a:r>
              <a:rPr sz="1200" i="1" spc="217" baseline="-13888" dirty="0">
                <a:latin typeface="Calibri"/>
                <a:cs typeface="Calibri"/>
              </a:rPr>
              <a:t>k</a:t>
            </a:r>
            <a:r>
              <a:rPr sz="1100" i="1" spc="2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185" dirty="0">
                <a:latin typeface="Calibri"/>
                <a:cs typeface="Calibri"/>
              </a:rPr>
              <a:t>L</a:t>
            </a:r>
            <a:r>
              <a:rPr sz="1100" i="1" spc="114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235" dirty="0">
                <a:latin typeface="Calibri"/>
                <a:cs typeface="Calibri"/>
              </a:rPr>
              <a:t>R</a:t>
            </a:r>
            <a:r>
              <a:rPr sz="1100" i="1" spc="2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25" dirty="0">
                <a:latin typeface="Calibri"/>
                <a:cs typeface="Calibri"/>
              </a:rPr>
              <a:t>.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25" dirty="0">
                <a:latin typeface="Calibri"/>
                <a:cs typeface="Calibri"/>
              </a:rPr>
              <a:t>.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25" dirty="0">
                <a:latin typeface="Calibri"/>
                <a:cs typeface="Calibri"/>
              </a:rPr>
              <a:t>.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25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275" dirty="0">
                <a:latin typeface="Calibri"/>
                <a:cs typeface="Calibri"/>
              </a:rPr>
              <a:t>L</a:t>
            </a:r>
            <a:r>
              <a:rPr sz="1100" spc="10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 marL="182880" marR="43180">
              <a:lnSpc>
                <a:spcPct val="102600"/>
              </a:lnSpc>
              <a:spcBef>
                <a:spcPts val="1100"/>
              </a:spcBef>
            </a:pPr>
            <a:r>
              <a:rPr sz="1100" spc="-45" dirty="0">
                <a:latin typeface="Georgia"/>
                <a:cs typeface="Georgia"/>
              </a:rPr>
              <a:t>means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if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spc="40" dirty="0">
                <a:latin typeface="Georgia"/>
                <a:cs typeface="Georgia"/>
              </a:rPr>
              <a:t>TM </a:t>
            </a:r>
            <a:r>
              <a:rPr sz="1100" spc="-35" dirty="0">
                <a:latin typeface="Georgia"/>
                <a:cs typeface="Georgia"/>
              </a:rPr>
              <a:t>is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in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state </a:t>
            </a:r>
            <a:r>
              <a:rPr sz="1100" i="1" spc="10" dirty="0">
                <a:latin typeface="Calibri"/>
                <a:cs typeface="Calibri"/>
              </a:rPr>
              <a:t>q</a:t>
            </a:r>
            <a:r>
              <a:rPr sz="1200" i="1" spc="15" baseline="-10416" dirty="0">
                <a:latin typeface="Calibri"/>
                <a:cs typeface="Calibri"/>
              </a:rPr>
              <a:t>i</a:t>
            </a:r>
            <a:r>
              <a:rPr sz="1200" i="1" spc="22" baseline="-10416" dirty="0">
                <a:latin typeface="Calibri"/>
                <a:cs typeface="Calibri"/>
              </a:rPr>
              <a:t> </a:t>
            </a:r>
            <a:r>
              <a:rPr sz="1100" spc="-30" dirty="0">
                <a:latin typeface="Georgia"/>
                <a:cs typeface="Georgia"/>
              </a:rPr>
              <a:t>and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heads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spc="70" dirty="0">
                <a:latin typeface="Georgia"/>
                <a:cs typeface="Georgia"/>
              </a:rPr>
              <a:t>1 </a:t>
            </a:r>
            <a:r>
              <a:rPr sz="1100" spc="-25" dirty="0">
                <a:latin typeface="Georgia"/>
                <a:cs typeface="Georgia"/>
              </a:rPr>
              <a:t>through</a:t>
            </a:r>
            <a:r>
              <a:rPr sz="1100" spc="-20" dirty="0">
                <a:latin typeface="Georgia"/>
                <a:cs typeface="Georgia"/>
              </a:rPr>
              <a:t> </a:t>
            </a:r>
            <a:r>
              <a:rPr sz="1100" i="1" spc="65" dirty="0">
                <a:latin typeface="Calibri"/>
                <a:cs typeface="Calibri"/>
              </a:rPr>
              <a:t>k </a:t>
            </a:r>
            <a:r>
              <a:rPr sz="1100" spc="-35" dirty="0">
                <a:latin typeface="Georgia"/>
                <a:cs typeface="Georgia"/>
              </a:rPr>
              <a:t>reading 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sy</a:t>
            </a:r>
            <a:r>
              <a:rPr sz="1100" spc="-70" dirty="0">
                <a:latin typeface="Georgia"/>
                <a:cs typeface="Georgia"/>
              </a:rPr>
              <a:t>m</a:t>
            </a:r>
            <a:r>
              <a:rPr sz="1100" spc="20" dirty="0">
                <a:latin typeface="Georgia"/>
                <a:cs typeface="Georgia"/>
              </a:rPr>
              <a:t>b</a:t>
            </a:r>
            <a:r>
              <a:rPr sz="1100" spc="-35" dirty="0">
                <a:latin typeface="Georgia"/>
                <a:cs typeface="Georgia"/>
              </a:rPr>
              <a:t>ols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i="1" spc="5" dirty="0">
                <a:latin typeface="Calibri"/>
                <a:cs typeface="Calibri"/>
              </a:rPr>
              <a:t>a</a:t>
            </a:r>
            <a:r>
              <a:rPr sz="1200" spc="-30" baseline="-10416" dirty="0">
                <a:latin typeface="Cambria"/>
                <a:cs typeface="Cambria"/>
              </a:rPr>
              <a:t>1</a:t>
            </a:r>
            <a:r>
              <a:rPr sz="1200" baseline="-10416" dirty="0">
                <a:latin typeface="Cambria"/>
                <a:cs typeface="Cambria"/>
              </a:rPr>
              <a:t> </a:t>
            </a:r>
            <a:r>
              <a:rPr sz="1200" spc="82" baseline="-10416" dirty="0">
                <a:latin typeface="Cambria"/>
                <a:cs typeface="Cambria"/>
              </a:rPr>
              <a:t> </a:t>
            </a:r>
            <a:r>
              <a:rPr sz="1100" spc="-25" dirty="0">
                <a:latin typeface="Georgia"/>
                <a:cs typeface="Georgia"/>
              </a:rPr>
              <a:t>through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i="1" spc="5" dirty="0">
                <a:latin typeface="Calibri"/>
                <a:cs typeface="Calibri"/>
              </a:rPr>
              <a:t>a</a:t>
            </a:r>
            <a:r>
              <a:rPr sz="1200" i="1" spc="217" baseline="-13888" dirty="0">
                <a:latin typeface="Calibri"/>
                <a:cs typeface="Calibri"/>
              </a:rPr>
              <a:t>k</a:t>
            </a:r>
            <a:r>
              <a:rPr sz="1100" spc="5" dirty="0">
                <a:latin typeface="Georgia"/>
                <a:cs typeface="Georgia"/>
              </a:rPr>
              <a:t>,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</a:t>
            </a:r>
            <a:r>
              <a:rPr sz="1100" spc="-15" dirty="0">
                <a:latin typeface="Georgia"/>
                <a:cs typeface="Georgia"/>
              </a:rPr>
              <a:t>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ma</a:t>
            </a:r>
            <a:r>
              <a:rPr sz="1100" spc="-60" dirty="0">
                <a:latin typeface="Georgia"/>
                <a:cs typeface="Georgia"/>
              </a:rPr>
              <a:t>c</a:t>
            </a:r>
            <a:r>
              <a:rPr sz="1100" spc="-45" dirty="0">
                <a:latin typeface="Georgia"/>
                <a:cs typeface="Georgia"/>
              </a:rPr>
              <a:t>hin</a:t>
            </a:r>
            <a:r>
              <a:rPr sz="1100" spc="-40" dirty="0">
                <a:latin typeface="Georgia"/>
                <a:cs typeface="Georgia"/>
              </a:rPr>
              <a:t>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g</a:t>
            </a:r>
            <a:r>
              <a:rPr sz="1100" spc="-5" dirty="0">
                <a:latin typeface="Georgia"/>
                <a:cs typeface="Georgia"/>
              </a:rPr>
              <a:t>o</a:t>
            </a:r>
            <a:r>
              <a:rPr sz="1100" spc="-55" dirty="0">
                <a:latin typeface="Georgia"/>
                <a:cs typeface="Georgia"/>
              </a:rPr>
              <a:t>e</a:t>
            </a:r>
            <a:r>
              <a:rPr sz="1100" spc="-50" dirty="0">
                <a:latin typeface="Georgia"/>
                <a:cs typeface="Georgia"/>
              </a:rPr>
              <a:t>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t</a:t>
            </a:r>
            <a:r>
              <a:rPr sz="1100" spc="-5" dirty="0">
                <a:latin typeface="Georgia"/>
                <a:cs typeface="Georgia"/>
              </a:rPr>
              <a:t>o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state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i="1" spc="-80" dirty="0">
                <a:latin typeface="Calibri"/>
                <a:cs typeface="Calibri"/>
              </a:rPr>
              <a:t>q</a:t>
            </a:r>
            <a:r>
              <a:rPr sz="1200" i="1" spc="225" baseline="-10416" dirty="0">
                <a:latin typeface="Calibri"/>
                <a:cs typeface="Calibri"/>
              </a:rPr>
              <a:t>j</a:t>
            </a:r>
            <a:r>
              <a:rPr sz="1200" i="1" spc="-135" baseline="-10416" dirty="0">
                <a:latin typeface="Calibri"/>
                <a:cs typeface="Calibri"/>
              </a:rPr>
              <a:t> </a:t>
            </a:r>
            <a:r>
              <a:rPr sz="1100" spc="5" dirty="0">
                <a:latin typeface="Georgia"/>
                <a:cs typeface="Georgia"/>
              </a:rPr>
              <a:t>,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writes  </a:t>
            </a:r>
            <a:r>
              <a:rPr sz="1100" spc="-30" dirty="0">
                <a:latin typeface="Georgia"/>
                <a:cs typeface="Georgia"/>
              </a:rPr>
              <a:t>symbols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i="1" spc="-60" dirty="0">
                <a:latin typeface="Calibri"/>
                <a:cs typeface="Calibri"/>
              </a:rPr>
              <a:t>b</a:t>
            </a:r>
            <a:r>
              <a:rPr sz="1200" spc="-89" baseline="-10416" dirty="0">
                <a:latin typeface="Cambria"/>
                <a:cs typeface="Cambria"/>
              </a:rPr>
              <a:t>1</a:t>
            </a:r>
            <a:r>
              <a:rPr sz="1200" spc="-82" baseline="-10416" dirty="0">
                <a:latin typeface="Cambria"/>
                <a:cs typeface="Cambria"/>
              </a:rPr>
              <a:t> </a:t>
            </a:r>
            <a:r>
              <a:rPr sz="1100" spc="-25" dirty="0">
                <a:latin typeface="Georgia"/>
                <a:cs typeface="Georgia"/>
              </a:rPr>
              <a:t>through </a:t>
            </a:r>
            <a:r>
              <a:rPr sz="1100" i="1" spc="-15" dirty="0">
                <a:latin typeface="Calibri"/>
                <a:cs typeface="Calibri"/>
              </a:rPr>
              <a:t>b</a:t>
            </a:r>
            <a:r>
              <a:rPr sz="1200" i="1" spc="-22" baseline="-13888" dirty="0">
                <a:latin typeface="Calibri"/>
                <a:cs typeface="Calibri"/>
              </a:rPr>
              <a:t>k</a:t>
            </a:r>
            <a:r>
              <a:rPr sz="1200" i="1" spc="-15" baseline="-13888" dirty="0">
                <a:latin typeface="Calibri"/>
                <a:cs typeface="Calibri"/>
              </a:rPr>
              <a:t> </a:t>
            </a:r>
            <a:r>
              <a:rPr sz="1100" spc="-30" dirty="0">
                <a:latin typeface="Georgia"/>
                <a:cs typeface="Georgia"/>
              </a:rPr>
              <a:t>and</a:t>
            </a:r>
            <a:r>
              <a:rPr sz="1100" spc="-25" dirty="0">
                <a:latin typeface="Georgia"/>
                <a:cs typeface="Georgia"/>
              </a:rPr>
              <a:t> directs </a:t>
            </a:r>
            <a:r>
              <a:rPr sz="1100" spc="-35" dirty="0">
                <a:latin typeface="Georgia"/>
                <a:cs typeface="Georgia"/>
              </a:rPr>
              <a:t>each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head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to </a:t>
            </a:r>
            <a:r>
              <a:rPr sz="1100" spc="-50" dirty="0">
                <a:latin typeface="Georgia"/>
                <a:cs typeface="Georgia"/>
              </a:rPr>
              <a:t>move</a:t>
            </a:r>
            <a:r>
              <a:rPr sz="1100" spc="165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left, </a:t>
            </a:r>
            <a:r>
              <a:rPr sz="1100" spc="-1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right,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or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stay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put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specified</a:t>
            </a:r>
            <a:endParaRPr sz="11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0"/>
            <a:ext cx="7042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45" dirty="0">
                <a:solidFill>
                  <a:srgbClr val="191959"/>
                </a:solidFill>
                <a:latin typeface="Palatino Linotype"/>
                <a:cs typeface="Palatino Linotype"/>
                <a:hlinkClick r:id="rId2" action="ppaction://hlinksldjump"/>
              </a:rPr>
              <a:t>Turing</a:t>
            </a:r>
            <a:r>
              <a:rPr sz="600" spc="55" dirty="0">
                <a:solidFill>
                  <a:srgbClr val="191959"/>
                </a:solidFill>
                <a:latin typeface="Palatino Linotype"/>
                <a:cs typeface="Palatino Linotype"/>
                <a:hlinkClick r:id="rId2" action="ppaction://hlinksldjump"/>
              </a:rPr>
              <a:t> </a:t>
            </a:r>
            <a:r>
              <a:rPr sz="600" spc="45" dirty="0">
                <a:solidFill>
                  <a:srgbClr val="191959"/>
                </a:solidFill>
                <a:latin typeface="Palatino Linotype"/>
                <a:cs typeface="Palatino Linotype"/>
                <a:hlinkClick r:id="rId2" action="ppaction://hlinksldjump"/>
              </a:rPr>
              <a:t>Machines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41623" y="0"/>
            <a:ext cx="11715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45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Equivalence</a:t>
            </a:r>
            <a:r>
              <a:rPr sz="600" spc="75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 </a:t>
            </a:r>
            <a:r>
              <a:rPr sz="600" spc="50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and</a:t>
            </a:r>
            <a:r>
              <a:rPr sz="600" spc="75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 </a:t>
            </a:r>
            <a:r>
              <a:rPr sz="600" spc="50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Algorithms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206" y="211465"/>
            <a:ext cx="94996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25" dirty="0">
                <a:solidFill>
                  <a:srgbClr val="3333B2"/>
                </a:solidFill>
                <a:latin typeface="Times New Roman"/>
                <a:cs typeface="Times New Roman"/>
              </a:rPr>
              <a:t>Equivalence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09193" y="1129956"/>
            <a:ext cx="4040504" cy="633730"/>
            <a:chOff x="309193" y="1129956"/>
            <a:chExt cx="4040504" cy="633730"/>
          </a:xfrm>
        </p:grpSpPr>
        <p:sp>
          <p:nvSpPr>
            <p:cNvPr id="6" name="object 6"/>
            <p:cNvSpPr/>
            <p:nvPr/>
          </p:nvSpPr>
          <p:spPr>
            <a:xfrm>
              <a:off x="309193" y="1129956"/>
              <a:ext cx="3989704" cy="187325"/>
            </a:xfrm>
            <a:custGeom>
              <a:avLst/>
              <a:gdLst/>
              <a:ahLst/>
              <a:cxnLst/>
              <a:rect l="l" t="t" r="r" b="b"/>
              <a:pathLst>
                <a:path w="3989704" h="187325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6978"/>
                  </a:lnTo>
                  <a:lnTo>
                    <a:pt x="3989652" y="186978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D6D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9194" y="1304277"/>
              <a:ext cx="3989651" cy="5060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9994" y="1661947"/>
              <a:ext cx="101600" cy="1016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0794" y="1649247"/>
              <a:ext cx="3938802" cy="1143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98846" y="1174191"/>
              <a:ext cx="50751" cy="48775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09193" y="1348557"/>
              <a:ext cx="3989704" cy="364490"/>
            </a:xfrm>
            <a:custGeom>
              <a:avLst/>
              <a:gdLst/>
              <a:ahLst/>
              <a:cxnLst/>
              <a:rect l="l" t="t" r="r" b="b"/>
              <a:pathLst>
                <a:path w="3989704" h="364489">
                  <a:moveTo>
                    <a:pt x="3989652" y="0"/>
                  </a:moveTo>
                  <a:lnTo>
                    <a:pt x="0" y="0"/>
                  </a:lnTo>
                  <a:lnTo>
                    <a:pt x="0" y="313389"/>
                  </a:lnTo>
                  <a:lnTo>
                    <a:pt x="4008" y="333114"/>
                  </a:lnTo>
                  <a:lnTo>
                    <a:pt x="14922" y="349267"/>
                  </a:lnTo>
                  <a:lnTo>
                    <a:pt x="31075" y="360181"/>
                  </a:lnTo>
                  <a:lnTo>
                    <a:pt x="50800" y="364190"/>
                  </a:lnTo>
                  <a:lnTo>
                    <a:pt x="3938852" y="364190"/>
                  </a:lnTo>
                  <a:lnTo>
                    <a:pt x="3958576" y="360181"/>
                  </a:lnTo>
                  <a:lnTo>
                    <a:pt x="3974729" y="349267"/>
                  </a:lnTo>
                  <a:lnTo>
                    <a:pt x="3985644" y="333114"/>
                  </a:lnTo>
                  <a:lnTo>
                    <a:pt x="3989652" y="313389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F7F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98846" y="1212285"/>
              <a:ext cx="0" cy="469265"/>
            </a:xfrm>
            <a:custGeom>
              <a:avLst/>
              <a:gdLst/>
              <a:ahLst/>
              <a:cxnLst/>
              <a:rect l="l" t="t" r="r" b="b"/>
              <a:pathLst>
                <a:path h="469264">
                  <a:moveTo>
                    <a:pt x="0" y="46871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98846" y="119958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98846" y="118688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98846" y="117418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47294" y="1077714"/>
            <a:ext cx="3702685" cy="604520"/>
          </a:xfrm>
          <a:prstGeom prst="rect">
            <a:avLst/>
          </a:prstGeom>
        </p:spPr>
        <p:txBody>
          <a:bodyPr vert="horz" wrap="square" lIns="0" tIns="425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200" spc="30" dirty="0">
                <a:latin typeface="Times New Roman"/>
                <a:cs typeface="Times New Roman"/>
              </a:rPr>
              <a:t>Theorem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ct val="102600"/>
              </a:lnSpc>
              <a:spcBef>
                <a:spcPts val="175"/>
              </a:spcBef>
            </a:pPr>
            <a:r>
              <a:rPr sz="1100" i="1" spc="20" dirty="0">
                <a:latin typeface="Palatino Linotype"/>
                <a:cs typeface="Palatino Linotype"/>
              </a:rPr>
              <a:t>Every </a:t>
            </a:r>
            <a:r>
              <a:rPr sz="1100" i="1" spc="5" dirty="0">
                <a:latin typeface="Palatino Linotype"/>
                <a:cs typeface="Palatino Linotype"/>
              </a:rPr>
              <a:t>multitape</a:t>
            </a:r>
            <a:r>
              <a:rPr sz="1100" i="1" spc="10" dirty="0">
                <a:latin typeface="Palatino Linotype"/>
                <a:cs typeface="Palatino Linotype"/>
              </a:rPr>
              <a:t> </a:t>
            </a:r>
            <a:r>
              <a:rPr sz="1100" i="1" spc="-5" dirty="0">
                <a:latin typeface="Palatino Linotype"/>
                <a:cs typeface="Palatino Linotype"/>
              </a:rPr>
              <a:t>Turing</a:t>
            </a:r>
            <a:r>
              <a:rPr sz="1100" i="1" dirty="0">
                <a:latin typeface="Palatino Linotype"/>
                <a:cs typeface="Palatino Linotype"/>
              </a:rPr>
              <a:t> </a:t>
            </a:r>
            <a:r>
              <a:rPr sz="1100" i="1" spc="30" dirty="0">
                <a:latin typeface="Palatino Linotype"/>
                <a:cs typeface="Palatino Linotype"/>
              </a:rPr>
              <a:t>machine has </a:t>
            </a:r>
            <a:r>
              <a:rPr sz="1100" i="1" spc="35" dirty="0">
                <a:latin typeface="Palatino Linotype"/>
                <a:cs typeface="Palatino Linotype"/>
              </a:rPr>
              <a:t>an </a:t>
            </a:r>
            <a:r>
              <a:rPr sz="1100" i="1" spc="5" dirty="0">
                <a:latin typeface="Palatino Linotype"/>
                <a:cs typeface="Palatino Linotype"/>
              </a:rPr>
              <a:t>equivalent</a:t>
            </a:r>
            <a:r>
              <a:rPr sz="1100" i="1" spc="10" dirty="0">
                <a:latin typeface="Palatino Linotype"/>
                <a:cs typeface="Palatino Linotype"/>
              </a:rPr>
              <a:t> </a:t>
            </a:r>
            <a:r>
              <a:rPr sz="1100" i="1" spc="5" dirty="0">
                <a:latin typeface="Palatino Linotype"/>
                <a:cs typeface="Palatino Linotype"/>
              </a:rPr>
              <a:t>single-tap </a:t>
            </a:r>
            <a:r>
              <a:rPr sz="1100" i="1" spc="-260" dirty="0">
                <a:latin typeface="Palatino Linotype"/>
                <a:cs typeface="Palatino Linotype"/>
              </a:rPr>
              <a:t> </a:t>
            </a:r>
            <a:r>
              <a:rPr sz="1100" i="1" spc="-5" dirty="0">
                <a:latin typeface="Palatino Linotype"/>
                <a:cs typeface="Palatino Linotype"/>
              </a:rPr>
              <a:t>Turing</a:t>
            </a:r>
            <a:r>
              <a:rPr sz="1100" i="1" spc="110" dirty="0">
                <a:latin typeface="Palatino Linotype"/>
                <a:cs typeface="Palatino Linotype"/>
              </a:rPr>
              <a:t> </a:t>
            </a:r>
            <a:r>
              <a:rPr sz="1100" i="1" spc="35" dirty="0">
                <a:latin typeface="Palatino Linotype"/>
                <a:cs typeface="Palatino Linotype"/>
              </a:rPr>
              <a:t>machine.</a:t>
            </a:r>
            <a:endParaRPr sz="1100">
              <a:latin typeface="Palatino Linotype"/>
              <a:cs typeface="Palatino Linotype"/>
            </a:endParaRP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0"/>
            <a:ext cx="7042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45" dirty="0">
                <a:solidFill>
                  <a:srgbClr val="191959"/>
                </a:solidFill>
                <a:latin typeface="Palatino Linotype"/>
                <a:cs typeface="Palatino Linotype"/>
                <a:hlinkClick r:id="rId2" action="ppaction://hlinksldjump"/>
              </a:rPr>
              <a:t>Turing</a:t>
            </a:r>
            <a:r>
              <a:rPr sz="600" spc="55" dirty="0">
                <a:solidFill>
                  <a:srgbClr val="191959"/>
                </a:solidFill>
                <a:latin typeface="Palatino Linotype"/>
                <a:cs typeface="Palatino Linotype"/>
                <a:hlinkClick r:id="rId2" action="ppaction://hlinksldjump"/>
              </a:rPr>
              <a:t> </a:t>
            </a:r>
            <a:r>
              <a:rPr sz="600" spc="45" dirty="0">
                <a:solidFill>
                  <a:srgbClr val="191959"/>
                </a:solidFill>
                <a:latin typeface="Palatino Linotype"/>
                <a:cs typeface="Palatino Linotype"/>
                <a:hlinkClick r:id="rId2" action="ppaction://hlinksldjump"/>
              </a:rPr>
              <a:t>Machines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41623" y="0"/>
            <a:ext cx="11715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45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Equivalence</a:t>
            </a:r>
            <a:r>
              <a:rPr sz="600" spc="75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 </a:t>
            </a:r>
            <a:r>
              <a:rPr sz="600" spc="50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and</a:t>
            </a:r>
            <a:r>
              <a:rPr sz="600" spc="75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 </a:t>
            </a:r>
            <a:r>
              <a:rPr sz="600" spc="50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Algorithms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206" y="211465"/>
            <a:ext cx="94996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25" dirty="0">
                <a:solidFill>
                  <a:srgbClr val="3333B2"/>
                </a:solidFill>
                <a:latin typeface="Times New Roman"/>
                <a:cs typeface="Times New Roman"/>
              </a:rPr>
              <a:t>Equivalence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09193" y="1129956"/>
            <a:ext cx="4040504" cy="633730"/>
            <a:chOff x="309193" y="1129956"/>
            <a:chExt cx="4040504" cy="633730"/>
          </a:xfrm>
        </p:grpSpPr>
        <p:sp>
          <p:nvSpPr>
            <p:cNvPr id="6" name="object 6"/>
            <p:cNvSpPr/>
            <p:nvPr/>
          </p:nvSpPr>
          <p:spPr>
            <a:xfrm>
              <a:off x="309193" y="1129956"/>
              <a:ext cx="3989704" cy="187325"/>
            </a:xfrm>
            <a:custGeom>
              <a:avLst/>
              <a:gdLst/>
              <a:ahLst/>
              <a:cxnLst/>
              <a:rect l="l" t="t" r="r" b="b"/>
              <a:pathLst>
                <a:path w="3989704" h="187325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6978"/>
                  </a:lnTo>
                  <a:lnTo>
                    <a:pt x="3989652" y="186978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D6D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9194" y="1304277"/>
              <a:ext cx="3989651" cy="5060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9994" y="1661947"/>
              <a:ext cx="101600" cy="1016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0794" y="1649247"/>
              <a:ext cx="3938802" cy="1143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98846" y="1174191"/>
              <a:ext cx="50751" cy="48775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09193" y="1348557"/>
              <a:ext cx="3989704" cy="364490"/>
            </a:xfrm>
            <a:custGeom>
              <a:avLst/>
              <a:gdLst/>
              <a:ahLst/>
              <a:cxnLst/>
              <a:rect l="l" t="t" r="r" b="b"/>
              <a:pathLst>
                <a:path w="3989704" h="364489">
                  <a:moveTo>
                    <a:pt x="3989652" y="0"/>
                  </a:moveTo>
                  <a:lnTo>
                    <a:pt x="0" y="0"/>
                  </a:lnTo>
                  <a:lnTo>
                    <a:pt x="0" y="313389"/>
                  </a:lnTo>
                  <a:lnTo>
                    <a:pt x="4008" y="333114"/>
                  </a:lnTo>
                  <a:lnTo>
                    <a:pt x="14922" y="349267"/>
                  </a:lnTo>
                  <a:lnTo>
                    <a:pt x="31075" y="360181"/>
                  </a:lnTo>
                  <a:lnTo>
                    <a:pt x="50800" y="364190"/>
                  </a:lnTo>
                  <a:lnTo>
                    <a:pt x="3938852" y="364190"/>
                  </a:lnTo>
                  <a:lnTo>
                    <a:pt x="3958576" y="360181"/>
                  </a:lnTo>
                  <a:lnTo>
                    <a:pt x="3974729" y="349267"/>
                  </a:lnTo>
                  <a:lnTo>
                    <a:pt x="3985644" y="333114"/>
                  </a:lnTo>
                  <a:lnTo>
                    <a:pt x="3989652" y="313389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F7F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98846" y="1212285"/>
              <a:ext cx="0" cy="469265"/>
            </a:xfrm>
            <a:custGeom>
              <a:avLst/>
              <a:gdLst/>
              <a:ahLst/>
              <a:cxnLst/>
              <a:rect l="l" t="t" r="r" b="b"/>
              <a:pathLst>
                <a:path h="469264">
                  <a:moveTo>
                    <a:pt x="0" y="46871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98846" y="119958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98846" y="118688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98846" y="117418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309193" y="1864677"/>
            <a:ext cx="4040504" cy="644525"/>
            <a:chOff x="309193" y="1864677"/>
            <a:chExt cx="4040504" cy="644525"/>
          </a:xfrm>
        </p:grpSpPr>
        <p:sp>
          <p:nvSpPr>
            <p:cNvPr id="17" name="object 17"/>
            <p:cNvSpPr/>
            <p:nvPr/>
          </p:nvSpPr>
          <p:spPr>
            <a:xfrm>
              <a:off x="309193" y="1864677"/>
              <a:ext cx="3989704" cy="198120"/>
            </a:xfrm>
            <a:custGeom>
              <a:avLst/>
              <a:gdLst/>
              <a:ahLst/>
              <a:cxnLst/>
              <a:rect l="l" t="t" r="r" b="b"/>
              <a:pathLst>
                <a:path w="3989704" h="198119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7521"/>
                  </a:lnTo>
                  <a:lnTo>
                    <a:pt x="3989652" y="197521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D6D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9194" y="2049538"/>
              <a:ext cx="3989651" cy="5060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59994" y="2407208"/>
              <a:ext cx="101600" cy="1016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0794" y="2394508"/>
              <a:ext cx="3938802" cy="1143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98846" y="1908911"/>
              <a:ext cx="50751" cy="498297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309193" y="2093819"/>
              <a:ext cx="3989704" cy="364490"/>
            </a:xfrm>
            <a:custGeom>
              <a:avLst/>
              <a:gdLst/>
              <a:ahLst/>
              <a:cxnLst/>
              <a:rect l="l" t="t" r="r" b="b"/>
              <a:pathLst>
                <a:path w="3989704" h="364489">
                  <a:moveTo>
                    <a:pt x="3989652" y="0"/>
                  </a:moveTo>
                  <a:lnTo>
                    <a:pt x="0" y="0"/>
                  </a:lnTo>
                  <a:lnTo>
                    <a:pt x="0" y="313389"/>
                  </a:lnTo>
                  <a:lnTo>
                    <a:pt x="4008" y="333114"/>
                  </a:lnTo>
                  <a:lnTo>
                    <a:pt x="14922" y="349267"/>
                  </a:lnTo>
                  <a:lnTo>
                    <a:pt x="31075" y="360181"/>
                  </a:lnTo>
                  <a:lnTo>
                    <a:pt x="50800" y="364190"/>
                  </a:lnTo>
                  <a:lnTo>
                    <a:pt x="3938852" y="364190"/>
                  </a:lnTo>
                  <a:lnTo>
                    <a:pt x="3958576" y="360181"/>
                  </a:lnTo>
                  <a:lnTo>
                    <a:pt x="3974729" y="349267"/>
                  </a:lnTo>
                  <a:lnTo>
                    <a:pt x="3985644" y="333114"/>
                  </a:lnTo>
                  <a:lnTo>
                    <a:pt x="3989652" y="313389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F7F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298846" y="1947003"/>
              <a:ext cx="0" cy="479425"/>
            </a:xfrm>
            <a:custGeom>
              <a:avLst/>
              <a:gdLst/>
              <a:ahLst/>
              <a:cxnLst/>
              <a:rect l="l" t="t" r="r" b="b"/>
              <a:pathLst>
                <a:path h="479425">
                  <a:moveTo>
                    <a:pt x="0" y="47925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298846" y="193430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298846" y="192160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298846" y="190890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347294" y="1077714"/>
            <a:ext cx="3852545" cy="1349375"/>
          </a:xfrm>
          <a:prstGeom prst="rect">
            <a:avLst/>
          </a:prstGeom>
        </p:spPr>
        <p:txBody>
          <a:bodyPr vert="horz" wrap="square" lIns="0" tIns="425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200" spc="30" dirty="0">
                <a:latin typeface="Times New Roman"/>
                <a:cs typeface="Times New Roman"/>
              </a:rPr>
              <a:t>Theorem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  <a:p>
            <a:pPr marL="12700" marR="154940">
              <a:lnSpc>
                <a:spcPct val="102600"/>
              </a:lnSpc>
              <a:spcBef>
                <a:spcPts val="175"/>
              </a:spcBef>
            </a:pPr>
            <a:r>
              <a:rPr sz="1100" i="1" spc="20" dirty="0">
                <a:latin typeface="Palatino Linotype"/>
                <a:cs typeface="Palatino Linotype"/>
              </a:rPr>
              <a:t>Every </a:t>
            </a:r>
            <a:r>
              <a:rPr sz="1100" i="1" spc="5" dirty="0">
                <a:latin typeface="Palatino Linotype"/>
                <a:cs typeface="Palatino Linotype"/>
              </a:rPr>
              <a:t>multitape</a:t>
            </a:r>
            <a:r>
              <a:rPr sz="1100" i="1" spc="10" dirty="0">
                <a:latin typeface="Palatino Linotype"/>
                <a:cs typeface="Palatino Linotype"/>
              </a:rPr>
              <a:t> </a:t>
            </a:r>
            <a:r>
              <a:rPr sz="1100" i="1" spc="-5" dirty="0">
                <a:latin typeface="Palatino Linotype"/>
                <a:cs typeface="Palatino Linotype"/>
              </a:rPr>
              <a:t>Turing</a:t>
            </a:r>
            <a:r>
              <a:rPr sz="1100" i="1" dirty="0">
                <a:latin typeface="Palatino Linotype"/>
                <a:cs typeface="Palatino Linotype"/>
              </a:rPr>
              <a:t> </a:t>
            </a:r>
            <a:r>
              <a:rPr sz="1100" i="1" spc="30" dirty="0">
                <a:latin typeface="Palatino Linotype"/>
                <a:cs typeface="Palatino Linotype"/>
              </a:rPr>
              <a:t>machine has </a:t>
            </a:r>
            <a:r>
              <a:rPr sz="1100" i="1" spc="35" dirty="0">
                <a:latin typeface="Palatino Linotype"/>
                <a:cs typeface="Palatino Linotype"/>
              </a:rPr>
              <a:t>an </a:t>
            </a:r>
            <a:r>
              <a:rPr sz="1100" i="1" spc="5" dirty="0">
                <a:latin typeface="Palatino Linotype"/>
                <a:cs typeface="Palatino Linotype"/>
              </a:rPr>
              <a:t>equivalent</a:t>
            </a:r>
            <a:r>
              <a:rPr sz="1100" i="1" spc="10" dirty="0">
                <a:latin typeface="Palatino Linotype"/>
                <a:cs typeface="Palatino Linotype"/>
              </a:rPr>
              <a:t> </a:t>
            </a:r>
            <a:r>
              <a:rPr sz="1100" i="1" spc="5" dirty="0">
                <a:latin typeface="Palatino Linotype"/>
                <a:cs typeface="Palatino Linotype"/>
              </a:rPr>
              <a:t>single-tap </a:t>
            </a:r>
            <a:r>
              <a:rPr sz="1100" i="1" spc="-260" dirty="0">
                <a:latin typeface="Palatino Linotype"/>
                <a:cs typeface="Palatino Linotype"/>
              </a:rPr>
              <a:t> </a:t>
            </a:r>
            <a:r>
              <a:rPr sz="1100" i="1" spc="-5" dirty="0">
                <a:latin typeface="Palatino Linotype"/>
                <a:cs typeface="Palatino Linotype"/>
              </a:rPr>
              <a:t>Turing</a:t>
            </a:r>
            <a:r>
              <a:rPr sz="1100" i="1" spc="110" dirty="0">
                <a:latin typeface="Palatino Linotype"/>
                <a:cs typeface="Palatino Linotype"/>
              </a:rPr>
              <a:t> </a:t>
            </a:r>
            <a:r>
              <a:rPr sz="1100" i="1" spc="35" dirty="0">
                <a:latin typeface="Palatino Linotype"/>
                <a:cs typeface="Palatino Linotype"/>
              </a:rPr>
              <a:t>machine.</a:t>
            </a:r>
            <a:endParaRPr sz="11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5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spc="20" dirty="0">
                <a:latin typeface="Times New Roman"/>
                <a:cs typeface="Times New Roman"/>
              </a:rPr>
              <a:t>Corollary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ct val="102600"/>
              </a:lnSpc>
              <a:spcBef>
                <a:spcPts val="254"/>
              </a:spcBef>
            </a:pPr>
            <a:r>
              <a:rPr sz="1100" i="1" spc="15" dirty="0">
                <a:latin typeface="Palatino Linotype"/>
                <a:cs typeface="Palatino Linotype"/>
              </a:rPr>
              <a:t>A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language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20" dirty="0">
                <a:latin typeface="Palatino Linotype"/>
                <a:cs typeface="Palatino Linotype"/>
              </a:rPr>
              <a:t>is</a:t>
            </a:r>
            <a:r>
              <a:rPr sz="1100" i="1" spc="110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Turing-recognizable</a:t>
            </a:r>
            <a:r>
              <a:rPr sz="1100" i="1" spc="120" dirty="0">
                <a:latin typeface="Palatino Linotype"/>
                <a:cs typeface="Palatino Linotype"/>
              </a:rPr>
              <a:t> </a:t>
            </a:r>
            <a:r>
              <a:rPr sz="1100" i="1" spc="25" dirty="0">
                <a:latin typeface="Palatino Linotype"/>
                <a:cs typeface="Palatino Linotype"/>
              </a:rPr>
              <a:t>if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25" dirty="0">
                <a:latin typeface="Palatino Linotype"/>
                <a:cs typeface="Palatino Linotype"/>
              </a:rPr>
              <a:t>and</a:t>
            </a:r>
            <a:r>
              <a:rPr sz="1100" i="1" spc="110" dirty="0">
                <a:latin typeface="Palatino Linotype"/>
                <a:cs typeface="Palatino Linotype"/>
              </a:rPr>
              <a:t> </a:t>
            </a:r>
            <a:r>
              <a:rPr sz="1100" i="1" spc="5" dirty="0">
                <a:latin typeface="Palatino Linotype"/>
                <a:cs typeface="Palatino Linotype"/>
              </a:rPr>
              <a:t>only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25" dirty="0">
                <a:latin typeface="Palatino Linotype"/>
                <a:cs typeface="Palatino Linotype"/>
              </a:rPr>
              <a:t>if</a:t>
            </a:r>
            <a:r>
              <a:rPr sz="1100" i="1" spc="120" dirty="0">
                <a:latin typeface="Palatino Linotype"/>
                <a:cs typeface="Palatino Linotype"/>
              </a:rPr>
              <a:t> </a:t>
            </a:r>
            <a:r>
              <a:rPr sz="1100" i="1" spc="45" dirty="0">
                <a:latin typeface="Palatino Linotype"/>
                <a:cs typeface="Palatino Linotype"/>
              </a:rPr>
              <a:t>some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5" dirty="0">
                <a:latin typeface="Palatino Linotype"/>
                <a:cs typeface="Palatino Linotype"/>
              </a:rPr>
              <a:t>multitape </a:t>
            </a:r>
            <a:r>
              <a:rPr sz="1100" i="1" spc="-260" dirty="0">
                <a:latin typeface="Palatino Linotype"/>
                <a:cs typeface="Palatino Linotype"/>
              </a:rPr>
              <a:t> </a:t>
            </a:r>
            <a:r>
              <a:rPr sz="1100" i="1" spc="-5" dirty="0">
                <a:latin typeface="Palatino Linotype"/>
                <a:cs typeface="Palatino Linotype"/>
              </a:rPr>
              <a:t>Turing</a:t>
            </a:r>
            <a:r>
              <a:rPr sz="1100" i="1" spc="110" dirty="0">
                <a:latin typeface="Palatino Linotype"/>
                <a:cs typeface="Palatino Linotype"/>
              </a:rPr>
              <a:t> </a:t>
            </a:r>
            <a:r>
              <a:rPr sz="1100" i="1" spc="30" dirty="0">
                <a:latin typeface="Palatino Linotype"/>
                <a:cs typeface="Palatino Linotype"/>
              </a:rPr>
              <a:t>machine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dirty="0">
                <a:latin typeface="Palatino Linotype"/>
                <a:cs typeface="Palatino Linotype"/>
              </a:rPr>
              <a:t>recognizes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20" dirty="0">
                <a:latin typeface="Palatino Linotype"/>
                <a:cs typeface="Palatino Linotype"/>
              </a:rPr>
              <a:t>it.</a:t>
            </a:r>
            <a:endParaRPr sz="1100">
              <a:latin typeface="Palatino Linotype"/>
              <a:cs typeface="Palatino Linotype"/>
            </a:endParaRP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0"/>
            <a:ext cx="7042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45" dirty="0">
                <a:solidFill>
                  <a:srgbClr val="191959"/>
                </a:solidFill>
                <a:latin typeface="Palatino Linotype"/>
                <a:cs typeface="Palatino Linotype"/>
                <a:hlinkClick r:id="rId2" action="ppaction://hlinksldjump"/>
              </a:rPr>
              <a:t>Turing</a:t>
            </a:r>
            <a:r>
              <a:rPr sz="600" spc="55" dirty="0">
                <a:solidFill>
                  <a:srgbClr val="191959"/>
                </a:solidFill>
                <a:latin typeface="Palatino Linotype"/>
                <a:cs typeface="Palatino Linotype"/>
                <a:hlinkClick r:id="rId2" action="ppaction://hlinksldjump"/>
              </a:rPr>
              <a:t> </a:t>
            </a:r>
            <a:r>
              <a:rPr sz="600" spc="45" dirty="0">
                <a:solidFill>
                  <a:srgbClr val="191959"/>
                </a:solidFill>
                <a:latin typeface="Palatino Linotype"/>
                <a:cs typeface="Palatino Linotype"/>
                <a:hlinkClick r:id="rId2" action="ppaction://hlinksldjump"/>
              </a:rPr>
              <a:t>Machines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41623" y="0"/>
            <a:ext cx="11715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45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Equivalence</a:t>
            </a:r>
            <a:r>
              <a:rPr sz="600" spc="75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 </a:t>
            </a:r>
            <a:r>
              <a:rPr sz="600" spc="50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and</a:t>
            </a:r>
            <a:r>
              <a:rPr sz="600" spc="75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 </a:t>
            </a:r>
            <a:r>
              <a:rPr sz="600" spc="50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Algorithms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2454" y="211465"/>
            <a:ext cx="272351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45" dirty="0">
                <a:solidFill>
                  <a:srgbClr val="3333B2"/>
                </a:solidFill>
                <a:latin typeface="Times New Roman"/>
                <a:cs typeface="Times New Roman"/>
              </a:rPr>
              <a:t>Nondeterministic</a:t>
            </a:r>
            <a:r>
              <a:rPr sz="1400" spc="110" dirty="0">
                <a:solidFill>
                  <a:srgbClr val="3333B2"/>
                </a:solidFill>
                <a:latin typeface="Times New Roman"/>
                <a:cs typeface="Times New Roman"/>
              </a:rPr>
              <a:t> </a:t>
            </a:r>
            <a:r>
              <a:rPr sz="1400" spc="45" dirty="0">
                <a:solidFill>
                  <a:srgbClr val="3333B2"/>
                </a:solidFill>
                <a:latin typeface="Times New Roman"/>
                <a:cs typeface="Times New Roman"/>
              </a:rPr>
              <a:t>Turing</a:t>
            </a:r>
            <a:r>
              <a:rPr sz="1400" spc="114" dirty="0">
                <a:solidFill>
                  <a:srgbClr val="3333B2"/>
                </a:solidFill>
                <a:latin typeface="Times New Roman"/>
                <a:cs typeface="Times New Roman"/>
              </a:rPr>
              <a:t> </a:t>
            </a:r>
            <a:r>
              <a:rPr sz="1400" spc="30" dirty="0">
                <a:solidFill>
                  <a:srgbClr val="3333B2"/>
                </a:solidFill>
                <a:latin typeface="Times New Roman"/>
                <a:cs typeface="Times New Roman"/>
              </a:rPr>
              <a:t>Machines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1858" y="849678"/>
            <a:ext cx="3500120" cy="113919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44780" indent="-132715">
              <a:lnSpc>
                <a:spcPct val="100000"/>
              </a:lnSpc>
              <a:spcBef>
                <a:spcPts val="434"/>
              </a:spcBef>
              <a:buClr>
                <a:srgbClr val="3333B2"/>
              </a:buClr>
              <a:buSzPct val="90909"/>
              <a:buFont typeface="Lucida Sans Unicode"/>
              <a:buChar char="•"/>
              <a:tabLst>
                <a:tab pos="145415" algn="l"/>
              </a:tabLst>
            </a:pPr>
            <a:r>
              <a:rPr sz="1100" spc="15" dirty="0">
                <a:latin typeface="Georgia"/>
                <a:cs typeface="Georgia"/>
              </a:rPr>
              <a:t>An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20" dirty="0">
                <a:latin typeface="Georgia"/>
                <a:cs typeface="Georgia"/>
              </a:rPr>
              <a:t>NTM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is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defined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in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expected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way</a:t>
            </a:r>
            <a:endParaRPr sz="1100">
              <a:latin typeface="Georgia"/>
              <a:cs typeface="Georgia"/>
            </a:endParaRPr>
          </a:p>
          <a:p>
            <a:pPr marL="144780" marR="5080" indent="-13271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SzPct val="90909"/>
              <a:buFont typeface="Lucida Sans Unicode"/>
              <a:buChar char="•"/>
              <a:tabLst>
                <a:tab pos="145415" algn="l"/>
              </a:tabLst>
            </a:pPr>
            <a:r>
              <a:rPr sz="1100" spc="40" dirty="0">
                <a:latin typeface="Georgia"/>
                <a:cs typeface="Georgia"/>
              </a:rPr>
              <a:t>At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any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point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in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computation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machine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may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proceed </a:t>
            </a:r>
            <a:r>
              <a:rPr sz="1100" spc="-25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according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to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several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possibilities</a:t>
            </a:r>
            <a:endParaRPr sz="1100">
              <a:latin typeface="Georgia"/>
              <a:cs typeface="Georgia"/>
            </a:endParaRPr>
          </a:p>
          <a:p>
            <a:pPr marL="144780" indent="-132715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SzPct val="90909"/>
              <a:buFont typeface="Lucida Sans Unicode"/>
              <a:buChar char="•"/>
              <a:tabLst>
                <a:tab pos="145415" algn="l"/>
              </a:tabLst>
            </a:pPr>
            <a:r>
              <a:rPr sz="1100" spc="-25" dirty="0">
                <a:latin typeface="Georgia"/>
                <a:cs typeface="Georgia"/>
              </a:rPr>
              <a:t>Transition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function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for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5" dirty="0">
                <a:latin typeface="Georgia"/>
                <a:cs typeface="Georgia"/>
              </a:rPr>
              <a:t>NTM:</a:t>
            </a:r>
            <a:endParaRPr sz="1100">
              <a:latin typeface="Georgia"/>
              <a:cs typeface="Georgia"/>
            </a:endParaRPr>
          </a:p>
          <a:p>
            <a:pPr marL="1078230">
              <a:lnSpc>
                <a:spcPct val="100000"/>
              </a:lnSpc>
              <a:spcBef>
                <a:spcPts val="1135"/>
              </a:spcBef>
            </a:pPr>
            <a:r>
              <a:rPr sz="1100" i="1" spc="-95" dirty="0">
                <a:latin typeface="Calibri"/>
                <a:cs typeface="Calibri"/>
              </a:rPr>
              <a:t>δ</a:t>
            </a:r>
            <a:r>
              <a:rPr sz="1100" i="1" spc="95" dirty="0">
                <a:latin typeface="Calibri"/>
                <a:cs typeface="Calibri"/>
              </a:rPr>
              <a:t> </a:t>
            </a:r>
            <a:r>
              <a:rPr sz="1100" spc="-45" dirty="0">
                <a:latin typeface="Georgia"/>
                <a:cs typeface="Georgia"/>
              </a:rPr>
              <a:t>: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i="1" spc="130" dirty="0">
                <a:latin typeface="Calibri"/>
                <a:cs typeface="Calibri"/>
              </a:rPr>
              <a:t>Q</a:t>
            </a:r>
            <a:r>
              <a:rPr sz="1100" i="1" spc="-10" dirty="0">
                <a:latin typeface="Calibri"/>
                <a:cs typeface="Calibri"/>
              </a:rPr>
              <a:t> </a:t>
            </a:r>
            <a:r>
              <a:rPr sz="1100" spc="-30" dirty="0">
                <a:latin typeface="Lucida Sans Unicode"/>
                <a:cs typeface="Lucida Sans Unicode"/>
              </a:rPr>
              <a:t>×</a:t>
            </a:r>
            <a:r>
              <a:rPr sz="1100" spc="-110" dirty="0">
                <a:latin typeface="Lucida Sans Unicode"/>
                <a:cs typeface="Lucida Sans Unicode"/>
              </a:rPr>
              <a:t> </a:t>
            </a:r>
            <a:r>
              <a:rPr sz="1100" spc="40" dirty="0">
                <a:latin typeface="Georgia"/>
                <a:cs typeface="Georgia"/>
              </a:rPr>
              <a:t>Γ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55" dirty="0">
                <a:latin typeface="Lucida Sans Unicode"/>
                <a:cs typeface="Lucida Sans Unicode"/>
              </a:rPr>
              <a:t>→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spc="235" dirty="0">
                <a:latin typeface="Lucida Sans Unicode"/>
                <a:cs typeface="Lucida Sans Unicode"/>
              </a:rPr>
              <a:t>P</a:t>
            </a:r>
            <a:r>
              <a:rPr sz="1100" spc="5" dirty="0">
                <a:latin typeface="Georgia"/>
                <a:cs typeface="Georgia"/>
              </a:rPr>
              <a:t>(</a:t>
            </a:r>
            <a:r>
              <a:rPr sz="1100" i="1" spc="130" dirty="0">
                <a:latin typeface="Calibri"/>
                <a:cs typeface="Calibri"/>
              </a:rPr>
              <a:t>Q</a:t>
            </a:r>
            <a:r>
              <a:rPr sz="1100" i="1" spc="-10" dirty="0">
                <a:latin typeface="Calibri"/>
                <a:cs typeface="Calibri"/>
              </a:rPr>
              <a:t> </a:t>
            </a:r>
            <a:r>
              <a:rPr sz="1100" spc="-30" dirty="0">
                <a:latin typeface="Lucida Sans Unicode"/>
                <a:cs typeface="Lucida Sans Unicode"/>
              </a:rPr>
              <a:t>×</a:t>
            </a:r>
            <a:r>
              <a:rPr sz="1100" spc="-110" dirty="0">
                <a:latin typeface="Lucida Sans Unicode"/>
                <a:cs typeface="Lucida Sans Unicode"/>
              </a:rPr>
              <a:t> </a:t>
            </a:r>
            <a:r>
              <a:rPr sz="1100" spc="40" dirty="0">
                <a:latin typeface="Georgia"/>
                <a:cs typeface="Georgia"/>
              </a:rPr>
              <a:t>Γ</a:t>
            </a:r>
            <a:r>
              <a:rPr sz="1100" spc="180" dirty="0">
                <a:latin typeface="Lucida Sans Unicode"/>
                <a:cs typeface="Lucida Sans Unicode"/>
              </a:rPr>
              <a:t>{</a:t>
            </a:r>
            <a:r>
              <a:rPr sz="1100" i="1" spc="185" dirty="0">
                <a:latin typeface="Calibri"/>
                <a:cs typeface="Calibri"/>
              </a:rPr>
              <a:t>L</a:t>
            </a:r>
            <a:r>
              <a:rPr sz="1100" i="1" spc="114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235" dirty="0">
                <a:latin typeface="Calibri"/>
                <a:cs typeface="Calibri"/>
              </a:rPr>
              <a:t>R</a:t>
            </a:r>
            <a:r>
              <a:rPr sz="1100" spc="180" dirty="0">
                <a:latin typeface="Lucida Sans Unicode"/>
                <a:cs typeface="Lucida Sans Unicode"/>
              </a:rPr>
              <a:t>}</a:t>
            </a:r>
            <a:r>
              <a:rPr sz="1100" spc="10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0"/>
            <a:ext cx="7042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45" dirty="0">
                <a:solidFill>
                  <a:srgbClr val="191959"/>
                </a:solidFill>
                <a:latin typeface="Palatino Linotype"/>
                <a:cs typeface="Palatino Linotype"/>
                <a:hlinkClick r:id="rId2" action="ppaction://hlinksldjump"/>
              </a:rPr>
              <a:t>Turing</a:t>
            </a:r>
            <a:r>
              <a:rPr sz="600" spc="55" dirty="0">
                <a:solidFill>
                  <a:srgbClr val="191959"/>
                </a:solidFill>
                <a:latin typeface="Palatino Linotype"/>
                <a:cs typeface="Palatino Linotype"/>
                <a:hlinkClick r:id="rId2" action="ppaction://hlinksldjump"/>
              </a:rPr>
              <a:t> </a:t>
            </a:r>
            <a:r>
              <a:rPr sz="600" spc="45" dirty="0">
                <a:solidFill>
                  <a:srgbClr val="191959"/>
                </a:solidFill>
                <a:latin typeface="Palatino Linotype"/>
                <a:cs typeface="Palatino Linotype"/>
                <a:hlinkClick r:id="rId2" action="ppaction://hlinksldjump"/>
              </a:rPr>
              <a:t>Machines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41623" y="0"/>
            <a:ext cx="11715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45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Equivalence</a:t>
            </a:r>
            <a:r>
              <a:rPr sz="600" spc="75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 </a:t>
            </a:r>
            <a:r>
              <a:rPr sz="600" spc="50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and</a:t>
            </a:r>
            <a:r>
              <a:rPr sz="600" spc="75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 </a:t>
            </a:r>
            <a:r>
              <a:rPr sz="600" spc="50" dirty="0">
                <a:solidFill>
                  <a:srgbClr val="8C8CAC"/>
                </a:solidFill>
                <a:latin typeface="Palatino Linotype"/>
                <a:cs typeface="Palatino Linotype"/>
                <a:hlinkClick r:id="rId3" action="ppaction://hlinksldjump"/>
              </a:rPr>
              <a:t>Algorithms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2454" y="211465"/>
            <a:ext cx="272351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45" dirty="0">
                <a:solidFill>
                  <a:srgbClr val="3333B2"/>
                </a:solidFill>
                <a:latin typeface="Times New Roman"/>
                <a:cs typeface="Times New Roman"/>
              </a:rPr>
              <a:t>Nondeterministic</a:t>
            </a:r>
            <a:r>
              <a:rPr sz="1400" spc="110" dirty="0">
                <a:solidFill>
                  <a:srgbClr val="3333B2"/>
                </a:solidFill>
                <a:latin typeface="Times New Roman"/>
                <a:cs typeface="Times New Roman"/>
              </a:rPr>
              <a:t> </a:t>
            </a:r>
            <a:r>
              <a:rPr sz="1400" spc="45" dirty="0">
                <a:solidFill>
                  <a:srgbClr val="3333B2"/>
                </a:solidFill>
                <a:latin typeface="Times New Roman"/>
                <a:cs typeface="Times New Roman"/>
              </a:rPr>
              <a:t>Turing</a:t>
            </a:r>
            <a:r>
              <a:rPr sz="1400" spc="114" dirty="0">
                <a:solidFill>
                  <a:srgbClr val="3333B2"/>
                </a:solidFill>
                <a:latin typeface="Times New Roman"/>
                <a:cs typeface="Times New Roman"/>
              </a:rPr>
              <a:t> </a:t>
            </a:r>
            <a:r>
              <a:rPr sz="1400" spc="30" dirty="0">
                <a:solidFill>
                  <a:srgbClr val="3333B2"/>
                </a:solidFill>
                <a:latin typeface="Times New Roman"/>
                <a:cs typeface="Times New Roman"/>
              </a:rPr>
              <a:t>Machines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09193" y="2223185"/>
            <a:ext cx="4040504" cy="633730"/>
            <a:chOff x="309193" y="2223185"/>
            <a:chExt cx="4040504" cy="633730"/>
          </a:xfrm>
        </p:grpSpPr>
        <p:sp>
          <p:nvSpPr>
            <p:cNvPr id="6" name="object 6"/>
            <p:cNvSpPr/>
            <p:nvPr/>
          </p:nvSpPr>
          <p:spPr>
            <a:xfrm>
              <a:off x="309193" y="2223185"/>
              <a:ext cx="3989704" cy="187325"/>
            </a:xfrm>
            <a:custGeom>
              <a:avLst/>
              <a:gdLst/>
              <a:ahLst/>
              <a:cxnLst/>
              <a:rect l="l" t="t" r="r" b="b"/>
              <a:pathLst>
                <a:path w="3989704" h="187325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6978"/>
                  </a:lnTo>
                  <a:lnTo>
                    <a:pt x="3989652" y="186978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D6D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9194" y="2397506"/>
              <a:ext cx="3989651" cy="5060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9994" y="2755176"/>
              <a:ext cx="101600" cy="1016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0794" y="2742475"/>
              <a:ext cx="3938802" cy="1143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98846" y="2267419"/>
              <a:ext cx="50751" cy="48775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09193" y="2441786"/>
              <a:ext cx="3989704" cy="364490"/>
            </a:xfrm>
            <a:custGeom>
              <a:avLst/>
              <a:gdLst/>
              <a:ahLst/>
              <a:cxnLst/>
              <a:rect l="l" t="t" r="r" b="b"/>
              <a:pathLst>
                <a:path w="3989704" h="364489">
                  <a:moveTo>
                    <a:pt x="3989652" y="0"/>
                  </a:moveTo>
                  <a:lnTo>
                    <a:pt x="0" y="0"/>
                  </a:lnTo>
                  <a:lnTo>
                    <a:pt x="0" y="313389"/>
                  </a:lnTo>
                  <a:lnTo>
                    <a:pt x="4008" y="333114"/>
                  </a:lnTo>
                  <a:lnTo>
                    <a:pt x="14922" y="349267"/>
                  </a:lnTo>
                  <a:lnTo>
                    <a:pt x="31075" y="360181"/>
                  </a:lnTo>
                  <a:lnTo>
                    <a:pt x="50800" y="364190"/>
                  </a:lnTo>
                  <a:lnTo>
                    <a:pt x="3938852" y="364190"/>
                  </a:lnTo>
                  <a:lnTo>
                    <a:pt x="3958576" y="360181"/>
                  </a:lnTo>
                  <a:lnTo>
                    <a:pt x="3974729" y="349267"/>
                  </a:lnTo>
                  <a:lnTo>
                    <a:pt x="3985644" y="333114"/>
                  </a:lnTo>
                  <a:lnTo>
                    <a:pt x="3989652" y="313389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F7F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98846" y="2305514"/>
              <a:ext cx="0" cy="469265"/>
            </a:xfrm>
            <a:custGeom>
              <a:avLst/>
              <a:gdLst/>
              <a:ahLst/>
              <a:cxnLst/>
              <a:rect l="l" t="t" r="r" b="b"/>
              <a:pathLst>
                <a:path h="469264">
                  <a:moveTo>
                    <a:pt x="0" y="46871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98846" y="229281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98846" y="228011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98846" y="226741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47294" y="849678"/>
            <a:ext cx="3644900" cy="192595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89560" indent="-133350">
              <a:lnSpc>
                <a:spcPct val="100000"/>
              </a:lnSpc>
              <a:spcBef>
                <a:spcPts val="434"/>
              </a:spcBef>
              <a:buClr>
                <a:srgbClr val="3333B2"/>
              </a:buClr>
              <a:buSzPct val="90909"/>
              <a:buFont typeface="Lucida Sans Unicode"/>
              <a:buChar char="•"/>
              <a:tabLst>
                <a:tab pos="290195" algn="l"/>
              </a:tabLst>
            </a:pPr>
            <a:r>
              <a:rPr sz="1100" spc="15" dirty="0">
                <a:latin typeface="Georgia"/>
                <a:cs typeface="Georgia"/>
              </a:rPr>
              <a:t>An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20" dirty="0">
                <a:latin typeface="Georgia"/>
                <a:cs typeface="Georgia"/>
              </a:rPr>
              <a:t>NTM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is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defined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in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expected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way</a:t>
            </a:r>
            <a:endParaRPr sz="1100">
              <a:latin typeface="Georgia"/>
              <a:cs typeface="Georgia"/>
            </a:endParaRPr>
          </a:p>
          <a:p>
            <a:pPr marL="289560" marR="5080" indent="-13271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SzPct val="90909"/>
              <a:buFont typeface="Lucida Sans Unicode"/>
              <a:buChar char="•"/>
              <a:tabLst>
                <a:tab pos="290195" algn="l"/>
              </a:tabLst>
            </a:pPr>
            <a:r>
              <a:rPr sz="1100" spc="40" dirty="0">
                <a:latin typeface="Georgia"/>
                <a:cs typeface="Georgia"/>
              </a:rPr>
              <a:t>At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any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point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in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computation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machine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may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proceed </a:t>
            </a:r>
            <a:r>
              <a:rPr sz="1100" spc="-25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according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to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several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possibilities</a:t>
            </a:r>
            <a:endParaRPr sz="1100">
              <a:latin typeface="Georgia"/>
              <a:cs typeface="Georgia"/>
            </a:endParaRPr>
          </a:p>
          <a:p>
            <a:pPr marL="289560" indent="-133350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SzPct val="90909"/>
              <a:buFont typeface="Lucida Sans Unicode"/>
              <a:buChar char="•"/>
              <a:tabLst>
                <a:tab pos="290195" algn="l"/>
              </a:tabLst>
            </a:pPr>
            <a:r>
              <a:rPr sz="1100" spc="-25" dirty="0">
                <a:latin typeface="Georgia"/>
                <a:cs typeface="Georgia"/>
              </a:rPr>
              <a:t>Transition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function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for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5" dirty="0">
                <a:latin typeface="Georgia"/>
                <a:cs typeface="Georgia"/>
              </a:rPr>
              <a:t>NTM:</a:t>
            </a:r>
            <a:endParaRPr sz="1100">
              <a:latin typeface="Georgia"/>
              <a:cs typeface="Georgia"/>
            </a:endParaRPr>
          </a:p>
          <a:p>
            <a:pPr marL="1222375">
              <a:lnSpc>
                <a:spcPct val="100000"/>
              </a:lnSpc>
              <a:spcBef>
                <a:spcPts val="1135"/>
              </a:spcBef>
            </a:pPr>
            <a:r>
              <a:rPr sz="1100" i="1" spc="-95" dirty="0">
                <a:latin typeface="Calibri"/>
                <a:cs typeface="Calibri"/>
              </a:rPr>
              <a:t>δ</a:t>
            </a:r>
            <a:r>
              <a:rPr sz="1100" i="1" spc="95" dirty="0">
                <a:latin typeface="Calibri"/>
                <a:cs typeface="Calibri"/>
              </a:rPr>
              <a:t> </a:t>
            </a:r>
            <a:r>
              <a:rPr sz="1100" spc="-45" dirty="0">
                <a:latin typeface="Georgia"/>
                <a:cs typeface="Georgia"/>
              </a:rPr>
              <a:t>: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i="1" spc="130" dirty="0">
                <a:latin typeface="Calibri"/>
                <a:cs typeface="Calibri"/>
              </a:rPr>
              <a:t>Q</a:t>
            </a:r>
            <a:r>
              <a:rPr sz="1100" i="1" spc="-10" dirty="0">
                <a:latin typeface="Calibri"/>
                <a:cs typeface="Calibri"/>
              </a:rPr>
              <a:t> </a:t>
            </a:r>
            <a:r>
              <a:rPr sz="1100" spc="-30" dirty="0">
                <a:latin typeface="Lucida Sans Unicode"/>
                <a:cs typeface="Lucida Sans Unicode"/>
              </a:rPr>
              <a:t>×</a:t>
            </a:r>
            <a:r>
              <a:rPr sz="1100" spc="-110" dirty="0">
                <a:latin typeface="Lucida Sans Unicode"/>
                <a:cs typeface="Lucida Sans Unicode"/>
              </a:rPr>
              <a:t> </a:t>
            </a:r>
            <a:r>
              <a:rPr sz="1100" spc="40" dirty="0">
                <a:latin typeface="Georgia"/>
                <a:cs typeface="Georgia"/>
              </a:rPr>
              <a:t>Γ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55" dirty="0">
                <a:latin typeface="Lucida Sans Unicode"/>
                <a:cs typeface="Lucida Sans Unicode"/>
              </a:rPr>
              <a:t>→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spc="235" dirty="0">
                <a:latin typeface="Lucida Sans Unicode"/>
                <a:cs typeface="Lucida Sans Unicode"/>
              </a:rPr>
              <a:t>P</a:t>
            </a:r>
            <a:r>
              <a:rPr sz="1100" spc="5" dirty="0">
                <a:latin typeface="Georgia"/>
                <a:cs typeface="Georgia"/>
              </a:rPr>
              <a:t>(</a:t>
            </a:r>
            <a:r>
              <a:rPr sz="1100" i="1" spc="130" dirty="0">
                <a:latin typeface="Calibri"/>
                <a:cs typeface="Calibri"/>
              </a:rPr>
              <a:t>Q</a:t>
            </a:r>
            <a:r>
              <a:rPr sz="1100" i="1" spc="-10" dirty="0">
                <a:latin typeface="Calibri"/>
                <a:cs typeface="Calibri"/>
              </a:rPr>
              <a:t> </a:t>
            </a:r>
            <a:r>
              <a:rPr sz="1100" spc="-30" dirty="0">
                <a:latin typeface="Lucida Sans Unicode"/>
                <a:cs typeface="Lucida Sans Unicode"/>
              </a:rPr>
              <a:t>×</a:t>
            </a:r>
            <a:r>
              <a:rPr sz="1100" spc="-110" dirty="0">
                <a:latin typeface="Lucida Sans Unicode"/>
                <a:cs typeface="Lucida Sans Unicode"/>
              </a:rPr>
              <a:t> </a:t>
            </a:r>
            <a:r>
              <a:rPr sz="1100" spc="40" dirty="0">
                <a:latin typeface="Georgia"/>
                <a:cs typeface="Georgia"/>
              </a:rPr>
              <a:t>Γ</a:t>
            </a:r>
            <a:r>
              <a:rPr sz="1100" spc="180" dirty="0">
                <a:latin typeface="Lucida Sans Unicode"/>
                <a:cs typeface="Lucida Sans Unicode"/>
              </a:rPr>
              <a:t>{</a:t>
            </a:r>
            <a:r>
              <a:rPr sz="1100" i="1" spc="185" dirty="0">
                <a:latin typeface="Calibri"/>
                <a:cs typeface="Calibri"/>
              </a:rPr>
              <a:t>L</a:t>
            </a:r>
            <a:r>
              <a:rPr sz="1100" i="1" spc="114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spc="235" dirty="0">
                <a:latin typeface="Calibri"/>
                <a:cs typeface="Calibri"/>
              </a:rPr>
              <a:t>R</a:t>
            </a:r>
            <a:r>
              <a:rPr sz="1100" spc="180" dirty="0">
                <a:latin typeface="Lucida Sans Unicode"/>
                <a:cs typeface="Lucida Sans Unicode"/>
              </a:rPr>
              <a:t>}</a:t>
            </a:r>
            <a:r>
              <a:rPr sz="1100" spc="10" dirty="0">
                <a:latin typeface="Georgia"/>
                <a:cs typeface="Georgia"/>
              </a:rPr>
              <a:t>)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870"/>
              </a:spcBef>
            </a:pPr>
            <a:r>
              <a:rPr sz="1200" spc="30" dirty="0">
                <a:latin typeface="Times New Roman"/>
                <a:cs typeface="Times New Roman"/>
              </a:rPr>
              <a:t>Theorem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  <a:p>
            <a:pPr marL="12700" marR="114300">
              <a:lnSpc>
                <a:spcPct val="102699"/>
              </a:lnSpc>
              <a:spcBef>
                <a:spcPts val="170"/>
              </a:spcBef>
            </a:pPr>
            <a:r>
              <a:rPr sz="1100" i="1" spc="20" dirty="0">
                <a:latin typeface="Palatino Linotype"/>
                <a:cs typeface="Palatino Linotype"/>
              </a:rPr>
              <a:t>Every</a:t>
            </a:r>
            <a:r>
              <a:rPr sz="1100" i="1" spc="120" dirty="0">
                <a:latin typeface="Palatino Linotype"/>
                <a:cs typeface="Palatino Linotype"/>
              </a:rPr>
              <a:t> </a:t>
            </a:r>
            <a:r>
              <a:rPr sz="1100" i="1" spc="25" dirty="0">
                <a:latin typeface="Palatino Linotype"/>
                <a:cs typeface="Palatino Linotype"/>
              </a:rPr>
              <a:t>nondeterministic</a:t>
            </a:r>
            <a:r>
              <a:rPr sz="1100" i="1" spc="120" dirty="0">
                <a:latin typeface="Palatino Linotype"/>
                <a:cs typeface="Palatino Linotype"/>
              </a:rPr>
              <a:t> </a:t>
            </a:r>
            <a:r>
              <a:rPr sz="1100" i="1" spc="-5" dirty="0">
                <a:latin typeface="Palatino Linotype"/>
                <a:cs typeface="Palatino Linotype"/>
              </a:rPr>
              <a:t>Turing</a:t>
            </a:r>
            <a:r>
              <a:rPr sz="1100" i="1" spc="120" dirty="0">
                <a:latin typeface="Palatino Linotype"/>
                <a:cs typeface="Palatino Linotype"/>
              </a:rPr>
              <a:t> </a:t>
            </a:r>
            <a:r>
              <a:rPr sz="1100" i="1" spc="30" dirty="0">
                <a:latin typeface="Palatino Linotype"/>
                <a:cs typeface="Palatino Linotype"/>
              </a:rPr>
              <a:t>machine</a:t>
            </a:r>
            <a:r>
              <a:rPr sz="1100" i="1" spc="120" dirty="0">
                <a:latin typeface="Palatino Linotype"/>
                <a:cs typeface="Palatino Linotype"/>
              </a:rPr>
              <a:t> </a:t>
            </a:r>
            <a:r>
              <a:rPr sz="1100" i="1" spc="30" dirty="0">
                <a:latin typeface="Palatino Linotype"/>
                <a:cs typeface="Palatino Linotype"/>
              </a:rPr>
              <a:t>has</a:t>
            </a:r>
            <a:r>
              <a:rPr sz="1100" i="1" spc="120" dirty="0">
                <a:latin typeface="Palatino Linotype"/>
                <a:cs typeface="Palatino Linotype"/>
              </a:rPr>
              <a:t> </a:t>
            </a:r>
            <a:r>
              <a:rPr sz="1100" i="1" spc="35" dirty="0">
                <a:latin typeface="Palatino Linotype"/>
                <a:cs typeface="Palatino Linotype"/>
              </a:rPr>
              <a:t>an</a:t>
            </a:r>
            <a:r>
              <a:rPr sz="1100" i="1" spc="120" dirty="0">
                <a:latin typeface="Palatino Linotype"/>
                <a:cs typeface="Palatino Linotype"/>
              </a:rPr>
              <a:t> </a:t>
            </a:r>
            <a:r>
              <a:rPr sz="1100" i="1" spc="5" dirty="0">
                <a:latin typeface="Palatino Linotype"/>
                <a:cs typeface="Palatino Linotype"/>
              </a:rPr>
              <a:t>equivalent </a:t>
            </a:r>
            <a:r>
              <a:rPr sz="1100" i="1" spc="-260" dirty="0">
                <a:latin typeface="Palatino Linotype"/>
                <a:cs typeface="Palatino Linotype"/>
              </a:rPr>
              <a:t> </a:t>
            </a:r>
            <a:r>
              <a:rPr sz="1100" i="1" spc="25" dirty="0">
                <a:latin typeface="Palatino Linotype"/>
                <a:cs typeface="Palatino Linotype"/>
              </a:rPr>
              <a:t>deterministic</a:t>
            </a:r>
            <a:r>
              <a:rPr sz="1100" i="1" spc="110" dirty="0">
                <a:latin typeface="Palatino Linotype"/>
                <a:cs typeface="Palatino Linotype"/>
              </a:rPr>
              <a:t> </a:t>
            </a:r>
            <a:r>
              <a:rPr sz="1100" i="1" spc="-5" dirty="0">
                <a:latin typeface="Palatino Linotype"/>
                <a:cs typeface="Palatino Linotype"/>
              </a:rPr>
              <a:t>Turing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35" dirty="0">
                <a:latin typeface="Palatino Linotype"/>
                <a:cs typeface="Palatino Linotype"/>
              </a:rPr>
              <a:t>machine.</a:t>
            </a:r>
            <a:endParaRPr sz="1100">
              <a:latin typeface="Palatino Linotype"/>
              <a:cs typeface="Palatino Linotype"/>
            </a:endParaRP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0"/>
            <a:ext cx="7042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45" dirty="0">
                <a:solidFill>
                  <a:srgbClr val="8C8CAC"/>
                </a:solidFill>
                <a:latin typeface="Palatino Linotype"/>
                <a:cs typeface="Palatino Linotype"/>
                <a:hlinkClick r:id="rId2" action="ppaction://hlinksldjump"/>
              </a:rPr>
              <a:t>Turing</a:t>
            </a:r>
            <a:r>
              <a:rPr sz="600" spc="55" dirty="0">
                <a:solidFill>
                  <a:srgbClr val="8C8CAC"/>
                </a:solidFill>
                <a:latin typeface="Palatino Linotype"/>
                <a:cs typeface="Palatino Linotype"/>
                <a:hlinkClick r:id="rId2" action="ppaction://hlinksldjump"/>
              </a:rPr>
              <a:t> </a:t>
            </a:r>
            <a:r>
              <a:rPr sz="600" spc="45" dirty="0">
                <a:solidFill>
                  <a:srgbClr val="8C8CAC"/>
                </a:solidFill>
                <a:latin typeface="Palatino Linotype"/>
                <a:cs typeface="Palatino Linotype"/>
                <a:hlinkClick r:id="rId2" action="ppaction://hlinksldjump"/>
              </a:rPr>
              <a:t>Machines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41623" y="0"/>
            <a:ext cx="11715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45" dirty="0">
                <a:solidFill>
                  <a:srgbClr val="191959"/>
                </a:solidFill>
                <a:latin typeface="Palatino Linotype"/>
                <a:cs typeface="Palatino Linotype"/>
                <a:hlinkClick r:id="rId3" action="ppaction://hlinksldjump"/>
              </a:rPr>
              <a:t>Equivalence</a:t>
            </a:r>
            <a:r>
              <a:rPr sz="600" spc="75" dirty="0">
                <a:solidFill>
                  <a:srgbClr val="191959"/>
                </a:solidFill>
                <a:latin typeface="Palatino Linotype"/>
                <a:cs typeface="Palatino Linotype"/>
                <a:hlinkClick r:id="rId3" action="ppaction://hlinksldjump"/>
              </a:rPr>
              <a:t> </a:t>
            </a:r>
            <a:r>
              <a:rPr sz="600" spc="50" dirty="0">
                <a:solidFill>
                  <a:srgbClr val="191959"/>
                </a:solidFill>
                <a:latin typeface="Palatino Linotype"/>
                <a:cs typeface="Palatino Linotype"/>
                <a:hlinkClick r:id="rId3" action="ppaction://hlinksldjump"/>
              </a:rPr>
              <a:t>and</a:t>
            </a:r>
            <a:r>
              <a:rPr sz="600" spc="75" dirty="0">
                <a:solidFill>
                  <a:srgbClr val="191959"/>
                </a:solidFill>
                <a:latin typeface="Palatino Linotype"/>
                <a:cs typeface="Palatino Linotype"/>
                <a:hlinkClick r:id="rId3" action="ppaction://hlinksldjump"/>
              </a:rPr>
              <a:t> </a:t>
            </a:r>
            <a:r>
              <a:rPr sz="600" spc="50" dirty="0">
                <a:solidFill>
                  <a:srgbClr val="191959"/>
                </a:solidFill>
                <a:latin typeface="Palatino Linotype"/>
                <a:cs typeface="Palatino Linotype"/>
                <a:hlinkClick r:id="rId3" action="ppaction://hlinksldjump"/>
              </a:rPr>
              <a:t>Algorithms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1858" y="211465"/>
            <a:ext cx="3769360" cy="26809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81025">
              <a:lnSpc>
                <a:spcPct val="100000"/>
              </a:lnSpc>
              <a:spcBef>
                <a:spcPts val="135"/>
              </a:spcBef>
            </a:pPr>
            <a:r>
              <a:rPr sz="1400" spc="30" dirty="0">
                <a:solidFill>
                  <a:srgbClr val="3333B2"/>
                </a:solidFill>
                <a:latin typeface="Times New Roman"/>
                <a:cs typeface="Times New Roman"/>
              </a:rPr>
              <a:t>Equivalence</a:t>
            </a:r>
            <a:r>
              <a:rPr sz="1400" spc="95" dirty="0">
                <a:solidFill>
                  <a:srgbClr val="3333B2"/>
                </a:solidFill>
                <a:latin typeface="Times New Roman"/>
                <a:cs typeface="Times New Roman"/>
              </a:rPr>
              <a:t> </a:t>
            </a:r>
            <a:r>
              <a:rPr sz="1400" spc="60" dirty="0">
                <a:solidFill>
                  <a:srgbClr val="3333B2"/>
                </a:solidFill>
                <a:latin typeface="Times New Roman"/>
                <a:cs typeface="Times New Roman"/>
              </a:rPr>
              <a:t>with</a:t>
            </a:r>
            <a:r>
              <a:rPr sz="1400" spc="95" dirty="0">
                <a:solidFill>
                  <a:srgbClr val="3333B2"/>
                </a:solidFill>
                <a:latin typeface="Times New Roman"/>
                <a:cs typeface="Times New Roman"/>
              </a:rPr>
              <a:t> </a:t>
            </a:r>
            <a:r>
              <a:rPr sz="1400" spc="75" dirty="0">
                <a:solidFill>
                  <a:srgbClr val="3333B2"/>
                </a:solidFill>
                <a:latin typeface="Times New Roman"/>
                <a:cs typeface="Times New Roman"/>
              </a:rPr>
              <a:t>Other</a:t>
            </a:r>
            <a:r>
              <a:rPr sz="1400" spc="95" dirty="0">
                <a:solidFill>
                  <a:srgbClr val="3333B2"/>
                </a:solidFill>
                <a:latin typeface="Times New Roman"/>
                <a:cs typeface="Times New Roman"/>
              </a:rPr>
              <a:t> </a:t>
            </a:r>
            <a:r>
              <a:rPr sz="1400" spc="25" dirty="0">
                <a:solidFill>
                  <a:srgbClr val="3333B2"/>
                </a:solidFill>
                <a:latin typeface="Times New Roman"/>
                <a:cs typeface="Times New Roman"/>
              </a:rPr>
              <a:t>Models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650">
              <a:latin typeface="Times New Roman"/>
              <a:cs typeface="Times New Roman"/>
            </a:endParaRPr>
          </a:p>
          <a:p>
            <a:pPr marL="144780" marR="107314" indent="-132715" algn="just">
              <a:lnSpc>
                <a:spcPct val="102699"/>
              </a:lnSpc>
              <a:buClr>
                <a:srgbClr val="3333B2"/>
              </a:buClr>
              <a:buSzPct val="90909"/>
              <a:buFont typeface="Lucida Sans Unicode"/>
              <a:buChar char="•"/>
              <a:tabLst>
                <a:tab pos="145415" algn="l"/>
              </a:tabLst>
            </a:pPr>
            <a:r>
              <a:rPr sz="1100" spc="-25" dirty="0">
                <a:latin typeface="Georgia"/>
                <a:cs typeface="Georgia"/>
              </a:rPr>
              <a:t>Many </a:t>
            </a:r>
            <a:r>
              <a:rPr sz="1100" spc="-35" dirty="0">
                <a:latin typeface="Georgia"/>
                <a:cs typeface="Georgia"/>
              </a:rPr>
              <a:t>different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variants </a:t>
            </a:r>
            <a:r>
              <a:rPr sz="1100" spc="-40" dirty="0">
                <a:latin typeface="Georgia"/>
                <a:cs typeface="Georgia"/>
              </a:rPr>
              <a:t>of</a:t>
            </a:r>
            <a:r>
              <a:rPr sz="1100" spc="18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Turing </a:t>
            </a:r>
            <a:r>
              <a:rPr sz="1100" spc="-45" dirty="0">
                <a:latin typeface="Georgia"/>
                <a:cs typeface="Georgia"/>
              </a:rPr>
              <a:t>machines</a:t>
            </a:r>
            <a:r>
              <a:rPr sz="1100" spc="17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are equivalent 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in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computational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power</a:t>
            </a:r>
            <a:endParaRPr sz="1100">
              <a:latin typeface="Georgia"/>
              <a:cs typeface="Georgia"/>
            </a:endParaRPr>
          </a:p>
          <a:p>
            <a:pPr marL="144780" marR="5080" indent="-132715" algn="just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SzPct val="90909"/>
              <a:buFont typeface="Lucida Sans Unicode"/>
              <a:buChar char="•"/>
              <a:tabLst>
                <a:tab pos="145415" algn="l"/>
              </a:tabLst>
            </a:pPr>
            <a:r>
              <a:rPr sz="1100" spc="-40" dirty="0">
                <a:latin typeface="Georgia"/>
                <a:cs typeface="Georgia"/>
              </a:rPr>
              <a:t>In </a:t>
            </a:r>
            <a:r>
              <a:rPr sz="1100" spc="-5" dirty="0">
                <a:latin typeface="Georgia"/>
                <a:cs typeface="Georgia"/>
              </a:rPr>
              <a:t>fact </a:t>
            </a:r>
            <a:r>
              <a:rPr sz="1100" spc="-25" dirty="0">
                <a:latin typeface="Georgia"/>
                <a:cs typeface="Georgia"/>
              </a:rPr>
              <a:t>other </a:t>
            </a:r>
            <a:r>
              <a:rPr sz="1100" spc="-20" dirty="0">
                <a:latin typeface="Georgia"/>
                <a:cs typeface="Georgia"/>
              </a:rPr>
              <a:t>computational </a:t>
            </a:r>
            <a:r>
              <a:rPr sz="1100" spc="-40" dirty="0">
                <a:latin typeface="Georgia"/>
                <a:cs typeface="Georgia"/>
              </a:rPr>
              <a:t>modesl </a:t>
            </a:r>
            <a:r>
              <a:rPr sz="1100" spc="-35" dirty="0">
                <a:latin typeface="Georgia"/>
                <a:cs typeface="Georgia"/>
              </a:rPr>
              <a:t>which </a:t>
            </a:r>
            <a:r>
              <a:rPr sz="1100" spc="-30" dirty="0">
                <a:latin typeface="Georgia"/>
                <a:cs typeface="Georgia"/>
              </a:rPr>
              <a:t>are </a:t>
            </a:r>
            <a:r>
              <a:rPr sz="1100" spc="-10" dirty="0">
                <a:latin typeface="Georgia"/>
                <a:cs typeface="Georgia"/>
              </a:rPr>
              <a:t>very </a:t>
            </a:r>
            <a:r>
              <a:rPr sz="1100" spc="-35" dirty="0">
                <a:latin typeface="Georgia"/>
                <a:cs typeface="Georgia"/>
              </a:rPr>
              <a:t>different 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thatn </a:t>
            </a:r>
            <a:r>
              <a:rPr sz="1100" spc="20" dirty="0">
                <a:latin typeface="Georgia"/>
                <a:cs typeface="Georgia"/>
              </a:rPr>
              <a:t>TM’s </a:t>
            </a:r>
            <a:r>
              <a:rPr sz="1100" spc="-30" dirty="0">
                <a:latin typeface="Georgia"/>
                <a:cs typeface="Georgia"/>
              </a:rPr>
              <a:t>are also equivalent as </a:t>
            </a:r>
            <a:r>
              <a:rPr sz="1100" spc="-35" dirty="0">
                <a:latin typeface="Georgia"/>
                <a:cs typeface="Georgia"/>
              </a:rPr>
              <a:t>long </a:t>
            </a:r>
            <a:r>
              <a:rPr sz="1100" spc="-30" dirty="0">
                <a:latin typeface="Georgia"/>
                <a:cs typeface="Georgia"/>
              </a:rPr>
              <a:t>as </a:t>
            </a:r>
            <a:r>
              <a:rPr sz="1100" spc="-5" dirty="0">
                <a:latin typeface="Georgia"/>
                <a:cs typeface="Georgia"/>
              </a:rPr>
              <a:t>they </a:t>
            </a:r>
            <a:r>
              <a:rPr sz="1100" spc="-10" dirty="0">
                <a:latin typeface="Georgia"/>
                <a:cs typeface="Georgia"/>
              </a:rPr>
              <a:t>satisfy </a:t>
            </a:r>
            <a:r>
              <a:rPr sz="1100" spc="-55" dirty="0">
                <a:latin typeface="Georgia"/>
                <a:cs typeface="Georgia"/>
              </a:rPr>
              <a:t>some </a:t>
            </a:r>
            <a:r>
              <a:rPr sz="1100" spc="-5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reasonable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requirements</a:t>
            </a:r>
            <a:r>
              <a:rPr sz="1100" spc="18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such</a:t>
            </a:r>
            <a:r>
              <a:rPr sz="1100" spc="18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as</a:t>
            </a:r>
            <a:r>
              <a:rPr sz="1100" spc="204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 </a:t>
            </a:r>
            <a:r>
              <a:rPr sz="1100" spc="-5" dirty="0">
                <a:latin typeface="Georgia"/>
                <a:cs typeface="Georgia"/>
              </a:rPr>
              <a:t>ability to </a:t>
            </a:r>
            <a:r>
              <a:rPr sz="1100" spc="-35" dirty="0">
                <a:latin typeface="Georgia"/>
                <a:cs typeface="Georgia"/>
              </a:rPr>
              <a:t>perform</a:t>
            </a:r>
            <a:r>
              <a:rPr sz="1100" spc="1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only </a:t>
            </a:r>
            <a:r>
              <a:rPr sz="1100" spc="-254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finite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amount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of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work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in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single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step</a:t>
            </a:r>
            <a:endParaRPr sz="1100">
              <a:latin typeface="Georgia"/>
              <a:cs typeface="Georgia"/>
            </a:endParaRPr>
          </a:p>
          <a:p>
            <a:pPr marL="144780" marR="404495" indent="-13271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SzPct val="90909"/>
              <a:buFont typeface="Lucida Sans Unicode"/>
              <a:buChar char="•"/>
              <a:tabLst>
                <a:tab pos="145415" algn="l"/>
              </a:tabLst>
            </a:pPr>
            <a:r>
              <a:rPr sz="1100" spc="-15" dirty="0">
                <a:latin typeface="Georgia"/>
                <a:cs typeface="Georgia"/>
              </a:rPr>
              <a:t>These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models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are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often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called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i="1" spc="15" dirty="0">
                <a:latin typeface="Palatino Linotype"/>
                <a:cs typeface="Palatino Linotype"/>
              </a:rPr>
              <a:t>conventional</a:t>
            </a:r>
            <a:r>
              <a:rPr sz="1100" i="1" spc="120" dirty="0">
                <a:latin typeface="Palatino Linotype"/>
                <a:cs typeface="Palatino Linotype"/>
              </a:rPr>
              <a:t> </a:t>
            </a:r>
            <a:r>
              <a:rPr sz="1100" i="1" spc="15" dirty="0">
                <a:latin typeface="Palatino Linotype"/>
                <a:cs typeface="Palatino Linotype"/>
              </a:rPr>
              <a:t>models</a:t>
            </a:r>
            <a:r>
              <a:rPr sz="1100" i="1" spc="114" dirty="0">
                <a:latin typeface="Palatino Linotype"/>
                <a:cs typeface="Palatino Linotype"/>
              </a:rPr>
              <a:t> </a:t>
            </a:r>
            <a:r>
              <a:rPr sz="1100" i="1" spc="45" dirty="0">
                <a:latin typeface="Palatino Linotype"/>
                <a:cs typeface="Palatino Linotype"/>
              </a:rPr>
              <a:t>of </a:t>
            </a:r>
            <a:r>
              <a:rPr sz="1100" i="1" spc="-260" dirty="0">
                <a:latin typeface="Palatino Linotype"/>
                <a:cs typeface="Palatino Linotype"/>
              </a:rPr>
              <a:t> </a:t>
            </a:r>
            <a:r>
              <a:rPr sz="1100" i="1" spc="20" dirty="0">
                <a:latin typeface="Palatino Linotype"/>
                <a:cs typeface="Palatino Linotype"/>
              </a:rPr>
              <a:t>computation</a:t>
            </a:r>
            <a:endParaRPr sz="1100">
              <a:latin typeface="Palatino Linotype"/>
              <a:cs typeface="Palatino Linotype"/>
            </a:endParaRPr>
          </a:p>
          <a:p>
            <a:pPr marL="144780" indent="-13271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SzPct val="90909"/>
              <a:buFont typeface="Lucida Sans Unicode"/>
              <a:buChar char="•"/>
              <a:tabLst>
                <a:tab pos="145415" algn="l"/>
              </a:tabLst>
            </a:pPr>
            <a:r>
              <a:rPr sz="1100" dirty="0">
                <a:latin typeface="Georgia"/>
                <a:cs typeface="Georgia"/>
              </a:rPr>
              <a:t>This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has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philosophical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implication</a:t>
            </a:r>
            <a:endParaRPr sz="1100">
              <a:latin typeface="Georgia"/>
              <a:cs typeface="Georgia"/>
            </a:endParaRPr>
          </a:p>
          <a:p>
            <a:pPr marL="144780" marR="208279" indent="-132715">
              <a:lnSpc>
                <a:spcPct val="102699"/>
              </a:lnSpc>
              <a:spcBef>
                <a:spcPts val="295"/>
              </a:spcBef>
              <a:buClr>
                <a:srgbClr val="3333B2"/>
              </a:buClr>
              <a:buSzPct val="90909"/>
              <a:buFont typeface="Lucida Sans Unicode"/>
              <a:buChar char="•"/>
              <a:tabLst>
                <a:tab pos="145415" algn="l"/>
              </a:tabLst>
            </a:pPr>
            <a:r>
              <a:rPr sz="1100" spc="-25" dirty="0">
                <a:latin typeface="Georgia"/>
                <a:cs typeface="Georgia"/>
              </a:rPr>
              <a:t>Due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to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equivalence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of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computational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models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class</a:t>
            </a:r>
            <a:r>
              <a:rPr sz="1100" spc="10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of </a:t>
            </a:r>
            <a:r>
              <a:rPr sz="1100" spc="-25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algorithms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5" dirty="0">
                <a:latin typeface="Georgia"/>
                <a:cs typeface="Georgia"/>
              </a:rPr>
              <a:t>that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these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models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describe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remains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same</a:t>
            </a:r>
            <a:endParaRPr sz="11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0"/>
            <a:ext cx="7042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45" dirty="0">
                <a:solidFill>
                  <a:srgbClr val="8C8CAC"/>
                </a:solidFill>
                <a:latin typeface="Palatino Linotype"/>
                <a:cs typeface="Palatino Linotype"/>
                <a:hlinkClick r:id="rId2" action="ppaction://hlinksldjump"/>
              </a:rPr>
              <a:t>Turing</a:t>
            </a:r>
            <a:r>
              <a:rPr sz="600" spc="55" dirty="0">
                <a:solidFill>
                  <a:srgbClr val="8C8CAC"/>
                </a:solidFill>
                <a:latin typeface="Palatino Linotype"/>
                <a:cs typeface="Palatino Linotype"/>
                <a:hlinkClick r:id="rId2" action="ppaction://hlinksldjump"/>
              </a:rPr>
              <a:t> </a:t>
            </a:r>
            <a:r>
              <a:rPr sz="600" spc="45" dirty="0">
                <a:solidFill>
                  <a:srgbClr val="8C8CAC"/>
                </a:solidFill>
                <a:latin typeface="Palatino Linotype"/>
                <a:cs typeface="Palatino Linotype"/>
                <a:hlinkClick r:id="rId2" action="ppaction://hlinksldjump"/>
              </a:rPr>
              <a:t>Machines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41623" y="0"/>
            <a:ext cx="11715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45" dirty="0">
                <a:solidFill>
                  <a:srgbClr val="191959"/>
                </a:solidFill>
                <a:latin typeface="Palatino Linotype"/>
                <a:cs typeface="Palatino Linotype"/>
                <a:hlinkClick r:id="rId3" action="ppaction://hlinksldjump"/>
              </a:rPr>
              <a:t>Equivalence</a:t>
            </a:r>
            <a:r>
              <a:rPr sz="600" spc="75" dirty="0">
                <a:solidFill>
                  <a:srgbClr val="191959"/>
                </a:solidFill>
                <a:latin typeface="Palatino Linotype"/>
                <a:cs typeface="Palatino Linotype"/>
                <a:hlinkClick r:id="rId3" action="ppaction://hlinksldjump"/>
              </a:rPr>
              <a:t> </a:t>
            </a:r>
            <a:r>
              <a:rPr sz="600" spc="50" dirty="0">
                <a:solidFill>
                  <a:srgbClr val="191959"/>
                </a:solidFill>
                <a:latin typeface="Palatino Linotype"/>
                <a:cs typeface="Palatino Linotype"/>
                <a:hlinkClick r:id="rId3" action="ppaction://hlinksldjump"/>
              </a:rPr>
              <a:t>and</a:t>
            </a:r>
            <a:r>
              <a:rPr sz="600" spc="75" dirty="0">
                <a:solidFill>
                  <a:srgbClr val="191959"/>
                </a:solidFill>
                <a:latin typeface="Palatino Linotype"/>
                <a:cs typeface="Palatino Linotype"/>
                <a:hlinkClick r:id="rId3" action="ppaction://hlinksldjump"/>
              </a:rPr>
              <a:t> </a:t>
            </a:r>
            <a:r>
              <a:rPr sz="600" spc="50" dirty="0">
                <a:solidFill>
                  <a:srgbClr val="191959"/>
                </a:solidFill>
                <a:latin typeface="Palatino Linotype"/>
                <a:cs typeface="Palatino Linotype"/>
                <a:hlinkClick r:id="rId3" action="ppaction://hlinksldjump"/>
              </a:rPr>
              <a:t>Algorithms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1858" y="211465"/>
            <a:ext cx="3679190" cy="21424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883285">
              <a:lnSpc>
                <a:spcPct val="100000"/>
              </a:lnSpc>
              <a:spcBef>
                <a:spcPts val="135"/>
              </a:spcBef>
            </a:pPr>
            <a:r>
              <a:rPr sz="1400" spc="35" dirty="0">
                <a:solidFill>
                  <a:srgbClr val="3333B2"/>
                </a:solidFill>
                <a:latin typeface="Times New Roman"/>
                <a:cs typeface="Times New Roman"/>
              </a:rPr>
              <a:t>Hilbert’s</a:t>
            </a:r>
            <a:r>
              <a:rPr sz="1400" spc="90" dirty="0">
                <a:solidFill>
                  <a:srgbClr val="3333B2"/>
                </a:solidFill>
                <a:latin typeface="Times New Roman"/>
                <a:cs typeface="Times New Roman"/>
              </a:rPr>
              <a:t> </a:t>
            </a:r>
            <a:r>
              <a:rPr sz="1400" spc="45" dirty="0">
                <a:solidFill>
                  <a:srgbClr val="3333B2"/>
                </a:solidFill>
                <a:latin typeface="Times New Roman"/>
                <a:cs typeface="Times New Roman"/>
              </a:rPr>
              <a:t>10-th</a:t>
            </a:r>
            <a:r>
              <a:rPr sz="1400" spc="90" dirty="0">
                <a:solidFill>
                  <a:srgbClr val="3333B2"/>
                </a:solidFill>
                <a:latin typeface="Times New Roman"/>
                <a:cs typeface="Times New Roman"/>
              </a:rPr>
              <a:t> </a:t>
            </a:r>
            <a:r>
              <a:rPr sz="1400" spc="60" dirty="0">
                <a:solidFill>
                  <a:srgbClr val="3333B2"/>
                </a:solidFill>
                <a:latin typeface="Times New Roman"/>
                <a:cs typeface="Times New Roman"/>
              </a:rPr>
              <a:t>Problem</a:t>
            </a:r>
            <a:endParaRPr sz="1400">
              <a:latin typeface="Times New Roman"/>
              <a:cs typeface="Times New Roman"/>
            </a:endParaRPr>
          </a:p>
          <a:p>
            <a:pPr marL="144780" marR="72390" indent="-132715">
              <a:lnSpc>
                <a:spcPct val="102600"/>
              </a:lnSpc>
              <a:spcBef>
                <a:spcPts val="810"/>
              </a:spcBef>
              <a:buClr>
                <a:srgbClr val="3333B2"/>
              </a:buClr>
              <a:buSzPct val="90909"/>
              <a:buFont typeface="Lucida Sans Unicode"/>
              <a:buChar char="•"/>
              <a:tabLst>
                <a:tab pos="145415" algn="l"/>
              </a:tabLst>
            </a:pPr>
            <a:r>
              <a:rPr sz="1100" spc="-40" dirty="0">
                <a:latin typeface="Georgia"/>
                <a:cs typeface="Georgia"/>
              </a:rPr>
              <a:t>In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spc="-55" dirty="0">
                <a:latin typeface="Georgia"/>
                <a:cs typeface="Georgia"/>
              </a:rPr>
              <a:t>1900,</a:t>
            </a:r>
            <a:r>
              <a:rPr sz="1100" spc="-50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David </a:t>
            </a:r>
            <a:r>
              <a:rPr sz="1100" spc="-20" dirty="0">
                <a:latin typeface="Georgia"/>
                <a:cs typeface="Georgia"/>
              </a:rPr>
              <a:t>Hilbert </a:t>
            </a:r>
            <a:r>
              <a:rPr sz="1100" spc="-35" dirty="0">
                <a:latin typeface="Georgia"/>
                <a:cs typeface="Georgia"/>
              </a:rPr>
              <a:t>in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his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famous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lecture </a:t>
            </a:r>
            <a:r>
              <a:rPr sz="1100" spc="-35" dirty="0">
                <a:latin typeface="Georgia"/>
                <a:cs typeface="Georgia"/>
              </a:rPr>
              <a:t>identified 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twenty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five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mathematical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problems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as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challenge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for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 </a:t>
            </a:r>
            <a:r>
              <a:rPr sz="1100" spc="-250" dirty="0">
                <a:latin typeface="Georgia"/>
                <a:cs typeface="Georgia"/>
              </a:rPr>
              <a:t> </a:t>
            </a:r>
            <a:r>
              <a:rPr sz="1100" spc="-50" dirty="0">
                <a:latin typeface="Georgia"/>
                <a:cs typeface="Georgia"/>
              </a:rPr>
              <a:t>20-th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century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mathematicians</a:t>
            </a:r>
            <a:endParaRPr sz="1100">
              <a:latin typeface="Georgia"/>
              <a:cs typeface="Georgia"/>
            </a:endParaRPr>
          </a:p>
          <a:p>
            <a:pPr marL="144780" marR="5080" indent="-132715">
              <a:lnSpc>
                <a:spcPct val="102600"/>
              </a:lnSpc>
              <a:spcBef>
                <a:spcPts val="295"/>
              </a:spcBef>
              <a:buClr>
                <a:srgbClr val="3333B2"/>
              </a:buClr>
              <a:buSzPct val="90909"/>
              <a:buFont typeface="Lucida Sans Unicode"/>
              <a:buChar char="•"/>
              <a:tabLst>
                <a:tab pos="145415" algn="l"/>
              </a:tabLst>
            </a:pPr>
            <a:r>
              <a:rPr sz="1100" spc="-10" dirty="0">
                <a:latin typeface="Georgia"/>
                <a:cs typeface="Georgia"/>
              </a:rPr>
              <a:t>On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problems</a:t>
            </a:r>
            <a:r>
              <a:rPr sz="1100" spc="-35" dirty="0">
                <a:latin typeface="Georgia"/>
                <a:cs typeface="Georgia"/>
              </a:rPr>
              <a:t> in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this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-55" dirty="0">
                <a:latin typeface="Georgia"/>
                <a:cs typeface="Georgia"/>
              </a:rPr>
              <a:t>25</a:t>
            </a:r>
            <a:r>
              <a:rPr sz="1100" spc="-5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problem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list, </a:t>
            </a:r>
            <a:r>
              <a:rPr sz="1100" spc="-20" dirty="0">
                <a:latin typeface="Georgia"/>
                <a:cs typeface="Georgia"/>
              </a:rPr>
              <a:t>specifically</a:t>
            </a:r>
            <a:r>
              <a:rPr sz="1100" spc="22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 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10-th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problem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(famously</a:t>
            </a:r>
            <a:r>
              <a:rPr sz="1100" spc="215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known</a:t>
            </a:r>
            <a:r>
              <a:rPr sz="1100" spc="17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as</a:t>
            </a:r>
            <a:r>
              <a:rPr sz="1100" spc="204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Hilbert’s </a:t>
            </a:r>
            <a:r>
              <a:rPr sz="1100" spc="-20" dirty="0">
                <a:latin typeface="Georgia"/>
                <a:cs typeface="Georgia"/>
              </a:rPr>
              <a:t>tenth 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problem)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as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an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important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question,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problem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describes </a:t>
            </a:r>
            <a:r>
              <a:rPr sz="1100" spc="-250" dirty="0">
                <a:latin typeface="Georgia"/>
                <a:cs typeface="Georgia"/>
              </a:rPr>
              <a:t> </a:t>
            </a:r>
            <a:r>
              <a:rPr sz="1100" spc="-15" dirty="0">
                <a:solidFill>
                  <a:srgbClr val="0000FF"/>
                </a:solidFill>
                <a:latin typeface="Georgia"/>
                <a:cs typeface="Georgia"/>
              </a:rPr>
              <a:t>“devise</a:t>
            </a:r>
            <a:r>
              <a:rPr sz="1100" spc="9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100" spc="-30" dirty="0">
                <a:solidFill>
                  <a:srgbClr val="0000FF"/>
                </a:solidFill>
                <a:latin typeface="Georgia"/>
                <a:cs typeface="Georgia"/>
              </a:rPr>
              <a:t>an</a:t>
            </a:r>
            <a:r>
              <a:rPr sz="1100" spc="9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Georgia"/>
                <a:cs typeface="Georgia"/>
              </a:rPr>
              <a:t>algorithm</a:t>
            </a:r>
            <a:r>
              <a:rPr sz="1100" spc="9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100" spc="5" dirty="0">
                <a:solidFill>
                  <a:srgbClr val="0000FF"/>
                </a:solidFill>
                <a:latin typeface="Georgia"/>
                <a:cs typeface="Georgia"/>
              </a:rPr>
              <a:t>that</a:t>
            </a:r>
            <a:r>
              <a:rPr sz="1100" spc="9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100" spc="-15" dirty="0">
                <a:solidFill>
                  <a:srgbClr val="0000FF"/>
                </a:solidFill>
                <a:latin typeface="Georgia"/>
                <a:cs typeface="Georgia"/>
              </a:rPr>
              <a:t>tests</a:t>
            </a:r>
            <a:r>
              <a:rPr sz="1100" spc="9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100" spc="-25" dirty="0">
                <a:solidFill>
                  <a:srgbClr val="0000FF"/>
                </a:solidFill>
                <a:latin typeface="Georgia"/>
                <a:cs typeface="Georgia"/>
              </a:rPr>
              <a:t>whether</a:t>
            </a:r>
            <a:r>
              <a:rPr sz="1100" spc="9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Georgia"/>
                <a:cs typeface="Georgia"/>
              </a:rPr>
              <a:t>a</a:t>
            </a:r>
            <a:r>
              <a:rPr sz="1100" spc="9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100" spc="-25" dirty="0">
                <a:solidFill>
                  <a:srgbClr val="0000FF"/>
                </a:solidFill>
                <a:latin typeface="Georgia"/>
                <a:cs typeface="Georgia"/>
              </a:rPr>
              <a:t>polynomial</a:t>
            </a:r>
            <a:r>
              <a:rPr sz="1100" spc="9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100" spc="-30" dirty="0">
                <a:solidFill>
                  <a:srgbClr val="0000FF"/>
                </a:solidFill>
                <a:latin typeface="Georgia"/>
                <a:cs typeface="Georgia"/>
              </a:rPr>
              <a:t>has </a:t>
            </a:r>
            <a:r>
              <a:rPr sz="1100" spc="-2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100" spc="-30" dirty="0">
                <a:solidFill>
                  <a:srgbClr val="0000FF"/>
                </a:solidFill>
                <a:latin typeface="Georgia"/>
                <a:cs typeface="Georgia"/>
              </a:rPr>
              <a:t>an</a:t>
            </a:r>
            <a:r>
              <a:rPr sz="1100" spc="9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100" spc="-25" dirty="0">
                <a:solidFill>
                  <a:srgbClr val="0000FF"/>
                </a:solidFill>
                <a:latin typeface="Georgia"/>
                <a:cs typeface="Georgia"/>
              </a:rPr>
              <a:t>integral</a:t>
            </a:r>
            <a:r>
              <a:rPr sz="1100" spc="9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100" spc="-25" dirty="0">
                <a:solidFill>
                  <a:srgbClr val="0000FF"/>
                </a:solidFill>
                <a:latin typeface="Georgia"/>
                <a:cs typeface="Georgia"/>
              </a:rPr>
              <a:t>root.”</a:t>
            </a:r>
            <a:endParaRPr sz="1100">
              <a:latin typeface="Georgia"/>
              <a:cs typeface="Georgia"/>
            </a:endParaRPr>
          </a:p>
          <a:p>
            <a:pPr marL="144780" marR="163195" indent="-132715">
              <a:lnSpc>
                <a:spcPct val="102699"/>
              </a:lnSpc>
              <a:spcBef>
                <a:spcPts val="300"/>
              </a:spcBef>
              <a:buClr>
                <a:srgbClr val="3333B2"/>
              </a:buClr>
              <a:buSzPct val="90909"/>
              <a:buFont typeface="Lucida Sans Unicode"/>
              <a:buChar char="•"/>
              <a:tabLst>
                <a:tab pos="145415" algn="l"/>
              </a:tabLst>
            </a:pPr>
            <a:r>
              <a:rPr sz="1100" spc="-20" dirty="0">
                <a:latin typeface="Georgia"/>
                <a:cs typeface="Georgia"/>
              </a:rPr>
              <a:t>Hilbert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did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not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use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word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algorithm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but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he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assumed </a:t>
            </a:r>
            <a:r>
              <a:rPr sz="1100" spc="-25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there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must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exist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such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procedure</a:t>
            </a:r>
            <a:endParaRPr sz="11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0"/>
            <a:ext cx="7042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45" dirty="0">
                <a:solidFill>
                  <a:srgbClr val="8C8CAC"/>
                </a:solidFill>
                <a:latin typeface="Palatino Linotype"/>
                <a:cs typeface="Palatino Linotype"/>
                <a:hlinkClick r:id="rId2" action="ppaction://hlinksldjump"/>
              </a:rPr>
              <a:t>Turing</a:t>
            </a:r>
            <a:r>
              <a:rPr sz="600" spc="55" dirty="0">
                <a:solidFill>
                  <a:srgbClr val="8C8CAC"/>
                </a:solidFill>
                <a:latin typeface="Palatino Linotype"/>
                <a:cs typeface="Palatino Linotype"/>
                <a:hlinkClick r:id="rId2" action="ppaction://hlinksldjump"/>
              </a:rPr>
              <a:t> </a:t>
            </a:r>
            <a:r>
              <a:rPr sz="600" spc="45" dirty="0">
                <a:solidFill>
                  <a:srgbClr val="8C8CAC"/>
                </a:solidFill>
                <a:latin typeface="Palatino Linotype"/>
                <a:cs typeface="Palatino Linotype"/>
                <a:hlinkClick r:id="rId2" action="ppaction://hlinksldjump"/>
              </a:rPr>
              <a:t>Machines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41623" y="0"/>
            <a:ext cx="11715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45" dirty="0">
                <a:solidFill>
                  <a:srgbClr val="191959"/>
                </a:solidFill>
                <a:latin typeface="Palatino Linotype"/>
                <a:cs typeface="Palatino Linotype"/>
                <a:hlinkClick r:id="rId3" action="ppaction://hlinksldjump"/>
              </a:rPr>
              <a:t>Equivalence</a:t>
            </a:r>
            <a:r>
              <a:rPr sz="600" spc="75" dirty="0">
                <a:solidFill>
                  <a:srgbClr val="191959"/>
                </a:solidFill>
                <a:latin typeface="Palatino Linotype"/>
                <a:cs typeface="Palatino Linotype"/>
                <a:hlinkClick r:id="rId3" action="ppaction://hlinksldjump"/>
              </a:rPr>
              <a:t> </a:t>
            </a:r>
            <a:r>
              <a:rPr sz="600" spc="50" dirty="0">
                <a:solidFill>
                  <a:srgbClr val="191959"/>
                </a:solidFill>
                <a:latin typeface="Palatino Linotype"/>
                <a:cs typeface="Palatino Linotype"/>
                <a:hlinkClick r:id="rId3" action="ppaction://hlinksldjump"/>
              </a:rPr>
              <a:t>and</a:t>
            </a:r>
            <a:r>
              <a:rPr sz="600" spc="75" dirty="0">
                <a:solidFill>
                  <a:srgbClr val="191959"/>
                </a:solidFill>
                <a:latin typeface="Palatino Linotype"/>
                <a:cs typeface="Palatino Linotype"/>
                <a:hlinkClick r:id="rId3" action="ppaction://hlinksldjump"/>
              </a:rPr>
              <a:t> </a:t>
            </a:r>
            <a:r>
              <a:rPr sz="600" spc="50" dirty="0">
                <a:solidFill>
                  <a:srgbClr val="191959"/>
                </a:solidFill>
                <a:latin typeface="Palatino Linotype"/>
                <a:cs typeface="Palatino Linotype"/>
                <a:hlinkClick r:id="rId3" action="ppaction://hlinksldjump"/>
              </a:rPr>
              <a:t>Algorithms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1858" y="211465"/>
            <a:ext cx="3769360" cy="311658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883285">
              <a:lnSpc>
                <a:spcPct val="100000"/>
              </a:lnSpc>
              <a:spcBef>
                <a:spcPts val="135"/>
              </a:spcBef>
            </a:pPr>
            <a:r>
              <a:rPr sz="1400" spc="35" dirty="0">
                <a:solidFill>
                  <a:srgbClr val="3333B2"/>
                </a:solidFill>
                <a:latin typeface="Times New Roman"/>
                <a:cs typeface="Times New Roman"/>
              </a:rPr>
              <a:t>Hilbert’s</a:t>
            </a:r>
            <a:r>
              <a:rPr sz="1400" spc="90" dirty="0">
                <a:solidFill>
                  <a:srgbClr val="3333B2"/>
                </a:solidFill>
                <a:latin typeface="Times New Roman"/>
                <a:cs typeface="Times New Roman"/>
              </a:rPr>
              <a:t> </a:t>
            </a:r>
            <a:r>
              <a:rPr sz="1400" spc="45" dirty="0">
                <a:solidFill>
                  <a:srgbClr val="3333B2"/>
                </a:solidFill>
                <a:latin typeface="Times New Roman"/>
                <a:cs typeface="Times New Roman"/>
              </a:rPr>
              <a:t>10-th</a:t>
            </a:r>
            <a:r>
              <a:rPr sz="1400" spc="90" dirty="0">
                <a:solidFill>
                  <a:srgbClr val="3333B2"/>
                </a:solidFill>
                <a:latin typeface="Times New Roman"/>
                <a:cs typeface="Times New Roman"/>
              </a:rPr>
              <a:t> </a:t>
            </a:r>
            <a:r>
              <a:rPr sz="1400" spc="60" dirty="0">
                <a:solidFill>
                  <a:srgbClr val="3333B2"/>
                </a:solidFill>
                <a:latin typeface="Times New Roman"/>
                <a:cs typeface="Times New Roman"/>
              </a:rPr>
              <a:t>Problem</a:t>
            </a:r>
            <a:endParaRPr sz="1400">
              <a:latin typeface="Times New Roman"/>
              <a:cs typeface="Times New Roman"/>
            </a:endParaRPr>
          </a:p>
          <a:p>
            <a:pPr marL="144780" marR="161925" indent="-132715">
              <a:lnSpc>
                <a:spcPct val="102600"/>
              </a:lnSpc>
              <a:spcBef>
                <a:spcPts val="810"/>
              </a:spcBef>
              <a:buClr>
                <a:srgbClr val="3333B2"/>
              </a:buClr>
              <a:buSzPct val="90909"/>
              <a:buFont typeface="Lucida Sans Unicode"/>
              <a:buChar char="•"/>
              <a:tabLst>
                <a:tab pos="145415" algn="l"/>
              </a:tabLst>
            </a:pPr>
            <a:r>
              <a:rPr sz="1100" spc="-40" dirty="0">
                <a:latin typeface="Georgia"/>
                <a:cs typeface="Georgia"/>
              </a:rPr>
              <a:t>In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spc="-55" dirty="0">
                <a:latin typeface="Georgia"/>
                <a:cs typeface="Georgia"/>
              </a:rPr>
              <a:t>1900,</a:t>
            </a:r>
            <a:r>
              <a:rPr sz="1100" spc="-50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David </a:t>
            </a:r>
            <a:r>
              <a:rPr sz="1100" spc="-20" dirty="0">
                <a:latin typeface="Georgia"/>
                <a:cs typeface="Georgia"/>
              </a:rPr>
              <a:t>Hilbert </a:t>
            </a:r>
            <a:r>
              <a:rPr sz="1100" spc="-35" dirty="0">
                <a:latin typeface="Georgia"/>
                <a:cs typeface="Georgia"/>
              </a:rPr>
              <a:t>in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his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famous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lecture </a:t>
            </a:r>
            <a:r>
              <a:rPr sz="1100" spc="-35" dirty="0">
                <a:latin typeface="Georgia"/>
                <a:cs typeface="Georgia"/>
              </a:rPr>
              <a:t>identified 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twenty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five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mathematical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problems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as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challenge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for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 </a:t>
            </a:r>
            <a:r>
              <a:rPr sz="1100" spc="-250" dirty="0">
                <a:latin typeface="Georgia"/>
                <a:cs typeface="Georgia"/>
              </a:rPr>
              <a:t> </a:t>
            </a:r>
            <a:r>
              <a:rPr sz="1100" spc="-50" dirty="0">
                <a:latin typeface="Georgia"/>
                <a:cs typeface="Georgia"/>
              </a:rPr>
              <a:t>20-th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century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mathematicians</a:t>
            </a:r>
            <a:endParaRPr sz="1100">
              <a:latin typeface="Georgia"/>
              <a:cs typeface="Georgia"/>
            </a:endParaRPr>
          </a:p>
          <a:p>
            <a:pPr marL="144780" marR="94615" indent="-132715">
              <a:lnSpc>
                <a:spcPct val="102600"/>
              </a:lnSpc>
              <a:spcBef>
                <a:spcPts val="295"/>
              </a:spcBef>
              <a:buClr>
                <a:srgbClr val="3333B2"/>
              </a:buClr>
              <a:buSzPct val="90909"/>
              <a:buFont typeface="Lucida Sans Unicode"/>
              <a:buChar char="•"/>
              <a:tabLst>
                <a:tab pos="145415" algn="l"/>
              </a:tabLst>
            </a:pPr>
            <a:r>
              <a:rPr sz="1100" spc="-10" dirty="0">
                <a:latin typeface="Georgia"/>
                <a:cs typeface="Georgia"/>
              </a:rPr>
              <a:t>On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problems</a:t>
            </a:r>
            <a:r>
              <a:rPr sz="1100" spc="-35" dirty="0">
                <a:latin typeface="Georgia"/>
                <a:cs typeface="Georgia"/>
              </a:rPr>
              <a:t> in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this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-55" dirty="0">
                <a:latin typeface="Georgia"/>
                <a:cs typeface="Georgia"/>
              </a:rPr>
              <a:t>25</a:t>
            </a:r>
            <a:r>
              <a:rPr sz="1100" spc="-5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problem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list, </a:t>
            </a:r>
            <a:r>
              <a:rPr sz="1100" spc="-20" dirty="0">
                <a:latin typeface="Georgia"/>
                <a:cs typeface="Georgia"/>
              </a:rPr>
              <a:t>specifically</a:t>
            </a:r>
            <a:r>
              <a:rPr sz="1100" spc="22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 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10-th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problem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(famously</a:t>
            </a:r>
            <a:r>
              <a:rPr sz="1100" spc="215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known</a:t>
            </a:r>
            <a:r>
              <a:rPr sz="1100" spc="17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as</a:t>
            </a:r>
            <a:r>
              <a:rPr sz="1100" spc="204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Hilbert’s </a:t>
            </a:r>
            <a:r>
              <a:rPr sz="1100" spc="-20" dirty="0">
                <a:latin typeface="Georgia"/>
                <a:cs typeface="Georgia"/>
              </a:rPr>
              <a:t>tenth 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problem)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as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an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important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question,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problem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describes </a:t>
            </a:r>
            <a:r>
              <a:rPr sz="1100" spc="-254" dirty="0">
                <a:latin typeface="Georgia"/>
                <a:cs typeface="Georgia"/>
              </a:rPr>
              <a:t> </a:t>
            </a:r>
            <a:r>
              <a:rPr sz="1100" spc="-15" dirty="0">
                <a:solidFill>
                  <a:srgbClr val="0000FF"/>
                </a:solidFill>
                <a:latin typeface="Georgia"/>
                <a:cs typeface="Georgia"/>
              </a:rPr>
              <a:t>“devise</a:t>
            </a:r>
            <a:r>
              <a:rPr sz="1100" spc="9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100" spc="-30" dirty="0">
                <a:solidFill>
                  <a:srgbClr val="0000FF"/>
                </a:solidFill>
                <a:latin typeface="Georgia"/>
                <a:cs typeface="Georgia"/>
              </a:rPr>
              <a:t>an</a:t>
            </a:r>
            <a:r>
              <a:rPr sz="1100" spc="9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100" spc="-20" dirty="0">
                <a:solidFill>
                  <a:srgbClr val="0000FF"/>
                </a:solidFill>
                <a:latin typeface="Georgia"/>
                <a:cs typeface="Georgia"/>
              </a:rPr>
              <a:t>algorithm</a:t>
            </a:r>
            <a:r>
              <a:rPr sz="1100" spc="9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100" spc="5" dirty="0">
                <a:solidFill>
                  <a:srgbClr val="0000FF"/>
                </a:solidFill>
                <a:latin typeface="Georgia"/>
                <a:cs typeface="Georgia"/>
              </a:rPr>
              <a:t>that</a:t>
            </a:r>
            <a:r>
              <a:rPr sz="1100" spc="9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100" spc="-15" dirty="0">
                <a:solidFill>
                  <a:srgbClr val="0000FF"/>
                </a:solidFill>
                <a:latin typeface="Georgia"/>
                <a:cs typeface="Georgia"/>
              </a:rPr>
              <a:t>tests</a:t>
            </a:r>
            <a:r>
              <a:rPr sz="1100" spc="9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100" spc="-25" dirty="0">
                <a:solidFill>
                  <a:srgbClr val="0000FF"/>
                </a:solidFill>
                <a:latin typeface="Georgia"/>
                <a:cs typeface="Georgia"/>
              </a:rPr>
              <a:t>whether</a:t>
            </a:r>
            <a:r>
              <a:rPr sz="1100" spc="9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Georgia"/>
                <a:cs typeface="Georgia"/>
              </a:rPr>
              <a:t>a</a:t>
            </a:r>
            <a:r>
              <a:rPr sz="1100" spc="9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100" spc="-25" dirty="0">
                <a:solidFill>
                  <a:srgbClr val="0000FF"/>
                </a:solidFill>
                <a:latin typeface="Georgia"/>
                <a:cs typeface="Georgia"/>
              </a:rPr>
              <a:t>polynomial</a:t>
            </a:r>
            <a:r>
              <a:rPr sz="1100" spc="9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100" spc="-30" dirty="0">
                <a:solidFill>
                  <a:srgbClr val="0000FF"/>
                </a:solidFill>
                <a:latin typeface="Georgia"/>
                <a:cs typeface="Georgia"/>
              </a:rPr>
              <a:t>has </a:t>
            </a:r>
            <a:r>
              <a:rPr sz="1100" spc="-2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100" spc="-30" dirty="0">
                <a:solidFill>
                  <a:srgbClr val="0000FF"/>
                </a:solidFill>
                <a:latin typeface="Georgia"/>
                <a:cs typeface="Georgia"/>
              </a:rPr>
              <a:t>an</a:t>
            </a:r>
            <a:r>
              <a:rPr sz="1100" spc="9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100" spc="-25" dirty="0">
                <a:solidFill>
                  <a:srgbClr val="0000FF"/>
                </a:solidFill>
                <a:latin typeface="Georgia"/>
                <a:cs typeface="Georgia"/>
              </a:rPr>
              <a:t>integral</a:t>
            </a:r>
            <a:r>
              <a:rPr sz="1100" spc="95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100" spc="-25" dirty="0">
                <a:solidFill>
                  <a:srgbClr val="0000FF"/>
                </a:solidFill>
                <a:latin typeface="Georgia"/>
                <a:cs typeface="Georgia"/>
              </a:rPr>
              <a:t>root.”</a:t>
            </a:r>
            <a:endParaRPr sz="1100">
              <a:latin typeface="Georgia"/>
              <a:cs typeface="Georgia"/>
            </a:endParaRPr>
          </a:p>
          <a:p>
            <a:pPr marL="144780" marR="252729" indent="-132715">
              <a:lnSpc>
                <a:spcPct val="102699"/>
              </a:lnSpc>
              <a:spcBef>
                <a:spcPts val="300"/>
              </a:spcBef>
              <a:buClr>
                <a:srgbClr val="3333B2"/>
              </a:buClr>
              <a:buSzPct val="90909"/>
              <a:buFont typeface="Lucida Sans Unicode"/>
              <a:buChar char="•"/>
              <a:tabLst>
                <a:tab pos="145415" algn="l"/>
              </a:tabLst>
            </a:pPr>
            <a:r>
              <a:rPr sz="1100" spc="-20" dirty="0">
                <a:latin typeface="Georgia"/>
                <a:cs typeface="Georgia"/>
              </a:rPr>
              <a:t>Hilbert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did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not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use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word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algorithm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5" dirty="0">
                <a:latin typeface="Georgia"/>
                <a:cs typeface="Georgia"/>
              </a:rPr>
              <a:t>but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he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assumed </a:t>
            </a:r>
            <a:r>
              <a:rPr sz="1100" spc="-25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there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must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exist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such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procedure</a:t>
            </a:r>
            <a:endParaRPr sz="1100">
              <a:latin typeface="Georgia"/>
              <a:cs typeface="Georgia"/>
            </a:endParaRPr>
          </a:p>
          <a:p>
            <a:pPr marL="144780" indent="-13271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SzPct val="90909"/>
              <a:buFont typeface="Lucida Sans Unicode"/>
              <a:buChar char="•"/>
              <a:tabLst>
                <a:tab pos="145415" algn="l"/>
              </a:tabLst>
            </a:pPr>
            <a:r>
              <a:rPr sz="1100" spc="-20" dirty="0">
                <a:latin typeface="Georgia"/>
                <a:cs typeface="Georgia"/>
              </a:rPr>
              <a:t>Unfortunately,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50" dirty="0">
                <a:latin typeface="Georgia"/>
                <a:cs typeface="Georgia"/>
              </a:rPr>
              <a:t>no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such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algorithm/procedure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exits</a:t>
            </a:r>
            <a:endParaRPr sz="1100">
              <a:latin typeface="Georgia"/>
              <a:cs typeface="Georgia"/>
            </a:endParaRPr>
          </a:p>
          <a:p>
            <a:pPr marL="144780" marR="5080" indent="-13271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SzPct val="90909"/>
              <a:buFont typeface="Lucida Sans Unicode"/>
              <a:buChar char="•"/>
              <a:tabLst>
                <a:tab pos="145415" algn="l"/>
              </a:tabLst>
            </a:pPr>
            <a:r>
              <a:rPr sz="1100" dirty="0">
                <a:latin typeface="Georgia"/>
                <a:cs typeface="Georgia"/>
              </a:rPr>
              <a:t>This </a:t>
            </a:r>
            <a:r>
              <a:rPr sz="1100" spc="-20" dirty="0">
                <a:latin typeface="Georgia"/>
                <a:cs typeface="Georgia"/>
              </a:rPr>
              <a:t>cannot</a:t>
            </a:r>
            <a:r>
              <a:rPr sz="1100" spc="-15" dirty="0">
                <a:latin typeface="Georgia"/>
                <a:cs typeface="Georgia"/>
              </a:rPr>
              <a:t> be</a:t>
            </a:r>
            <a:r>
              <a:rPr sz="1100" spc="-1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understood</a:t>
            </a:r>
            <a:r>
              <a:rPr sz="1100" spc="-25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unless</a:t>
            </a:r>
            <a:r>
              <a:rPr sz="1100" spc="-4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-1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formal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definition</a:t>
            </a:r>
            <a:r>
              <a:rPr sz="1100" spc="-30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of </a:t>
            </a:r>
            <a:r>
              <a:rPr sz="1100" spc="-3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algorithms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is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known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which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Alonzo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Church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and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dirty="0">
                <a:latin typeface="Georgia"/>
                <a:cs typeface="Georgia"/>
              </a:rPr>
              <a:t>Alan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Turing </a:t>
            </a:r>
            <a:r>
              <a:rPr sz="1100" spc="-254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defined</a:t>
            </a:r>
            <a:endParaRPr sz="1100">
              <a:latin typeface="Georgia"/>
              <a:cs typeface="Georgia"/>
            </a:endParaRPr>
          </a:p>
          <a:p>
            <a:pPr marL="144780" indent="-132715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SzPct val="90909"/>
              <a:buFont typeface="Lucida Sans Unicode"/>
              <a:buChar char="•"/>
              <a:tabLst>
                <a:tab pos="145415" algn="l"/>
              </a:tabLst>
            </a:pPr>
            <a:r>
              <a:rPr sz="1100" spc="-25" dirty="0">
                <a:latin typeface="Georgia"/>
                <a:cs typeface="Georgia"/>
              </a:rPr>
              <a:t>Which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later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became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b="1" spc="-35" dirty="0">
                <a:latin typeface="Georgia"/>
                <a:cs typeface="Georgia"/>
              </a:rPr>
              <a:t>Church-Turing</a:t>
            </a:r>
            <a:r>
              <a:rPr sz="1100" b="1" spc="9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thesis</a:t>
            </a:r>
            <a:endParaRPr sz="11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0"/>
            <a:ext cx="7042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45" dirty="0">
                <a:solidFill>
                  <a:srgbClr val="8C8CAC"/>
                </a:solidFill>
                <a:latin typeface="Palatino Linotype"/>
                <a:cs typeface="Palatino Linotype"/>
                <a:hlinkClick r:id="rId2" action="ppaction://hlinksldjump"/>
              </a:rPr>
              <a:t>Turing</a:t>
            </a:r>
            <a:r>
              <a:rPr sz="600" spc="55" dirty="0">
                <a:solidFill>
                  <a:srgbClr val="8C8CAC"/>
                </a:solidFill>
                <a:latin typeface="Palatino Linotype"/>
                <a:cs typeface="Palatino Linotype"/>
                <a:hlinkClick r:id="rId2" action="ppaction://hlinksldjump"/>
              </a:rPr>
              <a:t> </a:t>
            </a:r>
            <a:r>
              <a:rPr sz="600" spc="45" dirty="0">
                <a:solidFill>
                  <a:srgbClr val="8C8CAC"/>
                </a:solidFill>
                <a:latin typeface="Palatino Linotype"/>
                <a:cs typeface="Palatino Linotype"/>
                <a:hlinkClick r:id="rId2" action="ppaction://hlinksldjump"/>
              </a:rPr>
              <a:t>Machines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41623" y="0"/>
            <a:ext cx="11715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45" dirty="0">
                <a:solidFill>
                  <a:srgbClr val="191959"/>
                </a:solidFill>
                <a:latin typeface="Palatino Linotype"/>
                <a:cs typeface="Palatino Linotype"/>
                <a:hlinkClick r:id="rId3" action="ppaction://hlinksldjump"/>
              </a:rPr>
              <a:t>Equivalence</a:t>
            </a:r>
            <a:r>
              <a:rPr sz="600" spc="75" dirty="0">
                <a:solidFill>
                  <a:srgbClr val="191959"/>
                </a:solidFill>
                <a:latin typeface="Palatino Linotype"/>
                <a:cs typeface="Palatino Linotype"/>
                <a:hlinkClick r:id="rId3" action="ppaction://hlinksldjump"/>
              </a:rPr>
              <a:t> </a:t>
            </a:r>
            <a:r>
              <a:rPr sz="600" spc="50" dirty="0">
                <a:solidFill>
                  <a:srgbClr val="191959"/>
                </a:solidFill>
                <a:latin typeface="Palatino Linotype"/>
                <a:cs typeface="Palatino Linotype"/>
                <a:hlinkClick r:id="rId3" action="ppaction://hlinksldjump"/>
              </a:rPr>
              <a:t>and</a:t>
            </a:r>
            <a:r>
              <a:rPr sz="600" spc="75" dirty="0">
                <a:solidFill>
                  <a:srgbClr val="191959"/>
                </a:solidFill>
                <a:latin typeface="Palatino Linotype"/>
                <a:cs typeface="Palatino Linotype"/>
                <a:hlinkClick r:id="rId3" action="ppaction://hlinksldjump"/>
              </a:rPr>
              <a:t> </a:t>
            </a:r>
            <a:r>
              <a:rPr sz="600" spc="50" dirty="0">
                <a:solidFill>
                  <a:srgbClr val="191959"/>
                </a:solidFill>
                <a:latin typeface="Palatino Linotype"/>
                <a:cs typeface="Palatino Linotype"/>
                <a:hlinkClick r:id="rId3" action="ppaction://hlinksldjump"/>
              </a:rPr>
              <a:t>Algorithms</a:t>
            </a:r>
            <a:endParaRPr sz="60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98104" y="211465"/>
            <a:ext cx="1812289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40" dirty="0">
                <a:solidFill>
                  <a:srgbClr val="3333B2"/>
                </a:solidFill>
                <a:latin typeface="Times New Roman"/>
                <a:cs typeface="Times New Roman"/>
              </a:rPr>
              <a:t>Hilbert’</a:t>
            </a:r>
            <a:r>
              <a:rPr sz="1400" spc="75" dirty="0">
                <a:solidFill>
                  <a:srgbClr val="3333B2"/>
                </a:solidFill>
                <a:latin typeface="Times New Roman"/>
                <a:cs typeface="Times New Roman"/>
              </a:rPr>
              <a:t> </a:t>
            </a:r>
            <a:r>
              <a:rPr sz="1400" spc="45" dirty="0">
                <a:solidFill>
                  <a:srgbClr val="3333B2"/>
                </a:solidFill>
                <a:latin typeface="Times New Roman"/>
                <a:cs typeface="Times New Roman"/>
              </a:rPr>
              <a:t>10-th</a:t>
            </a:r>
            <a:r>
              <a:rPr sz="1400" spc="75" dirty="0">
                <a:solidFill>
                  <a:srgbClr val="3333B2"/>
                </a:solidFill>
                <a:latin typeface="Times New Roman"/>
                <a:cs typeface="Times New Roman"/>
              </a:rPr>
              <a:t> </a:t>
            </a:r>
            <a:r>
              <a:rPr sz="1400" spc="60" dirty="0">
                <a:solidFill>
                  <a:srgbClr val="3333B2"/>
                </a:solidFill>
                <a:latin typeface="Times New Roman"/>
                <a:cs typeface="Times New Roman"/>
              </a:rPr>
              <a:t>Problem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1858" y="1113241"/>
            <a:ext cx="3309620" cy="128587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44780" indent="-132715">
              <a:lnSpc>
                <a:spcPct val="100000"/>
              </a:lnSpc>
              <a:spcBef>
                <a:spcPts val="434"/>
              </a:spcBef>
              <a:buClr>
                <a:srgbClr val="3333B2"/>
              </a:buClr>
              <a:buSzPct val="90909"/>
              <a:buFont typeface="Lucida Sans Unicode"/>
              <a:buChar char="•"/>
              <a:tabLst>
                <a:tab pos="145415" algn="l"/>
              </a:tabLst>
            </a:pPr>
            <a:r>
              <a:rPr sz="1100" spc="-50" dirty="0">
                <a:latin typeface="Georgia"/>
                <a:cs typeface="Georgia"/>
              </a:rPr>
              <a:t>We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can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5" dirty="0">
                <a:latin typeface="Georgia"/>
                <a:cs typeface="Georgia"/>
              </a:rPr>
              <a:t>define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this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problem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with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differnt</a:t>
            </a:r>
            <a:r>
              <a:rPr sz="1100" spc="10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language</a:t>
            </a:r>
            <a:endParaRPr sz="1100">
              <a:latin typeface="Georgia"/>
              <a:cs typeface="Georgia"/>
            </a:endParaRPr>
          </a:p>
          <a:p>
            <a:pPr marL="144780" indent="-132715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SzPct val="90909"/>
              <a:buFont typeface="Lucida Sans Unicode"/>
              <a:buChar char="•"/>
              <a:tabLst>
                <a:tab pos="145415" algn="l"/>
              </a:tabLst>
            </a:pPr>
            <a:r>
              <a:rPr sz="1100" spc="5" dirty="0">
                <a:latin typeface="Georgia"/>
                <a:cs typeface="Georgia"/>
              </a:rPr>
              <a:t>Let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i="1" spc="225" dirty="0">
                <a:latin typeface="Calibri"/>
                <a:cs typeface="Calibri"/>
              </a:rPr>
              <a:t>D</a:t>
            </a:r>
            <a:r>
              <a:rPr sz="1100" i="1" spc="80" dirty="0">
                <a:latin typeface="Calibri"/>
                <a:cs typeface="Calibri"/>
              </a:rPr>
              <a:t> </a:t>
            </a:r>
            <a:r>
              <a:rPr sz="1100" spc="140" dirty="0">
                <a:latin typeface="Georgia"/>
                <a:cs typeface="Georgia"/>
              </a:rPr>
              <a:t>=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spc="80" dirty="0">
                <a:latin typeface="Lucida Sans Unicode"/>
                <a:cs typeface="Lucida Sans Unicode"/>
              </a:rPr>
              <a:t>{</a:t>
            </a:r>
            <a:r>
              <a:rPr sz="1100" i="1" spc="80" dirty="0">
                <a:latin typeface="Calibri"/>
                <a:cs typeface="Calibri"/>
              </a:rPr>
              <a:t>p</a:t>
            </a:r>
            <a:r>
              <a:rPr sz="1100" i="1" spc="45" dirty="0">
                <a:latin typeface="Calibri"/>
                <a:cs typeface="Calibri"/>
              </a:rPr>
              <a:t> </a:t>
            </a:r>
            <a:r>
              <a:rPr sz="1100" spc="-45" dirty="0">
                <a:latin typeface="Georgia"/>
                <a:cs typeface="Georgia"/>
              </a:rPr>
              <a:t>:</a:t>
            </a:r>
            <a:r>
              <a:rPr sz="1100" spc="35" dirty="0">
                <a:latin typeface="Georgia"/>
                <a:cs typeface="Georgia"/>
              </a:rPr>
              <a:t> </a:t>
            </a:r>
            <a:r>
              <a:rPr sz="1100" i="1" spc="-20" dirty="0">
                <a:latin typeface="Calibri"/>
                <a:cs typeface="Calibri"/>
              </a:rPr>
              <a:t>p</a:t>
            </a:r>
            <a:r>
              <a:rPr sz="1100" i="1" spc="114" dirty="0">
                <a:latin typeface="Calibri"/>
                <a:cs typeface="Calibri"/>
              </a:rPr>
              <a:t> </a:t>
            </a:r>
            <a:r>
              <a:rPr sz="1100" spc="-35" dirty="0">
                <a:latin typeface="Georgia"/>
                <a:cs typeface="Georgia"/>
              </a:rPr>
              <a:t>is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polynomial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with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an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itegral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25" dirty="0">
                <a:latin typeface="Georgia"/>
                <a:cs typeface="Georgia"/>
              </a:rPr>
              <a:t>root</a:t>
            </a:r>
            <a:r>
              <a:rPr sz="1100" spc="25" dirty="0">
                <a:latin typeface="Lucida Sans Unicode"/>
                <a:cs typeface="Lucida Sans Unicode"/>
              </a:rPr>
              <a:t>}</a:t>
            </a:r>
            <a:endParaRPr sz="1100">
              <a:latin typeface="Lucida Sans Unicode"/>
              <a:cs typeface="Lucida Sans Unicode"/>
            </a:endParaRPr>
          </a:p>
          <a:p>
            <a:pPr marL="144780" indent="-132715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SzPct val="90909"/>
              <a:buFont typeface="Lucida Sans Unicode"/>
              <a:buChar char="•"/>
              <a:tabLst>
                <a:tab pos="145415" algn="l"/>
              </a:tabLst>
            </a:pPr>
            <a:r>
              <a:rPr sz="1100" spc="5" dirty="0">
                <a:latin typeface="Georgia"/>
                <a:cs typeface="Georgia"/>
              </a:rPr>
              <a:t>The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question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then</a:t>
            </a:r>
            <a:r>
              <a:rPr sz="1100" spc="90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becomes,</a:t>
            </a:r>
            <a:r>
              <a:rPr sz="1100" spc="95" dirty="0">
                <a:latin typeface="Georgia"/>
                <a:cs typeface="Georgia"/>
              </a:rPr>
              <a:t> </a:t>
            </a:r>
            <a:r>
              <a:rPr sz="1100" spc="-45" dirty="0">
                <a:solidFill>
                  <a:srgbClr val="0000FF"/>
                </a:solidFill>
                <a:latin typeface="Georgia"/>
                <a:cs typeface="Georgia"/>
              </a:rPr>
              <a:t>Is</a:t>
            </a:r>
            <a:r>
              <a:rPr sz="1100" spc="90" dirty="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sz="1100" i="1" spc="225" dirty="0">
                <a:solidFill>
                  <a:srgbClr val="0000FF"/>
                </a:solidFill>
                <a:latin typeface="Calibri"/>
                <a:cs typeface="Calibri"/>
              </a:rPr>
              <a:t>D</a:t>
            </a:r>
            <a:r>
              <a:rPr sz="1100" i="1" spc="1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100" spc="-30" dirty="0">
                <a:solidFill>
                  <a:srgbClr val="0000FF"/>
                </a:solidFill>
                <a:latin typeface="Georgia"/>
                <a:cs typeface="Georgia"/>
              </a:rPr>
              <a:t>decidable?</a:t>
            </a:r>
            <a:endParaRPr sz="1100">
              <a:latin typeface="Georgia"/>
              <a:cs typeface="Georgia"/>
            </a:endParaRPr>
          </a:p>
          <a:p>
            <a:pPr marL="144780" indent="-13271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SzPct val="90909"/>
              <a:buFont typeface="Lucida Sans Unicode"/>
              <a:buChar char="•"/>
              <a:tabLst>
                <a:tab pos="145415" algn="l"/>
              </a:tabLst>
            </a:pPr>
            <a:r>
              <a:rPr sz="1100" dirty="0">
                <a:latin typeface="Georgia"/>
                <a:cs typeface="Georgia"/>
              </a:rPr>
              <a:t>Of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course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20" dirty="0">
                <a:latin typeface="Georgia"/>
                <a:cs typeface="Georgia"/>
              </a:rPr>
              <a:t>the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answer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35" dirty="0">
                <a:latin typeface="Georgia"/>
                <a:cs typeface="Georgia"/>
              </a:rPr>
              <a:t>is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b="1" spc="-75" dirty="0">
                <a:latin typeface="Georgia"/>
                <a:cs typeface="Georgia"/>
              </a:rPr>
              <a:t>no</a:t>
            </a:r>
            <a:endParaRPr sz="1100">
              <a:latin typeface="Georgia"/>
              <a:cs typeface="Georgia"/>
            </a:endParaRPr>
          </a:p>
          <a:p>
            <a:pPr marL="144780" indent="-13271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SzPct val="90909"/>
              <a:buFont typeface="Lucida Sans Unicode"/>
              <a:buChar char="•"/>
              <a:tabLst>
                <a:tab pos="145415" algn="l"/>
              </a:tabLst>
            </a:pPr>
            <a:r>
              <a:rPr sz="1100" spc="-45" dirty="0">
                <a:latin typeface="Georgia"/>
                <a:cs typeface="Georgia"/>
              </a:rPr>
              <a:t>However,</a:t>
            </a:r>
            <a:r>
              <a:rPr sz="1100" spc="80" dirty="0">
                <a:latin typeface="Georgia"/>
                <a:cs typeface="Georgia"/>
              </a:rPr>
              <a:t> </a:t>
            </a:r>
            <a:r>
              <a:rPr sz="1100" i="1" spc="225" dirty="0">
                <a:latin typeface="Calibri"/>
                <a:cs typeface="Calibri"/>
              </a:rPr>
              <a:t>D</a:t>
            </a:r>
            <a:r>
              <a:rPr sz="1100" i="1" spc="135" dirty="0">
                <a:latin typeface="Calibri"/>
                <a:cs typeface="Calibri"/>
              </a:rPr>
              <a:t> </a:t>
            </a:r>
            <a:r>
              <a:rPr sz="1100" spc="-35" dirty="0">
                <a:latin typeface="Georgia"/>
                <a:cs typeface="Georgia"/>
              </a:rPr>
              <a:t>is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30" dirty="0">
                <a:latin typeface="Georgia"/>
                <a:cs typeface="Georgia"/>
              </a:rPr>
              <a:t>Turing-recognizable</a:t>
            </a:r>
            <a:endParaRPr sz="1100">
              <a:latin typeface="Georgia"/>
              <a:cs typeface="Georgia"/>
            </a:endParaRPr>
          </a:p>
          <a:p>
            <a:pPr marL="144780" indent="-132715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SzPct val="90909"/>
              <a:buFont typeface="Lucida Sans Unicode"/>
              <a:buChar char="•"/>
              <a:tabLst>
                <a:tab pos="145415" algn="l"/>
              </a:tabLst>
            </a:pPr>
            <a:r>
              <a:rPr sz="1100" spc="-50" dirty="0">
                <a:latin typeface="Georgia"/>
                <a:cs typeface="Georgia"/>
              </a:rPr>
              <a:t>We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25" dirty="0">
                <a:latin typeface="Georgia"/>
                <a:cs typeface="Georgia"/>
              </a:rPr>
              <a:t>can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15" dirty="0">
                <a:latin typeface="Georgia"/>
                <a:cs typeface="Georgia"/>
              </a:rPr>
              <a:t>construct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40" dirty="0">
                <a:latin typeface="Georgia"/>
                <a:cs typeface="Georgia"/>
              </a:rPr>
              <a:t>such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-10" dirty="0">
                <a:latin typeface="Georgia"/>
                <a:cs typeface="Georgia"/>
              </a:rPr>
              <a:t>a</a:t>
            </a:r>
            <a:r>
              <a:rPr sz="1100" spc="85" dirty="0">
                <a:latin typeface="Georgia"/>
                <a:cs typeface="Georgia"/>
              </a:rPr>
              <a:t> </a:t>
            </a:r>
            <a:r>
              <a:rPr sz="1100" spc="30" dirty="0">
                <a:latin typeface="Georgia"/>
                <a:cs typeface="Georgia"/>
              </a:rPr>
              <a:t>TM,</a:t>
            </a:r>
            <a:r>
              <a:rPr sz="1100" spc="75" dirty="0">
                <a:latin typeface="Georgia"/>
                <a:cs typeface="Georgia"/>
              </a:rPr>
              <a:t> </a:t>
            </a:r>
            <a:r>
              <a:rPr sz="1100" b="1" spc="5" dirty="0">
                <a:latin typeface="Georgia"/>
                <a:cs typeface="Georgia"/>
              </a:rPr>
              <a:t>HOW?</a:t>
            </a:r>
            <a:endParaRPr sz="1100">
              <a:latin typeface="Georgia"/>
              <a:cs typeface="Georgia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1628</Words>
  <Application>Microsoft Office PowerPoint</Application>
  <PresentationFormat>Custom</PresentationFormat>
  <Paragraphs>222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SimSun</vt:lpstr>
      <vt:lpstr>Calibri</vt:lpstr>
      <vt:lpstr>Cambria</vt:lpstr>
      <vt:lpstr>Georgia</vt:lpstr>
      <vt:lpstr>Lucida Sans Unicode</vt:lpstr>
      <vt:lpstr>Palatino Linotype</vt:lpstr>
      <vt:lpstr>Times New Roman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1</cp:revision>
  <dcterms:created xsi:type="dcterms:W3CDTF">2022-10-01T03:30:02Z</dcterms:created>
  <dcterms:modified xsi:type="dcterms:W3CDTF">2022-10-01T03:31:05Z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2018-02-28T00:00:00Z</vt:filetime>
  </property>
  <property fmtid="{D5CDD505-2E9C-101B-9397-08002B2CF9AE}" pid="3" name="Creator">
    <vt:lpwstr>LaTeX with Beamer class version 3.36</vt:lpwstr>
  </property>
  <property fmtid="{D5CDD505-2E9C-101B-9397-08002B2CF9AE}" pid="4" name="LastSaved">
    <vt:filetime>2022-10-01T00:00:00Z</vt:filetime>
  </property>
</Properties>
</file>