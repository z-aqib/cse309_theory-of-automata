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8" r:id="rId1"/>
  </p:sldMasterIdLst>
  <p:sldIdLst>
    <p:sldId id="256" r:id="rId2"/>
    <p:sldId id="273" r:id="rId3"/>
    <p:sldId id="274" r:id="rId4"/>
    <p:sldId id="277" r:id="rId5"/>
    <p:sldId id="278" r:id="rId6"/>
    <p:sldId id="279" r:id="rId7"/>
    <p:sldId id="280" r:id="rId8"/>
    <p:sldId id="281" r:id="rId9"/>
    <p:sldId id="283" r:id="rId10"/>
    <p:sldId id="285" r:id="rId11"/>
    <p:sldId id="286" r:id="rId12"/>
    <p:sldId id="287" r:id="rId13"/>
  </p:sldIdLst>
  <p:sldSz cx="12192000" cy="6858000"/>
  <p:notesSz cx="6858000" cy="9144000"/>
  <p:embeddedFontLs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Calibri Light" pitchFamily="34" charset="0"/>
      <p:regular r:id="rId18"/>
      <p:italic r:id="rId19"/>
    </p:embeddedFont>
    <p:embeddedFont>
      <p:font typeface="Arial Black" pitchFamily="34" charset="0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81" d="100"/>
          <a:sy n="81" d="100"/>
        </p:scale>
        <p:origin x="-300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1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85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55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0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30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0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6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083A6C7-8FDD-4021-8B74-0D868FC8B7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7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7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31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2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083A6C7-8FDD-4021-8B74-0D868FC8B7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06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5059" y="1972370"/>
            <a:ext cx="9144000" cy="16981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Part II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>
                <a:solidFill>
                  <a:srgbClr val="C00000"/>
                </a:solidFill>
              </a:rPr>
              <a:t>Computability Theory</a:t>
            </a:r>
            <a:br>
              <a:rPr lang="en-US" dirty="0" smtClean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651" y="4558651"/>
            <a:ext cx="100584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C00000"/>
                </a:solidFill>
              </a:rPr>
              <a:t>decidability</a:t>
            </a:r>
            <a:endParaRPr lang="en-US" sz="4000" dirty="0">
              <a:solidFill>
                <a:srgbClr val="C00000"/>
              </a:solidFill>
            </a:endParaRPr>
          </a:p>
        </p:txBody>
      </p:sp>
      <p:pic>
        <p:nvPicPr>
          <p:cNvPr id="3078" name="Picture 6" descr="Alan Turing Joke | Alan turing, Computer jokes, Science carto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961" y="3117224"/>
            <a:ext cx="3102779" cy="2327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283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Hilbert’s Tenth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Let  </a:t>
            </a:r>
            <a:r>
              <a:rPr lang="en-US" sz="2400" b="1" dirty="0" smtClean="0"/>
              <a:t> </a:t>
            </a:r>
            <a:r>
              <a:rPr lang="en-US" sz="2400" b="1" dirty="0"/>
              <a:t>D  =  {p  |  p   is   a   polynomial   with   an   integral   root}.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Hilbert’s   tenth   problem   (rephrased):     “Is   there   an   algorithm   for </a:t>
            </a:r>
            <a:r>
              <a:rPr lang="en-US" sz="2400" dirty="0" smtClean="0"/>
              <a:t>determining   </a:t>
            </a:r>
            <a:r>
              <a:rPr lang="en-US" sz="2400" dirty="0"/>
              <a:t>D?”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A   </a:t>
            </a:r>
            <a:r>
              <a:rPr lang="en-US" sz="2400" dirty="0"/>
              <a:t>polynomial    is   a   sum   of   terms,   where   each   term   is   a   product of   variables   and   a   constant.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For   example,   6x</a:t>
            </a:r>
            <a:r>
              <a:rPr lang="en-US" sz="2400" baseline="30000" dirty="0"/>
              <a:t>3</a:t>
            </a:r>
            <a:r>
              <a:rPr lang="en-US" sz="2400" dirty="0"/>
              <a:t>yz</a:t>
            </a:r>
            <a:r>
              <a:rPr lang="en-US" sz="2400" baseline="30000" dirty="0"/>
              <a:t>2</a:t>
            </a:r>
            <a:r>
              <a:rPr lang="en-US" sz="2400" dirty="0"/>
              <a:t>  +  3xy</a:t>
            </a:r>
            <a:r>
              <a:rPr lang="en-US" sz="2400" baseline="30000" dirty="0"/>
              <a:t>2</a:t>
            </a:r>
            <a:r>
              <a:rPr lang="en-US" sz="2400" dirty="0"/>
              <a:t>  −  x</a:t>
            </a:r>
            <a:r>
              <a:rPr lang="en-US" sz="2400" baseline="30000" dirty="0"/>
              <a:t>3</a:t>
            </a:r>
            <a:r>
              <a:rPr lang="en-US" sz="2400" dirty="0"/>
              <a:t>  −  10   is   a   polynomial   with   four terms   over   variables   x,   y,   and   z.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Proving   </a:t>
            </a:r>
            <a:r>
              <a:rPr lang="en-US" sz="2400" dirty="0"/>
              <a:t>that   no   algorithm   exists   for   a   particular   task   requires   </a:t>
            </a:r>
            <a:r>
              <a:rPr lang="en-US" sz="2400" dirty="0" smtClean="0"/>
              <a:t>a precise definition of algorithm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9234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Statement of Hilbert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10. Determination of the solvability of a Diophantine </a:t>
            </a:r>
            <a:r>
              <a:rPr lang="en-US" sz="2800" b="1" dirty="0" smtClean="0"/>
              <a:t>equation</a:t>
            </a:r>
            <a:r>
              <a:rPr lang="en-US" sz="2800" b="1" dirty="0"/>
              <a:t>. </a:t>
            </a:r>
            <a:endParaRPr lang="en-US" sz="2800" b="1" dirty="0" smtClean="0"/>
          </a:p>
          <a:p>
            <a:pPr algn="ctr">
              <a:lnSpc>
                <a:spcPct val="200000"/>
              </a:lnSpc>
            </a:pPr>
            <a:r>
              <a:rPr lang="en-US" sz="2400" i="1" dirty="0" smtClean="0"/>
              <a:t>“Given a Diophantine </a:t>
            </a:r>
            <a:r>
              <a:rPr lang="en-US" sz="2400" i="1" dirty="0"/>
              <a:t>equation with any number of unknown </a:t>
            </a:r>
            <a:r>
              <a:rPr lang="en-US" sz="2400" i="1" dirty="0" smtClean="0"/>
              <a:t>quantities </a:t>
            </a:r>
            <a:r>
              <a:rPr lang="en-US" sz="2400" i="1" dirty="0"/>
              <a:t>and with rational integral numerical coeﬃcients: To </a:t>
            </a:r>
            <a:r>
              <a:rPr lang="en-US" sz="2400" i="1" dirty="0" smtClean="0"/>
              <a:t>devise </a:t>
            </a:r>
            <a:r>
              <a:rPr lang="en-US" sz="2400" i="1" dirty="0"/>
              <a:t>a process according to which it can be determined by a </a:t>
            </a:r>
            <a:r>
              <a:rPr lang="en-US" sz="2400" i="1" dirty="0" smtClean="0"/>
              <a:t>ﬁnite </a:t>
            </a:r>
            <a:r>
              <a:rPr lang="en-US" sz="2400" i="1" dirty="0"/>
              <a:t>number of operations whether the equation is solvable in </a:t>
            </a:r>
            <a:r>
              <a:rPr lang="en-US" sz="2400" i="1" dirty="0" smtClean="0"/>
              <a:t>rational integers”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8472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of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In  </a:t>
            </a:r>
            <a:r>
              <a:rPr lang="en-US" sz="2400" dirty="0"/>
              <a:t>the  early  20th  century,  an  algorithm  was  intuitively  understood  as  a  “well-deﬁned </a:t>
            </a:r>
            <a:r>
              <a:rPr lang="en-US" sz="2400" dirty="0" smtClean="0"/>
              <a:t>procedure</a:t>
            </a:r>
            <a:r>
              <a:rPr lang="en-US" sz="2400" dirty="0"/>
              <a:t>”.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However</a:t>
            </a:r>
            <a:r>
              <a:rPr lang="en-US" sz="2400" dirty="0"/>
              <a:t>,  this  deﬁnition  lacked  mathematical  rigor.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Alonzo  </a:t>
            </a:r>
            <a:r>
              <a:rPr lang="en-US" sz="2400" dirty="0"/>
              <a:t>Church  and  Alan  Turing  each  developed  a  methodology  for  deﬁning  </a:t>
            </a:r>
            <a:r>
              <a:rPr lang="en-US" sz="2400" dirty="0" smtClean="0"/>
              <a:t>an algorithm  </a:t>
            </a:r>
            <a:r>
              <a:rPr lang="en-US" sz="2400" dirty="0"/>
              <a:t>rigorously,  in  the  1930’s.</a:t>
            </a:r>
          </a:p>
        </p:txBody>
      </p:sp>
    </p:spTree>
    <p:extLst>
      <p:ext uri="{BB962C8B-B14F-4D97-AF65-F5344CB8AC3E}">
        <p14:creationId xmlns:p14="http://schemas.microsoft.com/office/powerpoint/2010/main" val="3337348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Church-Turing 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Alonzo  Church  gave  λ-calculus  to  deﬁne  his  notion  of  algorithms.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λ-calculus  is  the  foundation  of  modern  functional  programming.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Alan  Turing  gave  Turing  machines  to  deﬁne  his  notion  of  an  algorithm.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These  two  notions  of  algorithms  were  shown  to  be  equivalent.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The  connection  between  the  “intuitive”  notion  of  algorithms  and  Turing-machine </a:t>
            </a:r>
            <a:r>
              <a:rPr lang="en-US" sz="2400" dirty="0" smtClean="0"/>
              <a:t>algorithms  </a:t>
            </a:r>
            <a:r>
              <a:rPr lang="en-US" sz="2400" dirty="0"/>
              <a:t>is  the  Church-Turing  thesis.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Any  algorithm  we  can  devise  can  be  carried  out  on  a  Turing  machine.</a:t>
            </a:r>
          </a:p>
        </p:txBody>
      </p:sp>
    </p:spTree>
    <p:extLst>
      <p:ext uri="{BB962C8B-B14F-4D97-AF65-F5344CB8AC3E}">
        <p14:creationId xmlns:p14="http://schemas.microsoft.com/office/powerpoint/2010/main" val="58783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to Hilbert’s Proble</a:t>
            </a:r>
            <a:r>
              <a:rPr lang="en-US" dirty="0"/>
              <a:t>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    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</a:t>
            </a:r>
            <a:r>
              <a:rPr lang="en-US" sz="2400" b="1" dirty="0" smtClean="0"/>
              <a:t>Let D </a:t>
            </a:r>
            <a:r>
              <a:rPr lang="en-US" sz="2400" b="1" dirty="0"/>
              <a:t>= {p| p is a polynomial with an integral root</a:t>
            </a:r>
            <a:r>
              <a:rPr lang="en-US" sz="2400" b="1" dirty="0" smtClean="0"/>
              <a:t>}</a:t>
            </a:r>
            <a:endParaRPr lang="en-US" sz="24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Hilbert’s tenth problem asks in essence whether the set </a:t>
            </a:r>
            <a:r>
              <a:rPr lang="en-US" sz="2400" b="1" dirty="0"/>
              <a:t>D is decidable</a:t>
            </a:r>
            <a:r>
              <a:rPr lang="en-US" sz="2400" dirty="0"/>
              <a:t>. </a:t>
            </a:r>
            <a:r>
              <a:rPr lang="en-US" sz="2400" dirty="0" smtClean="0"/>
              <a:t>The answer </a:t>
            </a:r>
            <a:r>
              <a:rPr lang="en-US" sz="2400" dirty="0"/>
              <a:t>is </a:t>
            </a:r>
            <a:r>
              <a:rPr lang="en-US" sz="2400" dirty="0" smtClean="0"/>
              <a:t>no.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In </a:t>
            </a:r>
            <a:r>
              <a:rPr lang="en-US" sz="2400" dirty="0"/>
              <a:t>contrast, we can show that </a:t>
            </a:r>
            <a:r>
              <a:rPr lang="en-US" sz="2400" b="1" dirty="0"/>
              <a:t>D is </a:t>
            </a:r>
            <a:r>
              <a:rPr lang="en-US" sz="2400" b="1" dirty="0" smtClean="0"/>
              <a:t>Turing-recognizable</a:t>
            </a:r>
          </a:p>
          <a:p>
            <a:endParaRPr lang="en-US" sz="24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First we consider a simpler problem with only single variable and construct a TM for it.</a:t>
            </a:r>
          </a:p>
          <a:p>
            <a:r>
              <a:rPr lang="en-US" sz="2400" b="1" dirty="0" smtClean="0"/>
              <a:t>        Let D</a:t>
            </a:r>
            <a:r>
              <a:rPr lang="en-US" sz="2400" b="1" baseline="-25000" dirty="0" smtClean="0"/>
              <a:t>1</a:t>
            </a:r>
            <a:r>
              <a:rPr lang="en-US" sz="2400" b="1" dirty="0" smtClean="0"/>
              <a:t>= </a:t>
            </a:r>
            <a:r>
              <a:rPr lang="en-US" sz="2400" b="1" dirty="0"/>
              <a:t>{p| p is a </a:t>
            </a:r>
            <a:r>
              <a:rPr lang="en-US" sz="2400" b="1" dirty="0" smtClean="0"/>
              <a:t>polynomial </a:t>
            </a:r>
            <a:r>
              <a:rPr lang="en-US" sz="2400" b="1" dirty="0"/>
              <a:t>over x with an integral root</a:t>
            </a:r>
            <a:r>
              <a:rPr lang="en-US" sz="2400" b="1" dirty="0" smtClean="0"/>
              <a:t>}</a:t>
            </a:r>
            <a:endParaRPr lang="en-US" sz="2400" b="1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0091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Hilbert’s </a:t>
            </a:r>
            <a:r>
              <a:rPr lang="en-US" dirty="0" smtClean="0"/>
              <a:t>Problem …</a:t>
            </a:r>
            <a:endParaRPr lang="en-US" baseline="-2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Here is a TM M</a:t>
            </a:r>
            <a:r>
              <a:rPr lang="en-US" sz="2400" baseline="-25000" dirty="0"/>
              <a:t>1</a:t>
            </a:r>
            <a:r>
              <a:rPr lang="en-US" sz="2400" dirty="0"/>
              <a:t> that recognizes D</a:t>
            </a:r>
            <a:r>
              <a:rPr lang="en-US" sz="2400" baseline="-25000" dirty="0"/>
              <a:t>1</a:t>
            </a:r>
            <a:r>
              <a:rPr lang="en-US" sz="2400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M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en-US" sz="2400" b="1" dirty="0"/>
              <a:t>“</a:t>
            </a:r>
            <a:r>
              <a:rPr lang="en-US" sz="2400" dirty="0"/>
              <a:t>On input </a:t>
            </a:r>
            <a:r>
              <a:rPr lang="en-US" sz="2400" dirty="0" smtClean="0"/>
              <a:t>&lt;p</a:t>
            </a:r>
            <a:r>
              <a:rPr lang="en-US" sz="2400" dirty="0"/>
              <a:t>&gt;</a:t>
            </a:r>
            <a:r>
              <a:rPr lang="en-US" sz="2400" dirty="0" smtClean="0"/>
              <a:t>: </a:t>
            </a:r>
            <a:r>
              <a:rPr lang="en-US" sz="2400" dirty="0"/>
              <a:t>where p is a polynomial over the variable x.</a:t>
            </a:r>
          </a:p>
          <a:p>
            <a:pPr marL="201168" lvl="1" indent="0">
              <a:buNone/>
            </a:pPr>
            <a:r>
              <a:rPr lang="en-US" sz="2400" b="1" dirty="0" smtClean="0"/>
              <a:t>          </a:t>
            </a:r>
            <a:r>
              <a:rPr lang="en-US" sz="2400" dirty="0" smtClean="0"/>
              <a:t>Evaluate </a:t>
            </a:r>
            <a:r>
              <a:rPr lang="en-US" sz="2400" dirty="0"/>
              <a:t>p with x set successively to the values 0, 1, −1, 2, −2, </a:t>
            </a:r>
            <a:r>
              <a:rPr lang="en-US" sz="2400" dirty="0" smtClean="0"/>
              <a:t>   </a:t>
            </a:r>
          </a:p>
          <a:p>
            <a:pPr marL="201168" lvl="1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3,−</a:t>
            </a:r>
            <a:r>
              <a:rPr lang="en-US" sz="2400" dirty="0"/>
              <a:t>3, </a:t>
            </a:r>
            <a:r>
              <a:rPr lang="en-US" sz="2400" dirty="0" smtClean="0"/>
              <a:t>.. </a:t>
            </a:r>
            <a:r>
              <a:rPr lang="en-US" sz="2400" dirty="0"/>
              <a:t>. </a:t>
            </a:r>
            <a:r>
              <a:rPr lang="en-US" sz="2400" dirty="0" smtClean="0"/>
              <a:t> If </a:t>
            </a:r>
            <a:r>
              <a:rPr lang="en-US" sz="2400" dirty="0"/>
              <a:t>at any point the polynomial evaluates to 0, accept .</a:t>
            </a:r>
            <a:r>
              <a:rPr lang="en-US" sz="2400" b="1" dirty="0"/>
              <a:t>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If </a:t>
            </a:r>
            <a:r>
              <a:rPr lang="en-US" sz="2400" dirty="0"/>
              <a:t>p has an integral root,M</a:t>
            </a:r>
            <a:r>
              <a:rPr lang="en-US" sz="2400" baseline="-25000" dirty="0"/>
              <a:t>1</a:t>
            </a:r>
            <a:r>
              <a:rPr lang="en-US" sz="2400" dirty="0"/>
              <a:t> eventually will find it and accept. </a:t>
            </a:r>
            <a:r>
              <a:rPr lang="en-US" sz="2400" dirty="0" smtClean="0"/>
              <a:t>If </a:t>
            </a:r>
            <a:r>
              <a:rPr lang="en-US" sz="2400" dirty="0"/>
              <a:t>p does not </a:t>
            </a:r>
            <a:r>
              <a:rPr lang="en-US" sz="2400" dirty="0" smtClean="0"/>
              <a:t>have an </a:t>
            </a:r>
            <a:r>
              <a:rPr lang="en-US" sz="2400" dirty="0"/>
              <a:t>integral root, M</a:t>
            </a:r>
            <a:r>
              <a:rPr lang="en-US" sz="2400" baseline="-25000" dirty="0"/>
              <a:t>1</a:t>
            </a:r>
            <a:r>
              <a:rPr lang="en-US" sz="2400" dirty="0"/>
              <a:t> will run forever</a:t>
            </a:r>
            <a:r>
              <a:rPr lang="en-US" sz="2400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For the multivariable case, construct a similar TM  M that recognizes D. Here, M goes through all possible settings of its variables to integral values.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Both </a:t>
            </a:r>
            <a:r>
              <a:rPr lang="en-US" sz="2400" dirty="0"/>
              <a:t>M</a:t>
            </a:r>
            <a:r>
              <a:rPr lang="en-US" sz="2400" baseline="-25000" dirty="0"/>
              <a:t>1</a:t>
            </a:r>
            <a:r>
              <a:rPr lang="en-US" sz="2400" dirty="0"/>
              <a:t> and M are recognizers but not deciders.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2310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5991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b="1" dirty="0">
                <a:sym typeface="Symbol" panose="05050102010706020507" pitchFamily="18" charset="2"/>
              </a:rPr>
              <a:t>Decision problem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smtClean="0">
                <a:sym typeface="Symbol" panose="05050102010706020507" pitchFamily="18" charset="2"/>
              </a:rPr>
              <a:t>- a </a:t>
            </a:r>
            <a:r>
              <a:rPr lang="en-US" dirty="0">
                <a:sym typeface="Symbol" panose="05050102010706020507" pitchFamily="18" charset="2"/>
              </a:rPr>
              <a:t>set of related questions each having a yes/no answer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b="1" dirty="0">
                <a:sym typeface="Symbol" panose="05050102010706020507" pitchFamily="18" charset="2"/>
              </a:rPr>
              <a:t>Examples</a:t>
            </a:r>
            <a:r>
              <a:rPr lang="en-US" dirty="0">
                <a:sym typeface="Symbol" panose="05050102010706020507" pitchFamily="18" charset="2"/>
              </a:rPr>
              <a:t>:</a:t>
            </a:r>
          </a:p>
          <a:p>
            <a:pPr lvl="2">
              <a:spcBef>
                <a:spcPct val="50000"/>
              </a:spcBef>
              <a:buFontTx/>
              <a:buChar char="•"/>
            </a:pPr>
            <a:r>
              <a:rPr lang="en-US" sz="2000" b="1" dirty="0">
                <a:sym typeface="Symbol" panose="05050102010706020507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given a natural number </a:t>
            </a:r>
            <a:r>
              <a:rPr lang="en-US" sz="2000" i="1" dirty="0">
                <a:sym typeface="Symbol" panose="05050102010706020507" pitchFamily="18" charset="2"/>
              </a:rPr>
              <a:t>n</a:t>
            </a:r>
            <a:r>
              <a:rPr lang="en-US" sz="2000" dirty="0">
                <a:sym typeface="Symbol" panose="05050102010706020507" pitchFamily="18" charset="2"/>
              </a:rPr>
              <a:t>, is </a:t>
            </a:r>
            <a:r>
              <a:rPr lang="en-US" sz="2000" i="1" dirty="0">
                <a:sym typeface="Symbol" panose="05050102010706020507" pitchFamily="18" charset="2"/>
              </a:rPr>
              <a:t>n</a:t>
            </a:r>
            <a:r>
              <a:rPr lang="en-US" sz="2000" dirty="0">
                <a:sym typeface="Symbol" panose="05050102010706020507" pitchFamily="18" charset="2"/>
              </a:rPr>
              <a:t> even?</a:t>
            </a:r>
            <a:endParaRPr lang="en-US" sz="2000" b="1" dirty="0">
              <a:sym typeface="Symbol" panose="05050102010706020507" pitchFamily="18" charset="2"/>
            </a:endParaRPr>
          </a:p>
          <a:p>
            <a:pPr lvl="2">
              <a:spcBef>
                <a:spcPct val="50000"/>
              </a:spcBef>
              <a:buFontTx/>
              <a:buChar char="•"/>
            </a:pPr>
            <a:r>
              <a:rPr lang="en-US" sz="2000" b="1" dirty="0">
                <a:sym typeface="Symbol" panose="05050102010706020507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given a language L and a string u, is u  L?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b="1" dirty="0">
                <a:sym typeface="Symbol" panose="05050102010706020507" pitchFamily="18" charset="2"/>
              </a:rPr>
              <a:t>Decidability:</a:t>
            </a:r>
            <a:endParaRPr lang="en-US" dirty="0">
              <a:sym typeface="Symbol" panose="05050102010706020507" pitchFamily="18" charset="2"/>
            </a:endParaRPr>
          </a:p>
          <a:p>
            <a:pPr lvl="1">
              <a:spcBef>
                <a:spcPct val="50000"/>
              </a:spcBef>
            </a:pPr>
            <a:r>
              <a:rPr lang="en-US" dirty="0">
                <a:sym typeface="Symbol" panose="05050102010706020507" pitchFamily="18" charset="2"/>
              </a:rPr>
              <a:t>A decision problem is </a:t>
            </a:r>
            <a:r>
              <a:rPr lang="en-US" i="1" dirty="0">
                <a:sym typeface="Symbol" panose="05050102010706020507" pitchFamily="18" charset="2"/>
              </a:rPr>
              <a:t>decidable</a:t>
            </a:r>
            <a:r>
              <a:rPr lang="en-US" dirty="0">
                <a:sym typeface="Symbol" panose="05050102010706020507" pitchFamily="18" charset="2"/>
              </a:rPr>
              <a:t> (or </a:t>
            </a:r>
            <a:r>
              <a:rPr lang="en-US" i="1" dirty="0">
                <a:sym typeface="Symbol" panose="05050102010706020507" pitchFamily="18" charset="2"/>
              </a:rPr>
              <a:t>solvable</a:t>
            </a:r>
            <a:r>
              <a:rPr lang="en-US" dirty="0">
                <a:sym typeface="Symbol" panose="05050102010706020507" pitchFamily="18" charset="2"/>
              </a:rPr>
              <a:t>) if there exists an algorithm that spits out, for every instance of the problem, the correct answer</a:t>
            </a:r>
            <a:r>
              <a:rPr lang="en-US" dirty="0" smtClean="0">
                <a:sym typeface="Symbol" panose="05050102010706020507" pitchFamily="18" charset="2"/>
              </a:rPr>
              <a:t>.</a:t>
            </a:r>
          </a:p>
          <a:p>
            <a:pPr lvl="1">
              <a:spcBef>
                <a:spcPct val="50000"/>
              </a:spcBef>
            </a:pPr>
            <a:r>
              <a:rPr lang="en-US" dirty="0" smtClean="0">
                <a:sym typeface="Symbol" panose="05050102010706020507" pitchFamily="18" charset="2"/>
              </a:rPr>
              <a:t>Surely every decision problem is decidable ?</a:t>
            </a:r>
          </a:p>
          <a:p>
            <a:pPr lvl="1">
              <a:spcBef>
                <a:spcPct val="50000"/>
              </a:spcBef>
            </a:pPr>
            <a:r>
              <a:rPr lang="en-US" dirty="0" smtClean="0">
                <a:sym typeface="Symbol" panose="05050102010706020507" pitchFamily="18" charset="2"/>
              </a:rPr>
              <a:t>Do undecidable problems exist ?</a:t>
            </a:r>
            <a:endParaRPr 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0759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on Decidability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6597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sym typeface="Symbol" panose="05050102010706020507" pitchFamily="18" charset="2"/>
              </a:rPr>
              <a:t>Church-Turing idea </a:t>
            </a:r>
            <a:r>
              <a:rPr lang="en-US" dirty="0">
                <a:sym typeface="Symbol" panose="05050102010706020507" pitchFamily="18" charset="2"/>
              </a:rPr>
              <a:t>that algorithms are Turing machines, we re-cast each decision problem as a ‘membership in a language’ problem</a:t>
            </a:r>
            <a:r>
              <a:rPr lang="en-US" dirty="0" smtClean="0">
                <a:sym typeface="Symbol" panose="05050102010706020507" pitchFamily="18" charset="2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ym typeface="Symbol" panose="05050102010706020507" pitchFamily="18" charset="2"/>
              </a:rPr>
              <a:t>Then the </a:t>
            </a:r>
            <a:r>
              <a:rPr lang="en-US" dirty="0" smtClean="0">
                <a:latin typeface="Arial Black" panose="020B0A04020102020204" pitchFamily="34" charset="0"/>
                <a:sym typeface="Symbol" panose="05050102010706020507" pitchFamily="18" charset="2"/>
              </a:rPr>
              <a:t>decision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>
                <a:latin typeface="Arial Black" panose="020B0A04020102020204" pitchFamily="34" charset="0"/>
                <a:sym typeface="Symbol" panose="05050102010706020507" pitchFamily="18" charset="2"/>
              </a:rPr>
              <a:t>problem</a:t>
            </a:r>
            <a:r>
              <a:rPr lang="en-US" dirty="0">
                <a:sym typeface="Symbol" panose="05050102010706020507" pitchFamily="18" charset="2"/>
              </a:rPr>
              <a:t> is </a:t>
            </a:r>
            <a:r>
              <a:rPr lang="en-US" i="1" dirty="0">
                <a:sym typeface="Symbol" panose="05050102010706020507" pitchFamily="18" charset="2"/>
              </a:rPr>
              <a:t>decidable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iff</a:t>
            </a:r>
            <a:r>
              <a:rPr lang="en-US" dirty="0">
                <a:sym typeface="Symbol" panose="05050102010706020507" pitchFamily="18" charset="2"/>
              </a:rPr>
              <a:t> the language associated with the problem is </a:t>
            </a:r>
            <a:r>
              <a:rPr lang="en-US" i="1" dirty="0">
                <a:sym typeface="Symbol" panose="05050102010706020507" pitchFamily="18" charset="2"/>
              </a:rPr>
              <a:t>recursive</a:t>
            </a:r>
            <a:r>
              <a:rPr lang="en-US" dirty="0">
                <a:sym typeface="Symbol" panose="05050102010706020507" pitchFamily="18" charset="2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dirty="0">
                <a:sym typeface="Symbol" panose="05050102010706020507" pitchFamily="18" charset="2"/>
              </a:rPr>
              <a:t>Problem: given natural number </a:t>
            </a:r>
            <a:r>
              <a:rPr lang="en-US" i="1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, is </a:t>
            </a:r>
            <a:r>
              <a:rPr lang="en-US" i="1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 even?</a:t>
            </a:r>
          </a:p>
          <a:p>
            <a:pPr>
              <a:spcBef>
                <a:spcPct val="50000"/>
              </a:spcBef>
            </a:pPr>
            <a:r>
              <a:rPr lang="en-US" dirty="0">
                <a:sym typeface="Symbol" panose="05050102010706020507" pitchFamily="18" charset="2"/>
              </a:rPr>
              <a:t>Language: L = {1</a:t>
            </a:r>
            <a:r>
              <a:rPr lang="en-US" i="1" baseline="30000" dirty="0">
                <a:sym typeface="Symbol" panose="05050102010706020507" pitchFamily="18" charset="2"/>
              </a:rPr>
              <a:t>n</a:t>
            </a:r>
            <a:r>
              <a:rPr lang="en-US" i="1" dirty="0">
                <a:sym typeface="Symbol" panose="05050102010706020507" pitchFamily="18" charset="2"/>
              </a:rPr>
              <a:t> </a:t>
            </a:r>
            <a:r>
              <a:rPr lang="en-US" i="1" dirty="0" smtClean="0">
                <a:sym typeface="Symbol" panose="05050102010706020507" pitchFamily="18" charset="2"/>
              </a:rPr>
              <a:t>| </a:t>
            </a:r>
            <a:r>
              <a:rPr lang="en-US" i="1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 is odd}</a:t>
            </a:r>
          </a:p>
          <a:p>
            <a:pPr>
              <a:spcBef>
                <a:spcPct val="50000"/>
              </a:spcBef>
            </a:pPr>
            <a:r>
              <a:rPr lang="en-US" dirty="0">
                <a:sym typeface="Symbol" panose="05050102010706020507" pitchFamily="18" charset="2"/>
              </a:rPr>
              <a:t>A Turing machine that accepts L and halts on every input solves the decision problem —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>
                <a:sym typeface="Symbol" panose="05050102010706020507" pitchFamily="18" charset="2"/>
              </a:rPr>
              <a:t> if </a:t>
            </a:r>
            <a:r>
              <a:rPr lang="en-US" i="1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  L the TM halts in a final state on input string </a:t>
            </a:r>
            <a:r>
              <a:rPr lang="en-US" i="1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, telling us that </a:t>
            </a:r>
            <a:r>
              <a:rPr lang="en-US" i="1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 is even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>
                <a:sym typeface="Symbol" panose="05050102010706020507" pitchFamily="18" charset="2"/>
              </a:rPr>
              <a:t> if </a:t>
            </a:r>
            <a:r>
              <a:rPr lang="en-US" i="1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  L the TM halts in a non-final state.</a:t>
            </a:r>
          </a:p>
          <a:p>
            <a:pPr>
              <a:spcBef>
                <a:spcPct val="50000"/>
              </a:spcBef>
            </a:pPr>
            <a:endParaRPr lang="en-US" dirty="0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388" y="3115998"/>
            <a:ext cx="4929188" cy="89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997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65972"/>
          </a:xfrm>
        </p:spPr>
        <p:txBody>
          <a:bodyPr/>
          <a:lstStyle/>
          <a:p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Gödel-coding of TMs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12196"/>
            <a:ext cx="10058400" cy="398877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Let M=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216" y="1905384"/>
            <a:ext cx="4929188" cy="8905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48744" y="2608576"/>
            <a:ext cx="1050057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ym typeface="Symbol" panose="05050102010706020507" pitchFamily="18" charset="2"/>
              </a:rPr>
              <a:t>M accepts strings </a:t>
            </a:r>
            <a:r>
              <a:rPr lang="en-US" sz="2400" i="1" dirty="0">
                <a:sym typeface="Symbol" panose="05050102010706020507" pitchFamily="18" charset="2"/>
              </a:rPr>
              <a:t>n</a:t>
            </a:r>
            <a:r>
              <a:rPr lang="en-US" sz="2400" dirty="0">
                <a:sym typeface="Symbol" panose="05050102010706020507" pitchFamily="18" charset="2"/>
              </a:rPr>
              <a:t> that represent even natural numbers.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ym typeface="Symbol" panose="05050102010706020507" pitchFamily="18" charset="2"/>
              </a:rPr>
              <a:t>To encode M’s symbols: use 0s as separators and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400" dirty="0">
                <a:sym typeface="Symbol" panose="05050102010706020507" pitchFamily="18" charset="2"/>
              </a:rPr>
              <a:t> let input symbol 0 be coded as 1, symbol 1 as 11, and symbol B as 111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400" dirty="0">
                <a:sym typeface="Symbol" panose="05050102010706020507" pitchFamily="18" charset="2"/>
              </a:rPr>
              <a:t> let state q</a:t>
            </a:r>
            <a:r>
              <a:rPr lang="en-US" sz="2400" baseline="-25000" dirty="0">
                <a:sym typeface="Symbol" panose="05050102010706020507" pitchFamily="18" charset="2"/>
              </a:rPr>
              <a:t>0</a:t>
            </a:r>
            <a:r>
              <a:rPr lang="en-US" sz="2400" dirty="0">
                <a:sym typeface="Symbol" panose="05050102010706020507" pitchFamily="18" charset="2"/>
              </a:rPr>
              <a:t> be encoded as 1, state q</a:t>
            </a:r>
            <a:r>
              <a:rPr lang="en-US" sz="2400" baseline="-25000" dirty="0">
                <a:sym typeface="Symbol" panose="05050102010706020507" pitchFamily="18" charset="2"/>
              </a:rPr>
              <a:t>1</a:t>
            </a:r>
            <a:r>
              <a:rPr lang="en-US" sz="2400" dirty="0">
                <a:sym typeface="Symbol" panose="05050102010706020507" pitchFamily="18" charset="2"/>
              </a:rPr>
              <a:t> as 11, and state q</a:t>
            </a:r>
            <a:r>
              <a:rPr lang="en-US" sz="2400" baseline="-25000" dirty="0">
                <a:sym typeface="Symbol" panose="05050102010706020507" pitchFamily="18" charset="2"/>
              </a:rPr>
              <a:t>2</a:t>
            </a:r>
            <a:r>
              <a:rPr lang="en-US" sz="2400" dirty="0">
                <a:sym typeface="Symbol" panose="05050102010706020507" pitchFamily="18" charset="2"/>
              </a:rPr>
              <a:t> as 111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400" dirty="0">
                <a:sym typeface="Symbol" panose="05050102010706020507" pitchFamily="18" charset="2"/>
              </a:rPr>
              <a:t> let move L be 1, move R be 11</a:t>
            </a:r>
            <a:r>
              <a:rPr lang="en-US" sz="2400" dirty="0" smtClean="0">
                <a:sym typeface="Symbol" panose="05050102010706020507" pitchFamily="18" charset="2"/>
              </a:rPr>
              <a:t>.</a:t>
            </a:r>
            <a:endParaRPr lang="en-US" sz="24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64127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Gödel-coding of </a:t>
            </a:r>
            <a:r>
              <a:rPr lang="en-US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TMs……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ym typeface="Symbol" panose="05050102010706020507" pitchFamily="18" charset="2"/>
              </a:rPr>
              <a:t>The encoded transitions become</a:t>
            </a:r>
          </a:p>
          <a:p>
            <a:pPr>
              <a:spcBef>
                <a:spcPct val="50000"/>
              </a:spcBef>
            </a:pPr>
            <a:r>
              <a:rPr lang="en-US" dirty="0">
                <a:sym typeface="Symbol" panose="05050102010706020507" pitchFamily="18" charset="2"/>
              </a:rPr>
              <a:t>	(q</a:t>
            </a:r>
            <a:r>
              <a:rPr lang="en-US" baseline="-25000" dirty="0">
                <a:sym typeface="Symbol" panose="05050102010706020507" pitchFamily="18" charset="2"/>
              </a:rPr>
              <a:t>0</a:t>
            </a:r>
            <a:r>
              <a:rPr lang="en-US" dirty="0">
                <a:sym typeface="Symbol" panose="05050102010706020507" pitchFamily="18" charset="2"/>
              </a:rPr>
              <a:t>, B) = [q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, B, R]		101110110111011	</a:t>
            </a:r>
            <a:endParaRPr lang="en-US" dirty="0" smtClean="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dirty="0">
                <a:sym typeface="Symbol" panose="05050102010706020507" pitchFamily="18" charset="2"/>
              </a:rPr>
              <a:t>	(q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, 1) = [q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, 1, R]		110110111011011		</a:t>
            </a:r>
            <a:endParaRPr lang="en-US" dirty="0" smtClean="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dirty="0">
                <a:sym typeface="Symbol" panose="05050102010706020507" pitchFamily="18" charset="2"/>
              </a:rPr>
              <a:t>	(q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, 1) = [q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, 1, R]		111011011011011</a:t>
            </a:r>
          </a:p>
          <a:p>
            <a:pPr>
              <a:spcBef>
                <a:spcPct val="50000"/>
              </a:spcBef>
            </a:pPr>
            <a:endParaRPr lang="en-US" dirty="0" smtClean="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dirty="0" smtClean="0">
                <a:sym typeface="Symbol" panose="05050102010706020507" pitchFamily="18" charset="2"/>
              </a:rPr>
              <a:t>Between </a:t>
            </a:r>
            <a:r>
              <a:rPr lang="en-US" dirty="0">
                <a:sym typeface="Symbol" panose="05050102010706020507" pitchFamily="18" charset="2"/>
              </a:rPr>
              <a:t>transitions use 00, to begin and end use 000.</a:t>
            </a:r>
          </a:p>
          <a:p>
            <a:pPr>
              <a:spcBef>
                <a:spcPct val="50000"/>
              </a:spcBef>
            </a:pPr>
            <a:endParaRPr lang="en-US" dirty="0" smtClean="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dirty="0" smtClean="0">
                <a:sym typeface="Symbol" panose="05050102010706020507" pitchFamily="18" charset="2"/>
              </a:rPr>
              <a:t>So </a:t>
            </a:r>
            <a:r>
              <a:rPr lang="en-US" dirty="0">
                <a:sym typeface="Symbol" panose="05050102010706020507" pitchFamily="18" charset="2"/>
              </a:rPr>
              <a:t>the string representing M is R(M) =</a:t>
            </a:r>
          </a:p>
          <a:p>
            <a:pPr>
              <a:spcBef>
                <a:spcPct val="50000"/>
              </a:spcBef>
            </a:pPr>
            <a:r>
              <a:rPr lang="en-US" sz="2400" b="1" dirty="0" smtClean="0">
                <a:sym typeface="Symbol" panose="05050102010706020507" pitchFamily="18" charset="2"/>
              </a:rPr>
              <a:t>001011101101110110011011011101101100111011011011011000</a:t>
            </a:r>
            <a:endParaRPr lang="en-US" sz="2800" b="1" dirty="0">
              <a:sym typeface="Symbol" panose="05050102010706020507" pitchFamily="18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4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Universal Turing Machine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- It takes a description of a machine and input on its tape and it simulates the behavior of the given Turing Machine.</a:t>
            </a:r>
          </a:p>
          <a:p>
            <a:endParaRPr lang="en-US" sz="2400" dirty="0"/>
          </a:p>
        </p:txBody>
      </p:sp>
      <p:pic>
        <p:nvPicPr>
          <p:cNvPr id="1028" name="Picture 4" descr="Universal Turing Mach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412" y="2904914"/>
            <a:ext cx="47339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97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5880</TotalTime>
  <Words>820</Words>
  <Application>Microsoft Office PowerPoint</Application>
  <PresentationFormat>Custom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Symbol</vt:lpstr>
      <vt:lpstr>Calibri</vt:lpstr>
      <vt:lpstr>Calibri Light</vt:lpstr>
      <vt:lpstr>Wingdings</vt:lpstr>
      <vt:lpstr>Arial Black</vt:lpstr>
      <vt:lpstr>Retrospect</vt:lpstr>
      <vt:lpstr>Part II Computability Theory </vt:lpstr>
      <vt:lpstr>Hilbert’s Tenth Problem</vt:lpstr>
      <vt:lpstr>Original Statement of Hilbert</vt:lpstr>
      <vt:lpstr>Definition of Algorithm</vt:lpstr>
      <vt:lpstr>The Church-Turing Thesis</vt:lpstr>
      <vt:lpstr>Back to Hilbert’s Problem</vt:lpstr>
      <vt:lpstr>Back to Hilbert’s Problem …</vt:lpstr>
      <vt:lpstr>Decision Problems</vt:lpstr>
      <vt:lpstr>More on Decidability</vt:lpstr>
      <vt:lpstr>Gödel-coding of TMs</vt:lpstr>
      <vt:lpstr>Gödel-coding of TMs……</vt:lpstr>
      <vt:lpstr>Universal Turing Machine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Turing Machines</dc:title>
  <dc:creator>LALIES</dc:creator>
  <cp:lastModifiedBy>larkana computers</cp:lastModifiedBy>
  <cp:revision>137</cp:revision>
  <dcterms:created xsi:type="dcterms:W3CDTF">2021-10-26T15:03:57Z</dcterms:created>
  <dcterms:modified xsi:type="dcterms:W3CDTF">2023-07-16T19:33:20Z</dcterms:modified>
</cp:coreProperties>
</file>