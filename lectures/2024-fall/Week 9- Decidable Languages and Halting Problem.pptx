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0" r:id="rId1"/>
  </p:sldMasterIdLst>
  <p:notesMasterIdLst>
    <p:notesMasterId r:id="rId28"/>
  </p:notesMasterIdLst>
  <p:sldIdLst>
    <p:sldId id="29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87" r:id="rId22"/>
    <p:sldId id="288" r:id="rId23"/>
    <p:sldId id="289" r:id="rId24"/>
    <p:sldId id="290" r:id="rId25"/>
    <p:sldId id="291" r:id="rId26"/>
    <p:sldId id="292" r:id="rId27"/>
  </p:sldIdLst>
  <p:sldSz cx="4610100" cy="3460750"/>
  <p:notesSz cx="4610100" cy="3460750"/>
  <p:defaultTextStyle>
    <a:defPPr>
      <a:defRPr lang="en-US"/>
    </a:defPPr>
    <a:lvl1pPr marL="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6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8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01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2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4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1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9" autoAdjust="0"/>
    <p:restoredTop sz="94662" autoAdjust="0"/>
  </p:normalViewPr>
  <p:slideViewPr>
    <p:cSldViewPr>
      <p:cViewPr>
        <p:scale>
          <a:sx n="151" d="100"/>
          <a:sy n="151" d="100"/>
        </p:scale>
        <p:origin x="-1326" y="17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84B39-478E-4B6F-AFD9-A0CBBAA622C5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260350"/>
            <a:ext cx="1727200" cy="129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66F17-A247-4110-8E6B-3054401C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3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4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6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8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01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2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4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1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762" y="1075076"/>
            <a:ext cx="3918585" cy="74181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1515" y="1961092"/>
            <a:ext cx="3227070" cy="8844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0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6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91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2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52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82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1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43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256113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354532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170" y="2223853"/>
            <a:ext cx="3918585" cy="687343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170" y="1466818"/>
            <a:ext cx="3918585" cy="757039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3040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6081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9121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216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5202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82429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12834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43238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130513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13"/>
            <a:ext cx="2036128" cy="228393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43467" y="807513"/>
            <a:ext cx="2036128" cy="228393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59111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32284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30406" indent="0">
              <a:buNone/>
              <a:defRPr sz="1000" b="1"/>
            </a:lvl2pPr>
            <a:lvl3pPr marL="460810" indent="0">
              <a:buNone/>
              <a:defRPr sz="900" b="1"/>
            </a:lvl3pPr>
            <a:lvl4pPr marL="691214" indent="0">
              <a:buNone/>
              <a:defRPr sz="800" b="1"/>
            </a:lvl4pPr>
            <a:lvl5pPr marL="921620" indent="0">
              <a:buNone/>
              <a:defRPr sz="800" b="1"/>
            </a:lvl5pPr>
            <a:lvl6pPr marL="1152024" indent="0">
              <a:buNone/>
              <a:defRPr sz="800" b="1"/>
            </a:lvl6pPr>
            <a:lvl7pPr marL="1382429" indent="0">
              <a:buNone/>
              <a:defRPr sz="800" b="1"/>
            </a:lvl7pPr>
            <a:lvl8pPr marL="1612834" indent="0">
              <a:buNone/>
              <a:defRPr sz="800" b="1"/>
            </a:lvl8pPr>
            <a:lvl9pPr marL="1843238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097506"/>
            <a:ext cx="2036928" cy="19939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32284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30406" indent="0">
              <a:buNone/>
              <a:defRPr sz="1000" b="1"/>
            </a:lvl2pPr>
            <a:lvl3pPr marL="460810" indent="0">
              <a:buNone/>
              <a:defRPr sz="900" b="1"/>
            </a:lvl3pPr>
            <a:lvl4pPr marL="691214" indent="0">
              <a:buNone/>
              <a:defRPr sz="800" b="1"/>
            </a:lvl4pPr>
            <a:lvl5pPr marL="921620" indent="0">
              <a:buNone/>
              <a:defRPr sz="800" b="1"/>
            </a:lvl5pPr>
            <a:lvl6pPr marL="1152024" indent="0">
              <a:buNone/>
              <a:defRPr sz="800" b="1"/>
            </a:lvl6pPr>
            <a:lvl7pPr marL="1382429" indent="0">
              <a:buNone/>
              <a:defRPr sz="800" b="1"/>
            </a:lvl7pPr>
            <a:lvl8pPr marL="1612834" indent="0">
              <a:buNone/>
              <a:defRPr sz="800" b="1"/>
            </a:lvl8pPr>
            <a:lvl9pPr marL="1843238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097506"/>
            <a:ext cx="2037728" cy="19939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63564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10201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82210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509" y="137793"/>
            <a:ext cx="1516691" cy="58640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137789"/>
            <a:ext cx="2577174" cy="2953654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9" y="724194"/>
            <a:ext cx="1516691" cy="2367249"/>
          </a:xfrm>
        </p:spPr>
        <p:txBody>
          <a:bodyPr/>
          <a:lstStyle>
            <a:lvl1pPr marL="0" indent="0">
              <a:buNone/>
              <a:defRPr sz="700"/>
            </a:lvl1pPr>
            <a:lvl2pPr marL="230406" indent="0">
              <a:buNone/>
              <a:defRPr sz="600"/>
            </a:lvl2pPr>
            <a:lvl3pPr marL="460810" indent="0">
              <a:buNone/>
              <a:defRPr sz="500"/>
            </a:lvl3pPr>
            <a:lvl4pPr marL="691214" indent="0">
              <a:buNone/>
              <a:defRPr sz="500"/>
            </a:lvl4pPr>
            <a:lvl5pPr marL="921620" indent="0">
              <a:buNone/>
              <a:defRPr sz="500"/>
            </a:lvl5pPr>
            <a:lvl6pPr marL="1152024" indent="0">
              <a:buNone/>
              <a:defRPr sz="500"/>
            </a:lvl6pPr>
            <a:lvl7pPr marL="1382429" indent="0">
              <a:buNone/>
              <a:defRPr sz="500"/>
            </a:lvl7pPr>
            <a:lvl8pPr marL="1612834" indent="0">
              <a:buNone/>
              <a:defRPr sz="500"/>
            </a:lvl8pPr>
            <a:lvl9pPr marL="184323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210239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422525"/>
            <a:ext cx="2766060" cy="285993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309224"/>
            <a:ext cx="2766060" cy="2076450"/>
          </a:xfrm>
        </p:spPr>
        <p:txBody>
          <a:bodyPr/>
          <a:lstStyle>
            <a:lvl1pPr marL="0" indent="0">
              <a:buNone/>
              <a:defRPr sz="1600"/>
            </a:lvl1pPr>
            <a:lvl2pPr marL="230406" indent="0">
              <a:buNone/>
              <a:defRPr sz="1400"/>
            </a:lvl2pPr>
            <a:lvl3pPr marL="460810" indent="0">
              <a:buNone/>
              <a:defRPr sz="1200"/>
            </a:lvl3pPr>
            <a:lvl4pPr marL="691214" indent="0">
              <a:buNone/>
              <a:defRPr sz="1000"/>
            </a:lvl4pPr>
            <a:lvl5pPr marL="921620" indent="0">
              <a:buNone/>
              <a:defRPr sz="1000"/>
            </a:lvl5pPr>
            <a:lvl6pPr marL="1152024" indent="0">
              <a:buNone/>
              <a:defRPr sz="1000"/>
            </a:lvl6pPr>
            <a:lvl7pPr marL="1382429" indent="0">
              <a:buNone/>
              <a:defRPr sz="1000"/>
            </a:lvl7pPr>
            <a:lvl8pPr marL="1612834" indent="0">
              <a:buNone/>
              <a:defRPr sz="1000"/>
            </a:lvl8pPr>
            <a:lvl9pPr marL="1843238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708518"/>
            <a:ext cx="2766060" cy="406157"/>
          </a:xfrm>
        </p:spPr>
        <p:txBody>
          <a:bodyPr/>
          <a:lstStyle>
            <a:lvl1pPr marL="0" indent="0">
              <a:buNone/>
              <a:defRPr sz="700"/>
            </a:lvl1pPr>
            <a:lvl2pPr marL="230406" indent="0">
              <a:buNone/>
              <a:defRPr sz="600"/>
            </a:lvl2pPr>
            <a:lvl3pPr marL="460810" indent="0">
              <a:buNone/>
              <a:defRPr sz="500"/>
            </a:lvl3pPr>
            <a:lvl4pPr marL="691214" indent="0">
              <a:buNone/>
              <a:defRPr sz="500"/>
            </a:lvl4pPr>
            <a:lvl5pPr marL="921620" indent="0">
              <a:buNone/>
              <a:defRPr sz="500"/>
            </a:lvl5pPr>
            <a:lvl6pPr marL="1152024" indent="0">
              <a:buNone/>
              <a:defRPr sz="500"/>
            </a:lvl6pPr>
            <a:lvl7pPr marL="1382429" indent="0">
              <a:buNone/>
              <a:defRPr sz="500"/>
            </a:lvl7pPr>
            <a:lvl8pPr marL="1612834" indent="0">
              <a:buNone/>
              <a:defRPr sz="500"/>
            </a:lvl8pPr>
            <a:lvl9pPr marL="184323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252023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378626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2326" y="138595"/>
            <a:ext cx="1037273" cy="295285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0509" y="138595"/>
            <a:ext cx="3034983" cy="295285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220531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</p:spPr>
        <p:txBody>
          <a:bodyPr vert="horz" lIns="46081" tIns="23041" rIns="46081" bIns="2304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807513"/>
            <a:ext cx="4149090" cy="2283935"/>
          </a:xfrm>
          <a:prstGeom prst="rect">
            <a:avLst/>
          </a:prstGeom>
        </p:spPr>
        <p:txBody>
          <a:bodyPr vert="horz" lIns="46081" tIns="23041" rIns="46081" bIns="2304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505" y="3207607"/>
            <a:ext cx="1075690" cy="184253"/>
          </a:xfrm>
          <a:prstGeom prst="rect">
            <a:avLst/>
          </a:prstGeom>
        </p:spPr>
        <p:txBody>
          <a:bodyPr vert="horz" lIns="46081" tIns="23041" rIns="46081" bIns="23041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698">
              <a:spcBef>
                <a:spcPts val="170"/>
              </a:spcBef>
            </a:pPr>
            <a:r>
              <a:rPr lang="en-US" spc="50" smtClean="0"/>
              <a:t>Shahid </a:t>
            </a:r>
            <a:r>
              <a:rPr lang="en-US" spc="90" smtClean="0"/>
              <a:t> </a:t>
            </a:r>
            <a:r>
              <a:rPr lang="en-US" spc="60" smtClean="0"/>
              <a:t>(HU)</a:t>
            </a:r>
            <a:endParaRPr lang="en-US" spc="6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5122" y="3207607"/>
            <a:ext cx="1459865" cy="184253"/>
          </a:xfrm>
          <a:prstGeom prst="rect">
            <a:avLst/>
          </a:prstGeom>
        </p:spPr>
        <p:txBody>
          <a:bodyPr vert="horz" lIns="46081" tIns="23041" rIns="46081" bIns="23041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698">
              <a:spcBef>
                <a:spcPts val="170"/>
              </a:spcBef>
            </a:pPr>
            <a:r>
              <a:rPr lang="en-US" spc="50" smtClean="0"/>
              <a:t>March </a:t>
            </a:r>
            <a:r>
              <a:rPr lang="en-US" spc="35" smtClean="0"/>
              <a:t>2018</a:t>
            </a:r>
            <a:endParaRPr lang="en-US" spc="3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3905" y="3207607"/>
            <a:ext cx="1075690" cy="184253"/>
          </a:xfrm>
          <a:prstGeom prst="rect">
            <a:avLst/>
          </a:prstGeom>
        </p:spPr>
        <p:txBody>
          <a:bodyPr vert="horz" lIns="46081" tIns="23041" rIns="46081" bIns="23041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84440">
              <a:spcBef>
                <a:spcPts val="170"/>
              </a:spcBef>
            </a:pPr>
            <a:fld id="{81D60167-4931-47E6-BA6A-407CBD079E47}" type="slidenum">
              <a:rPr lang="en-US" spc="30" smtClean="0"/>
              <a:pPr marL="84440">
                <a:spcBef>
                  <a:spcPts val="170"/>
                </a:spcBef>
              </a:pPr>
              <a:t>‹#›</a:t>
            </a:fld>
            <a:r>
              <a:rPr lang="en-US" spc="65" smtClean="0"/>
              <a:t> </a:t>
            </a:r>
            <a:r>
              <a:rPr lang="en-US" spc="80" smtClean="0"/>
              <a:t>/</a:t>
            </a:r>
            <a:r>
              <a:rPr lang="en-US" spc="70" smtClean="0"/>
              <a:t> </a:t>
            </a:r>
            <a:r>
              <a:rPr lang="en-US" spc="30" smtClean="0"/>
              <a:t>23</a:t>
            </a:r>
            <a:endParaRPr lang="en-US" spc="30" dirty="0"/>
          </a:p>
        </p:txBody>
      </p:sp>
    </p:spTree>
    <p:extLst>
      <p:ext uri="{BB962C8B-B14F-4D97-AF65-F5344CB8AC3E}">
        <p14:creationId xmlns:p14="http://schemas.microsoft.com/office/powerpoint/2010/main" val="15913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46081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2804" indent="-172804" algn="l" defTabSz="46081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4409" indent="-144004" algn="l" defTabSz="46081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6011" indent="-115203" algn="l" defTabSz="46081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17" indent="-115203" algn="l" defTabSz="46081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823" indent="-115203" algn="l" defTabSz="46081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7227" indent="-115203" algn="l" defTabSz="46081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97631" indent="-115203" algn="l" defTabSz="46081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28037" indent="-115203" algn="l" defTabSz="46081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58439" indent="-115203" algn="l" defTabSz="46081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6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60810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91214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21620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024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82429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12834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43238" algn="l" defTabSz="46081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850" y="1044575"/>
            <a:ext cx="3457575" cy="85691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Part II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Computability Theory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2720975"/>
            <a:ext cx="3803333" cy="576792"/>
          </a:xfrm>
        </p:spPr>
        <p:txBody>
          <a:bodyPr>
            <a:normAutofit/>
          </a:bodyPr>
          <a:lstStyle/>
          <a:p>
            <a:pPr algn="ctr"/>
            <a:r>
              <a:rPr lang="en-US" sz="1700" dirty="0" smtClean="0">
                <a:solidFill>
                  <a:srgbClr val="C00000"/>
                </a:solidFill>
              </a:rPr>
              <a:t>Decidable Languages and Halting Problem</a:t>
            </a:r>
            <a:endParaRPr lang="en-US" sz="1700" dirty="0">
              <a:solidFill>
                <a:srgbClr val="C00000"/>
              </a:solidFill>
            </a:endParaRPr>
          </a:p>
        </p:txBody>
      </p:sp>
      <p:pic>
        <p:nvPicPr>
          <p:cNvPr id="3078" name="Picture 6" descr="Alan Turing Joke | Alan turing, Computer jokes, Science carto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044" y="1160188"/>
            <a:ext cx="1173238" cy="117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31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963033"/>
            <a:ext cx="63233" cy="574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2132" y="942994"/>
            <a:ext cx="4180204" cy="1518383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63489" marR="5587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the</a:t>
            </a:r>
            <a:r>
              <a:rPr sz="1100" b="1" spc="23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acceptance</a:t>
            </a:r>
            <a:r>
              <a:rPr sz="1100" b="1" spc="21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problem</a:t>
            </a:r>
            <a:r>
              <a:rPr sz="1100" b="1" spc="17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DFAs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 </a:t>
            </a:r>
            <a:r>
              <a:rPr sz="1100" spc="-25" dirty="0">
                <a:latin typeface="Georgia"/>
                <a:cs typeface="Georgia"/>
              </a:rPr>
              <a:t>whether 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particular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deterministic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automataon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given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string,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lets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endParaRPr sz="1200" baseline="-10416" dirty="0">
              <a:latin typeface="Palatino Linotype"/>
              <a:cs typeface="Palatino Linotype"/>
            </a:endParaRPr>
          </a:p>
          <a:p>
            <a:pPr marL="314905">
              <a:spcBef>
                <a:spcPts val="1130"/>
              </a:spcBef>
            </a:pP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r>
              <a:rPr sz="1200" spc="22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{⟨</a:t>
            </a:r>
            <a:r>
              <a:rPr sz="1100" i="1" spc="110" dirty="0">
                <a:latin typeface="Calibri"/>
                <a:cs typeface="Calibri"/>
              </a:rPr>
              <a:t>B,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0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7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w</a:t>
            </a:r>
            <a:r>
              <a:rPr sz="1100" spc="65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  <a:p>
            <a:pPr marL="63489" marR="140310">
              <a:lnSpc>
                <a:spcPct val="102600"/>
              </a:lnSpc>
              <a:spcBef>
                <a:spcPts val="1095"/>
              </a:spcBef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80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45" dirty="0">
                <a:latin typeface="Georgia"/>
                <a:cs typeface="Georgia"/>
              </a:rPr>
              <a:t>same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⟨</a:t>
            </a:r>
            <a:r>
              <a:rPr sz="1100" i="1" spc="110" dirty="0">
                <a:latin typeface="Calibri"/>
                <a:cs typeface="Calibri"/>
              </a:rPr>
              <a:t>B, </a:t>
            </a:r>
            <a:r>
              <a:rPr sz="1100" i="1" spc="20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member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endParaRPr sz="1200" baseline="-10416" dirty="0">
              <a:latin typeface="Palatino Linotype"/>
              <a:cs typeface="Palatino Linotyp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929681"/>
            <a:ext cx="63233" cy="57485"/>
          </a:xfrm>
          <a:prstGeom prst="rect">
            <a:avLst/>
          </a:prstGeom>
        </p:spPr>
      </p:pic>
      <p:sp>
        <p:nvSpPr>
          <p:cNvPr id="18" name="object 4"/>
          <p:cNvSpPr txBox="1">
            <a:spLocks/>
          </p:cNvSpPr>
          <p:nvPr/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>
            <a:lvl1pPr algn="ctr" defTabSz="461132" rtl="0" eaLnBrk="1" latinLnBrk="0" hangingPunct="1">
              <a:spcBef>
                <a:spcPct val="0"/>
              </a:spcBef>
              <a:buNone/>
              <a:defRPr sz="18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7931">
              <a:spcBef>
                <a:spcPts val="625"/>
              </a:spcBef>
            </a:pPr>
            <a:r>
              <a:rPr lang="en-US" spc="30" smtClean="0">
                <a:latin typeface="Times New Roman"/>
                <a:cs typeface="Times New Roman"/>
              </a:rPr>
              <a:t>Decidable</a:t>
            </a:r>
            <a:r>
              <a:rPr lang="en-US" spc="65" smtClean="0">
                <a:latin typeface="Times New Roman"/>
                <a:cs typeface="Times New Roman"/>
              </a:rPr>
              <a:t> </a:t>
            </a:r>
            <a:r>
              <a:rPr lang="en-US" spc="35" smtClean="0">
                <a:latin typeface="Times New Roman"/>
                <a:cs typeface="Times New Roman"/>
              </a:rPr>
              <a:t>Languages</a:t>
            </a:r>
            <a:endParaRPr lang="en-US" spc="3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93111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897762"/>
            <a:ext cx="63233" cy="6323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7744" y="2511806"/>
            <a:ext cx="4483735" cy="452755"/>
            <a:chOff x="87743" y="2511805"/>
            <a:chExt cx="4483735" cy="452755"/>
          </a:xfrm>
        </p:grpSpPr>
        <p:sp>
          <p:nvSpPr>
            <p:cNvPr id="8" name="object 8"/>
            <p:cNvSpPr/>
            <p:nvPr/>
          </p:nvSpPr>
          <p:spPr>
            <a:xfrm>
              <a:off x="87743" y="2511805"/>
              <a:ext cx="4432935" cy="178435"/>
            </a:xfrm>
            <a:custGeom>
              <a:avLst/>
              <a:gdLst/>
              <a:ahLst/>
              <a:cxnLst/>
              <a:rect l="l" t="t" r="r" b="b"/>
              <a:pathLst>
                <a:path w="4432935" h="17843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7826"/>
                  </a:lnTo>
                  <a:lnTo>
                    <a:pt x="4432566" y="177826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4" y="2676969"/>
              <a:ext cx="4432565" cy="506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862567"/>
              <a:ext cx="101600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849867"/>
              <a:ext cx="4381715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0" y="2556040"/>
              <a:ext cx="50749" cy="3065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743" y="2721254"/>
              <a:ext cx="4432935" cy="192405"/>
            </a:xfrm>
            <a:custGeom>
              <a:avLst/>
              <a:gdLst/>
              <a:ahLst/>
              <a:cxnLst/>
              <a:rect l="l" t="t" r="r" b="b"/>
              <a:pathLst>
                <a:path w="4432935" h="192405">
                  <a:moveTo>
                    <a:pt x="4432566" y="0"/>
                  </a:moveTo>
                  <a:lnTo>
                    <a:pt x="0" y="0"/>
                  </a:lnTo>
                  <a:lnTo>
                    <a:pt x="0" y="141312"/>
                  </a:lnTo>
                  <a:lnTo>
                    <a:pt x="4008" y="161037"/>
                  </a:lnTo>
                  <a:lnTo>
                    <a:pt x="14922" y="177190"/>
                  </a:lnTo>
                  <a:lnTo>
                    <a:pt x="31075" y="188104"/>
                  </a:lnTo>
                  <a:lnTo>
                    <a:pt x="50800" y="192112"/>
                  </a:lnTo>
                  <a:lnTo>
                    <a:pt x="4381765" y="192112"/>
                  </a:lnTo>
                  <a:lnTo>
                    <a:pt x="4401490" y="188104"/>
                  </a:lnTo>
                  <a:lnTo>
                    <a:pt x="4417643" y="177190"/>
                  </a:lnTo>
                  <a:lnTo>
                    <a:pt x="4428558" y="161037"/>
                  </a:lnTo>
                  <a:lnTo>
                    <a:pt x="4432566" y="14131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259413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2874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10" y="25814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20310" y="25687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0310" y="25560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745" y="845628"/>
            <a:ext cx="4444365" cy="20671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6984" rIns="0" bIns="0" rtlCol="0">
            <a:spAutoFit/>
          </a:bodyPr>
          <a:lstStyle/>
          <a:p>
            <a:pPr marL="327603" marR="5587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the</a:t>
            </a:r>
            <a:r>
              <a:rPr sz="1100" b="1" spc="23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acceptance</a:t>
            </a:r>
            <a:r>
              <a:rPr sz="1100" b="1" spc="210" dirty="0">
                <a:latin typeface="Georgia"/>
                <a:cs typeface="Georgia"/>
              </a:rPr>
              <a:t> </a:t>
            </a:r>
            <a:r>
              <a:rPr sz="1100" b="1" spc="-55" dirty="0">
                <a:latin typeface="Georgia"/>
                <a:cs typeface="Georgia"/>
              </a:rPr>
              <a:t>problem</a:t>
            </a:r>
            <a:r>
              <a:rPr sz="1100" b="1" spc="17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DFAs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 </a:t>
            </a:r>
            <a:r>
              <a:rPr sz="1100" spc="-25" dirty="0">
                <a:latin typeface="Georgia"/>
                <a:cs typeface="Georgia"/>
              </a:rPr>
              <a:t>whether 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particular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deterministic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automataon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given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string,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lets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endParaRPr sz="1200" baseline="-10416" dirty="0">
              <a:latin typeface="Palatino Linotype"/>
              <a:cs typeface="Palatino Linotype"/>
            </a:endParaRPr>
          </a:p>
          <a:p>
            <a:pPr marL="264749" algn="ctr">
              <a:spcBef>
                <a:spcPts val="1130"/>
              </a:spcBef>
            </a:pP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r>
              <a:rPr sz="1200" spc="22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{⟨</a:t>
            </a:r>
            <a:r>
              <a:rPr sz="1100" i="1" spc="110" dirty="0">
                <a:latin typeface="Calibri"/>
                <a:cs typeface="Calibri"/>
              </a:rPr>
              <a:t>B,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0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7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w</a:t>
            </a:r>
            <a:r>
              <a:rPr sz="1100" spc="65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  <a:p>
            <a:pPr marL="327603" marR="140310">
              <a:lnSpc>
                <a:spcPct val="102600"/>
              </a:lnSpc>
              <a:spcBef>
                <a:spcPts val="1095"/>
              </a:spcBef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80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45" dirty="0">
                <a:latin typeface="Georgia"/>
                <a:cs typeface="Georgia"/>
              </a:rPr>
              <a:t>same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testing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110" dirty="0">
                <a:latin typeface="Cambria"/>
                <a:cs typeface="Cambria"/>
              </a:rPr>
              <a:t>⟨</a:t>
            </a:r>
            <a:r>
              <a:rPr sz="1100" i="1" spc="110" dirty="0">
                <a:latin typeface="Calibri"/>
                <a:cs typeface="Calibri"/>
              </a:rPr>
              <a:t>B, </a:t>
            </a:r>
            <a:r>
              <a:rPr sz="1100" i="1" spc="20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member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endParaRPr sz="1200" baseline="-10416" dirty="0">
              <a:latin typeface="Palatino Linotype"/>
              <a:cs typeface="Palatino Linotype"/>
            </a:endParaRPr>
          </a:p>
          <a:p>
            <a:pPr marL="50791">
              <a:spcBef>
                <a:spcPts val="134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70" dirty="0">
                <a:solidFill>
                  <a:srgbClr val="04064C"/>
                </a:solidFill>
                <a:latin typeface="Georgia"/>
                <a:cs typeface="Georgia"/>
              </a:rPr>
              <a:t>1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9"/>
              </a:spcBef>
            </a:pP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r>
              <a:rPr sz="1200" spc="35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language.</a:t>
            </a:r>
            <a:endParaRPr sz="11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50" dirty="0">
                <a:latin typeface="Times New Roman"/>
                <a:cs typeface="Times New Roman"/>
              </a:rPr>
              <a:t>Proof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b="0" spc="10" dirty="0">
                <a:latin typeface="Times New Roman"/>
                <a:cs typeface="Times New Roman"/>
              </a:rPr>
              <a:t>for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75" dirty="0">
                <a:latin typeface="Times New Roman"/>
                <a:cs typeface="Times New Roman"/>
              </a:rPr>
              <a:t>the</a:t>
            </a:r>
            <a:r>
              <a:rPr b="0" spc="100" dirty="0">
                <a:latin typeface="Times New Roman"/>
                <a:cs typeface="Times New Roman"/>
              </a:rPr>
              <a:t> </a:t>
            </a:r>
            <a:r>
              <a:rPr b="0" spc="60" dirty="0">
                <a:latin typeface="Times New Roman"/>
                <a:cs typeface="Times New Roman"/>
              </a:rPr>
              <a:t>Last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55" dirty="0">
                <a:latin typeface="Times New Roman"/>
                <a:cs typeface="Times New Roman"/>
              </a:rPr>
              <a:t>Theorem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6302" y="1381661"/>
            <a:ext cx="4231005" cy="8013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10" dirty="0">
                <a:solidFill>
                  <a:srgbClr val="04064C"/>
                </a:solidFill>
                <a:latin typeface="Georgia"/>
                <a:cs typeface="Georgia"/>
              </a:rPr>
              <a:t>Proof.</a:t>
            </a:r>
            <a:endParaRPr sz="1100" dirty="0">
              <a:latin typeface="Georgia"/>
              <a:cs typeface="Georgia"/>
            </a:endParaRPr>
          </a:p>
          <a:p>
            <a:pPr marL="327603">
              <a:spcBef>
                <a:spcPts val="229"/>
              </a:spcBef>
            </a:pPr>
            <a:r>
              <a:rPr sz="1100" spc="-15" dirty="0">
                <a:latin typeface="Georgia"/>
                <a:cs typeface="Georgia"/>
              </a:rPr>
              <a:t>Either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construct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decides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A</a:t>
            </a:r>
            <a:r>
              <a:rPr sz="1200" spc="82" baseline="-10416" dirty="0">
                <a:latin typeface="Palatino Linotype"/>
                <a:cs typeface="Palatino Linotype"/>
              </a:rPr>
              <a:t>DFA</a:t>
            </a:r>
            <a:r>
              <a:rPr sz="1200" spc="307" baseline="-10416" dirty="0">
                <a:latin typeface="Palatino Linotype"/>
                <a:cs typeface="Palatino Linotype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endParaRPr sz="1100" dirty="0">
              <a:latin typeface="Georgia"/>
              <a:cs typeface="Georgia"/>
            </a:endParaRPr>
          </a:p>
          <a:p>
            <a:pPr marL="327603" marR="17777">
              <a:lnSpc>
                <a:spcPct val="102600"/>
              </a:lnSpc>
              <a:spcBef>
                <a:spcPts val="295"/>
              </a:spcBef>
            </a:pPr>
            <a:r>
              <a:rPr sz="1100" spc="-25" dirty="0">
                <a:latin typeface="Georgia"/>
                <a:cs typeface="Georgia"/>
              </a:rPr>
              <a:t>Write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program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(in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programming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language)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simulates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work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checks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150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not</a:t>
            </a:r>
            <a:endParaRPr sz="1100" dirty="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68953" y="2140331"/>
            <a:ext cx="93345" cy="93980"/>
            <a:chOff x="4368952" y="2140331"/>
            <a:chExt cx="93345" cy="93980"/>
          </a:xfrm>
        </p:grpSpPr>
        <p:sp>
          <p:nvSpPr>
            <p:cNvPr id="20" name="object 20"/>
            <p:cNvSpPr/>
            <p:nvPr/>
          </p:nvSpPr>
          <p:spPr>
            <a:xfrm>
              <a:off x="4371479" y="2140331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406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74006" y="2142858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0406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74006" y="2231313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0406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59668" y="2140331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406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7650" y="1196975"/>
            <a:ext cx="4089400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70" dirty="0">
                <a:solidFill>
                  <a:srgbClr val="04064C"/>
                </a:solidFill>
                <a:latin typeface="Georgia"/>
                <a:cs typeface="Georgia"/>
              </a:rPr>
              <a:t>2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9"/>
              </a:spcBef>
            </a:pPr>
            <a:r>
              <a:rPr sz="1100" i="1" spc="40" dirty="0">
                <a:latin typeface="Calibri"/>
                <a:cs typeface="Calibri"/>
              </a:rPr>
              <a:t>A</a:t>
            </a:r>
            <a:r>
              <a:rPr sz="1200" spc="60" baseline="-10416" dirty="0">
                <a:latin typeface="Palatino Linotype"/>
                <a:cs typeface="Palatino Linotype"/>
              </a:rPr>
              <a:t>NFA</a:t>
            </a:r>
            <a:r>
              <a:rPr sz="1200" spc="359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393631">
              <a:spcBef>
                <a:spcPts val="1130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60" baseline="-10416" dirty="0">
                <a:latin typeface="Palatino Linotype"/>
                <a:cs typeface="Palatino Linotype"/>
              </a:rPr>
              <a:t>N</a:t>
            </a:r>
            <a:r>
              <a:rPr sz="1200" spc="-97" baseline="-10416" dirty="0">
                <a:latin typeface="Palatino Linotype"/>
                <a:cs typeface="Palatino Linotype"/>
              </a:rPr>
              <a:t>F</a:t>
            </a:r>
            <a:r>
              <a:rPr sz="1200" spc="15" baseline="-10416" dirty="0">
                <a:latin typeface="Palatino Linotype"/>
                <a:cs typeface="Palatino Linotype"/>
              </a:rPr>
              <a:t>A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an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N</a:t>
            </a:r>
            <a:r>
              <a:rPr sz="1100" i="1" spc="-15" dirty="0">
                <a:latin typeface="Palatino Linotype"/>
                <a:cs typeface="Palatino Linotype"/>
              </a:rPr>
              <a:t>F</a:t>
            </a:r>
            <a:r>
              <a:rPr sz="1100" i="1" spc="1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that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input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strin</a:t>
            </a:r>
            <a:r>
              <a:rPr sz="1100" i="1" spc="5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2344" y="990128"/>
            <a:ext cx="4140200" cy="16027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76187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70" dirty="0">
                <a:solidFill>
                  <a:srgbClr val="04064C"/>
                </a:solidFill>
                <a:latin typeface="Georgia"/>
                <a:cs typeface="Georgia"/>
              </a:rPr>
              <a:t>2</a:t>
            </a:r>
            <a:endParaRPr sz="1100" dirty="0">
              <a:latin typeface="Georgia"/>
              <a:cs typeface="Georgia"/>
            </a:endParaRPr>
          </a:p>
          <a:p>
            <a:pPr marL="76187">
              <a:spcBef>
                <a:spcPts val="229"/>
              </a:spcBef>
            </a:pPr>
            <a:r>
              <a:rPr sz="1100" i="1" spc="40" dirty="0">
                <a:latin typeface="Calibri"/>
                <a:cs typeface="Calibri"/>
              </a:rPr>
              <a:t>A</a:t>
            </a:r>
            <a:r>
              <a:rPr sz="1200" spc="60" baseline="-10416" dirty="0">
                <a:latin typeface="Palatino Linotype"/>
                <a:cs typeface="Palatino Linotype"/>
              </a:rPr>
              <a:t>NFA</a:t>
            </a:r>
            <a:r>
              <a:rPr sz="1200" spc="359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342840" algn="ctr">
              <a:spcBef>
                <a:spcPts val="1130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60" baseline="-10416" dirty="0">
                <a:latin typeface="Palatino Linotype"/>
                <a:cs typeface="Palatino Linotype"/>
              </a:rPr>
              <a:t>N</a:t>
            </a:r>
            <a:r>
              <a:rPr sz="1200" spc="-97" baseline="-10416" dirty="0">
                <a:latin typeface="Palatino Linotype"/>
                <a:cs typeface="Palatino Linotype"/>
              </a:rPr>
              <a:t>F</a:t>
            </a:r>
            <a:r>
              <a:rPr sz="1200" spc="15" baseline="-10416" dirty="0">
                <a:latin typeface="Palatino Linotype"/>
                <a:cs typeface="Palatino Linotype"/>
              </a:rPr>
              <a:t>A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an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-50" dirty="0">
                <a:latin typeface="Palatino Linotype"/>
                <a:cs typeface="Palatino Linotype"/>
              </a:rPr>
              <a:t>N</a:t>
            </a:r>
            <a:r>
              <a:rPr sz="1100" i="1" spc="-15" dirty="0">
                <a:latin typeface="Palatino Linotype"/>
                <a:cs typeface="Palatino Linotype"/>
              </a:rPr>
              <a:t>F</a:t>
            </a:r>
            <a:r>
              <a:rPr sz="1100" i="1" spc="1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that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input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strin</a:t>
            </a:r>
            <a:r>
              <a:rPr sz="1100" i="1" spc="5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76187">
              <a:spcBef>
                <a:spcPts val="155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65" dirty="0">
                <a:solidFill>
                  <a:srgbClr val="04064C"/>
                </a:solidFill>
                <a:latin typeface="Georgia"/>
                <a:cs typeface="Georgia"/>
              </a:rPr>
              <a:t>3</a:t>
            </a:r>
            <a:endParaRPr sz="1100" dirty="0">
              <a:latin typeface="Georgia"/>
              <a:cs typeface="Georgia"/>
            </a:endParaRPr>
          </a:p>
          <a:p>
            <a:pPr marL="76187">
              <a:spcBef>
                <a:spcPts val="225"/>
              </a:spcBef>
            </a:pPr>
            <a:r>
              <a:rPr sz="1100" i="1" spc="110" dirty="0">
                <a:latin typeface="Calibri"/>
                <a:cs typeface="Calibri"/>
              </a:rPr>
              <a:t>A</a:t>
            </a:r>
            <a:r>
              <a:rPr sz="1200" spc="165" baseline="-10416" dirty="0">
                <a:latin typeface="Palatino Linotype"/>
                <a:cs typeface="Palatino Linotype"/>
              </a:rPr>
              <a:t>REX</a:t>
            </a:r>
            <a:r>
              <a:rPr sz="1200" spc="359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342840" algn="ctr">
              <a:spcBef>
                <a:spcPts val="1135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27" baseline="-10416" dirty="0">
                <a:latin typeface="Palatino Linotype"/>
                <a:cs typeface="Palatino Linotype"/>
              </a:rPr>
              <a:t>RE</a:t>
            </a:r>
            <a:r>
              <a:rPr sz="1200" spc="142" baseline="-10416" dirty="0">
                <a:latin typeface="Palatino Linotype"/>
                <a:cs typeface="Palatino Linotype"/>
              </a:rPr>
              <a:t>X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R.E.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that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gene</a:t>
            </a:r>
            <a:r>
              <a:rPr sz="1100" i="1" spc="-40" dirty="0">
                <a:latin typeface="Palatino Linotype"/>
                <a:cs typeface="Palatino Linotype"/>
              </a:rPr>
              <a:t>r</a:t>
            </a:r>
            <a:r>
              <a:rPr sz="1100" i="1" spc="35" dirty="0">
                <a:latin typeface="Palatino Linotype"/>
                <a:cs typeface="Palatino Linotype"/>
              </a:rPr>
              <a:t>ates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strin</a:t>
            </a:r>
            <a:r>
              <a:rPr sz="1100" i="1" spc="5" dirty="0">
                <a:latin typeface="Palatino Linotype"/>
                <a:cs typeface="Palatino Linotype"/>
              </a:rPr>
              <a:t>g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 smtClean="0">
                <a:latin typeface="Times New Roman"/>
                <a:cs typeface="Times New Roman"/>
              </a:rPr>
              <a:t>Languages</a:t>
            </a:r>
            <a:endParaRPr b="0" spc="35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218539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3" y="1089276"/>
            <a:ext cx="4025265" cy="756920"/>
          </a:xfrm>
          <a:prstGeom prst="rect">
            <a:avLst/>
          </a:prstGeom>
        </p:spPr>
        <p:txBody>
          <a:bodyPr vert="horz" wrap="square" lIns="0" tIns="55234" rIns="0" bIns="0" rtlCol="0">
            <a:spAutoFit/>
          </a:bodyPr>
          <a:lstStyle/>
          <a:p>
            <a:pPr marL="38093">
              <a:spcBef>
                <a:spcPts val="434"/>
              </a:spcBef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emptiness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testing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automata</a:t>
            </a:r>
            <a:endParaRPr sz="1100">
              <a:latin typeface="Georgia"/>
              <a:cs typeface="Georgia"/>
            </a:endParaRPr>
          </a:p>
          <a:p>
            <a:pPr marL="38093">
              <a:spcBef>
                <a:spcPts val="334"/>
              </a:spcBef>
            </a:pPr>
            <a:r>
              <a:rPr sz="1100" spc="-20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test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automaton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strings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i.e.,</a:t>
            </a:r>
            <a:endParaRPr sz="1100">
              <a:latin typeface="Georgia"/>
              <a:cs typeface="Georgia"/>
            </a:endParaRPr>
          </a:p>
          <a:p>
            <a:pPr marL="104757" algn="ctr">
              <a:spcBef>
                <a:spcPts val="1130"/>
              </a:spcBef>
            </a:pPr>
            <a:r>
              <a:rPr sz="1100" i="1" spc="75" dirty="0">
                <a:latin typeface="Calibri"/>
                <a:cs typeface="Calibri"/>
              </a:rPr>
              <a:t>E</a:t>
            </a:r>
            <a:r>
              <a:rPr sz="1200" spc="112" baseline="-10416" dirty="0">
                <a:latin typeface="Palatino Linotype"/>
                <a:cs typeface="Palatino Linotype"/>
              </a:rPr>
              <a:t>DFA</a:t>
            </a:r>
            <a:r>
              <a:rPr sz="1200" spc="217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5" dirty="0">
                <a:latin typeface="Cambria"/>
                <a:cs typeface="Cambria"/>
              </a:rPr>
              <a:t>{⟨</a:t>
            </a:r>
            <a:r>
              <a:rPr sz="1100" i="1" spc="85" dirty="0">
                <a:latin typeface="Calibri"/>
                <a:cs typeface="Calibri"/>
              </a:rPr>
              <a:t>A</a:t>
            </a:r>
            <a:r>
              <a:rPr sz="1100" spc="8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L</a:t>
            </a:r>
            <a:r>
              <a:rPr sz="1100" spc="114" dirty="0">
                <a:latin typeface="Georgia"/>
                <a:cs typeface="Georgia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A</a:t>
            </a:r>
            <a:r>
              <a:rPr sz="1100" spc="114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5" dirty="0">
                <a:latin typeface="Cambria"/>
                <a:cs typeface="Cambria"/>
              </a:rPr>
              <a:t>∅}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428573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21853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428573"/>
            <a:ext cx="63233" cy="632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0444" y="1089277"/>
            <a:ext cx="4302760" cy="13759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55234" rIns="0" bIns="0" rtlCol="0">
            <a:spAutoFit/>
          </a:bodyPr>
          <a:lstStyle/>
          <a:p>
            <a:pPr marL="314905">
              <a:spcBef>
                <a:spcPts val="434"/>
              </a:spcBef>
            </a:pPr>
            <a:r>
              <a:rPr sz="1100" spc="-25" dirty="0">
                <a:latin typeface="Georgia"/>
                <a:cs typeface="Georgia"/>
              </a:rPr>
              <a:t>Consider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emptiness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testing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automata</a:t>
            </a:r>
            <a:endParaRPr sz="1100" dirty="0">
              <a:latin typeface="Georgia"/>
              <a:cs typeface="Georgia"/>
            </a:endParaRPr>
          </a:p>
          <a:p>
            <a:pPr marL="314905">
              <a:spcBef>
                <a:spcPts val="334"/>
              </a:spcBef>
            </a:pPr>
            <a:r>
              <a:rPr sz="1100" spc="-20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test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whether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automaton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strings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i.e.,</a:t>
            </a:r>
            <a:endParaRPr sz="1100" dirty="0">
              <a:latin typeface="Georgia"/>
              <a:cs typeface="Georgia"/>
            </a:endParaRPr>
          </a:p>
          <a:p>
            <a:pPr marL="381569" algn="ctr">
              <a:spcBef>
                <a:spcPts val="1130"/>
              </a:spcBef>
            </a:pPr>
            <a:r>
              <a:rPr sz="1100" i="1" spc="75" dirty="0">
                <a:latin typeface="Calibri"/>
                <a:cs typeface="Calibri"/>
              </a:rPr>
              <a:t>E</a:t>
            </a:r>
            <a:r>
              <a:rPr sz="1200" spc="112" baseline="-10416" dirty="0">
                <a:latin typeface="Palatino Linotype"/>
                <a:cs typeface="Palatino Linotype"/>
              </a:rPr>
              <a:t>DFA</a:t>
            </a:r>
            <a:r>
              <a:rPr sz="1200" spc="217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5" dirty="0">
                <a:latin typeface="Cambria"/>
                <a:cs typeface="Cambria"/>
              </a:rPr>
              <a:t>{⟨</a:t>
            </a:r>
            <a:r>
              <a:rPr sz="1100" i="1" spc="85" dirty="0">
                <a:latin typeface="Calibri"/>
                <a:cs typeface="Calibri"/>
              </a:rPr>
              <a:t>A</a:t>
            </a:r>
            <a:r>
              <a:rPr sz="1100" spc="8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DFA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L</a:t>
            </a:r>
            <a:r>
              <a:rPr sz="1100" spc="114" dirty="0">
                <a:latin typeface="Georgia"/>
                <a:cs typeface="Georgia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A</a:t>
            </a:r>
            <a:r>
              <a:rPr sz="1100" spc="114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5" dirty="0">
                <a:latin typeface="Cambria"/>
                <a:cs typeface="Cambria"/>
              </a:rPr>
              <a:t>∅}</a:t>
            </a:r>
            <a:endParaRPr sz="1100" dirty="0">
              <a:latin typeface="Cambria"/>
              <a:cs typeface="Cambria"/>
            </a:endParaRPr>
          </a:p>
          <a:p>
            <a:pPr marL="38093">
              <a:spcBef>
                <a:spcPts val="1895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80" dirty="0">
                <a:solidFill>
                  <a:srgbClr val="04064C"/>
                </a:solidFill>
                <a:latin typeface="Georgia"/>
                <a:cs typeface="Georgia"/>
              </a:rPr>
              <a:t>4</a:t>
            </a:r>
            <a:endParaRPr sz="1100" dirty="0">
              <a:latin typeface="Georgia"/>
              <a:cs typeface="Georgia"/>
            </a:endParaRPr>
          </a:p>
          <a:p>
            <a:pPr marL="38093">
              <a:spcBef>
                <a:spcPts val="229"/>
              </a:spcBef>
            </a:pPr>
            <a:r>
              <a:rPr sz="1100" i="1" spc="75" dirty="0">
                <a:latin typeface="Calibri"/>
                <a:cs typeface="Calibri"/>
              </a:rPr>
              <a:t>E</a:t>
            </a:r>
            <a:r>
              <a:rPr sz="1200" spc="112" baseline="-10416" dirty="0">
                <a:latin typeface="Palatino Linotype"/>
                <a:cs typeface="Palatino Linotype"/>
              </a:rPr>
              <a:t>DFA</a:t>
            </a:r>
            <a:r>
              <a:rPr sz="1200" spc="359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language.</a:t>
            </a:r>
            <a:endParaRPr sz="11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147179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7916"/>
            <a:ext cx="4074160" cy="929005"/>
          </a:xfrm>
          <a:prstGeom prst="rect">
            <a:avLst/>
          </a:prstGeom>
        </p:spPr>
        <p:txBody>
          <a:bodyPr vert="horz" wrap="square" lIns="0" tIns="55234" rIns="0" bIns="0" rtlCol="0">
            <a:spAutoFit/>
          </a:bodyPr>
          <a:lstStyle/>
          <a:p>
            <a:pPr marL="38093">
              <a:spcBef>
                <a:spcPts val="434"/>
              </a:spcBef>
            </a:pPr>
            <a:r>
              <a:rPr sz="1100" spc="-30" dirty="0">
                <a:latin typeface="Georgia"/>
                <a:cs typeface="Georgia"/>
              </a:rPr>
              <a:t>Suppose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DFAs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  <a:p>
            <a:pPr marL="38093" marR="30475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Georgia"/>
                <a:cs typeface="Georgia"/>
              </a:rPr>
              <a:t>Now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consider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 </a:t>
            </a:r>
            <a:r>
              <a:rPr sz="1100" spc="-15" dirty="0">
                <a:latin typeface="Georgia"/>
                <a:cs typeface="Georgia"/>
              </a:rPr>
              <a:t>tests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spc="-5" dirty="0">
                <a:latin typeface="Georgia"/>
                <a:cs typeface="Georgia"/>
              </a:rPr>
              <a:t>both </a:t>
            </a:r>
            <a:r>
              <a:rPr sz="1100" i="1" spc="180" dirty="0">
                <a:latin typeface="Calibri"/>
                <a:cs typeface="Calibri"/>
              </a:rPr>
              <a:t>A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 </a:t>
            </a:r>
            <a:r>
              <a:rPr sz="1100" spc="-35" dirty="0">
                <a:latin typeface="Georgia"/>
                <a:cs typeface="Georgia"/>
              </a:rPr>
              <a:t>recognize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same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i.e.,</a:t>
            </a:r>
            <a:endParaRPr sz="1100">
              <a:latin typeface="Georgia"/>
              <a:cs typeface="Georgia"/>
            </a:endParaRPr>
          </a:p>
          <a:p>
            <a:pPr marL="1032963">
              <a:spcBef>
                <a:spcPts val="1130"/>
              </a:spcBef>
            </a:pPr>
            <a:r>
              <a:rPr sz="1100" i="1" spc="20" dirty="0">
                <a:latin typeface="Palatino Linotype"/>
                <a:cs typeface="Palatino Linotype"/>
              </a:rPr>
              <a:t>E</a:t>
            </a:r>
            <a:r>
              <a:rPr sz="1100" i="1" spc="75" dirty="0">
                <a:latin typeface="Palatino Linotype"/>
                <a:cs typeface="Palatino Linotype"/>
              </a:rPr>
              <a:t>Q</a:t>
            </a:r>
            <a:r>
              <a:rPr sz="1200" spc="112" baseline="-17361" dirty="0">
                <a:latin typeface="Palatino Linotype"/>
                <a:cs typeface="Palatino Linotype"/>
              </a:rPr>
              <a:t>D</a:t>
            </a:r>
            <a:r>
              <a:rPr sz="1200" spc="-60" baseline="-17361" dirty="0">
                <a:latin typeface="Palatino Linotype"/>
                <a:cs typeface="Palatino Linotype"/>
              </a:rPr>
              <a:t>F</a:t>
            </a:r>
            <a:r>
              <a:rPr sz="1200" spc="15" baseline="-17361" dirty="0">
                <a:latin typeface="Palatino Linotype"/>
                <a:cs typeface="Palatino Linotype"/>
              </a:rPr>
              <a:t>A</a:t>
            </a:r>
            <a:r>
              <a:rPr sz="1200" baseline="-17361" dirty="0">
                <a:latin typeface="Palatino Linotype"/>
                <a:cs typeface="Palatino Linotype"/>
              </a:rPr>
              <a:t> </a:t>
            </a:r>
            <a:r>
              <a:rPr sz="1200" spc="-75" baseline="-17361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05" dirty="0">
                <a:latin typeface="Calibri"/>
                <a:cs typeface="Calibri"/>
              </a:rPr>
              <a:t>A,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spc="5" dirty="0">
                <a:latin typeface="Georgia"/>
                <a:cs typeface="Georgia"/>
              </a:rPr>
              <a:t>)</a:t>
            </a:r>
            <a:r>
              <a:rPr sz="1100" spc="114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357211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14717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357211"/>
            <a:ext cx="63233" cy="632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0444" y="1017915"/>
            <a:ext cx="4351020" cy="1550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55234" rIns="0" bIns="0" rtlCol="0">
            <a:spAutoFit/>
          </a:bodyPr>
          <a:lstStyle/>
          <a:p>
            <a:pPr marL="314905">
              <a:spcBef>
                <a:spcPts val="434"/>
              </a:spcBef>
            </a:pPr>
            <a:r>
              <a:rPr sz="1100" spc="-30" dirty="0">
                <a:latin typeface="Georgia"/>
                <a:cs typeface="Georgia"/>
              </a:rPr>
              <a:t>Suppose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two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DFAs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</a:t>
            </a:r>
            <a:endParaRPr sz="1100" dirty="0">
              <a:latin typeface="Calibri"/>
              <a:cs typeface="Calibri"/>
            </a:endParaRPr>
          </a:p>
          <a:p>
            <a:pPr marL="314905" marR="30475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Georgia"/>
                <a:cs typeface="Georgia"/>
              </a:rPr>
              <a:t>Now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consider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 </a:t>
            </a:r>
            <a:r>
              <a:rPr sz="1100" spc="-15" dirty="0">
                <a:latin typeface="Georgia"/>
                <a:cs typeface="Georgia"/>
              </a:rPr>
              <a:t>tests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spc="-5" dirty="0">
                <a:latin typeface="Georgia"/>
                <a:cs typeface="Georgia"/>
              </a:rPr>
              <a:t>both </a:t>
            </a:r>
            <a:r>
              <a:rPr sz="1100" i="1" spc="180" dirty="0">
                <a:latin typeface="Calibri"/>
                <a:cs typeface="Calibri"/>
              </a:rPr>
              <a:t>A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B </a:t>
            </a:r>
            <a:r>
              <a:rPr sz="1100" spc="-35" dirty="0">
                <a:latin typeface="Georgia"/>
                <a:cs typeface="Georgia"/>
              </a:rPr>
              <a:t>recognize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same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i.e.,</a:t>
            </a:r>
            <a:endParaRPr sz="1100" dirty="0">
              <a:latin typeface="Georgia"/>
              <a:cs typeface="Georgia"/>
            </a:endParaRPr>
          </a:p>
          <a:p>
            <a:pPr marL="332682" algn="ctr">
              <a:spcBef>
                <a:spcPts val="1130"/>
              </a:spcBef>
            </a:pPr>
            <a:r>
              <a:rPr sz="1100" i="1" spc="20" dirty="0">
                <a:latin typeface="Palatino Linotype"/>
                <a:cs typeface="Palatino Linotype"/>
              </a:rPr>
              <a:t>E</a:t>
            </a:r>
            <a:r>
              <a:rPr sz="1100" i="1" spc="75" dirty="0">
                <a:latin typeface="Palatino Linotype"/>
                <a:cs typeface="Palatino Linotype"/>
              </a:rPr>
              <a:t>Q</a:t>
            </a:r>
            <a:r>
              <a:rPr sz="1200" spc="112" baseline="-17361" dirty="0">
                <a:latin typeface="Palatino Linotype"/>
                <a:cs typeface="Palatino Linotype"/>
              </a:rPr>
              <a:t>D</a:t>
            </a:r>
            <a:r>
              <a:rPr sz="1200" spc="-60" baseline="-17361" dirty="0">
                <a:latin typeface="Palatino Linotype"/>
                <a:cs typeface="Palatino Linotype"/>
              </a:rPr>
              <a:t>F</a:t>
            </a:r>
            <a:r>
              <a:rPr sz="1200" spc="15" baseline="-17361" dirty="0">
                <a:latin typeface="Palatino Linotype"/>
                <a:cs typeface="Palatino Linotype"/>
              </a:rPr>
              <a:t>A</a:t>
            </a:r>
            <a:r>
              <a:rPr sz="1200" baseline="-17361" dirty="0">
                <a:latin typeface="Palatino Linotype"/>
                <a:cs typeface="Palatino Linotype"/>
              </a:rPr>
              <a:t> </a:t>
            </a:r>
            <a:r>
              <a:rPr sz="1200" spc="-75" baseline="-17361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05" dirty="0">
                <a:latin typeface="Calibri"/>
                <a:cs typeface="Calibri"/>
              </a:rPr>
              <a:t>A,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spc="5" dirty="0">
                <a:latin typeface="Georgia"/>
                <a:cs typeface="Georgia"/>
              </a:rPr>
              <a:t>)</a:t>
            </a:r>
            <a:r>
              <a:rPr sz="1100" spc="114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  <a:p>
            <a:pPr marL="38093">
              <a:spcBef>
                <a:spcPts val="1895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40" dirty="0">
                <a:solidFill>
                  <a:srgbClr val="04064C"/>
                </a:solidFill>
                <a:latin typeface="Georgia"/>
                <a:cs typeface="Georgia"/>
              </a:rPr>
              <a:t>5</a:t>
            </a:r>
            <a:endParaRPr sz="1100" dirty="0">
              <a:latin typeface="Georgia"/>
              <a:cs typeface="Georgia"/>
            </a:endParaRPr>
          </a:p>
          <a:p>
            <a:pPr marL="38093">
              <a:spcBef>
                <a:spcPts val="229"/>
              </a:spcBef>
            </a:pPr>
            <a:r>
              <a:rPr sz="1100" i="1" spc="30" dirty="0">
                <a:latin typeface="Palatino Linotype"/>
                <a:cs typeface="Palatino Linotype"/>
              </a:rPr>
              <a:t>EQ</a:t>
            </a:r>
            <a:r>
              <a:rPr sz="1200" spc="44" baseline="-17361" dirty="0">
                <a:latin typeface="Palatino Linotype"/>
                <a:cs typeface="Palatino Linotype"/>
              </a:rPr>
              <a:t>DFA</a:t>
            </a:r>
            <a:r>
              <a:rPr sz="1200" spc="352" baseline="-17361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language.</a:t>
            </a:r>
            <a:endParaRPr sz="11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744" y="990128"/>
            <a:ext cx="3945890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80" dirty="0">
                <a:solidFill>
                  <a:srgbClr val="04064C"/>
                </a:solidFill>
                <a:latin typeface="Georgia"/>
                <a:cs typeface="Georgia"/>
              </a:rPr>
              <a:t>6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9"/>
              </a:spcBef>
            </a:pPr>
            <a:r>
              <a:rPr sz="1100" i="1" spc="90" dirty="0">
                <a:latin typeface="Calibri"/>
                <a:cs typeface="Calibri"/>
              </a:rPr>
              <a:t>A</a:t>
            </a:r>
            <a:r>
              <a:rPr sz="1200" spc="135" baseline="-10416" dirty="0">
                <a:latin typeface="Palatino Linotype"/>
                <a:cs typeface="Palatino Linotype"/>
              </a:rPr>
              <a:t>CFG</a:t>
            </a:r>
            <a:r>
              <a:rPr sz="1200" spc="345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486960" algn="ctr">
              <a:spcBef>
                <a:spcPts val="1130"/>
              </a:spcBef>
            </a:pPr>
            <a:r>
              <a:rPr sz="1100" i="1" spc="175" dirty="0">
                <a:latin typeface="Calibri"/>
                <a:cs typeface="Calibri"/>
              </a:rPr>
              <a:t>A</a:t>
            </a:r>
            <a:r>
              <a:rPr sz="1200" spc="120" baseline="-10416" dirty="0">
                <a:latin typeface="Palatino Linotype"/>
                <a:cs typeface="Palatino Linotype"/>
              </a:rPr>
              <a:t>C</a:t>
            </a:r>
            <a:r>
              <a:rPr sz="1200" spc="60" baseline="-10416" dirty="0">
                <a:latin typeface="Palatino Linotype"/>
                <a:cs typeface="Palatino Linotype"/>
              </a:rPr>
              <a:t>F</a:t>
            </a:r>
            <a:r>
              <a:rPr sz="1200" spc="75" baseline="-10416" dirty="0">
                <a:latin typeface="Palatino Linotype"/>
                <a:cs typeface="Palatino Linotype"/>
              </a:rPr>
              <a:t>G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95" dirty="0">
                <a:latin typeface="Calibri"/>
                <a:cs typeface="Calibri"/>
              </a:rPr>
              <a:t>G,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45" dirty="0">
                <a:latin typeface="Palatino Linotype"/>
                <a:cs typeface="Palatino Linotype"/>
              </a:rPr>
              <a:t>C</a:t>
            </a:r>
            <a:r>
              <a:rPr sz="1100" i="1" spc="70" dirty="0">
                <a:latin typeface="Palatino Linotype"/>
                <a:cs typeface="Palatino Linotype"/>
              </a:rPr>
              <a:t>F</a:t>
            </a:r>
            <a:r>
              <a:rPr sz="1100" i="1" spc="50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that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gene</a:t>
            </a:r>
            <a:r>
              <a:rPr sz="1100" i="1" spc="-40" dirty="0">
                <a:latin typeface="Palatino Linotype"/>
                <a:cs typeface="Palatino Linotype"/>
              </a:rPr>
              <a:t>r</a:t>
            </a:r>
            <a:r>
              <a:rPr sz="1100" i="1" spc="35" dirty="0">
                <a:latin typeface="Palatino Linotype"/>
                <a:cs typeface="Palatino Linotype"/>
              </a:rPr>
              <a:t>ates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strin</a:t>
            </a:r>
            <a:r>
              <a:rPr sz="1100" i="1" spc="5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2344" y="990128"/>
            <a:ext cx="4376306" cy="16027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76187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80" dirty="0">
                <a:solidFill>
                  <a:srgbClr val="04064C"/>
                </a:solidFill>
                <a:latin typeface="Georgia"/>
                <a:cs typeface="Georgia"/>
              </a:rPr>
              <a:t>6</a:t>
            </a:r>
            <a:endParaRPr sz="1100" dirty="0">
              <a:latin typeface="Georgia"/>
              <a:cs typeface="Georgia"/>
            </a:endParaRPr>
          </a:p>
          <a:p>
            <a:pPr marL="76187">
              <a:spcBef>
                <a:spcPts val="229"/>
              </a:spcBef>
            </a:pPr>
            <a:r>
              <a:rPr sz="1100" i="1" spc="90" dirty="0">
                <a:latin typeface="Calibri"/>
                <a:cs typeface="Calibri"/>
              </a:rPr>
              <a:t>A</a:t>
            </a:r>
            <a:r>
              <a:rPr sz="1200" spc="135" baseline="-10416" dirty="0">
                <a:latin typeface="Palatino Linotype"/>
                <a:cs typeface="Palatino Linotype"/>
              </a:rPr>
              <a:t>CFG</a:t>
            </a:r>
            <a:r>
              <a:rPr sz="1200" spc="345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486960" algn="ctr">
              <a:spcBef>
                <a:spcPts val="1130"/>
              </a:spcBef>
            </a:pPr>
            <a:r>
              <a:rPr sz="1100" i="1" spc="175" dirty="0">
                <a:latin typeface="Calibri"/>
                <a:cs typeface="Calibri"/>
              </a:rPr>
              <a:t>A</a:t>
            </a:r>
            <a:r>
              <a:rPr sz="1200" spc="120" baseline="-10416" dirty="0">
                <a:latin typeface="Palatino Linotype"/>
                <a:cs typeface="Palatino Linotype"/>
              </a:rPr>
              <a:t>C</a:t>
            </a:r>
            <a:r>
              <a:rPr sz="1200" spc="60" baseline="-10416" dirty="0">
                <a:latin typeface="Palatino Linotype"/>
                <a:cs typeface="Palatino Linotype"/>
              </a:rPr>
              <a:t>F</a:t>
            </a:r>
            <a:r>
              <a:rPr sz="1200" spc="75" baseline="-10416" dirty="0">
                <a:latin typeface="Palatino Linotype"/>
                <a:cs typeface="Palatino Linotype"/>
              </a:rPr>
              <a:t>G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95" dirty="0">
                <a:latin typeface="Calibri"/>
                <a:cs typeface="Calibri"/>
              </a:rPr>
              <a:t>G,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45" dirty="0">
                <a:latin typeface="Palatino Linotype"/>
                <a:cs typeface="Palatino Linotype"/>
              </a:rPr>
              <a:t>C</a:t>
            </a:r>
            <a:r>
              <a:rPr sz="1100" i="1" spc="70" dirty="0">
                <a:latin typeface="Palatino Linotype"/>
                <a:cs typeface="Palatino Linotype"/>
              </a:rPr>
              <a:t>F</a:t>
            </a:r>
            <a:r>
              <a:rPr sz="1100" i="1" spc="50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that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gene</a:t>
            </a:r>
            <a:r>
              <a:rPr sz="1100" i="1" spc="-40" dirty="0">
                <a:latin typeface="Palatino Linotype"/>
                <a:cs typeface="Palatino Linotype"/>
              </a:rPr>
              <a:t>r</a:t>
            </a:r>
            <a:r>
              <a:rPr sz="1100" i="1" spc="35" dirty="0">
                <a:latin typeface="Palatino Linotype"/>
                <a:cs typeface="Palatino Linotype"/>
              </a:rPr>
              <a:t>ates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strin</a:t>
            </a:r>
            <a:r>
              <a:rPr sz="1100" i="1" spc="5" dirty="0">
                <a:latin typeface="Palatino Linotype"/>
                <a:cs typeface="Palatino Linotype"/>
              </a:rPr>
              <a:t>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76187">
              <a:spcBef>
                <a:spcPts val="155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4064C"/>
                </a:solidFill>
                <a:latin typeface="Georgia"/>
                <a:cs typeface="Georgia"/>
              </a:rPr>
              <a:t>7</a:t>
            </a:r>
            <a:endParaRPr sz="1100" dirty="0">
              <a:latin typeface="Georgia"/>
              <a:cs typeface="Georgia"/>
            </a:endParaRPr>
          </a:p>
          <a:p>
            <a:pPr marL="76187">
              <a:spcBef>
                <a:spcPts val="225"/>
              </a:spcBef>
            </a:pPr>
            <a:r>
              <a:rPr sz="1100" i="1" spc="110" dirty="0">
                <a:latin typeface="Calibri"/>
                <a:cs typeface="Calibri"/>
              </a:rPr>
              <a:t>E</a:t>
            </a:r>
            <a:r>
              <a:rPr sz="1200" spc="165" baseline="-10416" dirty="0">
                <a:latin typeface="Palatino Linotype"/>
                <a:cs typeface="Palatino Linotype"/>
              </a:rPr>
              <a:t>CFG</a:t>
            </a:r>
            <a:r>
              <a:rPr sz="1200" spc="35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486960" algn="ctr">
              <a:spcBef>
                <a:spcPts val="1135"/>
              </a:spcBef>
            </a:pPr>
            <a:r>
              <a:rPr sz="1100" i="1" spc="110" dirty="0">
                <a:latin typeface="Calibri"/>
                <a:cs typeface="Calibri"/>
              </a:rPr>
              <a:t>E</a:t>
            </a:r>
            <a:r>
              <a:rPr sz="1200" spc="165" baseline="-10416" dirty="0">
                <a:latin typeface="Palatino Linotype"/>
                <a:cs typeface="Palatino Linotype"/>
              </a:rPr>
              <a:t>CFG</a:t>
            </a:r>
            <a:r>
              <a:rPr sz="1200" spc="217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Cambria"/>
                <a:cs typeface="Cambria"/>
              </a:rPr>
              <a:t>{⟨</a:t>
            </a:r>
            <a:r>
              <a:rPr sz="1100" i="1" spc="80" dirty="0">
                <a:latin typeface="Calibri"/>
                <a:cs typeface="Calibri"/>
              </a:rPr>
              <a:t>G</a:t>
            </a:r>
            <a:r>
              <a:rPr sz="1100" spc="80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55" dirty="0">
                <a:latin typeface="Palatino Linotype"/>
                <a:cs typeface="Palatino Linotype"/>
              </a:rPr>
              <a:t>CFG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10" dirty="0">
                <a:latin typeface="Calibri"/>
                <a:cs typeface="Calibri"/>
              </a:rPr>
              <a:t>L</a:t>
            </a:r>
            <a:r>
              <a:rPr sz="1100" spc="110" dirty="0">
                <a:latin typeface="Georgia"/>
                <a:cs typeface="Georgia"/>
              </a:rPr>
              <a:t>(</a:t>
            </a:r>
            <a:r>
              <a:rPr sz="1100" i="1" spc="110" dirty="0">
                <a:latin typeface="Calibri"/>
                <a:cs typeface="Calibri"/>
              </a:rPr>
              <a:t>G</a:t>
            </a:r>
            <a:r>
              <a:rPr sz="1100" spc="1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5" dirty="0">
                <a:latin typeface="Cambria"/>
                <a:cs typeface="Cambria"/>
              </a:rPr>
              <a:t>∅}</a:t>
            </a:r>
            <a:r>
              <a:rPr sz="1100" i="1" spc="-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0050" y="1349375"/>
            <a:ext cx="3342004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114" dirty="0">
                <a:solidFill>
                  <a:srgbClr val="04064C"/>
                </a:solidFill>
                <a:latin typeface="Georgia"/>
                <a:cs typeface="Georgia"/>
              </a:rPr>
              <a:t>8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5"/>
              </a:spcBef>
            </a:pPr>
            <a:r>
              <a:rPr sz="1100" i="1" spc="90" dirty="0">
                <a:latin typeface="Calibri"/>
                <a:cs typeface="Calibri"/>
              </a:rPr>
              <a:t>A</a:t>
            </a:r>
            <a:r>
              <a:rPr sz="1200" spc="135" baseline="-10416" dirty="0">
                <a:latin typeface="Palatino Linotype"/>
                <a:cs typeface="Palatino Linotype"/>
              </a:rPr>
              <a:t>CFG</a:t>
            </a:r>
            <a:r>
              <a:rPr sz="1200" spc="345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1141530">
              <a:spcBef>
                <a:spcPts val="1135"/>
              </a:spcBef>
            </a:pPr>
            <a:r>
              <a:rPr sz="1100" i="1" spc="20" dirty="0">
                <a:latin typeface="Palatino Linotype"/>
                <a:cs typeface="Palatino Linotype"/>
              </a:rPr>
              <a:t>E</a:t>
            </a:r>
            <a:r>
              <a:rPr sz="1100" i="1" spc="75" dirty="0">
                <a:latin typeface="Palatino Linotype"/>
                <a:cs typeface="Palatino Linotype"/>
              </a:rPr>
              <a:t>Q</a:t>
            </a:r>
            <a:r>
              <a:rPr sz="1200" spc="120" baseline="-17361" dirty="0">
                <a:latin typeface="Palatino Linotype"/>
                <a:cs typeface="Palatino Linotype"/>
              </a:rPr>
              <a:t>C</a:t>
            </a:r>
            <a:r>
              <a:rPr sz="1200" spc="60" baseline="-17361" dirty="0">
                <a:latin typeface="Palatino Linotype"/>
                <a:cs typeface="Palatino Linotype"/>
              </a:rPr>
              <a:t>F</a:t>
            </a:r>
            <a:r>
              <a:rPr sz="1200" spc="75" baseline="-17361" dirty="0">
                <a:latin typeface="Palatino Linotype"/>
                <a:cs typeface="Palatino Linotype"/>
              </a:rPr>
              <a:t>G</a:t>
            </a:r>
            <a:r>
              <a:rPr sz="1200" baseline="-17361" dirty="0">
                <a:latin typeface="Palatino Linotype"/>
                <a:cs typeface="Palatino Linotype"/>
              </a:rPr>
              <a:t> </a:t>
            </a:r>
            <a:r>
              <a:rPr sz="1200" spc="-75" baseline="-17361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95" dirty="0">
                <a:latin typeface="Calibri"/>
                <a:cs typeface="Calibri"/>
              </a:rPr>
              <a:t>G,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305" dirty="0">
                <a:latin typeface="Calibri"/>
                <a:cs typeface="Calibri"/>
              </a:rPr>
              <a:t>H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305" dirty="0">
                <a:latin typeface="Calibri"/>
                <a:cs typeface="Calibri"/>
              </a:rPr>
              <a:t>H</a:t>
            </a:r>
            <a:r>
              <a:rPr sz="1100" spc="5" dirty="0">
                <a:latin typeface="Georgia"/>
                <a:cs typeface="Georgia"/>
              </a:rPr>
              <a:t>)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0" dirty="0">
                <a:latin typeface="Times New Roman"/>
                <a:cs typeface="Times New Roman"/>
              </a:rPr>
              <a:t>Decidable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5044" y="1117724"/>
            <a:ext cx="3906406" cy="12915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63489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114" dirty="0">
                <a:solidFill>
                  <a:srgbClr val="04064C"/>
                </a:solidFill>
                <a:latin typeface="Georgia"/>
                <a:cs typeface="Georgia"/>
              </a:rPr>
              <a:t>8</a:t>
            </a:r>
            <a:endParaRPr sz="1100" dirty="0">
              <a:latin typeface="Georgia"/>
              <a:cs typeface="Georgia"/>
            </a:endParaRPr>
          </a:p>
          <a:p>
            <a:pPr marL="63489">
              <a:spcBef>
                <a:spcPts val="225"/>
              </a:spcBef>
            </a:pPr>
            <a:r>
              <a:rPr sz="1100" i="1" spc="90" dirty="0">
                <a:latin typeface="Calibri"/>
                <a:cs typeface="Calibri"/>
              </a:rPr>
              <a:t>A</a:t>
            </a:r>
            <a:r>
              <a:rPr sz="1200" spc="135" baseline="-10416" dirty="0">
                <a:latin typeface="Palatino Linotype"/>
                <a:cs typeface="Palatino Linotype"/>
              </a:rPr>
              <a:t>CFG</a:t>
            </a:r>
            <a:r>
              <a:rPr sz="1200" spc="345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decidable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language,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1154228">
              <a:spcBef>
                <a:spcPts val="1135"/>
              </a:spcBef>
            </a:pPr>
            <a:r>
              <a:rPr sz="1100" i="1" spc="20" dirty="0">
                <a:latin typeface="Palatino Linotype"/>
                <a:cs typeface="Palatino Linotype"/>
              </a:rPr>
              <a:t>E</a:t>
            </a:r>
            <a:r>
              <a:rPr sz="1100" i="1" spc="75" dirty="0">
                <a:latin typeface="Palatino Linotype"/>
                <a:cs typeface="Palatino Linotype"/>
              </a:rPr>
              <a:t>Q</a:t>
            </a:r>
            <a:r>
              <a:rPr sz="1200" spc="120" baseline="-17361" dirty="0">
                <a:latin typeface="Palatino Linotype"/>
                <a:cs typeface="Palatino Linotype"/>
              </a:rPr>
              <a:t>C</a:t>
            </a:r>
            <a:r>
              <a:rPr sz="1200" spc="60" baseline="-17361" dirty="0">
                <a:latin typeface="Palatino Linotype"/>
                <a:cs typeface="Palatino Linotype"/>
              </a:rPr>
              <a:t>F</a:t>
            </a:r>
            <a:r>
              <a:rPr sz="1200" spc="75" baseline="-17361" dirty="0">
                <a:latin typeface="Palatino Linotype"/>
                <a:cs typeface="Palatino Linotype"/>
              </a:rPr>
              <a:t>G</a:t>
            </a:r>
            <a:r>
              <a:rPr sz="1200" baseline="-17361" dirty="0">
                <a:latin typeface="Palatino Linotype"/>
                <a:cs typeface="Palatino Linotype"/>
              </a:rPr>
              <a:t> </a:t>
            </a:r>
            <a:r>
              <a:rPr sz="1200" spc="-75" baseline="-17361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95" dirty="0">
                <a:latin typeface="Calibri"/>
                <a:cs typeface="Calibri"/>
              </a:rPr>
              <a:t>G,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305" dirty="0">
                <a:latin typeface="Calibri"/>
                <a:cs typeface="Calibri"/>
              </a:rPr>
              <a:t>H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60" dirty="0">
                <a:latin typeface="Calibri"/>
                <a:cs typeface="Calibri"/>
              </a:rPr>
              <a:t>G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305" dirty="0">
                <a:latin typeface="Calibri"/>
                <a:cs typeface="Calibri"/>
              </a:rPr>
              <a:t>H</a:t>
            </a:r>
            <a:r>
              <a:rPr sz="1100" spc="5" dirty="0">
                <a:latin typeface="Georgia"/>
                <a:cs typeface="Georgia"/>
              </a:rPr>
              <a:t>)</a:t>
            </a:r>
            <a:r>
              <a:rPr sz="1100" spc="110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63489">
              <a:spcBef>
                <a:spcPts val="155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80" dirty="0">
                <a:solidFill>
                  <a:srgbClr val="04064C"/>
                </a:solidFill>
                <a:latin typeface="Georgia"/>
                <a:cs typeface="Georgia"/>
              </a:rPr>
              <a:t>9</a:t>
            </a:r>
            <a:endParaRPr sz="1100" dirty="0">
              <a:latin typeface="Georgia"/>
              <a:cs typeface="Georgia"/>
            </a:endParaRPr>
          </a:p>
          <a:p>
            <a:pPr marL="63489">
              <a:spcBef>
                <a:spcPts val="225"/>
              </a:spcBef>
            </a:pPr>
            <a:r>
              <a:rPr sz="1100" i="1" spc="20" dirty="0">
                <a:latin typeface="Palatino Linotype"/>
                <a:cs typeface="Palatino Linotype"/>
              </a:rPr>
              <a:t>Every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context-free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language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decidable.</a:t>
            </a:r>
            <a:endParaRPr sz="11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20" dirty="0">
                <a:latin typeface="Times New Roman"/>
                <a:cs typeface="Times New Roman"/>
              </a:rPr>
              <a:t>Unsolvable</a:t>
            </a:r>
            <a:r>
              <a:rPr b="0" spc="95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Problems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213892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128407"/>
            <a:ext cx="4032250" cy="1392968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698" marR="5079">
              <a:lnSpc>
                <a:spcPct val="102699"/>
              </a:lnSpc>
              <a:spcBef>
                <a:spcPts val="55"/>
              </a:spcBef>
            </a:pPr>
            <a:r>
              <a:rPr sz="1100" spc="-20" dirty="0">
                <a:latin typeface="Georgia"/>
                <a:cs typeface="Georgia"/>
              </a:rPr>
              <a:t>Computers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appear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be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very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powerful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we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might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believe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eventually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solvable</a:t>
            </a:r>
            <a:endParaRPr sz="1100">
              <a:latin typeface="Georgia"/>
              <a:cs typeface="Georgia"/>
            </a:endParaRPr>
          </a:p>
          <a:p>
            <a:pPr marL="12698" marR="1842448">
              <a:lnSpc>
                <a:spcPct val="125299"/>
              </a:lnSpc>
            </a:pPr>
            <a:r>
              <a:rPr sz="110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unsolvable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problems?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What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those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problems?</a:t>
            </a:r>
            <a:endParaRPr sz="1100">
              <a:latin typeface="Georgia"/>
              <a:cs typeface="Georgia"/>
            </a:endParaRPr>
          </a:p>
          <a:p>
            <a:pPr marL="12698">
              <a:spcBef>
                <a:spcPts val="330"/>
              </a:spcBef>
            </a:pPr>
            <a:r>
              <a:rPr sz="1100" dirty="0">
                <a:latin typeface="Georgia"/>
                <a:cs typeface="Georgia"/>
              </a:rPr>
              <a:t>Are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these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esoteric?</a:t>
            </a:r>
            <a:endParaRPr sz="1100">
              <a:latin typeface="Georgia"/>
              <a:cs typeface="Georgia"/>
            </a:endParaRPr>
          </a:p>
          <a:p>
            <a:pPr marL="12698" marR="383473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appears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some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simple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ordinary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also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unsolvable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595997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806030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2016062"/>
            <a:ext cx="63233" cy="63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2226094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20" dirty="0">
                <a:latin typeface="Times New Roman"/>
                <a:cs typeface="Times New Roman"/>
              </a:rPr>
              <a:t>Unsolvable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208573" y="857502"/>
            <a:ext cx="4192955" cy="1668325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206974" marR="34284">
              <a:lnSpc>
                <a:spcPct val="102600"/>
              </a:lnSpc>
              <a:spcBef>
                <a:spcPts val="55"/>
              </a:spcBef>
            </a:pPr>
            <a:r>
              <a:rPr spc="-30" dirty="0"/>
              <a:t>Suppose</a:t>
            </a:r>
            <a:r>
              <a:rPr spc="-25" dirty="0"/>
              <a:t> you </a:t>
            </a:r>
            <a:r>
              <a:rPr spc="-30" dirty="0"/>
              <a:t>are</a:t>
            </a:r>
            <a:r>
              <a:rPr spc="-25" dirty="0"/>
              <a:t> </a:t>
            </a:r>
            <a:r>
              <a:rPr spc="-30" dirty="0"/>
              <a:t>given</a:t>
            </a:r>
            <a:r>
              <a:rPr spc="-25" dirty="0"/>
              <a:t> </a:t>
            </a:r>
            <a:r>
              <a:rPr spc="-10" dirty="0"/>
              <a:t>a </a:t>
            </a:r>
            <a:r>
              <a:rPr spc="-25" dirty="0"/>
              <a:t>computer </a:t>
            </a:r>
            <a:r>
              <a:rPr spc="-35" dirty="0"/>
              <a:t>program</a:t>
            </a:r>
            <a:r>
              <a:rPr spc="-30" dirty="0"/>
              <a:t> and</a:t>
            </a:r>
            <a:r>
              <a:rPr spc="-25" dirty="0"/>
              <a:t> </a:t>
            </a:r>
            <a:r>
              <a:rPr spc="-10" dirty="0"/>
              <a:t>a </a:t>
            </a:r>
            <a:r>
              <a:rPr spc="-40" dirty="0"/>
              <a:t>precise </a:t>
            </a:r>
            <a:r>
              <a:rPr spc="-35" dirty="0"/>
              <a:t> </a:t>
            </a:r>
            <a:r>
              <a:rPr spc="-25" dirty="0"/>
              <a:t>specification</a:t>
            </a:r>
            <a:r>
              <a:rPr spc="-20" dirty="0"/>
              <a:t> </a:t>
            </a:r>
            <a:r>
              <a:rPr spc="-40" dirty="0"/>
              <a:t>of</a:t>
            </a:r>
            <a:r>
              <a:rPr spc="-35" dirty="0"/>
              <a:t> </a:t>
            </a:r>
            <a:r>
              <a:rPr spc="-10" dirty="0"/>
              <a:t>what </a:t>
            </a:r>
            <a:r>
              <a:rPr spc="5" dirty="0"/>
              <a:t>that </a:t>
            </a:r>
            <a:r>
              <a:rPr spc="-35" dirty="0"/>
              <a:t>program</a:t>
            </a:r>
            <a:r>
              <a:rPr spc="-30" dirty="0"/>
              <a:t> </a:t>
            </a:r>
            <a:r>
              <a:rPr spc="-35" dirty="0"/>
              <a:t>is</a:t>
            </a:r>
            <a:r>
              <a:rPr spc="-30" dirty="0"/>
              <a:t> </a:t>
            </a:r>
            <a:r>
              <a:rPr spc="-35" dirty="0"/>
              <a:t>supposed</a:t>
            </a:r>
            <a:r>
              <a:rPr spc="-30" dirty="0"/>
              <a:t> </a:t>
            </a:r>
            <a:r>
              <a:rPr spc="-5" dirty="0"/>
              <a:t>to </a:t>
            </a:r>
            <a:r>
              <a:rPr spc="-40" dirty="0"/>
              <a:t>do</a:t>
            </a:r>
            <a:r>
              <a:rPr spc="185" dirty="0"/>
              <a:t> </a:t>
            </a:r>
            <a:r>
              <a:rPr spc="-10" dirty="0"/>
              <a:t>(e.g., </a:t>
            </a:r>
            <a:r>
              <a:rPr spc="-20" dirty="0"/>
              <a:t>sort </a:t>
            </a:r>
            <a:r>
              <a:rPr spc="-10" dirty="0"/>
              <a:t>a </a:t>
            </a:r>
            <a:r>
              <a:rPr spc="-254" dirty="0"/>
              <a:t> </a:t>
            </a:r>
            <a:r>
              <a:rPr spc="-15" dirty="0"/>
              <a:t>list</a:t>
            </a:r>
            <a:r>
              <a:rPr spc="90" dirty="0"/>
              <a:t> </a:t>
            </a:r>
            <a:r>
              <a:rPr spc="-40" dirty="0"/>
              <a:t>of</a:t>
            </a:r>
            <a:r>
              <a:rPr spc="95" dirty="0"/>
              <a:t> </a:t>
            </a:r>
            <a:r>
              <a:rPr spc="-40" dirty="0"/>
              <a:t>numbers)</a:t>
            </a:r>
          </a:p>
          <a:p>
            <a:pPr marL="206974" marR="5079">
              <a:lnSpc>
                <a:spcPct val="102600"/>
              </a:lnSpc>
              <a:spcBef>
                <a:spcPts val="300"/>
              </a:spcBef>
            </a:pPr>
            <a:r>
              <a:rPr spc="-10" dirty="0"/>
              <a:t>You </a:t>
            </a:r>
            <a:r>
              <a:rPr spc="-45" dirty="0"/>
              <a:t>need</a:t>
            </a:r>
            <a:r>
              <a:rPr spc="-40" dirty="0"/>
              <a:t> </a:t>
            </a:r>
            <a:r>
              <a:rPr spc="-5" dirty="0"/>
              <a:t>to </a:t>
            </a:r>
            <a:r>
              <a:rPr spc="-15" dirty="0"/>
              <a:t>verify </a:t>
            </a:r>
            <a:r>
              <a:rPr spc="5" dirty="0"/>
              <a:t>that </a:t>
            </a:r>
            <a:r>
              <a:rPr spc="-20" dirty="0"/>
              <a:t>the</a:t>
            </a:r>
            <a:r>
              <a:rPr spc="-15" dirty="0"/>
              <a:t> </a:t>
            </a:r>
            <a:r>
              <a:rPr spc="-35" dirty="0"/>
              <a:t>program</a:t>
            </a:r>
            <a:r>
              <a:rPr spc="195" dirty="0"/>
              <a:t> </a:t>
            </a:r>
            <a:r>
              <a:rPr spc="-35" dirty="0"/>
              <a:t>performs</a:t>
            </a:r>
            <a:r>
              <a:rPr spc="195" dirty="0"/>
              <a:t> </a:t>
            </a:r>
            <a:r>
              <a:rPr spc="-30" dirty="0"/>
              <a:t>as</a:t>
            </a:r>
            <a:r>
              <a:rPr spc="204" dirty="0"/>
              <a:t> </a:t>
            </a:r>
            <a:r>
              <a:rPr spc="-30" dirty="0"/>
              <a:t>specified</a:t>
            </a:r>
            <a:r>
              <a:rPr spc="204" dirty="0"/>
              <a:t> </a:t>
            </a:r>
            <a:r>
              <a:rPr spc="-10" dirty="0"/>
              <a:t>(i.e., </a:t>
            </a:r>
            <a:r>
              <a:rPr spc="5" dirty="0"/>
              <a:t>it </a:t>
            </a:r>
            <a:r>
              <a:rPr spc="-254" dirty="0"/>
              <a:t> </a:t>
            </a:r>
            <a:r>
              <a:rPr spc="-35" dirty="0"/>
              <a:t>is</a:t>
            </a:r>
            <a:r>
              <a:rPr spc="90" dirty="0"/>
              <a:t> </a:t>
            </a:r>
            <a:r>
              <a:rPr spc="-15" dirty="0"/>
              <a:t>correct)</a:t>
            </a:r>
          </a:p>
          <a:p>
            <a:pPr marL="206974" marR="29840">
              <a:lnSpc>
                <a:spcPct val="102600"/>
              </a:lnSpc>
              <a:spcBef>
                <a:spcPts val="300"/>
              </a:spcBef>
            </a:pPr>
            <a:r>
              <a:rPr spc="-35" dirty="0"/>
              <a:t>Since</a:t>
            </a:r>
            <a:r>
              <a:rPr spc="100" dirty="0"/>
              <a:t> </a:t>
            </a:r>
            <a:r>
              <a:rPr spc="-5" dirty="0"/>
              <a:t>both</a:t>
            </a:r>
            <a:r>
              <a:rPr spc="105" dirty="0"/>
              <a:t> </a:t>
            </a:r>
            <a:r>
              <a:rPr spc="-20" dirty="0"/>
              <a:t>the</a:t>
            </a:r>
            <a:r>
              <a:rPr spc="105" dirty="0"/>
              <a:t> </a:t>
            </a:r>
            <a:r>
              <a:rPr spc="-35" dirty="0"/>
              <a:t>program</a:t>
            </a:r>
            <a:r>
              <a:rPr spc="105" dirty="0"/>
              <a:t> </a:t>
            </a:r>
            <a:r>
              <a:rPr spc="-30" dirty="0"/>
              <a:t>and</a:t>
            </a:r>
            <a:r>
              <a:rPr spc="105" dirty="0"/>
              <a:t> </a:t>
            </a:r>
            <a:r>
              <a:rPr spc="-20" dirty="0"/>
              <a:t>the</a:t>
            </a:r>
            <a:r>
              <a:rPr spc="105" dirty="0"/>
              <a:t> </a:t>
            </a:r>
            <a:r>
              <a:rPr spc="-25" dirty="0"/>
              <a:t>specification</a:t>
            </a:r>
            <a:r>
              <a:rPr spc="105" dirty="0"/>
              <a:t> </a:t>
            </a:r>
            <a:r>
              <a:rPr spc="-30" dirty="0"/>
              <a:t>are</a:t>
            </a:r>
            <a:r>
              <a:rPr spc="105" dirty="0"/>
              <a:t> </a:t>
            </a:r>
            <a:r>
              <a:rPr spc="-15" dirty="0"/>
              <a:t>mathematically </a:t>
            </a:r>
            <a:r>
              <a:rPr spc="-250" dirty="0"/>
              <a:t> </a:t>
            </a:r>
            <a:r>
              <a:rPr spc="-40" dirty="0"/>
              <a:t>precise</a:t>
            </a:r>
            <a:r>
              <a:rPr spc="-35" dirty="0"/>
              <a:t> </a:t>
            </a:r>
            <a:r>
              <a:rPr spc="-15" dirty="0"/>
              <a:t>objects </a:t>
            </a:r>
            <a:r>
              <a:rPr spc="-55" dirty="0"/>
              <a:t>we</a:t>
            </a:r>
            <a:r>
              <a:rPr spc="-50" dirty="0"/>
              <a:t> </a:t>
            </a:r>
            <a:r>
              <a:rPr spc="-25" dirty="0"/>
              <a:t>might</a:t>
            </a:r>
            <a:r>
              <a:rPr spc="-20" dirty="0"/>
              <a:t> </a:t>
            </a:r>
            <a:r>
              <a:rPr spc="-25" dirty="0"/>
              <a:t>believe/hope</a:t>
            </a:r>
            <a:r>
              <a:rPr spc="-20" dirty="0"/>
              <a:t> </a:t>
            </a:r>
            <a:r>
              <a:rPr spc="5" dirty="0"/>
              <a:t>that </a:t>
            </a:r>
            <a:r>
              <a:rPr spc="-55" dirty="0"/>
              <a:t>we</a:t>
            </a:r>
            <a:r>
              <a:rPr spc="-50" dirty="0"/>
              <a:t> </a:t>
            </a:r>
            <a:r>
              <a:rPr spc="-25" dirty="0"/>
              <a:t>can</a:t>
            </a:r>
            <a:r>
              <a:rPr spc="-20" dirty="0"/>
              <a:t> </a:t>
            </a:r>
            <a:r>
              <a:rPr spc="-15" dirty="0"/>
              <a:t>automate </a:t>
            </a:r>
            <a:r>
              <a:rPr spc="-20" dirty="0"/>
              <a:t>the </a:t>
            </a:r>
            <a:r>
              <a:rPr spc="-254" dirty="0"/>
              <a:t> </a:t>
            </a:r>
            <a:r>
              <a:rPr spc="-35" dirty="0"/>
              <a:t>process</a:t>
            </a:r>
            <a:r>
              <a:rPr spc="-30" dirty="0"/>
              <a:t> </a:t>
            </a:r>
            <a:r>
              <a:rPr spc="-40" dirty="0"/>
              <a:t>of</a:t>
            </a:r>
            <a:r>
              <a:rPr spc="-35" dirty="0"/>
              <a:t> </a:t>
            </a:r>
            <a:r>
              <a:rPr spc="-25" dirty="0"/>
              <a:t>verification</a:t>
            </a:r>
            <a:r>
              <a:rPr spc="-20" dirty="0"/>
              <a:t> </a:t>
            </a:r>
            <a:r>
              <a:rPr spc="-5" dirty="0"/>
              <a:t>by </a:t>
            </a:r>
            <a:r>
              <a:rPr spc="-40" dirty="0"/>
              <a:t>feeding</a:t>
            </a:r>
            <a:r>
              <a:rPr spc="-35" dirty="0"/>
              <a:t> </a:t>
            </a:r>
            <a:r>
              <a:rPr spc="-20" dirty="0"/>
              <a:t>this </a:t>
            </a:r>
            <a:r>
              <a:rPr spc="-40" dirty="0"/>
              <a:t>info</a:t>
            </a:r>
            <a:r>
              <a:rPr spc="-35" dirty="0"/>
              <a:t> </a:t>
            </a:r>
            <a:r>
              <a:rPr spc="-30" dirty="0"/>
              <a:t>into</a:t>
            </a:r>
            <a:r>
              <a:rPr spc="-25" dirty="0"/>
              <a:t> </a:t>
            </a:r>
            <a:r>
              <a:rPr spc="-55" dirty="0"/>
              <a:t>some</a:t>
            </a:r>
            <a:r>
              <a:rPr spc="-50" dirty="0"/>
              <a:t> </a:t>
            </a:r>
            <a:r>
              <a:rPr spc="-25" dirty="0"/>
              <a:t>computer </a:t>
            </a:r>
            <a:r>
              <a:rPr spc="-20" dirty="0"/>
              <a:t> </a:t>
            </a:r>
            <a:r>
              <a:rPr spc="-35" dirty="0"/>
              <a:t>program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94297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497165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879270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20" dirty="0">
                <a:latin typeface="Times New Roman"/>
                <a:cs typeface="Times New Roman"/>
              </a:rPr>
              <a:t>Unsolvable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208573" y="857503"/>
            <a:ext cx="4192955" cy="2059067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206974" marR="34284">
              <a:lnSpc>
                <a:spcPct val="102600"/>
              </a:lnSpc>
              <a:spcBef>
                <a:spcPts val="55"/>
              </a:spcBef>
            </a:pPr>
            <a:r>
              <a:rPr spc="-30" dirty="0"/>
              <a:t>Suppose</a:t>
            </a:r>
            <a:r>
              <a:rPr spc="-25" dirty="0"/>
              <a:t> you </a:t>
            </a:r>
            <a:r>
              <a:rPr spc="-30" dirty="0"/>
              <a:t>are</a:t>
            </a:r>
            <a:r>
              <a:rPr spc="-25" dirty="0"/>
              <a:t> </a:t>
            </a:r>
            <a:r>
              <a:rPr spc="-30" dirty="0"/>
              <a:t>given</a:t>
            </a:r>
            <a:r>
              <a:rPr spc="-25" dirty="0"/>
              <a:t> </a:t>
            </a:r>
            <a:r>
              <a:rPr spc="-10" dirty="0"/>
              <a:t>a </a:t>
            </a:r>
            <a:r>
              <a:rPr spc="-25" dirty="0"/>
              <a:t>computer </a:t>
            </a:r>
            <a:r>
              <a:rPr spc="-35" dirty="0"/>
              <a:t>program</a:t>
            </a:r>
            <a:r>
              <a:rPr spc="-30" dirty="0"/>
              <a:t> and</a:t>
            </a:r>
            <a:r>
              <a:rPr spc="-25" dirty="0"/>
              <a:t> </a:t>
            </a:r>
            <a:r>
              <a:rPr spc="-10" dirty="0"/>
              <a:t>a </a:t>
            </a:r>
            <a:r>
              <a:rPr spc="-40" dirty="0"/>
              <a:t>precise </a:t>
            </a:r>
            <a:r>
              <a:rPr spc="-35" dirty="0"/>
              <a:t> </a:t>
            </a:r>
            <a:r>
              <a:rPr spc="-25" dirty="0"/>
              <a:t>specification</a:t>
            </a:r>
            <a:r>
              <a:rPr spc="-20" dirty="0"/>
              <a:t> </a:t>
            </a:r>
            <a:r>
              <a:rPr spc="-40" dirty="0"/>
              <a:t>of</a:t>
            </a:r>
            <a:r>
              <a:rPr spc="-35" dirty="0"/>
              <a:t> </a:t>
            </a:r>
            <a:r>
              <a:rPr spc="-10" dirty="0"/>
              <a:t>what </a:t>
            </a:r>
            <a:r>
              <a:rPr spc="5" dirty="0"/>
              <a:t>that </a:t>
            </a:r>
            <a:r>
              <a:rPr spc="-35" dirty="0"/>
              <a:t>program</a:t>
            </a:r>
            <a:r>
              <a:rPr spc="-30" dirty="0"/>
              <a:t> </a:t>
            </a:r>
            <a:r>
              <a:rPr spc="-35" dirty="0"/>
              <a:t>is</a:t>
            </a:r>
            <a:r>
              <a:rPr spc="-30" dirty="0"/>
              <a:t> </a:t>
            </a:r>
            <a:r>
              <a:rPr spc="-35" dirty="0"/>
              <a:t>supposed</a:t>
            </a:r>
            <a:r>
              <a:rPr spc="-30" dirty="0"/>
              <a:t> </a:t>
            </a:r>
            <a:r>
              <a:rPr spc="-5" dirty="0"/>
              <a:t>to </a:t>
            </a:r>
            <a:r>
              <a:rPr spc="-40" dirty="0"/>
              <a:t>do</a:t>
            </a:r>
            <a:r>
              <a:rPr spc="185" dirty="0"/>
              <a:t> </a:t>
            </a:r>
            <a:r>
              <a:rPr spc="-10" dirty="0"/>
              <a:t>(e.g., </a:t>
            </a:r>
            <a:r>
              <a:rPr spc="-20" dirty="0"/>
              <a:t>sort </a:t>
            </a:r>
            <a:r>
              <a:rPr spc="-10" dirty="0"/>
              <a:t>a </a:t>
            </a:r>
            <a:r>
              <a:rPr spc="-254" dirty="0"/>
              <a:t> </a:t>
            </a:r>
            <a:r>
              <a:rPr spc="-15" dirty="0"/>
              <a:t>list</a:t>
            </a:r>
            <a:r>
              <a:rPr spc="90" dirty="0"/>
              <a:t> </a:t>
            </a:r>
            <a:r>
              <a:rPr spc="-40" dirty="0"/>
              <a:t>of</a:t>
            </a:r>
            <a:r>
              <a:rPr spc="95" dirty="0"/>
              <a:t> </a:t>
            </a:r>
            <a:r>
              <a:rPr spc="-40" dirty="0"/>
              <a:t>numbers)</a:t>
            </a:r>
          </a:p>
          <a:p>
            <a:pPr marL="206974" marR="5079">
              <a:lnSpc>
                <a:spcPct val="102600"/>
              </a:lnSpc>
              <a:spcBef>
                <a:spcPts val="300"/>
              </a:spcBef>
            </a:pPr>
            <a:r>
              <a:rPr spc="-10" dirty="0"/>
              <a:t>You </a:t>
            </a:r>
            <a:r>
              <a:rPr spc="-45" dirty="0"/>
              <a:t>need</a:t>
            </a:r>
            <a:r>
              <a:rPr spc="-40" dirty="0"/>
              <a:t> </a:t>
            </a:r>
            <a:r>
              <a:rPr spc="-5" dirty="0"/>
              <a:t>to </a:t>
            </a:r>
            <a:r>
              <a:rPr spc="-15" dirty="0"/>
              <a:t>verify </a:t>
            </a:r>
            <a:r>
              <a:rPr spc="5" dirty="0"/>
              <a:t>that </a:t>
            </a:r>
            <a:r>
              <a:rPr spc="-20" dirty="0"/>
              <a:t>the</a:t>
            </a:r>
            <a:r>
              <a:rPr spc="-15" dirty="0"/>
              <a:t> </a:t>
            </a:r>
            <a:r>
              <a:rPr spc="-35" dirty="0"/>
              <a:t>program</a:t>
            </a:r>
            <a:r>
              <a:rPr spc="195" dirty="0"/>
              <a:t> </a:t>
            </a:r>
            <a:r>
              <a:rPr spc="-35" dirty="0"/>
              <a:t>performs</a:t>
            </a:r>
            <a:r>
              <a:rPr spc="195" dirty="0"/>
              <a:t> </a:t>
            </a:r>
            <a:r>
              <a:rPr spc="-30" dirty="0"/>
              <a:t>as</a:t>
            </a:r>
            <a:r>
              <a:rPr spc="204" dirty="0"/>
              <a:t> </a:t>
            </a:r>
            <a:r>
              <a:rPr spc="-30" dirty="0"/>
              <a:t>specified</a:t>
            </a:r>
            <a:r>
              <a:rPr spc="204" dirty="0"/>
              <a:t> </a:t>
            </a:r>
            <a:r>
              <a:rPr spc="-10" dirty="0"/>
              <a:t>(i.e., </a:t>
            </a:r>
            <a:r>
              <a:rPr spc="5" dirty="0"/>
              <a:t>it </a:t>
            </a:r>
            <a:r>
              <a:rPr spc="-254" dirty="0"/>
              <a:t> </a:t>
            </a:r>
            <a:r>
              <a:rPr spc="-35" dirty="0"/>
              <a:t>is</a:t>
            </a:r>
            <a:r>
              <a:rPr spc="90" dirty="0"/>
              <a:t> </a:t>
            </a:r>
            <a:r>
              <a:rPr spc="-15" dirty="0"/>
              <a:t>correct)</a:t>
            </a:r>
          </a:p>
          <a:p>
            <a:pPr marL="206974" marR="29840">
              <a:lnSpc>
                <a:spcPct val="102600"/>
              </a:lnSpc>
              <a:spcBef>
                <a:spcPts val="300"/>
              </a:spcBef>
            </a:pPr>
            <a:r>
              <a:rPr spc="-35" dirty="0"/>
              <a:t>Since</a:t>
            </a:r>
            <a:r>
              <a:rPr spc="100" dirty="0"/>
              <a:t> </a:t>
            </a:r>
            <a:r>
              <a:rPr spc="-5" dirty="0"/>
              <a:t>both</a:t>
            </a:r>
            <a:r>
              <a:rPr spc="105" dirty="0"/>
              <a:t> </a:t>
            </a:r>
            <a:r>
              <a:rPr spc="-20" dirty="0"/>
              <a:t>the</a:t>
            </a:r>
            <a:r>
              <a:rPr spc="105" dirty="0"/>
              <a:t> </a:t>
            </a:r>
            <a:r>
              <a:rPr spc="-35" dirty="0"/>
              <a:t>program</a:t>
            </a:r>
            <a:r>
              <a:rPr spc="105" dirty="0"/>
              <a:t> </a:t>
            </a:r>
            <a:r>
              <a:rPr spc="-30" dirty="0"/>
              <a:t>and</a:t>
            </a:r>
            <a:r>
              <a:rPr spc="105" dirty="0"/>
              <a:t> </a:t>
            </a:r>
            <a:r>
              <a:rPr spc="-20" dirty="0"/>
              <a:t>the</a:t>
            </a:r>
            <a:r>
              <a:rPr spc="105" dirty="0"/>
              <a:t> </a:t>
            </a:r>
            <a:r>
              <a:rPr spc="-25" dirty="0"/>
              <a:t>specification</a:t>
            </a:r>
            <a:r>
              <a:rPr spc="105" dirty="0"/>
              <a:t> </a:t>
            </a:r>
            <a:r>
              <a:rPr spc="-30" dirty="0"/>
              <a:t>are</a:t>
            </a:r>
            <a:r>
              <a:rPr spc="105" dirty="0"/>
              <a:t> </a:t>
            </a:r>
            <a:r>
              <a:rPr spc="-15" dirty="0"/>
              <a:t>mathematically </a:t>
            </a:r>
            <a:r>
              <a:rPr spc="-250" dirty="0"/>
              <a:t> </a:t>
            </a:r>
            <a:r>
              <a:rPr spc="-40" dirty="0"/>
              <a:t>precise</a:t>
            </a:r>
            <a:r>
              <a:rPr spc="-35" dirty="0"/>
              <a:t> </a:t>
            </a:r>
            <a:r>
              <a:rPr spc="-15" dirty="0"/>
              <a:t>objects </a:t>
            </a:r>
            <a:r>
              <a:rPr spc="-55" dirty="0"/>
              <a:t>we</a:t>
            </a:r>
            <a:r>
              <a:rPr spc="-50" dirty="0"/>
              <a:t> </a:t>
            </a:r>
            <a:r>
              <a:rPr spc="-25" dirty="0"/>
              <a:t>might</a:t>
            </a:r>
            <a:r>
              <a:rPr spc="-20" dirty="0"/>
              <a:t> </a:t>
            </a:r>
            <a:r>
              <a:rPr spc="-25" dirty="0"/>
              <a:t>believe/hope</a:t>
            </a:r>
            <a:r>
              <a:rPr spc="-20" dirty="0"/>
              <a:t> </a:t>
            </a:r>
            <a:r>
              <a:rPr spc="5" dirty="0"/>
              <a:t>that </a:t>
            </a:r>
            <a:r>
              <a:rPr spc="-55" dirty="0"/>
              <a:t>we</a:t>
            </a:r>
            <a:r>
              <a:rPr spc="-50" dirty="0"/>
              <a:t> </a:t>
            </a:r>
            <a:r>
              <a:rPr spc="-25" dirty="0"/>
              <a:t>can</a:t>
            </a:r>
            <a:r>
              <a:rPr spc="-20" dirty="0"/>
              <a:t> </a:t>
            </a:r>
            <a:r>
              <a:rPr spc="-15" dirty="0"/>
              <a:t>automate </a:t>
            </a:r>
            <a:r>
              <a:rPr spc="-20" dirty="0"/>
              <a:t>the </a:t>
            </a:r>
            <a:r>
              <a:rPr spc="-254" dirty="0"/>
              <a:t> </a:t>
            </a:r>
            <a:r>
              <a:rPr spc="-35" dirty="0"/>
              <a:t>process</a:t>
            </a:r>
            <a:r>
              <a:rPr spc="-30" dirty="0"/>
              <a:t> </a:t>
            </a:r>
            <a:r>
              <a:rPr spc="-40" dirty="0"/>
              <a:t>of</a:t>
            </a:r>
            <a:r>
              <a:rPr spc="-35" dirty="0"/>
              <a:t> </a:t>
            </a:r>
            <a:r>
              <a:rPr spc="-25" dirty="0"/>
              <a:t>verification</a:t>
            </a:r>
            <a:r>
              <a:rPr spc="-20" dirty="0"/>
              <a:t> </a:t>
            </a:r>
            <a:r>
              <a:rPr spc="-5" dirty="0"/>
              <a:t>by </a:t>
            </a:r>
            <a:r>
              <a:rPr spc="-40" dirty="0"/>
              <a:t>feeding</a:t>
            </a:r>
            <a:r>
              <a:rPr spc="-35" dirty="0"/>
              <a:t> </a:t>
            </a:r>
            <a:r>
              <a:rPr spc="-20" dirty="0"/>
              <a:t>this </a:t>
            </a:r>
            <a:r>
              <a:rPr spc="-40" dirty="0"/>
              <a:t>info</a:t>
            </a:r>
            <a:r>
              <a:rPr spc="-35" dirty="0"/>
              <a:t> </a:t>
            </a:r>
            <a:r>
              <a:rPr spc="-30" dirty="0"/>
              <a:t>into</a:t>
            </a:r>
            <a:r>
              <a:rPr spc="-25" dirty="0"/>
              <a:t> </a:t>
            </a:r>
            <a:r>
              <a:rPr spc="-55" dirty="0"/>
              <a:t>some</a:t>
            </a:r>
            <a:r>
              <a:rPr spc="-50" dirty="0"/>
              <a:t> </a:t>
            </a:r>
            <a:r>
              <a:rPr spc="-25" dirty="0"/>
              <a:t>computer </a:t>
            </a:r>
            <a:r>
              <a:rPr spc="-20" dirty="0"/>
              <a:t> </a:t>
            </a:r>
            <a:r>
              <a:rPr spc="-35" dirty="0"/>
              <a:t>program</a:t>
            </a:r>
          </a:p>
          <a:p>
            <a:pPr marL="206974" marR="278716">
              <a:lnSpc>
                <a:spcPct val="102600"/>
              </a:lnSpc>
              <a:spcBef>
                <a:spcPts val="300"/>
              </a:spcBef>
            </a:pPr>
            <a:r>
              <a:rPr spc="-20" dirty="0"/>
              <a:t>Unfortunately,</a:t>
            </a:r>
            <a:r>
              <a:rPr spc="95" dirty="0"/>
              <a:t> </a:t>
            </a:r>
            <a:r>
              <a:rPr spc="-30" dirty="0"/>
              <a:t>general</a:t>
            </a:r>
            <a:r>
              <a:rPr spc="100" dirty="0"/>
              <a:t> </a:t>
            </a:r>
            <a:r>
              <a:rPr spc="-40" dirty="0"/>
              <a:t>problem</a:t>
            </a:r>
            <a:r>
              <a:rPr spc="100" dirty="0"/>
              <a:t> </a:t>
            </a:r>
            <a:r>
              <a:rPr spc="-40" dirty="0"/>
              <a:t>of</a:t>
            </a:r>
            <a:r>
              <a:rPr spc="100" dirty="0"/>
              <a:t> </a:t>
            </a:r>
            <a:r>
              <a:rPr spc="-30" dirty="0"/>
              <a:t>software</a:t>
            </a:r>
            <a:r>
              <a:rPr spc="100" dirty="0"/>
              <a:t> </a:t>
            </a:r>
            <a:r>
              <a:rPr spc="-25" dirty="0"/>
              <a:t>verification</a:t>
            </a:r>
            <a:r>
              <a:rPr spc="100" dirty="0"/>
              <a:t> </a:t>
            </a:r>
            <a:r>
              <a:rPr spc="-35" dirty="0"/>
              <a:t>is</a:t>
            </a:r>
            <a:r>
              <a:rPr spc="100" dirty="0"/>
              <a:t> </a:t>
            </a:r>
            <a:r>
              <a:rPr spc="-25" dirty="0"/>
              <a:t>not </a:t>
            </a:r>
            <a:r>
              <a:rPr spc="-250" dirty="0"/>
              <a:t> </a:t>
            </a:r>
            <a:r>
              <a:rPr spc="-30" dirty="0"/>
              <a:t>solvable</a:t>
            </a:r>
            <a:r>
              <a:rPr spc="90" dirty="0"/>
              <a:t> </a:t>
            </a:r>
            <a:r>
              <a:rPr spc="-5" dirty="0"/>
              <a:t>by</a:t>
            </a:r>
            <a:r>
              <a:rPr spc="95" dirty="0"/>
              <a:t> </a:t>
            </a:r>
            <a:r>
              <a:rPr spc="-30" dirty="0"/>
              <a:t>computers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94297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497165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879270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2605533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20" dirty="0">
                <a:latin typeface="Times New Roman"/>
                <a:cs typeface="Times New Roman"/>
              </a:rPr>
              <a:t>Unsolvable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744" y="1072665"/>
            <a:ext cx="4122306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4064C"/>
                </a:solidFill>
                <a:latin typeface="Georgia"/>
                <a:cs typeface="Georgia"/>
              </a:rPr>
              <a:t>10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5"/>
              </a:spcBef>
            </a:pP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2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undecidable</a:t>
            </a:r>
            <a:r>
              <a:rPr sz="1100" i="1" spc="20" dirty="0">
                <a:latin typeface="Palatino Linotype"/>
                <a:cs typeface="Palatino Linotype"/>
              </a:rPr>
              <a:t>,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735201">
              <a:spcBef>
                <a:spcPts val="1135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04" baseline="-10416" dirty="0">
                <a:latin typeface="Palatino Linotype"/>
                <a:cs typeface="Palatino Linotype"/>
              </a:rPr>
              <a:t>TM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T</a:t>
            </a:r>
            <a:r>
              <a:rPr sz="1100" i="1" spc="25" dirty="0">
                <a:latin typeface="Palatino Linotype"/>
                <a:cs typeface="Palatino Linotype"/>
              </a:rPr>
              <a:t>M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20" dirty="0">
                <a:latin typeface="Times New Roman"/>
                <a:cs typeface="Times New Roman"/>
              </a:rPr>
              <a:t>Unsolvable</a:t>
            </a:r>
            <a:r>
              <a:rPr b="0" spc="105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744" y="1072665"/>
            <a:ext cx="3747770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55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4064C"/>
                </a:solidFill>
                <a:latin typeface="Georgia"/>
                <a:cs typeface="Georgia"/>
              </a:rPr>
              <a:t>10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5"/>
              </a:spcBef>
            </a:pP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2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undecidable</a:t>
            </a:r>
            <a:r>
              <a:rPr sz="1100" i="1" spc="20" dirty="0">
                <a:latin typeface="Palatino Linotype"/>
                <a:cs typeface="Palatino Linotype"/>
              </a:rPr>
              <a:t>,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735201">
              <a:spcBef>
                <a:spcPts val="1135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04" baseline="-10416" dirty="0">
                <a:latin typeface="Palatino Linotype"/>
                <a:cs typeface="Palatino Linotype"/>
              </a:rPr>
              <a:t>TM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T</a:t>
            </a:r>
            <a:r>
              <a:rPr sz="1100" i="1" spc="25" dirty="0">
                <a:latin typeface="Palatino Linotype"/>
                <a:cs typeface="Palatino Linotype"/>
              </a:rPr>
              <a:t>M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6344" y="2284753"/>
            <a:ext cx="2974975" cy="234759"/>
          </a:xfrm>
          <a:prstGeom prst="rect">
            <a:avLst/>
          </a:prstGeom>
        </p:spPr>
        <p:txBody>
          <a:bodyPr vert="horz" wrap="square" lIns="0" tIns="17142" rIns="0" bIns="0" rtlCol="0">
            <a:spAutoFit/>
          </a:bodyPr>
          <a:lstStyle/>
          <a:p>
            <a:pPr marL="38093">
              <a:spcBef>
                <a:spcPts val="135"/>
              </a:spcBef>
            </a:pPr>
            <a:r>
              <a:rPr sz="1400" i="1" spc="35" dirty="0">
                <a:latin typeface="Comic Sans MS"/>
                <a:cs typeface="Comic Sans MS"/>
              </a:rPr>
              <a:t>A</a:t>
            </a:r>
            <a:r>
              <a:rPr sz="1500" spc="52" baseline="-11111" dirty="0">
                <a:latin typeface="Georgia"/>
                <a:cs typeface="Georgia"/>
              </a:rPr>
              <a:t>TM</a:t>
            </a:r>
            <a:r>
              <a:rPr sz="1500" spc="405" baseline="-11111" dirty="0">
                <a:latin typeface="Georgia"/>
                <a:cs typeface="Georgia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is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25" dirty="0">
                <a:latin typeface="Times New Roman"/>
                <a:cs typeface="Times New Roman"/>
              </a:rPr>
              <a:t>called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75" dirty="0">
                <a:latin typeface="Times New Roman"/>
                <a:cs typeface="Times New Roman"/>
              </a:rPr>
              <a:t>the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b="1" spc="50" dirty="0">
                <a:latin typeface="Palatino Linotype"/>
                <a:cs typeface="Palatino Linotype"/>
              </a:rPr>
              <a:t>Halting</a:t>
            </a:r>
            <a:r>
              <a:rPr sz="1400" b="1" spc="180" dirty="0">
                <a:latin typeface="Palatino Linotype"/>
                <a:cs typeface="Palatino Linotype"/>
              </a:rPr>
              <a:t> </a:t>
            </a:r>
            <a:r>
              <a:rPr sz="1400" b="1" spc="70" dirty="0">
                <a:latin typeface="Palatino Linotype"/>
                <a:cs typeface="Palatino Linotype"/>
              </a:rPr>
              <a:t>Problem</a:t>
            </a:r>
            <a:endParaRPr sz="1400">
              <a:latin typeface="Palatino Linotype"/>
              <a:cs typeface="Palatino Linotyp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11415" y="2311121"/>
            <a:ext cx="2985770" cy="247015"/>
            <a:chOff x="811415" y="2311120"/>
            <a:chExt cx="2985770" cy="247015"/>
          </a:xfrm>
        </p:grpSpPr>
        <p:sp>
          <p:nvSpPr>
            <p:cNvPr id="19" name="object 19"/>
            <p:cNvSpPr/>
            <p:nvPr/>
          </p:nvSpPr>
          <p:spPr>
            <a:xfrm>
              <a:off x="811415" y="2313648"/>
              <a:ext cx="2985770" cy="0"/>
            </a:xfrm>
            <a:custGeom>
              <a:avLst/>
              <a:gdLst/>
              <a:ahLst/>
              <a:cxnLst/>
              <a:rect l="l" t="t" r="r" b="b"/>
              <a:pathLst>
                <a:path w="2985770">
                  <a:moveTo>
                    <a:pt x="0" y="0"/>
                  </a:moveTo>
                  <a:lnTo>
                    <a:pt x="29851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3955" y="2313660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24190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4048" y="2313660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24190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1415" y="2555570"/>
              <a:ext cx="2985770" cy="0"/>
            </a:xfrm>
            <a:custGeom>
              <a:avLst/>
              <a:gdLst/>
              <a:ahLst/>
              <a:cxnLst/>
              <a:rect l="l" t="t" r="r" b="b"/>
              <a:pathLst>
                <a:path w="2985770">
                  <a:moveTo>
                    <a:pt x="0" y="0"/>
                  </a:moveTo>
                  <a:lnTo>
                    <a:pt x="298516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80" dirty="0">
                <a:latin typeface="Times New Roman"/>
                <a:cs typeface="Times New Roman"/>
              </a:rPr>
              <a:t>The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Halting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60" dirty="0">
                <a:latin typeface="Times New Roman"/>
                <a:cs typeface="Times New Roman"/>
              </a:rPr>
              <a:t>Problem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744" y="739239"/>
            <a:ext cx="4198506" cy="7302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50791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60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5" dirty="0">
                <a:solidFill>
                  <a:srgbClr val="04064C"/>
                </a:solidFill>
                <a:latin typeface="Georgia"/>
                <a:cs typeface="Georgia"/>
              </a:rPr>
              <a:t>14</a:t>
            </a:r>
            <a:endParaRPr sz="1100" dirty="0">
              <a:latin typeface="Georgia"/>
              <a:cs typeface="Georgia"/>
            </a:endParaRPr>
          </a:p>
          <a:p>
            <a:pPr marL="50791">
              <a:spcBef>
                <a:spcPts val="225"/>
              </a:spcBef>
            </a:pP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2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undecidable</a:t>
            </a:r>
            <a:r>
              <a:rPr sz="1100" i="1" spc="20" dirty="0">
                <a:latin typeface="Palatino Linotype"/>
                <a:cs typeface="Palatino Linotype"/>
              </a:rPr>
              <a:t>,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735201">
              <a:spcBef>
                <a:spcPts val="1135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04" baseline="-10416" dirty="0">
                <a:latin typeface="Palatino Linotype"/>
                <a:cs typeface="Palatino Linotype"/>
              </a:rPr>
              <a:t>TM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T</a:t>
            </a:r>
            <a:r>
              <a:rPr sz="1100" i="1" spc="25" dirty="0">
                <a:latin typeface="Palatino Linotype"/>
                <a:cs typeface="Palatino Linotype"/>
              </a:rPr>
              <a:t>M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80" dirty="0">
                <a:latin typeface="Times New Roman"/>
                <a:cs typeface="Times New Roman"/>
              </a:rPr>
              <a:t>The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Halting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60" dirty="0">
                <a:latin typeface="Times New Roman"/>
                <a:cs typeface="Times New Roman"/>
              </a:rPr>
              <a:t>Problem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7744" y="787348"/>
            <a:ext cx="4483735" cy="771525"/>
            <a:chOff x="87743" y="787348"/>
            <a:chExt cx="4483735" cy="771525"/>
          </a:xfrm>
        </p:grpSpPr>
        <p:sp>
          <p:nvSpPr>
            <p:cNvPr id="6" name="object 6"/>
            <p:cNvSpPr/>
            <p:nvPr/>
          </p:nvSpPr>
          <p:spPr>
            <a:xfrm>
              <a:off x="87743" y="787348"/>
              <a:ext cx="4432935" cy="178435"/>
            </a:xfrm>
            <a:custGeom>
              <a:avLst/>
              <a:gdLst/>
              <a:ahLst/>
              <a:cxnLst/>
              <a:rect l="l" t="t" r="r" b="b"/>
              <a:pathLst>
                <a:path w="4432935" h="17843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7826"/>
                  </a:lnTo>
                  <a:lnTo>
                    <a:pt x="4432566" y="177826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FCB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52525"/>
              <a:ext cx="4432565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57071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44370"/>
              <a:ext cx="4381715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831583"/>
              <a:ext cx="50749" cy="6254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996804"/>
              <a:ext cx="4432935" cy="511175"/>
            </a:xfrm>
            <a:custGeom>
              <a:avLst/>
              <a:gdLst/>
              <a:ahLst/>
              <a:cxnLst/>
              <a:rect l="l" t="t" r="r" b="b"/>
              <a:pathLst>
                <a:path w="4432935" h="511175">
                  <a:moveTo>
                    <a:pt x="4432566" y="0"/>
                  </a:moveTo>
                  <a:lnTo>
                    <a:pt x="0" y="0"/>
                  </a:lnTo>
                  <a:lnTo>
                    <a:pt x="0" y="460266"/>
                  </a:lnTo>
                  <a:lnTo>
                    <a:pt x="4008" y="479991"/>
                  </a:lnTo>
                  <a:lnTo>
                    <a:pt x="14922" y="496144"/>
                  </a:lnTo>
                  <a:lnTo>
                    <a:pt x="31075" y="507058"/>
                  </a:lnTo>
                  <a:lnTo>
                    <a:pt x="50800" y="511067"/>
                  </a:lnTo>
                  <a:lnTo>
                    <a:pt x="4381765" y="511067"/>
                  </a:lnTo>
                  <a:lnTo>
                    <a:pt x="4401490" y="507058"/>
                  </a:lnTo>
                  <a:lnTo>
                    <a:pt x="4417643" y="496144"/>
                  </a:lnTo>
                  <a:lnTo>
                    <a:pt x="4428558" y="479991"/>
                  </a:lnTo>
                  <a:lnTo>
                    <a:pt x="4432566" y="46026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EE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683"/>
              <a:ext cx="0" cy="607060"/>
            </a:xfrm>
            <a:custGeom>
              <a:avLst/>
              <a:gdLst/>
              <a:ahLst/>
              <a:cxnLst/>
              <a:rect l="l" t="t" r="r" b="b"/>
              <a:pathLst>
                <a:path h="607060">
                  <a:moveTo>
                    <a:pt x="0" y="6064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9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10" y="8442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10" y="8315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4" y="1740751"/>
            <a:ext cx="63233" cy="6323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4" y="1950784"/>
            <a:ext cx="63233" cy="632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6944" y="739240"/>
            <a:ext cx="4459605" cy="18683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41903" rIns="0" bIns="0" rtlCol="0">
            <a:spAutoFit/>
          </a:bodyPr>
          <a:lstStyle/>
          <a:p>
            <a:pPr marL="101582">
              <a:spcBef>
                <a:spcPts val="330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60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-5" dirty="0">
                <a:solidFill>
                  <a:srgbClr val="04064C"/>
                </a:solidFill>
                <a:latin typeface="Georgia"/>
                <a:cs typeface="Georgia"/>
              </a:rPr>
              <a:t>14</a:t>
            </a:r>
            <a:endParaRPr sz="1100" dirty="0">
              <a:latin typeface="Georgia"/>
              <a:cs typeface="Georgia"/>
            </a:endParaRPr>
          </a:p>
          <a:p>
            <a:pPr marL="101582">
              <a:spcBef>
                <a:spcPts val="225"/>
              </a:spcBef>
            </a:pP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22" baseline="-10416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9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undecidable</a:t>
            </a:r>
            <a:r>
              <a:rPr sz="1100" i="1" spc="20" dirty="0">
                <a:latin typeface="Palatino Linotype"/>
                <a:cs typeface="Palatino Linotype"/>
              </a:rPr>
              <a:t>,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where</a:t>
            </a:r>
            <a:endParaRPr sz="1100" dirty="0">
              <a:latin typeface="Palatino Linotype"/>
              <a:cs typeface="Palatino Linotype"/>
            </a:endParaRPr>
          </a:p>
          <a:p>
            <a:pPr marL="74282" algn="ctr">
              <a:spcBef>
                <a:spcPts val="1135"/>
              </a:spcBef>
            </a:pP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04" baseline="-10416" dirty="0">
                <a:latin typeface="Palatino Linotype"/>
                <a:cs typeface="Palatino Linotype"/>
              </a:rPr>
              <a:t>TM </a:t>
            </a:r>
            <a:r>
              <a:rPr sz="1200" spc="-75" baseline="-10416" dirty="0">
                <a:latin typeface="Palatino Linotype"/>
                <a:cs typeface="Palatino Linotype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Cambria"/>
                <a:cs typeface="Cambria"/>
              </a:rPr>
              <a:t>{</a:t>
            </a:r>
            <a:r>
              <a:rPr sz="1100" spc="65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5" dirty="0">
                <a:latin typeface="Cambria"/>
                <a:cs typeface="Cambria"/>
              </a:rPr>
              <a:t>⟩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</a:t>
            </a:r>
            <a:r>
              <a:rPr sz="1100" i="1" spc="25" dirty="0">
                <a:latin typeface="Palatino Linotype"/>
                <a:cs typeface="Palatino Linotype"/>
              </a:rPr>
              <a:t>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6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T</a:t>
            </a:r>
            <a:r>
              <a:rPr sz="1100" i="1" spc="25" dirty="0">
                <a:latin typeface="Palatino Linotype"/>
                <a:cs typeface="Palatino Linotype"/>
              </a:rPr>
              <a:t>M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 </a:t>
            </a: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114" dirty="0">
                <a:latin typeface="Cambria"/>
                <a:cs typeface="Cambria"/>
              </a:rPr>
              <a:t>}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378394" algn="just">
              <a:spcBef>
                <a:spcPts val="1650"/>
              </a:spcBef>
            </a:pPr>
            <a:r>
              <a:rPr sz="1100" spc="-25" dirty="0">
                <a:latin typeface="Georgia"/>
                <a:cs typeface="Georgia"/>
              </a:rPr>
              <a:t>Assume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284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decidable</a:t>
            </a:r>
            <a:endParaRPr sz="1100" dirty="0">
              <a:latin typeface="Georgia"/>
              <a:cs typeface="Georgia"/>
            </a:endParaRPr>
          </a:p>
          <a:p>
            <a:pPr marL="378394" marR="68568" algn="just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Georgia"/>
                <a:cs typeface="Georgia"/>
              </a:rPr>
              <a:t>Sup</a:t>
            </a:r>
            <a:r>
              <a:rPr sz="1100" spc="5" dirty="0">
                <a:latin typeface="Georgia"/>
                <a:cs typeface="Georgia"/>
              </a:rPr>
              <a:t>p</a:t>
            </a:r>
            <a:r>
              <a:rPr sz="1100" spc="-50" dirty="0">
                <a:latin typeface="Georgia"/>
                <a:cs typeface="Georgia"/>
              </a:rPr>
              <a:t>ose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20" dirty="0">
                <a:latin typeface="Calibri"/>
                <a:cs typeface="Calibri"/>
              </a:rPr>
              <a:t>H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4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decide</a:t>
            </a:r>
            <a:r>
              <a:rPr sz="1100" spc="-30" dirty="0">
                <a:latin typeface="Georgia"/>
                <a:cs typeface="Georgia"/>
              </a:rPr>
              <a:t>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fo</a:t>
            </a:r>
            <a:r>
              <a:rPr sz="1100" spc="-35" dirty="0">
                <a:latin typeface="Georgia"/>
                <a:cs typeface="Georgia"/>
              </a:rPr>
              <a:t>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180" dirty="0">
                <a:latin typeface="Calibri"/>
                <a:cs typeface="Calibri"/>
              </a:rPr>
              <a:t>A</a:t>
            </a:r>
            <a:r>
              <a:rPr sz="1200" spc="104" baseline="-10416" dirty="0">
                <a:latin typeface="Palatino Linotype"/>
                <a:cs typeface="Palatino Linotype"/>
              </a:rPr>
              <a:t>TM</a:t>
            </a:r>
            <a:r>
              <a:rPr sz="1200" baseline="-10416" dirty="0">
                <a:latin typeface="Palatino Linotype"/>
                <a:cs typeface="Palatino Linotype"/>
              </a:rPr>
              <a:t> </a:t>
            </a:r>
            <a:r>
              <a:rPr sz="1200" spc="15" baseline="-10416" dirty="0">
                <a:latin typeface="Palatino Linotype"/>
                <a:cs typeface="Palatino Linotype"/>
              </a:rPr>
              <a:t> </a:t>
            </a:r>
            <a:r>
              <a:rPr sz="1100" spc="-15" dirty="0">
                <a:latin typeface="Georgia"/>
                <a:cs typeface="Georgia"/>
              </a:rPr>
              <a:t>i.e.</a:t>
            </a:r>
            <a:r>
              <a:rPr sz="1100" spc="-1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</a:t>
            </a:r>
            <a:r>
              <a:rPr sz="1100" spc="-1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 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40" dirty="0">
                <a:latin typeface="Georgia"/>
                <a:cs typeface="Georgia"/>
              </a:rPr>
              <a:t>TM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22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15" dirty="0">
                <a:latin typeface="Georgia"/>
                <a:cs typeface="Georgia"/>
              </a:rPr>
              <a:t>string, </a:t>
            </a:r>
            <a:r>
              <a:rPr sz="1100" i="1" spc="220" dirty="0">
                <a:latin typeface="Calibri"/>
                <a:cs typeface="Calibri"/>
              </a:rPr>
              <a:t>H </a:t>
            </a:r>
            <a:r>
              <a:rPr sz="1100" spc="-15" dirty="0">
                <a:latin typeface="Georgia"/>
                <a:cs typeface="Georgia"/>
              </a:rPr>
              <a:t>halts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22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 </a:t>
            </a:r>
            <a:r>
              <a:rPr sz="1100" spc="-20" dirty="0">
                <a:latin typeface="Georgia"/>
                <a:cs typeface="Georgia"/>
              </a:rPr>
              <a:t>accepts </a:t>
            </a:r>
            <a:r>
              <a:rPr sz="1100" i="1" spc="10" dirty="0">
                <a:latin typeface="Calibri"/>
                <a:cs typeface="Calibri"/>
              </a:rPr>
              <a:t>w</a:t>
            </a:r>
            <a:r>
              <a:rPr sz="1100" spc="10" dirty="0">
                <a:latin typeface="Georgia"/>
                <a:cs typeface="Georgia"/>
              </a:rPr>
              <a:t>,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220" dirty="0">
                <a:latin typeface="Calibri"/>
                <a:cs typeface="Calibri"/>
              </a:rPr>
              <a:t>H</a:t>
            </a:r>
            <a:r>
              <a:rPr sz="1100" i="1" spc="200" dirty="0">
                <a:latin typeface="Calibri"/>
                <a:cs typeface="Calibri"/>
              </a:rPr>
              <a:t> </a:t>
            </a:r>
            <a:r>
              <a:rPr sz="1100" spc="-15" dirty="0">
                <a:latin typeface="Georgia"/>
                <a:cs typeface="Georgia"/>
              </a:rPr>
              <a:t>halts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rejects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35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fails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145" dirty="0">
                <a:latin typeface="Calibri"/>
                <a:cs typeface="Calibri"/>
              </a:rPr>
              <a:t> </a:t>
            </a:r>
            <a:r>
              <a:rPr sz="1100" spc="-25" dirty="0">
                <a:latin typeface="Georgia"/>
                <a:cs typeface="Georgia"/>
              </a:rPr>
              <a:t>or,</a:t>
            </a:r>
            <a:endParaRPr sz="1100" dirty="0">
              <a:latin typeface="Georgia"/>
              <a:cs typeface="Georgia"/>
            </a:endParaRPr>
          </a:p>
          <a:p>
            <a:pPr marR="903447" algn="ctr">
              <a:spcBef>
                <a:spcPts val="229"/>
              </a:spcBef>
            </a:pPr>
            <a:r>
              <a:rPr sz="1000" spc="475" dirty="0">
                <a:latin typeface="Lucida Sans Unicode"/>
                <a:cs typeface="Lucida Sans Unicode"/>
              </a:rPr>
              <a:t>(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223" y="2703838"/>
            <a:ext cx="820419" cy="18239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</a:pPr>
            <a:r>
              <a:rPr sz="1100" i="1" spc="305" dirty="0">
                <a:latin typeface="Calibri"/>
                <a:cs typeface="Calibri"/>
              </a:rPr>
              <a:t>H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70" dirty="0">
                <a:latin typeface="Calibri"/>
                <a:cs typeface="Calibri"/>
              </a:rPr>
              <a:t>M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12378" y="2613106"/>
            <a:ext cx="1980564" cy="363855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  <a:tabLst>
                <a:tab pos="512990" algn="l"/>
              </a:tabLst>
            </a:pPr>
            <a:r>
              <a:rPr sz="1100" i="1" spc="20" dirty="0">
                <a:latin typeface="Palatino Linotype"/>
                <a:cs typeface="Palatino Linotype"/>
              </a:rPr>
              <a:t>accept	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15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endParaRPr sz="1100" dirty="0">
              <a:latin typeface="Calibri"/>
              <a:cs typeface="Calibri"/>
            </a:endParaRPr>
          </a:p>
          <a:p>
            <a:pPr marL="12698">
              <a:spcBef>
                <a:spcPts val="35"/>
              </a:spcBef>
              <a:tabLst>
                <a:tab pos="512990" algn="l"/>
              </a:tabLst>
            </a:pPr>
            <a:r>
              <a:rPr sz="1100" i="1" spc="20" dirty="0">
                <a:latin typeface="Palatino Linotype"/>
                <a:cs typeface="Palatino Linotype"/>
              </a:rPr>
              <a:t>reject	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25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does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0" dirty="0">
                <a:latin typeface="Calibri"/>
                <a:cs typeface="Calibri"/>
              </a:rPr>
              <a:t>w.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80" dirty="0">
                <a:latin typeface="Times New Roman"/>
                <a:cs typeface="Times New Roman"/>
              </a:rPr>
              <a:t>The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50" dirty="0">
                <a:latin typeface="Times New Roman"/>
                <a:cs typeface="Times New Roman"/>
              </a:rPr>
              <a:t>Halting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60" dirty="0">
                <a:latin typeface="Times New Roman"/>
                <a:cs typeface="Times New Roman"/>
              </a:rPr>
              <a:t>Problem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77524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965022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16" y="1154456"/>
            <a:ext cx="50939" cy="509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516" y="1306284"/>
            <a:ext cx="50939" cy="509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666227"/>
            <a:ext cx="3963670" cy="109601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8" marR="765041">
              <a:lnSpc>
                <a:spcPct val="113199"/>
              </a:lnSpc>
              <a:spcBef>
                <a:spcPts val="100"/>
              </a:spcBef>
            </a:pPr>
            <a:r>
              <a:rPr sz="1100" spc="-45" dirty="0">
                <a:latin typeface="Georgia"/>
                <a:cs typeface="Georgia"/>
              </a:rPr>
              <a:t>Now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construct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new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r>
              <a:rPr sz="1100" i="1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20" dirty="0">
                <a:latin typeface="Calibri"/>
                <a:cs typeface="Calibri"/>
              </a:rPr>
              <a:t>H</a:t>
            </a:r>
            <a:r>
              <a:rPr sz="1100" i="1" spc="20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subroutine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O</a:t>
            </a:r>
            <a:r>
              <a:rPr sz="1100" spc="-10" dirty="0">
                <a:latin typeface="Georgia"/>
                <a:cs typeface="Georgia"/>
              </a:rPr>
              <a:t>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inpu</a:t>
            </a:r>
            <a:r>
              <a:rPr sz="1100" spc="4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TM,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endParaRPr sz="1100">
              <a:latin typeface="Calibri"/>
              <a:cs typeface="Calibri"/>
            </a:endParaRPr>
          </a:p>
          <a:p>
            <a:pPr marL="289510">
              <a:lnSpc>
                <a:spcPts val="1200"/>
              </a:lnSpc>
              <a:spcBef>
                <a:spcPts val="175"/>
              </a:spcBef>
            </a:pPr>
            <a:r>
              <a:rPr sz="1000" dirty="0">
                <a:latin typeface="Georgia"/>
                <a:cs typeface="Georgia"/>
              </a:rPr>
              <a:t>R</a:t>
            </a:r>
            <a:r>
              <a:rPr sz="1000" spc="-45" dirty="0">
                <a:latin typeface="Georgia"/>
                <a:cs typeface="Georgia"/>
              </a:rPr>
              <a:t>un</a:t>
            </a:r>
            <a:r>
              <a:rPr sz="1000" spc="-30" dirty="0">
                <a:latin typeface="Georgia"/>
                <a:cs typeface="Georgia"/>
              </a:rPr>
              <a:t>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H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spc="-40" dirty="0">
                <a:latin typeface="Georgia"/>
                <a:cs typeface="Georgia"/>
              </a:rPr>
              <a:t>on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inpu</a:t>
            </a:r>
            <a:r>
              <a:rPr sz="1000" spc="-10" dirty="0">
                <a:latin typeface="Georgia"/>
                <a:cs typeface="Georgia"/>
              </a:rPr>
              <a:t>t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Cambria"/>
                <a:cs typeface="Cambria"/>
              </a:rPr>
              <a:t>⟨</a:t>
            </a:r>
            <a:r>
              <a:rPr sz="1000" i="1" spc="160" dirty="0">
                <a:latin typeface="Calibri"/>
                <a:cs typeface="Calibri"/>
              </a:rPr>
              <a:t>M</a:t>
            </a:r>
            <a:r>
              <a:rPr sz="1000" i="1" spc="25" dirty="0">
                <a:latin typeface="Calibri"/>
                <a:cs typeface="Calibri"/>
              </a:rPr>
              <a:t>,</a:t>
            </a:r>
            <a:r>
              <a:rPr sz="1000" i="1" spc="-65" dirty="0">
                <a:latin typeface="Calibri"/>
                <a:cs typeface="Calibri"/>
              </a:rPr>
              <a:t> </a:t>
            </a:r>
            <a:r>
              <a:rPr sz="1000" spc="20" dirty="0">
                <a:latin typeface="Cambria"/>
                <a:cs typeface="Cambria"/>
              </a:rPr>
              <a:t>⟨</a:t>
            </a:r>
            <a:r>
              <a:rPr sz="1000" i="1" spc="110" dirty="0">
                <a:latin typeface="Calibri"/>
                <a:cs typeface="Calibri"/>
              </a:rPr>
              <a:t>M</a:t>
            </a:r>
            <a:r>
              <a:rPr sz="1000" i="1" spc="-120" dirty="0">
                <a:latin typeface="Calibri"/>
                <a:cs typeface="Calibri"/>
              </a:rPr>
              <a:t> </a:t>
            </a:r>
            <a:r>
              <a:rPr sz="1000" spc="20" dirty="0">
                <a:latin typeface="Cambria"/>
                <a:cs typeface="Cambria"/>
              </a:rPr>
              <a:t>⟩⟩</a:t>
            </a:r>
            <a:endParaRPr sz="1000">
              <a:latin typeface="Cambria"/>
              <a:cs typeface="Cambria"/>
            </a:endParaRPr>
          </a:p>
          <a:p>
            <a:pPr marL="289510" marR="5079">
              <a:lnSpc>
                <a:spcPts val="1200"/>
              </a:lnSpc>
              <a:spcBef>
                <a:spcPts val="40"/>
              </a:spcBef>
            </a:pPr>
            <a:r>
              <a:rPr sz="1000" spc="-5" dirty="0">
                <a:latin typeface="Georgia"/>
                <a:cs typeface="Georgia"/>
              </a:rPr>
              <a:t>Outputs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opposite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what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H</a:t>
            </a:r>
            <a:r>
              <a:rPr sz="1000" i="1" spc="195" dirty="0">
                <a:latin typeface="Calibri"/>
                <a:cs typeface="Calibri"/>
              </a:rPr>
              <a:t> </a:t>
            </a:r>
            <a:r>
              <a:rPr sz="1000" spc="-10" dirty="0">
                <a:latin typeface="Georgia"/>
                <a:cs typeface="Georgia"/>
              </a:rPr>
              <a:t>outputs,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i.e.,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H</a:t>
            </a:r>
            <a:r>
              <a:rPr sz="1000" i="1" spc="190" dirty="0">
                <a:latin typeface="Calibri"/>
                <a:cs typeface="Calibri"/>
              </a:rPr>
              <a:t> </a:t>
            </a:r>
            <a:r>
              <a:rPr sz="1000" spc="-10" dirty="0">
                <a:latin typeface="Georgia"/>
                <a:cs typeface="Georgia"/>
              </a:rPr>
              <a:t>accepts,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i="1" spc="15" dirty="0">
                <a:latin typeface="Palatino Linotype"/>
                <a:cs typeface="Palatino Linotype"/>
              </a:rPr>
              <a:t>reject</a:t>
            </a:r>
            <a:r>
              <a:rPr sz="1000" spc="15" dirty="0">
                <a:latin typeface="Georgia"/>
                <a:cs typeface="Georgia"/>
              </a:rPr>
              <a:t>,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if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i="1" spc="200" dirty="0">
                <a:latin typeface="Calibri"/>
                <a:cs typeface="Calibri"/>
              </a:rPr>
              <a:t>H</a:t>
            </a:r>
            <a:r>
              <a:rPr sz="1000" i="1" spc="185" dirty="0">
                <a:latin typeface="Calibri"/>
                <a:cs typeface="Calibri"/>
              </a:rPr>
              <a:t> </a:t>
            </a:r>
            <a:r>
              <a:rPr sz="1000" spc="-20" dirty="0">
                <a:latin typeface="Georgia"/>
                <a:cs typeface="Georgia"/>
              </a:rPr>
              <a:t>rejects,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20" dirty="0">
                <a:latin typeface="Palatino Linotype"/>
                <a:cs typeface="Palatino Linotype"/>
              </a:rPr>
              <a:t>accept</a:t>
            </a:r>
            <a:endParaRPr sz="1000">
              <a:latin typeface="Palatino Linotype"/>
              <a:cs typeface="Palatino Linotype"/>
            </a:endParaRPr>
          </a:p>
          <a:p>
            <a:pPr marL="12698">
              <a:spcBef>
                <a:spcPts val="305"/>
              </a:spcBef>
            </a:pPr>
            <a:r>
              <a:rPr sz="1100" spc="-40" dirty="0">
                <a:latin typeface="Georgia"/>
                <a:cs typeface="Georgia"/>
              </a:rPr>
              <a:t>In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summary,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1655851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973567"/>
            <a:ext cx="1206500" cy="98743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547909">
              <a:spcBef>
                <a:spcPts val="90"/>
              </a:spcBef>
            </a:pPr>
            <a:r>
              <a:rPr sz="1100" i="1" spc="254" dirty="0">
                <a:latin typeface="Calibri"/>
                <a:cs typeface="Calibri"/>
              </a:rPr>
              <a:t>D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12698">
              <a:spcBef>
                <a:spcPts val="1850"/>
              </a:spcBef>
            </a:pPr>
            <a:r>
              <a:rPr sz="1100" spc="-45" dirty="0">
                <a:latin typeface="Georgia"/>
                <a:cs typeface="Georgia"/>
              </a:rPr>
              <a:t>Now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consider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endParaRPr sz="1100">
              <a:latin typeface="Georgia"/>
              <a:cs typeface="Georgia"/>
            </a:endParaRPr>
          </a:p>
          <a:p>
            <a:pPr>
              <a:spcBef>
                <a:spcPts val="50"/>
              </a:spcBef>
            </a:pPr>
            <a:endParaRPr sz="1400">
              <a:latin typeface="Georgia"/>
              <a:cs typeface="Georgia"/>
            </a:endParaRPr>
          </a:p>
          <a:p>
            <a:pPr marL="594256"/>
            <a:r>
              <a:rPr sz="1100" i="1" spc="95" dirty="0">
                <a:latin typeface="Calibri"/>
                <a:cs typeface="Calibri"/>
              </a:rPr>
              <a:t>D</a:t>
            </a:r>
            <a:r>
              <a:rPr sz="1100" spc="95" dirty="0">
                <a:latin typeface="Georgia"/>
                <a:cs typeface="Georgia"/>
              </a:rPr>
              <a:t>(</a:t>
            </a:r>
            <a:r>
              <a:rPr sz="1100" spc="95" dirty="0">
                <a:latin typeface="Cambria"/>
                <a:cs typeface="Cambria"/>
              </a:rPr>
              <a:t>⟨</a:t>
            </a:r>
            <a:r>
              <a:rPr sz="1100" i="1" spc="95" dirty="0">
                <a:latin typeface="Calibri"/>
                <a:cs typeface="Calibri"/>
              </a:rPr>
              <a:t>D</a:t>
            </a:r>
            <a:r>
              <a:rPr sz="1100" spc="95" dirty="0">
                <a:latin typeface="Cambria"/>
                <a:cs typeface="Cambria"/>
              </a:rPr>
              <a:t>⟩</a:t>
            </a:r>
            <a:r>
              <a:rPr sz="1100" spc="95" dirty="0">
                <a:latin typeface="Georgia"/>
                <a:cs typeface="Georgia"/>
              </a:rPr>
              <a:t>)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6930" y="1766232"/>
            <a:ext cx="142875" cy="812052"/>
          </a:xfrm>
          <a:prstGeom prst="rect">
            <a:avLst/>
          </a:prstGeom>
        </p:spPr>
        <p:txBody>
          <a:bodyPr vert="horz" wrap="square" lIns="0" tIns="12063" rIns="0" bIns="0" rtlCol="0">
            <a:spAutoFit/>
          </a:bodyPr>
          <a:lstStyle/>
          <a:p>
            <a:pPr marL="12698">
              <a:spcBef>
                <a:spcPts val="95"/>
              </a:spcBef>
            </a:pPr>
            <a:r>
              <a:rPr sz="1000" spc="475" dirty="0">
                <a:latin typeface="Lucida Sans Unicode"/>
                <a:cs typeface="Lucida Sans Unicode"/>
              </a:rPr>
              <a:t>(</a:t>
            </a:r>
            <a:endParaRPr sz="1000">
              <a:latin typeface="Lucida Sans Unicode"/>
              <a:cs typeface="Lucida Sans Unicode"/>
            </a:endParaRPr>
          </a:p>
          <a:p>
            <a:pPr>
              <a:spcBef>
                <a:spcPts val="15"/>
              </a:spcBef>
            </a:pPr>
            <a:endParaRPr sz="3200">
              <a:latin typeface="Lucida Sans Unicode"/>
              <a:cs typeface="Lucida Sans Unicode"/>
            </a:endParaRPr>
          </a:p>
          <a:p>
            <a:pPr marL="27935"/>
            <a:r>
              <a:rPr sz="1000" spc="475" dirty="0">
                <a:latin typeface="Lucida Sans Unicode"/>
                <a:cs typeface="Lucida Sans Unicode"/>
              </a:rPr>
              <a:t>(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2120" y="1887307"/>
            <a:ext cx="390525" cy="363855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698" marR="5079">
              <a:lnSpc>
                <a:spcPct val="102699"/>
              </a:lnSpc>
              <a:spcBef>
                <a:spcPts val="55"/>
              </a:spcBef>
            </a:pP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  reject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2830" y="1887307"/>
            <a:ext cx="1595755" cy="18239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i</a:t>
            </a:r>
            <a:r>
              <a:rPr sz="1100" spc="-25" dirty="0">
                <a:latin typeface="Georgia"/>
                <a:cs typeface="Georgia"/>
              </a:rPr>
              <a:t>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d</a:t>
            </a:r>
            <a:r>
              <a:rPr sz="1100" spc="-10" dirty="0">
                <a:latin typeface="Georgia"/>
                <a:cs typeface="Georgia"/>
              </a:rPr>
              <a:t>o</a:t>
            </a:r>
            <a:r>
              <a:rPr sz="1100" spc="-50" dirty="0">
                <a:latin typeface="Georgia"/>
                <a:cs typeface="Georgia"/>
              </a:rPr>
              <a:t>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</a:t>
            </a:r>
            <a:r>
              <a:rPr sz="1100" spc="-15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</a:t>
            </a:r>
            <a:r>
              <a:rPr sz="1100" spc="-20" dirty="0">
                <a:latin typeface="Georgia"/>
                <a:cs typeface="Georgia"/>
              </a:rPr>
              <a:t>c</a:t>
            </a:r>
            <a:r>
              <a:rPr sz="1100" spc="-10" dirty="0">
                <a:latin typeface="Georgia"/>
                <a:cs typeface="Georgia"/>
              </a:rPr>
              <a:t>ept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25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2830" y="2059392"/>
            <a:ext cx="1129665" cy="18239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</a:pPr>
            <a:r>
              <a:rPr sz="1100" spc="-30" dirty="0">
                <a:latin typeface="Georgia"/>
                <a:cs typeface="Georgia"/>
              </a:rPr>
              <a:t>i</a:t>
            </a:r>
            <a:r>
              <a:rPr sz="1100" spc="-25" dirty="0">
                <a:latin typeface="Georgia"/>
                <a:cs typeface="Georgia"/>
              </a:rPr>
              <a:t>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Cambria"/>
                <a:cs typeface="Cambria"/>
              </a:rPr>
              <a:t>⟨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20" dirty="0">
                <a:latin typeface="Cambria"/>
                <a:cs typeface="Cambria"/>
              </a:rPr>
              <a:t>⟩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2461475"/>
            <a:ext cx="63233" cy="6323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787602" y="2665996"/>
            <a:ext cx="390525" cy="363855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698" marR="5079">
              <a:lnSpc>
                <a:spcPct val="102600"/>
              </a:lnSpc>
              <a:spcBef>
                <a:spcPts val="55"/>
              </a:spcBef>
            </a:pPr>
            <a:r>
              <a:rPr sz="1100" i="1" spc="60" dirty="0">
                <a:latin typeface="Palatino Linotype"/>
                <a:cs typeface="Palatino Linotype"/>
              </a:rPr>
              <a:t>a</a:t>
            </a:r>
            <a:r>
              <a:rPr sz="1100" i="1" spc="-5" dirty="0">
                <a:latin typeface="Palatino Linotype"/>
                <a:cs typeface="Palatino Linotype"/>
              </a:rPr>
              <a:t>c</a:t>
            </a:r>
            <a:r>
              <a:rPr sz="1100" i="1" spc="-10" dirty="0">
                <a:latin typeface="Palatino Linotype"/>
                <a:cs typeface="Palatino Linotype"/>
              </a:rPr>
              <a:t>c</a:t>
            </a:r>
            <a:r>
              <a:rPr sz="1100" i="1" spc="20" dirty="0">
                <a:latin typeface="Palatino Linotype"/>
                <a:cs typeface="Palatino Linotype"/>
              </a:rPr>
              <a:t>ept  reject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8312" y="2665995"/>
            <a:ext cx="1533525" cy="18239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spc="-40" dirty="0">
                <a:latin typeface="Georgia"/>
                <a:cs typeface="Georgia"/>
              </a:rPr>
              <a:t>does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00" dirty="0">
                <a:latin typeface="Cambria"/>
                <a:cs typeface="Cambria"/>
              </a:rPr>
              <a:t>⟨</a:t>
            </a:r>
            <a:r>
              <a:rPr sz="1100" i="1" spc="100" dirty="0">
                <a:latin typeface="Calibri"/>
                <a:cs typeface="Calibri"/>
              </a:rPr>
              <a:t>D</a:t>
            </a:r>
            <a:r>
              <a:rPr sz="1100" spc="100" dirty="0">
                <a:latin typeface="Cambria"/>
                <a:cs typeface="Cambria"/>
              </a:rPr>
              <a:t>⟩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88311" y="2838067"/>
            <a:ext cx="1068070" cy="182392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8"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r>
              <a:rPr sz="1100" i="1" spc="130" dirty="0">
                <a:latin typeface="Calibri"/>
                <a:cs typeface="Calibri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accepts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80" dirty="0">
                <a:latin typeface="Cambria"/>
                <a:cs typeface="Cambria"/>
              </a:rPr>
              <a:t>⟨</a:t>
            </a:r>
            <a:r>
              <a:rPr sz="1100" i="1" spc="80" dirty="0">
                <a:latin typeface="Calibri"/>
                <a:cs typeface="Calibri"/>
              </a:rPr>
              <a:t>D</a:t>
            </a:r>
            <a:r>
              <a:rPr sz="1100" spc="80" dirty="0">
                <a:latin typeface="Cambria"/>
                <a:cs typeface="Cambria"/>
              </a:rPr>
              <a:t>⟩</a:t>
            </a:r>
            <a:r>
              <a:rPr sz="1100" i="1" spc="8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5" dirty="0">
                <a:latin typeface="Times New Roman"/>
                <a:cs typeface="Times New Roman"/>
              </a:rPr>
              <a:t>Turing-Unrecognizable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799452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670189"/>
            <a:ext cx="3632200" cy="445770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38093" marR="30475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00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undecidable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Turing-recognizable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see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even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009484"/>
            <a:ext cx="63233" cy="63233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5" dirty="0">
                <a:latin typeface="Times New Roman"/>
                <a:cs typeface="Times New Roman"/>
              </a:rPr>
              <a:t>Turing-Unrecognizable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79945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009484"/>
            <a:ext cx="63233" cy="6323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5045" y="670190"/>
            <a:ext cx="4314825" cy="11614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698" rIns="0" bIns="0" rtlCol="0">
            <a:spAutoFit/>
          </a:bodyPr>
          <a:lstStyle/>
          <a:p>
            <a:pPr marL="340301" marR="410137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00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undecidable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Turing-recognizable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see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even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 dirty="0">
              <a:latin typeface="Georgia"/>
              <a:cs typeface="Georgia"/>
            </a:endParaRPr>
          </a:p>
          <a:p>
            <a:pPr marL="63489">
              <a:spcBef>
                <a:spcPts val="1340"/>
              </a:spcBef>
            </a:pPr>
            <a:r>
              <a:rPr sz="1100" spc="-30" dirty="0">
                <a:solidFill>
                  <a:srgbClr val="04064C"/>
                </a:solidFill>
                <a:latin typeface="Georgia"/>
                <a:cs typeface="Georgia"/>
              </a:rPr>
              <a:t>co-Turing-recognizable</a:t>
            </a:r>
            <a:endParaRPr sz="1100" dirty="0">
              <a:latin typeface="Georgia"/>
              <a:cs typeface="Georgia"/>
            </a:endParaRPr>
          </a:p>
          <a:p>
            <a:pPr marL="62854" marR="30475">
              <a:lnSpc>
                <a:spcPct val="102699"/>
              </a:lnSpc>
              <a:spcBef>
                <a:spcPts val="265"/>
              </a:spcBef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co-Turing-recognizable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 smtClean="0">
                <a:latin typeface="Georgia"/>
                <a:cs typeface="Georgia"/>
              </a:rPr>
              <a:t>compl</a:t>
            </a:r>
            <a:r>
              <a:rPr lang="en-US" sz="1100" spc="-35" dirty="0" smtClean="0">
                <a:latin typeface="Georgia"/>
                <a:cs typeface="Georgia"/>
              </a:rPr>
              <a:t>e</a:t>
            </a:r>
            <a:r>
              <a:rPr sz="1100" spc="-35" dirty="0" smtClean="0">
                <a:latin typeface="Georgia"/>
                <a:cs typeface="Georgia"/>
              </a:rPr>
              <a:t>ment</a:t>
            </a:r>
            <a:r>
              <a:rPr sz="1100" spc="95" dirty="0" smtClean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language.</a:t>
            </a:r>
            <a:endParaRPr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5" dirty="0">
                <a:latin typeface="Times New Roman"/>
                <a:cs typeface="Times New Roman"/>
              </a:rPr>
              <a:t>Turing-Unrecognizable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79945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009484"/>
            <a:ext cx="63233" cy="6323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9645" y="670189"/>
            <a:ext cx="4365625" cy="19203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698" rIns="0" bIns="0" rtlCol="0">
            <a:spAutoFit/>
          </a:bodyPr>
          <a:lstStyle/>
          <a:p>
            <a:pPr marL="365696" marR="435533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00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undecidable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Turing-recognizable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see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even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 dirty="0">
              <a:latin typeface="Georgia"/>
              <a:cs typeface="Georgia"/>
            </a:endParaRPr>
          </a:p>
          <a:p>
            <a:pPr marL="88884">
              <a:spcBef>
                <a:spcPts val="1340"/>
              </a:spcBef>
            </a:pPr>
            <a:r>
              <a:rPr sz="1100" spc="-30" dirty="0">
                <a:solidFill>
                  <a:srgbClr val="04064C"/>
                </a:solidFill>
                <a:latin typeface="Georgia"/>
                <a:cs typeface="Georgia"/>
              </a:rPr>
              <a:t>co-Turing-recognizable</a:t>
            </a:r>
            <a:endParaRPr sz="1100" dirty="0">
              <a:latin typeface="Georgia"/>
              <a:cs typeface="Georgia"/>
            </a:endParaRPr>
          </a:p>
          <a:p>
            <a:pPr marL="88249" marR="55870">
              <a:lnSpc>
                <a:spcPct val="102699"/>
              </a:lnSpc>
              <a:spcBef>
                <a:spcPts val="265"/>
              </a:spcBef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co-Turing-recognizable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complment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language.</a:t>
            </a:r>
            <a:endParaRPr sz="1100" dirty="0">
              <a:latin typeface="Georgia"/>
              <a:cs typeface="Georgia"/>
            </a:endParaRPr>
          </a:p>
          <a:p>
            <a:pPr>
              <a:spcBef>
                <a:spcPts val="10"/>
              </a:spcBef>
            </a:pPr>
            <a:endParaRPr sz="1300" dirty="0">
              <a:latin typeface="Georgia"/>
              <a:cs typeface="Georgia"/>
            </a:endParaRPr>
          </a:p>
          <a:p>
            <a:pPr marL="88884">
              <a:spcBef>
                <a:spcPts val="5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60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15" dirty="0">
                <a:solidFill>
                  <a:srgbClr val="04064C"/>
                </a:solidFill>
                <a:latin typeface="Georgia"/>
                <a:cs typeface="Georgia"/>
              </a:rPr>
              <a:t>15</a:t>
            </a:r>
            <a:endParaRPr sz="1100" dirty="0">
              <a:latin typeface="Georgia"/>
              <a:cs typeface="Georgia"/>
            </a:endParaRPr>
          </a:p>
          <a:p>
            <a:pPr marL="88884" marR="919319">
              <a:lnSpc>
                <a:spcPct val="102600"/>
              </a:lnSpc>
              <a:spcBef>
                <a:spcPts val="190"/>
              </a:spcBef>
            </a:pPr>
            <a:r>
              <a:rPr sz="1100" i="1" spc="15" dirty="0">
                <a:latin typeface="Palatino Linotype"/>
                <a:cs typeface="Palatino Linotype"/>
              </a:rPr>
              <a:t>A </a:t>
            </a:r>
            <a:r>
              <a:rPr sz="1100" i="1" dirty="0">
                <a:latin typeface="Palatino Linotype"/>
                <a:cs typeface="Palatino Linotype"/>
              </a:rPr>
              <a:t>language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 decidable </a:t>
            </a:r>
            <a:r>
              <a:rPr sz="1100" i="1" spc="25" dirty="0">
                <a:latin typeface="Palatino Linotype"/>
                <a:cs typeface="Palatino Linotype"/>
              </a:rPr>
              <a:t>iff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it</a:t>
            </a:r>
            <a:r>
              <a:rPr sz="1100" i="1" spc="1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 </a:t>
            </a:r>
            <a:r>
              <a:rPr sz="1100" i="1" dirty="0">
                <a:latin typeface="Palatino Linotype"/>
                <a:cs typeface="Palatino Linotype"/>
              </a:rPr>
              <a:t>Turing-recognizable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co-Turing-recognizable.</a:t>
            </a:r>
            <a:endParaRPr sz="11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" y="135648"/>
            <a:ext cx="4608195" cy="2976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79361" rIns="0" bIns="0" rtlCol="0">
            <a:spAutoFit/>
          </a:bodyPr>
          <a:lstStyle/>
          <a:p>
            <a:pPr marL="107931">
              <a:spcBef>
                <a:spcPts val="625"/>
              </a:spcBef>
            </a:pPr>
            <a:r>
              <a:rPr b="0" spc="35" dirty="0">
                <a:latin typeface="Times New Roman"/>
                <a:cs typeface="Times New Roman"/>
              </a:rPr>
              <a:t>Turing-Unrecognizable</a:t>
            </a:r>
            <a:r>
              <a:rPr b="0" spc="90" dirty="0">
                <a:latin typeface="Times New Roman"/>
                <a:cs typeface="Times New Roman"/>
              </a:rPr>
              <a:t> </a:t>
            </a:r>
            <a:r>
              <a:rPr b="0" spc="35" dirty="0">
                <a:latin typeface="Times New Roman"/>
                <a:cs typeface="Times New Roman"/>
              </a:rPr>
              <a:t>Language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799452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4" y="1009484"/>
            <a:ext cx="63233" cy="6323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4" y="2820823"/>
            <a:ext cx="63233" cy="6323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6945" y="670189"/>
            <a:ext cx="4391025" cy="24295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698" rIns="0" bIns="0" rtlCol="0">
            <a:spAutoFit/>
          </a:bodyPr>
          <a:lstStyle/>
          <a:p>
            <a:pPr marL="378394" marR="448230">
              <a:lnSpc>
                <a:spcPct val="125299"/>
              </a:lnSpc>
              <a:spcBef>
                <a:spcPts val="100"/>
              </a:spcBef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105" dirty="0">
                <a:latin typeface="Calibri"/>
                <a:cs typeface="Calibri"/>
              </a:rPr>
              <a:t>A</a:t>
            </a:r>
            <a:r>
              <a:rPr sz="1200" spc="157" baseline="-10416" dirty="0">
                <a:latin typeface="Palatino Linotype"/>
                <a:cs typeface="Palatino Linotype"/>
              </a:rPr>
              <a:t>TM</a:t>
            </a:r>
            <a:r>
              <a:rPr sz="1200" spc="300" baseline="-10416" dirty="0">
                <a:latin typeface="Palatino Linotype"/>
                <a:cs typeface="Palatino Linotyp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undecidable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Turing-recognizable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see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even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 dirty="0">
              <a:latin typeface="Georgia"/>
              <a:cs typeface="Georgia"/>
            </a:endParaRPr>
          </a:p>
          <a:p>
            <a:pPr marL="101582">
              <a:spcBef>
                <a:spcPts val="1340"/>
              </a:spcBef>
            </a:pPr>
            <a:r>
              <a:rPr sz="1100" spc="-30" dirty="0">
                <a:solidFill>
                  <a:srgbClr val="04064C"/>
                </a:solidFill>
                <a:latin typeface="Georgia"/>
                <a:cs typeface="Georgia"/>
              </a:rPr>
              <a:t>co-Turing-recognizable</a:t>
            </a:r>
            <a:endParaRPr sz="1100" dirty="0">
              <a:latin typeface="Georgia"/>
              <a:cs typeface="Georgia"/>
            </a:endParaRPr>
          </a:p>
          <a:p>
            <a:pPr marL="100947" marR="68568">
              <a:lnSpc>
                <a:spcPct val="102699"/>
              </a:lnSpc>
              <a:spcBef>
                <a:spcPts val="265"/>
              </a:spcBef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co-Turing-recognizable</a:t>
            </a:r>
            <a:r>
              <a:rPr sz="1100" b="1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complment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language.</a:t>
            </a:r>
            <a:endParaRPr sz="1100" dirty="0">
              <a:latin typeface="Georgia"/>
              <a:cs typeface="Georgia"/>
            </a:endParaRPr>
          </a:p>
          <a:p>
            <a:pPr>
              <a:spcBef>
                <a:spcPts val="10"/>
              </a:spcBef>
            </a:pPr>
            <a:endParaRPr sz="1300" dirty="0">
              <a:latin typeface="Georgia"/>
              <a:cs typeface="Georgia"/>
            </a:endParaRPr>
          </a:p>
          <a:p>
            <a:pPr marL="101582">
              <a:spcBef>
                <a:spcPts val="5"/>
              </a:spcBef>
            </a:pPr>
            <a:r>
              <a:rPr sz="1100" spc="-25" dirty="0">
                <a:solidFill>
                  <a:srgbClr val="04064C"/>
                </a:solidFill>
                <a:latin typeface="Georgia"/>
                <a:cs typeface="Georgia"/>
              </a:rPr>
              <a:t>Theorem</a:t>
            </a:r>
            <a:r>
              <a:rPr sz="1100" spc="60" dirty="0">
                <a:solidFill>
                  <a:srgbClr val="04064C"/>
                </a:solidFill>
                <a:latin typeface="Georgia"/>
                <a:cs typeface="Georgia"/>
              </a:rPr>
              <a:t> </a:t>
            </a:r>
            <a:r>
              <a:rPr sz="1100" spc="15" dirty="0">
                <a:solidFill>
                  <a:srgbClr val="04064C"/>
                </a:solidFill>
                <a:latin typeface="Georgia"/>
                <a:cs typeface="Georgia"/>
              </a:rPr>
              <a:t>15</a:t>
            </a:r>
            <a:endParaRPr sz="1100" dirty="0">
              <a:latin typeface="Georgia"/>
              <a:cs typeface="Georgia"/>
            </a:endParaRPr>
          </a:p>
          <a:p>
            <a:pPr marL="101582" marR="932017">
              <a:lnSpc>
                <a:spcPct val="102600"/>
              </a:lnSpc>
              <a:spcBef>
                <a:spcPts val="190"/>
              </a:spcBef>
            </a:pPr>
            <a:r>
              <a:rPr sz="1100" i="1" spc="15" dirty="0">
                <a:latin typeface="Palatino Linotype"/>
                <a:cs typeface="Palatino Linotype"/>
              </a:rPr>
              <a:t>A </a:t>
            </a:r>
            <a:r>
              <a:rPr sz="1100" i="1" dirty="0">
                <a:latin typeface="Palatino Linotype"/>
                <a:cs typeface="Palatino Linotype"/>
              </a:rPr>
              <a:t>language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 decidable </a:t>
            </a:r>
            <a:r>
              <a:rPr sz="1100" i="1" spc="25" dirty="0">
                <a:latin typeface="Palatino Linotype"/>
                <a:cs typeface="Palatino Linotype"/>
              </a:rPr>
              <a:t>iff</a:t>
            </a:r>
            <a:r>
              <a:rPr sz="1100" i="1" spc="25" dirty="0">
                <a:latin typeface="Palatino Linotype"/>
                <a:cs typeface="Palatino Linotype"/>
              </a:rPr>
              <a:t> </a:t>
            </a:r>
            <a:r>
              <a:rPr sz="1100" i="1" spc="10" dirty="0">
                <a:latin typeface="Palatino Linotype"/>
                <a:cs typeface="Palatino Linotype"/>
              </a:rPr>
              <a:t>it</a:t>
            </a:r>
            <a:r>
              <a:rPr sz="1100" i="1" spc="15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 </a:t>
            </a:r>
            <a:r>
              <a:rPr sz="1100" i="1" dirty="0">
                <a:latin typeface="Palatino Linotype"/>
                <a:cs typeface="Palatino Linotype"/>
              </a:rPr>
              <a:t>Turing-recognizable</a:t>
            </a:r>
            <a:r>
              <a:rPr sz="1100" i="1" spc="5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co-Turing-recognizable.</a:t>
            </a:r>
            <a:endParaRPr sz="1100" dirty="0">
              <a:latin typeface="Palatino Linotype"/>
              <a:cs typeface="Palatino Linotype"/>
            </a:endParaRPr>
          </a:p>
          <a:p>
            <a:pPr>
              <a:spcBef>
                <a:spcPts val="10"/>
              </a:spcBef>
            </a:pPr>
            <a:endParaRPr sz="1200" dirty="0">
              <a:latin typeface="Palatino Linotype"/>
              <a:cs typeface="Palatino Linotype"/>
            </a:endParaRPr>
          </a:p>
          <a:p>
            <a:pPr marL="378394" marR="64124">
              <a:lnSpc>
                <a:spcPct val="102600"/>
              </a:lnSpc>
            </a:pPr>
            <a:r>
              <a:rPr sz="1100" spc="-40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words,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decidable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when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both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complement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 dirty="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1268</Words>
  <Application>Microsoft Office PowerPoint</Application>
  <PresentationFormat>Custom</PresentationFormat>
  <Paragraphs>145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Part II Computability Theory </vt:lpstr>
      <vt:lpstr>PowerPoint Presentation</vt:lpstr>
      <vt:lpstr>Decidable Languages</vt:lpstr>
      <vt:lpstr>Proof for the Last Theorem</vt:lpstr>
      <vt:lpstr>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Unsolvable Problems</vt:lpstr>
      <vt:lpstr>Unsolvable Problems</vt:lpstr>
      <vt:lpstr>Unsolvable Problems</vt:lpstr>
      <vt:lpstr>Unsolvable Problems</vt:lpstr>
      <vt:lpstr>Unsolvable Problems</vt:lpstr>
      <vt:lpstr>The Halting Problem</vt:lpstr>
      <vt:lpstr>The Halting Problem</vt:lpstr>
      <vt:lpstr>The Halting Problem</vt:lpstr>
      <vt:lpstr>Turing-Unrecognizable Language</vt:lpstr>
      <vt:lpstr>Turing-Unrecognizable Language</vt:lpstr>
      <vt:lpstr>Turing-Unrecognizable Language</vt:lpstr>
      <vt:lpstr>Turing-Unrecognizable Language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Decidable Languages</dc:title>
  <cp:lastModifiedBy>larkana computers</cp:lastModifiedBy>
  <cp:revision>76</cp:revision>
  <dcterms:created xsi:type="dcterms:W3CDTF">2023-07-15T16:21:24Z</dcterms:created>
  <dcterms:modified xsi:type="dcterms:W3CDTF">2023-07-17T07:36:36Z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2023-07-15T00:00:00Z</vt:filetime>
  </property>
</Properties>
</file>