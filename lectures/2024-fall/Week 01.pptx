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1" r:id="rId2"/>
    <p:sldId id="370" r:id="rId3"/>
    <p:sldId id="34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8" r:id="rId34"/>
    <p:sldId id="369" r:id="rId35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1637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069083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98946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167268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3323614" y="3381349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3334106" y="3371074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10160"/>
                </a:moveTo>
                <a:lnTo>
                  <a:pt x="0" y="0"/>
                </a:lnTo>
                <a:lnTo>
                  <a:pt x="43180" y="0"/>
                </a:lnTo>
                <a:lnTo>
                  <a:pt x="43180" y="30480"/>
                </a:lnTo>
                <a:lnTo>
                  <a:pt x="33020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3344266" y="3360914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10160"/>
                </a:moveTo>
                <a:lnTo>
                  <a:pt x="0" y="0"/>
                </a:lnTo>
                <a:lnTo>
                  <a:pt x="43180" y="0"/>
                </a:lnTo>
                <a:lnTo>
                  <a:pt x="43180" y="30480"/>
                </a:lnTo>
                <a:lnTo>
                  <a:pt x="33020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326044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3607626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3620326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3607626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3620326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387859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389129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389129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k object 32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k object 33"/>
          <p:cNvSpPr/>
          <p:nvPr/>
        </p:nvSpPr>
        <p:spPr>
          <a:xfrm>
            <a:off x="387859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k object 34"/>
          <p:cNvSpPr/>
          <p:nvPr/>
        </p:nvSpPr>
        <p:spPr>
          <a:xfrm>
            <a:off x="389129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k object 35"/>
          <p:cNvSpPr/>
          <p:nvPr/>
        </p:nvSpPr>
        <p:spPr>
          <a:xfrm>
            <a:off x="414957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k object 36"/>
          <p:cNvSpPr/>
          <p:nvPr/>
        </p:nvSpPr>
        <p:spPr>
          <a:xfrm>
            <a:off x="416227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k object 37"/>
          <p:cNvSpPr/>
          <p:nvPr/>
        </p:nvSpPr>
        <p:spPr>
          <a:xfrm>
            <a:off x="416227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k object 38"/>
          <p:cNvSpPr/>
          <p:nvPr/>
        </p:nvSpPr>
        <p:spPr>
          <a:xfrm>
            <a:off x="414957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k object 39"/>
          <p:cNvSpPr/>
          <p:nvPr/>
        </p:nvSpPr>
        <p:spPr>
          <a:xfrm>
            <a:off x="416227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k object 40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k object 41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k object 42"/>
          <p:cNvSpPr/>
          <p:nvPr/>
        </p:nvSpPr>
        <p:spPr>
          <a:xfrm>
            <a:off x="4344352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35160" y="48796"/>
                </a:lnTo>
                <a:lnTo>
                  <a:pt x="43248" y="43339"/>
                </a:lnTo>
                <a:lnTo>
                  <a:pt x="48762" y="35262"/>
                </a:lnTo>
                <a:lnTo>
                  <a:pt x="50800" y="25400"/>
                </a:lnTo>
                <a:lnTo>
                  <a:pt x="48796" y="15537"/>
                </a:lnTo>
                <a:lnTo>
                  <a:pt x="43339" y="7461"/>
                </a:lnTo>
                <a:lnTo>
                  <a:pt x="35262" y="2004"/>
                </a:lnTo>
                <a:lnTo>
                  <a:pt x="25400" y="0"/>
                </a:lnTo>
                <a:lnTo>
                  <a:pt x="15537" y="2004"/>
                </a:lnTo>
                <a:lnTo>
                  <a:pt x="7461" y="7461"/>
                </a:lnTo>
                <a:lnTo>
                  <a:pt x="2004" y="15537"/>
                </a:lnTo>
                <a:lnTo>
                  <a:pt x="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k object 43"/>
          <p:cNvSpPr/>
          <p:nvPr/>
        </p:nvSpPr>
        <p:spPr>
          <a:xfrm>
            <a:off x="4329112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k object 44"/>
          <p:cNvSpPr/>
          <p:nvPr/>
        </p:nvSpPr>
        <p:spPr>
          <a:xfrm>
            <a:off x="4496754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15537" y="48796"/>
                </a:lnTo>
                <a:lnTo>
                  <a:pt x="7461" y="43339"/>
                </a:lnTo>
                <a:lnTo>
                  <a:pt x="2004" y="35262"/>
                </a:lnTo>
                <a:lnTo>
                  <a:pt x="0" y="25400"/>
                </a:lnTo>
                <a:lnTo>
                  <a:pt x="2004" y="15537"/>
                </a:lnTo>
                <a:lnTo>
                  <a:pt x="7461" y="7461"/>
                </a:lnTo>
                <a:lnTo>
                  <a:pt x="15537" y="2004"/>
                </a:lnTo>
                <a:lnTo>
                  <a:pt x="25400" y="0"/>
                </a:lnTo>
                <a:lnTo>
                  <a:pt x="35262" y="2004"/>
                </a:lnTo>
                <a:lnTo>
                  <a:pt x="43339" y="7461"/>
                </a:lnTo>
                <a:lnTo>
                  <a:pt x="48796" y="15537"/>
                </a:lnTo>
                <a:lnTo>
                  <a:pt x="5080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k object 45"/>
          <p:cNvSpPr/>
          <p:nvPr/>
        </p:nvSpPr>
        <p:spPr>
          <a:xfrm>
            <a:off x="4532315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k object 46"/>
          <p:cNvSpPr/>
          <p:nvPr/>
        </p:nvSpPr>
        <p:spPr>
          <a:xfrm>
            <a:off x="0" y="0"/>
            <a:ext cx="4608004" cy="449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68742" y="211706"/>
            <a:ext cx="167261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069083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98946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167268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3323614" y="3381349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3334106" y="3371074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10160"/>
                </a:moveTo>
                <a:lnTo>
                  <a:pt x="0" y="0"/>
                </a:lnTo>
                <a:lnTo>
                  <a:pt x="43180" y="0"/>
                </a:lnTo>
                <a:lnTo>
                  <a:pt x="43180" y="30480"/>
                </a:lnTo>
                <a:lnTo>
                  <a:pt x="33020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3344266" y="3360914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10160"/>
                </a:moveTo>
                <a:lnTo>
                  <a:pt x="0" y="0"/>
                </a:lnTo>
                <a:lnTo>
                  <a:pt x="43180" y="0"/>
                </a:lnTo>
                <a:lnTo>
                  <a:pt x="43180" y="30480"/>
                </a:lnTo>
                <a:lnTo>
                  <a:pt x="33020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326044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3607626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3620326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3607626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3620326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387859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389129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389129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k object 32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k object 33"/>
          <p:cNvSpPr/>
          <p:nvPr/>
        </p:nvSpPr>
        <p:spPr>
          <a:xfrm>
            <a:off x="387859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k object 34"/>
          <p:cNvSpPr/>
          <p:nvPr/>
        </p:nvSpPr>
        <p:spPr>
          <a:xfrm>
            <a:off x="389129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k object 35"/>
          <p:cNvSpPr/>
          <p:nvPr/>
        </p:nvSpPr>
        <p:spPr>
          <a:xfrm>
            <a:off x="414957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k object 36"/>
          <p:cNvSpPr/>
          <p:nvPr/>
        </p:nvSpPr>
        <p:spPr>
          <a:xfrm>
            <a:off x="416227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k object 37"/>
          <p:cNvSpPr/>
          <p:nvPr/>
        </p:nvSpPr>
        <p:spPr>
          <a:xfrm>
            <a:off x="416227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k object 38"/>
          <p:cNvSpPr/>
          <p:nvPr/>
        </p:nvSpPr>
        <p:spPr>
          <a:xfrm>
            <a:off x="414957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k object 39"/>
          <p:cNvSpPr/>
          <p:nvPr/>
        </p:nvSpPr>
        <p:spPr>
          <a:xfrm>
            <a:off x="416227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k object 40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k object 41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k object 42"/>
          <p:cNvSpPr/>
          <p:nvPr/>
        </p:nvSpPr>
        <p:spPr>
          <a:xfrm>
            <a:off x="4344352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35160" y="48796"/>
                </a:lnTo>
                <a:lnTo>
                  <a:pt x="43248" y="43339"/>
                </a:lnTo>
                <a:lnTo>
                  <a:pt x="48762" y="35262"/>
                </a:lnTo>
                <a:lnTo>
                  <a:pt x="50800" y="25400"/>
                </a:lnTo>
                <a:lnTo>
                  <a:pt x="48796" y="15537"/>
                </a:lnTo>
                <a:lnTo>
                  <a:pt x="43339" y="7461"/>
                </a:lnTo>
                <a:lnTo>
                  <a:pt x="35262" y="2004"/>
                </a:lnTo>
                <a:lnTo>
                  <a:pt x="25400" y="0"/>
                </a:lnTo>
                <a:lnTo>
                  <a:pt x="15537" y="2004"/>
                </a:lnTo>
                <a:lnTo>
                  <a:pt x="7461" y="7461"/>
                </a:lnTo>
                <a:lnTo>
                  <a:pt x="2004" y="15537"/>
                </a:lnTo>
                <a:lnTo>
                  <a:pt x="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k object 43"/>
          <p:cNvSpPr/>
          <p:nvPr/>
        </p:nvSpPr>
        <p:spPr>
          <a:xfrm>
            <a:off x="4329112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k object 44"/>
          <p:cNvSpPr/>
          <p:nvPr/>
        </p:nvSpPr>
        <p:spPr>
          <a:xfrm>
            <a:off x="4496754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15537" y="48796"/>
                </a:lnTo>
                <a:lnTo>
                  <a:pt x="7461" y="43339"/>
                </a:lnTo>
                <a:lnTo>
                  <a:pt x="2004" y="35262"/>
                </a:lnTo>
                <a:lnTo>
                  <a:pt x="0" y="25400"/>
                </a:lnTo>
                <a:lnTo>
                  <a:pt x="2004" y="15537"/>
                </a:lnTo>
                <a:lnTo>
                  <a:pt x="7461" y="7461"/>
                </a:lnTo>
                <a:lnTo>
                  <a:pt x="15537" y="2004"/>
                </a:lnTo>
                <a:lnTo>
                  <a:pt x="25400" y="0"/>
                </a:lnTo>
                <a:lnTo>
                  <a:pt x="35262" y="2004"/>
                </a:lnTo>
                <a:lnTo>
                  <a:pt x="43339" y="7461"/>
                </a:lnTo>
                <a:lnTo>
                  <a:pt x="48796" y="15537"/>
                </a:lnTo>
                <a:lnTo>
                  <a:pt x="5080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k object 45"/>
          <p:cNvSpPr/>
          <p:nvPr/>
        </p:nvSpPr>
        <p:spPr>
          <a:xfrm>
            <a:off x="4532315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k object 46"/>
          <p:cNvSpPr/>
          <p:nvPr/>
        </p:nvSpPr>
        <p:spPr>
          <a:xfrm>
            <a:off x="0" y="0"/>
            <a:ext cx="4608004" cy="449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069083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98946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167268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3323614" y="3381349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3334106" y="3371074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10160"/>
                </a:moveTo>
                <a:lnTo>
                  <a:pt x="0" y="0"/>
                </a:lnTo>
                <a:lnTo>
                  <a:pt x="43180" y="0"/>
                </a:lnTo>
                <a:lnTo>
                  <a:pt x="43180" y="30480"/>
                </a:lnTo>
                <a:lnTo>
                  <a:pt x="33020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3344266" y="3360914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10160"/>
                </a:moveTo>
                <a:lnTo>
                  <a:pt x="0" y="0"/>
                </a:lnTo>
                <a:lnTo>
                  <a:pt x="43180" y="0"/>
                </a:lnTo>
                <a:lnTo>
                  <a:pt x="43180" y="30480"/>
                </a:lnTo>
                <a:lnTo>
                  <a:pt x="33020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326044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3607626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3620326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3607626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3620326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387859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389129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389129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k object 32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k object 33"/>
          <p:cNvSpPr/>
          <p:nvPr/>
        </p:nvSpPr>
        <p:spPr>
          <a:xfrm>
            <a:off x="387859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k object 34"/>
          <p:cNvSpPr/>
          <p:nvPr/>
        </p:nvSpPr>
        <p:spPr>
          <a:xfrm>
            <a:off x="389129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k object 35"/>
          <p:cNvSpPr/>
          <p:nvPr/>
        </p:nvSpPr>
        <p:spPr>
          <a:xfrm>
            <a:off x="414957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k object 36"/>
          <p:cNvSpPr/>
          <p:nvPr/>
        </p:nvSpPr>
        <p:spPr>
          <a:xfrm>
            <a:off x="416227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k object 37"/>
          <p:cNvSpPr/>
          <p:nvPr/>
        </p:nvSpPr>
        <p:spPr>
          <a:xfrm>
            <a:off x="416227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k object 38"/>
          <p:cNvSpPr/>
          <p:nvPr/>
        </p:nvSpPr>
        <p:spPr>
          <a:xfrm>
            <a:off x="414957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k object 39"/>
          <p:cNvSpPr/>
          <p:nvPr/>
        </p:nvSpPr>
        <p:spPr>
          <a:xfrm>
            <a:off x="416227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k object 40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k object 41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k object 42"/>
          <p:cNvSpPr/>
          <p:nvPr/>
        </p:nvSpPr>
        <p:spPr>
          <a:xfrm>
            <a:off x="4344352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35160" y="48796"/>
                </a:lnTo>
                <a:lnTo>
                  <a:pt x="43248" y="43339"/>
                </a:lnTo>
                <a:lnTo>
                  <a:pt x="48762" y="35262"/>
                </a:lnTo>
                <a:lnTo>
                  <a:pt x="50800" y="25400"/>
                </a:lnTo>
                <a:lnTo>
                  <a:pt x="48796" y="15537"/>
                </a:lnTo>
                <a:lnTo>
                  <a:pt x="43339" y="7461"/>
                </a:lnTo>
                <a:lnTo>
                  <a:pt x="35262" y="2004"/>
                </a:lnTo>
                <a:lnTo>
                  <a:pt x="25400" y="0"/>
                </a:lnTo>
                <a:lnTo>
                  <a:pt x="15537" y="2004"/>
                </a:lnTo>
                <a:lnTo>
                  <a:pt x="7461" y="7461"/>
                </a:lnTo>
                <a:lnTo>
                  <a:pt x="2004" y="15537"/>
                </a:lnTo>
                <a:lnTo>
                  <a:pt x="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k object 43"/>
          <p:cNvSpPr/>
          <p:nvPr/>
        </p:nvSpPr>
        <p:spPr>
          <a:xfrm>
            <a:off x="4329112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k object 44"/>
          <p:cNvSpPr/>
          <p:nvPr/>
        </p:nvSpPr>
        <p:spPr>
          <a:xfrm>
            <a:off x="4496754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15537" y="48796"/>
                </a:lnTo>
                <a:lnTo>
                  <a:pt x="7461" y="43339"/>
                </a:lnTo>
                <a:lnTo>
                  <a:pt x="2004" y="35262"/>
                </a:lnTo>
                <a:lnTo>
                  <a:pt x="0" y="25400"/>
                </a:lnTo>
                <a:lnTo>
                  <a:pt x="2004" y="15537"/>
                </a:lnTo>
                <a:lnTo>
                  <a:pt x="7461" y="7461"/>
                </a:lnTo>
                <a:lnTo>
                  <a:pt x="15537" y="2004"/>
                </a:lnTo>
                <a:lnTo>
                  <a:pt x="25400" y="0"/>
                </a:lnTo>
                <a:lnTo>
                  <a:pt x="35262" y="2004"/>
                </a:lnTo>
                <a:lnTo>
                  <a:pt x="43339" y="7461"/>
                </a:lnTo>
                <a:lnTo>
                  <a:pt x="48796" y="15537"/>
                </a:lnTo>
                <a:lnTo>
                  <a:pt x="5080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k object 45"/>
          <p:cNvSpPr/>
          <p:nvPr/>
        </p:nvSpPr>
        <p:spPr>
          <a:xfrm>
            <a:off x="4532315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k object 46"/>
          <p:cNvSpPr/>
          <p:nvPr/>
        </p:nvSpPr>
        <p:spPr>
          <a:xfrm>
            <a:off x="0" y="0"/>
            <a:ext cx="4608004" cy="449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069083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98946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167268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3323614" y="3381349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3334106" y="3371074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10160"/>
                </a:moveTo>
                <a:lnTo>
                  <a:pt x="0" y="0"/>
                </a:lnTo>
                <a:lnTo>
                  <a:pt x="43180" y="0"/>
                </a:lnTo>
                <a:lnTo>
                  <a:pt x="43180" y="30480"/>
                </a:lnTo>
                <a:lnTo>
                  <a:pt x="33020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3344266" y="3360914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10160"/>
                </a:moveTo>
                <a:lnTo>
                  <a:pt x="0" y="0"/>
                </a:lnTo>
                <a:lnTo>
                  <a:pt x="43180" y="0"/>
                </a:lnTo>
                <a:lnTo>
                  <a:pt x="43180" y="30480"/>
                </a:lnTo>
                <a:lnTo>
                  <a:pt x="33020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326044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84846" y="211706"/>
            <a:ext cx="22390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8881" y="811503"/>
            <a:ext cx="3912336" cy="2102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sma.larik@sse.habib.edu.pk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920" y="747722"/>
            <a:ext cx="3031490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45" dirty="0"/>
              <a:t>         Theory of Automata</a:t>
            </a:r>
            <a:br>
              <a:rPr lang="en-US" spc="45" dirty="0"/>
            </a:br>
            <a:endParaRPr spc="-15" dirty="0"/>
          </a:p>
        </p:txBody>
      </p:sp>
      <p:sp>
        <p:nvSpPr>
          <p:cNvPr id="3" name="object 3"/>
          <p:cNvSpPr txBox="1"/>
          <p:nvPr/>
        </p:nvSpPr>
        <p:spPr>
          <a:xfrm>
            <a:off x="347294" y="1013547"/>
            <a:ext cx="3895725" cy="12888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" algn="ctr">
              <a:lnSpc>
                <a:spcPct val="100000"/>
              </a:lnSpc>
              <a:spcBef>
                <a:spcPts val="90"/>
              </a:spcBef>
              <a:tabLst>
                <a:tab pos="1583055" algn="l"/>
              </a:tabLst>
            </a:pPr>
            <a:r>
              <a:rPr sz="1100" b="1" spc="-35" dirty="0">
                <a:solidFill>
                  <a:srgbClr val="3333B2"/>
                </a:solidFill>
                <a:latin typeface="Arial"/>
                <a:cs typeface="Arial"/>
              </a:rPr>
              <a:t>Lecture  </a:t>
            </a:r>
            <a:r>
              <a:rPr sz="1100" b="1" spc="-15" dirty="0">
                <a:solidFill>
                  <a:srgbClr val="3333B2"/>
                </a:solidFill>
                <a:latin typeface="Arial"/>
                <a:cs typeface="Arial"/>
              </a:rPr>
              <a:t>1 </a:t>
            </a:r>
            <a:r>
              <a:rPr sz="1100" b="1" spc="30" dirty="0">
                <a:solidFill>
                  <a:srgbClr val="3333B2"/>
                </a:solidFill>
                <a:latin typeface="Arial"/>
                <a:cs typeface="Arial"/>
              </a:rPr>
              <a:t>-</a:t>
            </a:r>
            <a:r>
              <a:rPr sz="1100" b="1" spc="7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3333B2"/>
                </a:solidFill>
                <a:latin typeface="Arial"/>
                <a:cs typeface="Arial"/>
              </a:rPr>
              <a:t>Introduction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00" dirty="0">
              <a:latin typeface="Times New Roman"/>
              <a:cs typeface="Times New Roman"/>
            </a:endParaRPr>
          </a:p>
          <a:p>
            <a:pPr marL="17145" algn="ctr">
              <a:lnSpc>
                <a:spcPct val="100000"/>
              </a:lnSpc>
            </a:pPr>
            <a:r>
              <a:rPr lang="en-US" sz="1100" spc="-70" dirty="0" err="1">
                <a:latin typeface="Arial"/>
                <a:cs typeface="Arial"/>
              </a:rPr>
              <a:t>Asma</a:t>
            </a:r>
            <a:r>
              <a:rPr lang="en-US" sz="1100" spc="-70" dirty="0">
                <a:latin typeface="Arial"/>
                <a:cs typeface="Arial"/>
              </a:rPr>
              <a:t> </a:t>
            </a:r>
            <a:r>
              <a:rPr lang="en-US" sz="1100" spc="-70" dirty="0" err="1">
                <a:latin typeface="Arial"/>
                <a:cs typeface="Arial"/>
              </a:rPr>
              <a:t>Sanam</a:t>
            </a:r>
            <a:r>
              <a:rPr lang="en-US" sz="1100" spc="-70" dirty="0">
                <a:latin typeface="Arial"/>
                <a:cs typeface="Arial"/>
              </a:rPr>
              <a:t> </a:t>
            </a:r>
            <a:r>
              <a:rPr lang="en-US" sz="1100" spc="-70" dirty="0" err="1">
                <a:latin typeface="Arial"/>
                <a:cs typeface="Arial"/>
              </a:rPr>
              <a:t>Larik</a:t>
            </a:r>
            <a:endParaRPr lang="en-US" sz="1100" spc="-70" dirty="0">
              <a:latin typeface="Arial"/>
              <a:cs typeface="Arial"/>
            </a:endParaRPr>
          </a:p>
          <a:p>
            <a:pPr marL="17145" algn="ctr">
              <a:lnSpc>
                <a:spcPct val="100000"/>
              </a:lnSpc>
            </a:pPr>
            <a:r>
              <a:rPr lang="en-US" sz="1100" spc="-70" dirty="0">
                <a:latin typeface="Arial"/>
                <a:cs typeface="Arial"/>
                <a:hlinkClick r:id="rId2"/>
              </a:rPr>
              <a:t>asma.sanam@khi.iba.edu.pk</a:t>
            </a:r>
            <a:endParaRPr lang="en-US" sz="1100" spc="-70" dirty="0">
              <a:latin typeface="Arial"/>
              <a:cs typeface="Arial"/>
            </a:endParaRPr>
          </a:p>
          <a:p>
            <a:pPr marL="17145" algn="ctr">
              <a:lnSpc>
                <a:spcPct val="100000"/>
              </a:lnSpc>
            </a:pPr>
            <a:endParaRPr sz="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4846" y="211706"/>
            <a:ext cx="2239010" cy="215444"/>
          </a:xfrm>
        </p:spPr>
        <p:txBody>
          <a:bodyPr/>
          <a:lstStyle/>
          <a:p>
            <a:r>
              <a:rPr lang="en-US" dirty="0"/>
              <a:t>Introduction of Instructor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881" y="811503"/>
            <a:ext cx="3912336" cy="2031325"/>
          </a:xfrm>
        </p:spPr>
        <p:txBody>
          <a:bodyPr/>
          <a:lstStyle/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BS (CS)- FAST NU (2004)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MS (CS)- FAST NU (2008)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Phd</a:t>
            </a:r>
            <a:r>
              <a:rPr lang="en-US" dirty="0"/>
              <a:t>. (CS)- IBA Karachi (2019)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Teaching since 2006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Areas of Interest: Artificial Intelligence, Machine Learning, Theoretical Computer Science</a:t>
            </a:r>
          </a:p>
          <a:p>
            <a:r>
              <a:rPr lang="en-US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54299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8419" y="211935"/>
            <a:ext cx="16516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5" dirty="0"/>
              <a:t>Value </a:t>
            </a:r>
            <a:r>
              <a:rPr spc="-30" dirty="0"/>
              <a:t>of </a:t>
            </a:r>
            <a:r>
              <a:rPr spc="5" dirty="0"/>
              <a:t>the</a:t>
            </a:r>
            <a:r>
              <a:rPr spc="30" dirty="0"/>
              <a:t> </a:t>
            </a:r>
            <a:r>
              <a:rPr spc="-75" dirty="0"/>
              <a:t>course</a:t>
            </a:r>
          </a:p>
        </p:txBody>
      </p:sp>
      <p:sp>
        <p:nvSpPr>
          <p:cNvPr id="3" name="object 3"/>
          <p:cNvSpPr/>
          <p:nvPr/>
        </p:nvSpPr>
        <p:spPr>
          <a:xfrm>
            <a:off x="500506" y="1372997"/>
            <a:ext cx="67309" cy="673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0506" y="1583029"/>
            <a:ext cx="67309" cy="673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0506" y="1793062"/>
            <a:ext cx="67309" cy="673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0506" y="2003094"/>
            <a:ext cx="67309" cy="673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0506" y="2423160"/>
            <a:ext cx="67309" cy="673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0506" y="2633192"/>
            <a:ext cx="67309" cy="673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0506" y="2843225"/>
            <a:ext cx="67309" cy="673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7294" y="565339"/>
            <a:ext cx="3914140" cy="23767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61290">
              <a:lnSpc>
                <a:spcPct val="102600"/>
              </a:lnSpc>
              <a:spcBef>
                <a:spcPts val="55"/>
              </a:spcBef>
            </a:pPr>
            <a:r>
              <a:rPr sz="1100" spc="-30" dirty="0">
                <a:latin typeface="Arial"/>
                <a:cs typeface="Arial"/>
              </a:rPr>
              <a:t>In </a:t>
            </a:r>
            <a:r>
              <a:rPr sz="1100" spc="-70" dirty="0">
                <a:latin typeface="Arial"/>
                <a:cs typeface="Arial"/>
              </a:rPr>
              <a:t>20 </a:t>
            </a:r>
            <a:r>
              <a:rPr sz="1100" spc="-80" dirty="0">
                <a:latin typeface="Arial"/>
                <a:cs typeface="Arial"/>
              </a:rPr>
              <a:t>years, </a:t>
            </a:r>
            <a:r>
              <a:rPr sz="1100" spc="-55" dirty="0">
                <a:latin typeface="Arial"/>
                <a:cs typeface="Arial"/>
              </a:rPr>
              <a:t>computers </a:t>
            </a:r>
            <a:r>
              <a:rPr sz="1100" spc="-65" dirty="0">
                <a:latin typeface="Arial"/>
                <a:cs typeface="Arial"/>
              </a:rPr>
              <a:t>and </a:t>
            </a:r>
            <a:r>
              <a:rPr sz="1100" spc="-45" dirty="0">
                <a:latin typeface="Arial"/>
                <a:cs typeface="Arial"/>
              </a:rPr>
              <a:t>programming </a:t>
            </a:r>
            <a:r>
              <a:rPr sz="1100" spc="-5" dirty="0">
                <a:latin typeface="Arial"/>
                <a:cs typeface="Arial"/>
              </a:rPr>
              <a:t>will </a:t>
            </a:r>
            <a:r>
              <a:rPr sz="1100" spc="-75" dirty="0">
                <a:latin typeface="Arial"/>
                <a:cs typeface="Arial"/>
              </a:rPr>
              <a:t>be </a:t>
            </a:r>
            <a:r>
              <a:rPr sz="1100" spc="-40" dirty="0">
                <a:latin typeface="Arial"/>
                <a:cs typeface="Arial"/>
              </a:rPr>
              <a:t>vastly </a:t>
            </a:r>
            <a:r>
              <a:rPr sz="1100" spc="-25" dirty="0">
                <a:latin typeface="Arial"/>
                <a:cs typeface="Arial"/>
              </a:rPr>
              <a:t>different.  </a:t>
            </a:r>
            <a:r>
              <a:rPr sz="1100" spc="10" dirty="0">
                <a:latin typeface="Arial"/>
                <a:cs typeface="Arial"/>
              </a:rPr>
              <a:t>But </a:t>
            </a:r>
            <a:r>
              <a:rPr sz="1100" spc="-20" dirty="0">
                <a:latin typeface="Arial"/>
                <a:cs typeface="Arial"/>
              </a:rPr>
              <a:t>this </a:t>
            </a:r>
            <a:r>
              <a:rPr sz="1100" spc="-30" dirty="0">
                <a:latin typeface="Arial"/>
                <a:cs typeface="Arial"/>
              </a:rPr>
              <a:t>material </a:t>
            </a:r>
            <a:r>
              <a:rPr sz="1100" spc="-5" dirty="0">
                <a:latin typeface="Arial"/>
                <a:cs typeface="Arial"/>
              </a:rPr>
              <a:t>will </a:t>
            </a:r>
            <a:r>
              <a:rPr sz="1100" spc="-75" dirty="0">
                <a:latin typeface="Arial"/>
                <a:cs typeface="Arial"/>
              </a:rPr>
              <a:t>be </a:t>
            </a:r>
            <a:r>
              <a:rPr sz="1100" spc="-55" dirty="0">
                <a:latin typeface="Arial"/>
                <a:cs typeface="Arial"/>
              </a:rPr>
              <a:t>very much </a:t>
            </a:r>
            <a:r>
              <a:rPr sz="1100" spc="-30" dirty="0">
                <a:latin typeface="Arial"/>
                <a:cs typeface="Arial"/>
              </a:rPr>
              <a:t>the </a:t>
            </a:r>
            <a:r>
              <a:rPr sz="1100" spc="-75" dirty="0">
                <a:latin typeface="Arial"/>
                <a:cs typeface="Arial"/>
              </a:rPr>
              <a:t>same—and </a:t>
            </a:r>
            <a:r>
              <a:rPr sz="1100" spc="-5" dirty="0">
                <a:latin typeface="Arial"/>
                <a:cs typeface="Arial"/>
              </a:rPr>
              <a:t>will </a:t>
            </a:r>
            <a:r>
              <a:rPr sz="1100" dirty="0">
                <a:latin typeface="Arial"/>
                <a:cs typeface="Arial"/>
              </a:rPr>
              <a:t>still </a:t>
            </a:r>
            <a:r>
              <a:rPr sz="1100" spc="-75" dirty="0">
                <a:latin typeface="Arial"/>
                <a:cs typeface="Arial"/>
              </a:rPr>
              <a:t>be  </a:t>
            </a:r>
            <a:r>
              <a:rPr sz="1100" spc="-50" dirty="0">
                <a:latin typeface="Arial"/>
                <a:cs typeface="Arial"/>
              </a:rPr>
              <a:t>useful.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55" dirty="0">
                <a:latin typeface="Arial"/>
                <a:cs typeface="Arial"/>
              </a:rPr>
              <a:t>Provides </a:t>
            </a:r>
            <a:r>
              <a:rPr sz="1100" spc="-30" dirty="0">
                <a:latin typeface="Arial"/>
                <a:cs typeface="Arial"/>
              </a:rPr>
              <a:t>insight </a:t>
            </a:r>
            <a:r>
              <a:rPr sz="1100" spc="-5" dirty="0">
                <a:latin typeface="Arial"/>
                <a:cs typeface="Arial"/>
              </a:rPr>
              <a:t>into </a:t>
            </a:r>
            <a:r>
              <a:rPr sz="1100" spc="-40" dirty="0">
                <a:latin typeface="Arial"/>
                <a:cs typeface="Arial"/>
              </a:rPr>
              <a:t>fundamental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questions</a:t>
            </a:r>
            <a:endParaRPr sz="1100">
              <a:latin typeface="Arial"/>
              <a:cs typeface="Arial"/>
            </a:endParaRPr>
          </a:p>
          <a:p>
            <a:pPr marL="289560" marR="2411730">
              <a:lnSpc>
                <a:spcPct val="125299"/>
              </a:lnSpc>
            </a:pPr>
            <a:r>
              <a:rPr sz="1100" spc="-65" dirty="0">
                <a:latin typeface="Arial"/>
                <a:cs typeface="Arial"/>
              </a:rPr>
              <a:t>defines </a:t>
            </a:r>
            <a:r>
              <a:rPr sz="1100" spc="-30" dirty="0">
                <a:latin typeface="Arial"/>
                <a:cs typeface="Arial"/>
              </a:rPr>
              <a:t>the </a:t>
            </a:r>
            <a:r>
              <a:rPr sz="1100" spc="-60" dirty="0">
                <a:latin typeface="Arial"/>
                <a:cs typeface="Arial"/>
              </a:rPr>
              <a:t>questions  </a:t>
            </a:r>
            <a:r>
              <a:rPr sz="1100" spc="-90" dirty="0">
                <a:latin typeface="Arial"/>
                <a:cs typeface="Arial"/>
              </a:rPr>
              <a:t>answers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spc="-95" dirty="0">
                <a:latin typeface="Arial"/>
                <a:cs typeface="Arial"/>
              </a:rPr>
              <a:t>some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60" dirty="0">
                <a:latin typeface="Arial"/>
                <a:cs typeface="Arial"/>
              </a:rPr>
              <a:t>many </a:t>
            </a:r>
            <a:r>
              <a:rPr sz="1100" spc="-80" dirty="0">
                <a:latin typeface="Arial"/>
                <a:cs typeface="Arial"/>
              </a:rPr>
              <a:t>are </a:t>
            </a:r>
            <a:r>
              <a:rPr sz="1100" spc="-45" dirty="0">
                <a:latin typeface="Arial"/>
                <a:cs typeface="Arial"/>
              </a:rPr>
              <a:t>open!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spc="-55" dirty="0">
                <a:latin typeface="Arial"/>
                <a:cs typeface="Arial"/>
              </a:rPr>
              <a:t>very </a:t>
            </a:r>
            <a:r>
              <a:rPr sz="1100" spc="-80" dirty="0">
                <a:latin typeface="Arial"/>
                <a:cs typeface="Arial"/>
              </a:rPr>
              <a:t>close </a:t>
            </a:r>
            <a:r>
              <a:rPr sz="1100" spc="-45" dirty="0">
                <a:latin typeface="Arial"/>
                <a:cs typeface="Arial"/>
              </a:rPr>
              <a:t>connection </a:t>
            </a:r>
            <a:r>
              <a:rPr sz="1100" dirty="0">
                <a:latin typeface="Arial"/>
                <a:cs typeface="Arial"/>
              </a:rPr>
              <a:t>with </a:t>
            </a:r>
            <a:r>
              <a:rPr sz="1100" spc="-30" dirty="0">
                <a:latin typeface="Arial"/>
                <a:cs typeface="Arial"/>
              </a:rPr>
              <a:t>logic, </a:t>
            </a:r>
            <a:r>
              <a:rPr sz="1100" spc="-35" dirty="0">
                <a:latin typeface="Arial"/>
                <a:cs typeface="Arial"/>
              </a:rPr>
              <a:t>algorithms, </a:t>
            </a:r>
            <a:r>
              <a:rPr sz="1100" spc="-30" dirty="0">
                <a:latin typeface="Arial"/>
                <a:cs typeface="Arial"/>
              </a:rPr>
              <a:t>linguistics,</a:t>
            </a:r>
            <a:r>
              <a:rPr sz="1100" spc="17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others.</a:t>
            </a:r>
            <a:endParaRPr sz="1100">
              <a:latin typeface="Arial"/>
              <a:cs typeface="Arial"/>
            </a:endParaRPr>
          </a:p>
          <a:p>
            <a:pPr marL="289560" marR="1370965" indent="-277495">
              <a:lnSpc>
                <a:spcPct val="125299"/>
              </a:lnSpc>
            </a:pPr>
            <a:r>
              <a:rPr sz="1100" spc="-55" dirty="0">
                <a:latin typeface="Arial"/>
                <a:cs typeface="Arial"/>
              </a:rPr>
              <a:t>Provides </a:t>
            </a:r>
            <a:r>
              <a:rPr sz="1100" spc="-75" dirty="0">
                <a:latin typeface="Arial"/>
                <a:cs typeface="Arial"/>
              </a:rPr>
              <a:t>advanced </a:t>
            </a:r>
            <a:r>
              <a:rPr sz="1100" spc="-50" dirty="0">
                <a:latin typeface="Arial"/>
                <a:cs typeface="Arial"/>
              </a:rPr>
              <a:t>problem-solving </a:t>
            </a:r>
            <a:r>
              <a:rPr sz="1100" spc="-25" dirty="0">
                <a:latin typeface="Arial"/>
                <a:cs typeface="Arial"/>
              </a:rPr>
              <a:t>tools</a:t>
            </a:r>
            <a:r>
              <a:rPr sz="1100" spc="-25">
                <a:latin typeface="Arial"/>
                <a:cs typeface="Arial"/>
              </a:rPr>
              <a:t>.  </a:t>
            </a:r>
            <a:r>
              <a:rPr lang="en-US" sz="1100" spc="-55" dirty="0">
                <a:latin typeface="Arial"/>
                <a:cs typeface="Arial"/>
              </a:rPr>
              <a:t>f</a:t>
            </a:r>
            <a:r>
              <a:rPr sz="1100" spc="-25">
                <a:latin typeface="Arial"/>
                <a:cs typeface="Arial"/>
              </a:rPr>
              <a:t>or </a:t>
            </a:r>
            <a:r>
              <a:rPr sz="1100" spc="-70" dirty="0">
                <a:latin typeface="Arial"/>
                <a:cs typeface="Arial"/>
              </a:rPr>
              <a:t>more </a:t>
            </a:r>
            <a:r>
              <a:rPr sz="1100" spc="-75" dirty="0">
                <a:latin typeface="Arial"/>
                <a:cs typeface="Arial"/>
              </a:rPr>
              <a:t>advanced </a:t>
            </a:r>
            <a:r>
              <a:rPr sz="1100" spc="-85" dirty="0">
                <a:latin typeface="Arial"/>
                <a:cs typeface="Arial"/>
              </a:rPr>
              <a:t>courses  </a:t>
            </a:r>
            <a:r>
              <a:rPr sz="1100" spc="-80" dirty="0">
                <a:latin typeface="Arial"/>
                <a:cs typeface="Arial"/>
              </a:rPr>
              <a:t>research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lang="en-US" sz="1100" spc="-40" dirty="0">
                <a:latin typeface="Arial"/>
                <a:cs typeface="Arial"/>
              </a:rPr>
              <a:t>A</a:t>
            </a:r>
            <a:r>
              <a:rPr sz="1100" spc="-40">
                <a:latin typeface="Arial"/>
                <a:cs typeface="Arial"/>
              </a:rPr>
              <a:t>pplications</a:t>
            </a:r>
            <a:endParaRPr lang="en-US" sz="1100" spc="-4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lang="en-US" sz="1100" spc="-35" dirty="0">
                <a:latin typeface="Arial"/>
                <a:cs typeface="Arial"/>
              </a:rPr>
              <a:t>        </a:t>
            </a:r>
            <a:r>
              <a:rPr sz="1100" spc="-35">
                <a:latin typeface="Arial"/>
                <a:cs typeface="Arial"/>
              </a:rPr>
              <a:t>Practice </a:t>
            </a:r>
            <a:r>
              <a:rPr sz="1100" dirty="0">
                <a:latin typeface="Arial"/>
                <a:cs typeface="Arial"/>
              </a:rPr>
              <a:t>with </a:t>
            </a:r>
            <a:r>
              <a:rPr sz="1100" spc="-45" dirty="0">
                <a:latin typeface="Arial"/>
                <a:cs typeface="Arial"/>
              </a:rPr>
              <a:t>mathematics </a:t>
            </a:r>
            <a:r>
              <a:rPr sz="1100" spc="-65" dirty="0">
                <a:latin typeface="Arial"/>
                <a:cs typeface="Arial"/>
              </a:rPr>
              <a:t>and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proofs.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07626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20326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07626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20326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7859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9129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9129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7859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9129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4957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6227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6227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4957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6227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44352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35160" y="48796"/>
                </a:lnTo>
                <a:lnTo>
                  <a:pt x="43248" y="43339"/>
                </a:lnTo>
                <a:lnTo>
                  <a:pt x="48762" y="35262"/>
                </a:lnTo>
                <a:lnTo>
                  <a:pt x="50800" y="25400"/>
                </a:lnTo>
                <a:lnTo>
                  <a:pt x="48796" y="15537"/>
                </a:lnTo>
                <a:lnTo>
                  <a:pt x="43339" y="7461"/>
                </a:lnTo>
                <a:lnTo>
                  <a:pt x="35262" y="2004"/>
                </a:lnTo>
                <a:lnTo>
                  <a:pt x="25400" y="0"/>
                </a:lnTo>
                <a:lnTo>
                  <a:pt x="15537" y="2004"/>
                </a:lnTo>
                <a:lnTo>
                  <a:pt x="7461" y="7461"/>
                </a:lnTo>
                <a:lnTo>
                  <a:pt x="2004" y="15537"/>
                </a:lnTo>
                <a:lnTo>
                  <a:pt x="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29112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496754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15537" y="48796"/>
                </a:lnTo>
                <a:lnTo>
                  <a:pt x="7461" y="43339"/>
                </a:lnTo>
                <a:lnTo>
                  <a:pt x="2004" y="35262"/>
                </a:lnTo>
                <a:lnTo>
                  <a:pt x="0" y="25400"/>
                </a:lnTo>
                <a:lnTo>
                  <a:pt x="2004" y="15537"/>
                </a:lnTo>
                <a:lnTo>
                  <a:pt x="7461" y="7461"/>
                </a:lnTo>
                <a:lnTo>
                  <a:pt x="15537" y="2004"/>
                </a:lnTo>
                <a:lnTo>
                  <a:pt x="25400" y="0"/>
                </a:lnTo>
                <a:lnTo>
                  <a:pt x="35262" y="2004"/>
                </a:lnTo>
                <a:lnTo>
                  <a:pt x="43339" y="7461"/>
                </a:lnTo>
                <a:lnTo>
                  <a:pt x="48796" y="15537"/>
                </a:lnTo>
                <a:lnTo>
                  <a:pt x="5080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32315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0" y="0"/>
            <a:ext cx="4608004" cy="449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836966" y="211706"/>
            <a:ext cx="93471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Intr</a:t>
            </a:r>
            <a:r>
              <a:rPr spc="-30" dirty="0"/>
              <a:t>oduction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47294" y="928812"/>
            <a:ext cx="2139315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Tahoma"/>
                <a:cs typeface="Tahoma"/>
              </a:rPr>
              <a:t>This </a:t>
            </a:r>
            <a:r>
              <a:rPr sz="1100" spc="-55" dirty="0">
                <a:latin typeface="Tahoma"/>
                <a:cs typeface="Tahoma"/>
              </a:rPr>
              <a:t>course </a:t>
            </a:r>
            <a:r>
              <a:rPr sz="1100" spc="-15" dirty="0">
                <a:latin typeface="Tahoma"/>
                <a:cs typeface="Tahoma"/>
              </a:rPr>
              <a:t>will </a:t>
            </a:r>
            <a:r>
              <a:rPr sz="1100" spc="-40" dirty="0">
                <a:latin typeface="Tahoma"/>
                <a:cs typeface="Tahoma"/>
              </a:rPr>
              <a:t>focus </a:t>
            </a:r>
            <a:r>
              <a:rPr sz="1100" spc="-55" dirty="0">
                <a:latin typeface="Tahoma"/>
                <a:cs typeface="Tahoma"/>
              </a:rPr>
              <a:t>on</a:t>
            </a:r>
            <a:r>
              <a:rPr sz="1100" spc="204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following:</a:t>
            </a:r>
            <a:endParaRPr sz="1100">
              <a:latin typeface="Tahoma"/>
              <a:cs typeface="Tahoma"/>
            </a:endParaRPr>
          </a:p>
          <a:p>
            <a:pPr marL="289560" indent="-1778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AutoNum type="arabicPeriod"/>
              <a:tabLst>
                <a:tab pos="290195" algn="l"/>
              </a:tabLst>
            </a:pPr>
            <a:r>
              <a:rPr sz="1100" spc="-30" dirty="0">
                <a:latin typeface="Tahoma"/>
                <a:cs typeface="Tahoma"/>
              </a:rPr>
              <a:t>Computation </a:t>
            </a:r>
            <a:r>
              <a:rPr sz="1100" spc="-55" dirty="0">
                <a:latin typeface="Tahoma"/>
                <a:cs typeface="Tahoma"/>
              </a:rPr>
              <a:t>and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computability</a:t>
            </a:r>
            <a:endParaRPr sz="1100">
              <a:latin typeface="Tahoma"/>
              <a:cs typeface="Tahoma"/>
            </a:endParaRPr>
          </a:p>
          <a:p>
            <a:pPr marL="289560" indent="-177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AutoNum type="arabicPeriod"/>
              <a:tabLst>
                <a:tab pos="290195" algn="l"/>
              </a:tabLst>
            </a:pPr>
            <a:r>
              <a:rPr sz="1100" spc="-35" dirty="0">
                <a:latin typeface="Tahoma"/>
                <a:cs typeface="Tahoma"/>
              </a:rPr>
              <a:t>Complexity of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computation</a:t>
            </a:r>
            <a:endParaRPr sz="1100">
              <a:latin typeface="Tahoma"/>
              <a:cs typeface="Tahoma"/>
            </a:endParaRPr>
          </a:p>
          <a:p>
            <a:pPr marL="28956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AutoNum type="arabicPeriod"/>
              <a:tabLst>
                <a:tab pos="290195" algn="l"/>
              </a:tabLst>
            </a:pPr>
            <a:r>
              <a:rPr sz="1100" spc="-15" dirty="0">
                <a:latin typeface="Tahoma"/>
                <a:cs typeface="Tahoma"/>
              </a:rPr>
              <a:t>Limits </a:t>
            </a:r>
            <a:r>
              <a:rPr sz="1100" spc="-55" dirty="0">
                <a:latin typeface="Tahoma"/>
                <a:cs typeface="Tahoma"/>
              </a:rPr>
              <a:t>on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computations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07626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20326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07626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20326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7859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9129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9129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7859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9129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4957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6227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6227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4957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6227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44352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35160" y="48796"/>
                </a:lnTo>
                <a:lnTo>
                  <a:pt x="43248" y="43339"/>
                </a:lnTo>
                <a:lnTo>
                  <a:pt x="48762" y="35262"/>
                </a:lnTo>
                <a:lnTo>
                  <a:pt x="50800" y="25400"/>
                </a:lnTo>
                <a:lnTo>
                  <a:pt x="48796" y="15537"/>
                </a:lnTo>
                <a:lnTo>
                  <a:pt x="43339" y="7461"/>
                </a:lnTo>
                <a:lnTo>
                  <a:pt x="35262" y="2004"/>
                </a:lnTo>
                <a:lnTo>
                  <a:pt x="25400" y="0"/>
                </a:lnTo>
                <a:lnTo>
                  <a:pt x="15537" y="2004"/>
                </a:lnTo>
                <a:lnTo>
                  <a:pt x="7461" y="7461"/>
                </a:lnTo>
                <a:lnTo>
                  <a:pt x="2004" y="15537"/>
                </a:lnTo>
                <a:lnTo>
                  <a:pt x="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29112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496754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15537" y="48796"/>
                </a:lnTo>
                <a:lnTo>
                  <a:pt x="7461" y="43339"/>
                </a:lnTo>
                <a:lnTo>
                  <a:pt x="2004" y="35262"/>
                </a:lnTo>
                <a:lnTo>
                  <a:pt x="0" y="25400"/>
                </a:lnTo>
                <a:lnTo>
                  <a:pt x="2004" y="15537"/>
                </a:lnTo>
                <a:lnTo>
                  <a:pt x="7461" y="7461"/>
                </a:lnTo>
                <a:lnTo>
                  <a:pt x="15537" y="2004"/>
                </a:lnTo>
                <a:lnTo>
                  <a:pt x="25400" y="0"/>
                </a:lnTo>
                <a:lnTo>
                  <a:pt x="35262" y="2004"/>
                </a:lnTo>
                <a:lnTo>
                  <a:pt x="43339" y="7461"/>
                </a:lnTo>
                <a:lnTo>
                  <a:pt x="48796" y="15537"/>
                </a:lnTo>
                <a:lnTo>
                  <a:pt x="5080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32315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0" y="0"/>
            <a:ext cx="4608004" cy="449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836966" y="211706"/>
            <a:ext cx="93471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Intr</a:t>
            </a:r>
            <a:r>
              <a:rPr spc="-30" dirty="0"/>
              <a:t>oduction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47294" y="928812"/>
            <a:ext cx="3705225" cy="12141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Tahoma"/>
                <a:cs typeface="Tahoma"/>
              </a:rPr>
              <a:t>This </a:t>
            </a:r>
            <a:r>
              <a:rPr sz="1100" spc="-55" dirty="0">
                <a:latin typeface="Tahoma"/>
                <a:cs typeface="Tahoma"/>
              </a:rPr>
              <a:t>course </a:t>
            </a:r>
            <a:r>
              <a:rPr sz="1100" spc="-15" dirty="0">
                <a:latin typeface="Tahoma"/>
                <a:cs typeface="Tahoma"/>
              </a:rPr>
              <a:t>will </a:t>
            </a:r>
            <a:r>
              <a:rPr sz="1100" spc="-40" dirty="0">
                <a:latin typeface="Tahoma"/>
                <a:cs typeface="Tahoma"/>
              </a:rPr>
              <a:t>focus </a:t>
            </a:r>
            <a:r>
              <a:rPr sz="1100" spc="-55" dirty="0">
                <a:latin typeface="Tahoma"/>
                <a:cs typeface="Tahoma"/>
              </a:rPr>
              <a:t>on</a:t>
            </a:r>
            <a:r>
              <a:rPr sz="1100" spc="204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following:</a:t>
            </a:r>
            <a:endParaRPr sz="1100">
              <a:latin typeface="Tahoma"/>
              <a:cs typeface="Tahoma"/>
            </a:endParaRPr>
          </a:p>
          <a:p>
            <a:pPr marL="289560" indent="-1778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AutoNum type="arabicPeriod"/>
              <a:tabLst>
                <a:tab pos="290195" algn="l"/>
              </a:tabLst>
            </a:pPr>
            <a:r>
              <a:rPr sz="1100" spc="-30" dirty="0">
                <a:latin typeface="Tahoma"/>
                <a:cs typeface="Tahoma"/>
              </a:rPr>
              <a:t>Computation </a:t>
            </a:r>
            <a:r>
              <a:rPr sz="1100" spc="-55" dirty="0">
                <a:latin typeface="Tahoma"/>
                <a:cs typeface="Tahoma"/>
              </a:rPr>
              <a:t>and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computability</a:t>
            </a:r>
            <a:endParaRPr sz="1100">
              <a:latin typeface="Tahoma"/>
              <a:cs typeface="Tahoma"/>
            </a:endParaRPr>
          </a:p>
          <a:p>
            <a:pPr marL="289560" indent="-177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AutoNum type="arabicPeriod"/>
              <a:tabLst>
                <a:tab pos="290195" algn="l"/>
              </a:tabLst>
            </a:pPr>
            <a:r>
              <a:rPr sz="1100" spc="-35" dirty="0">
                <a:latin typeface="Tahoma"/>
                <a:cs typeface="Tahoma"/>
              </a:rPr>
              <a:t>Complexity of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computation</a:t>
            </a:r>
            <a:endParaRPr sz="1100">
              <a:latin typeface="Tahoma"/>
              <a:cs typeface="Tahoma"/>
            </a:endParaRPr>
          </a:p>
          <a:p>
            <a:pPr marL="28956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AutoNum type="arabicPeriod"/>
              <a:tabLst>
                <a:tab pos="290195" algn="l"/>
              </a:tabLst>
            </a:pPr>
            <a:r>
              <a:rPr sz="1100" spc="-15" dirty="0">
                <a:latin typeface="Tahoma"/>
                <a:cs typeface="Tahoma"/>
              </a:rPr>
              <a:t>Limits </a:t>
            </a:r>
            <a:r>
              <a:rPr sz="1100" spc="-55" dirty="0">
                <a:latin typeface="Tahoma"/>
                <a:cs typeface="Tahoma"/>
              </a:rPr>
              <a:t>on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computations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100" spc="-20" dirty="0">
                <a:latin typeface="Tahoma"/>
                <a:cs typeface="Tahoma"/>
              </a:rPr>
              <a:t>Basically </a:t>
            </a:r>
            <a:r>
              <a:rPr sz="1100" spc="-100" dirty="0">
                <a:latin typeface="Tahoma"/>
                <a:cs typeface="Tahoma"/>
              </a:rPr>
              <a:t>we </a:t>
            </a:r>
            <a:r>
              <a:rPr sz="1100" spc="-15" dirty="0">
                <a:latin typeface="Tahoma"/>
                <a:cs typeface="Tahoma"/>
              </a:rPr>
              <a:t>will </a:t>
            </a:r>
            <a:r>
              <a:rPr sz="1100" spc="-40" dirty="0">
                <a:latin typeface="Tahoma"/>
                <a:cs typeface="Tahoma"/>
              </a:rPr>
              <a:t>focus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0" dirty="0">
                <a:latin typeface="Tahoma"/>
                <a:cs typeface="Tahoma"/>
              </a:rPr>
              <a:t>understand </a:t>
            </a:r>
            <a:r>
              <a:rPr sz="1100" spc="-55" dirty="0">
                <a:latin typeface="Tahoma"/>
                <a:cs typeface="Tahoma"/>
              </a:rPr>
              <a:t>and </a:t>
            </a:r>
            <a:r>
              <a:rPr sz="1100" spc="-70" dirty="0">
                <a:latin typeface="Tahoma"/>
                <a:cs typeface="Tahoma"/>
              </a:rPr>
              <a:t>answer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questions: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07626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20326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07626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20326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7859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9129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9129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7859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9129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4957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6227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6227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4957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6227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44352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35160" y="48796"/>
                </a:lnTo>
                <a:lnTo>
                  <a:pt x="43248" y="43339"/>
                </a:lnTo>
                <a:lnTo>
                  <a:pt x="48762" y="35262"/>
                </a:lnTo>
                <a:lnTo>
                  <a:pt x="50800" y="25400"/>
                </a:lnTo>
                <a:lnTo>
                  <a:pt x="48796" y="15537"/>
                </a:lnTo>
                <a:lnTo>
                  <a:pt x="43339" y="7461"/>
                </a:lnTo>
                <a:lnTo>
                  <a:pt x="35262" y="2004"/>
                </a:lnTo>
                <a:lnTo>
                  <a:pt x="25400" y="0"/>
                </a:lnTo>
                <a:lnTo>
                  <a:pt x="15537" y="2004"/>
                </a:lnTo>
                <a:lnTo>
                  <a:pt x="7461" y="7461"/>
                </a:lnTo>
                <a:lnTo>
                  <a:pt x="2004" y="15537"/>
                </a:lnTo>
                <a:lnTo>
                  <a:pt x="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29112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496754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15537" y="48796"/>
                </a:lnTo>
                <a:lnTo>
                  <a:pt x="7461" y="43339"/>
                </a:lnTo>
                <a:lnTo>
                  <a:pt x="2004" y="35262"/>
                </a:lnTo>
                <a:lnTo>
                  <a:pt x="0" y="25400"/>
                </a:lnTo>
                <a:lnTo>
                  <a:pt x="2004" y="15537"/>
                </a:lnTo>
                <a:lnTo>
                  <a:pt x="7461" y="7461"/>
                </a:lnTo>
                <a:lnTo>
                  <a:pt x="15537" y="2004"/>
                </a:lnTo>
                <a:lnTo>
                  <a:pt x="25400" y="0"/>
                </a:lnTo>
                <a:lnTo>
                  <a:pt x="35262" y="2004"/>
                </a:lnTo>
                <a:lnTo>
                  <a:pt x="43339" y="7461"/>
                </a:lnTo>
                <a:lnTo>
                  <a:pt x="48796" y="15537"/>
                </a:lnTo>
                <a:lnTo>
                  <a:pt x="5080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32315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0" y="0"/>
            <a:ext cx="4608004" cy="449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836966" y="211706"/>
            <a:ext cx="93471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Intr</a:t>
            </a:r>
            <a:r>
              <a:rPr spc="-30" dirty="0"/>
              <a:t>oduction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47294" y="928812"/>
            <a:ext cx="3705225" cy="17056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Tahoma"/>
                <a:cs typeface="Tahoma"/>
              </a:rPr>
              <a:t>This </a:t>
            </a:r>
            <a:r>
              <a:rPr sz="1100" spc="-55" dirty="0">
                <a:latin typeface="Tahoma"/>
                <a:cs typeface="Tahoma"/>
              </a:rPr>
              <a:t>course </a:t>
            </a:r>
            <a:r>
              <a:rPr sz="1100" spc="-15" dirty="0">
                <a:latin typeface="Tahoma"/>
                <a:cs typeface="Tahoma"/>
              </a:rPr>
              <a:t>will </a:t>
            </a:r>
            <a:r>
              <a:rPr sz="1100" spc="-40" dirty="0">
                <a:latin typeface="Tahoma"/>
                <a:cs typeface="Tahoma"/>
              </a:rPr>
              <a:t>focus </a:t>
            </a:r>
            <a:r>
              <a:rPr sz="1100" spc="-55" dirty="0">
                <a:latin typeface="Tahoma"/>
                <a:cs typeface="Tahoma"/>
              </a:rPr>
              <a:t>on</a:t>
            </a:r>
            <a:r>
              <a:rPr sz="1100" spc="204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following:</a:t>
            </a:r>
            <a:endParaRPr sz="1100">
              <a:latin typeface="Tahoma"/>
              <a:cs typeface="Tahoma"/>
            </a:endParaRPr>
          </a:p>
          <a:p>
            <a:pPr marL="289560" indent="-1778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AutoNum type="arabicPeriod"/>
              <a:tabLst>
                <a:tab pos="290195" algn="l"/>
              </a:tabLst>
            </a:pPr>
            <a:r>
              <a:rPr sz="1100" spc="-30" dirty="0">
                <a:latin typeface="Tahoma"/>
                <a:cs typeface="Tahoma"/>
              </a:rPr>
              <a:t>Computation </a:t>
            </a:r>
            <a:r>
              <a:rPr sz="1100" spc="-55" dirty="0">
                <a:latin typeface="Tahoma"/>
                <a:cs typeface="Tahoma"/>
              </a:rPr>
              <a:t>and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computability</a:t>
            </a:r>
            <a:endParaRPr sz="1100">
              <a:latin typeface="Tahoma"/>
              <a:cs typeface="Tahoma"/>
            </a:endParaRPr>
          </a:p>
          <a:p>
            <a:pPr marL="289560" indent="-177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AutoNum type="arabicPeriod"/>
              <a:tabLst>
                <a:tab pos="290195" algn="l"/>
              </a:tabLst>
            </a:pPr>
            <a:r>
              <a:rPr sz="1100" spc="-35" dirty="0">
                <a:latin typeface="Tahoma"/>
                <a:cs typeface="Tahoma"/>
              </a:rPr>
              <a:t>Complexity of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computation</a:t>
            </a:r>
            <a:endParaRPr sz="1100">
              <a:latin typeface="Tahoma"/>
              <a:cs typeface="Tahoma"/>
            </a:endParaRPr>
          </a:p>
          <a:p>
            <a:pPr marL="28956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AutoNum type="arabicPeriod"/>
              <a:tabLst>
                <a:tab pos="290195" algn="l"/>
              </a:tabLst>
            </a:pPr>
            <a:r>
              <a:rPr sz="1100" spc="-15" dirty="0">
                <a:latin typeface="Tahoma"/>
                <a:cs typeface="Tahoma"/>
              </a:rPr>
              <a:t>Limits </a:t>
            </a:r>
            <a:r>
              <a:rPr sz="1100" spc="-55" dirty="0">
                <a:latin typeface="Tahoma"/>
                <a:cs typeface="Tahoma"/>
              </a:rPr>
              <a:t>on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computations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100" spc="-20" dirty="0">
                <a:latin typeface="Tahoma"/>
                <a:cs typeface="Tahoma"/>
              </a:rPr>
              <a:t>Basically </a:t>
            </a:r>
            <a:r>
              <a:rPr sz="1100" spc="-100" dirty="0">
                <a:latin typeface="Tahoma"/>
                <a:cs typeface="Tahoma"/>
              </a:rPr>
              <a:t>we </a:t>
            </a:r>
            <a:r>
              <a:rPr sz="1100" spc="-15" dirty="0">
                <a:latin typeface="Tahoma"/>
                <a:cs typeface="Tahoma"/>
              </a:rPr>
              <a:t>will </a:t>
            </a:r>
            <a:r>
              <a:rPr sz="1100" spc="-40" dirty="0">
                <a:latin typeface="Tahoma"/>
                <a:cs typeface="Tahoma"/>
              </a:rPr>
              <a:t>focus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0" dirty="0">
                <a:latin typeface="Tahoma"/>
                <a:cs typeface="Tahoma"/>
              </a:rPr>
              <a:t>understand </a:t>
            </a:r>
            <a:r>
              <a:rPr sz="1100" spc="-55" dirty="0">
                <a:latin typeface="Tahoma"/>
                <a:cs typeface="Tahoma"/>
              </a:rPr>
              <a:t>and </a:t>
            </a:r>
            <a:r>
              <a:rPr sz="1100" spc="-70" dirty="0">
                <a:latin typeface="Tahoma"/>
                <a:cs typeface="Tahoma"/>
              </a:rPr>
              <a:t>answer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questions:</a:t>
            </a:r>
            <a:endParaRPr sz="1100">
              <a:latin typeface="Tahoma"/>
              <a:cs typeface="Tahoma"/>
            </a:endParaRPr>
          </a:p>
          <a:p>
            <a:pPr marL="12700" marR="523240">
              <a:lnSpc>
                <a:spcPts val="1350"/>
              </a:lnSpc>
              <a:spcBef>
                <a:spcPts val="1145"/>
              </a:spcBef>
            </a:pPr>
            <a:r>
              <a:rPr sz="1400" i="1" spc="15" dirty="0">
                <a:solidFill>
                  <a:srgbClr val="0000FF"/>
                </a:solidFill>
                <a:latin typeface="Calibri"/>
                <a:cs typeface="Calibri"/>
              </a:rPr>
              <a:t>What </a:t>
            </a:r>
            <a:r>
              <a:rPr sz="1400" i="1" spc="-50" dirty="0">
                <a:solidFill>
                  <a:srgbClr val="0000FF"/>
                </a:solidFill>
                <a:latin typeface="Calibri"/>
                <a:cs typeface="Calibri"/>
              </a:rPr>
              <a:t>are </a:t>
            </a:r>
            <a:r>
              <a:rPr sz="1400" i="1" spc="-10" dirty="0">
                <a:solidFill>
                  <a:srgbClr val="0000FF"/>
                </a:solidFill>
                <a:latin typeface="Calibri"/>
                <a:cs typeface="Calibri"/>
              </a:rPr>
              <a:t>the fundamental </a:t>
            </a:r>
            <a:r>
              <a:rPr sz="1400" i="1" spc="-5" dirty="0">
                <a:solidFill>
                  <a:srgbClr val="0000FF"/>
                </a:solidFill>
                <a:latin typeface="Calibri"/>
                <a:cs typeface="Calibri"/>
              </a:rPr>
              <a:t>capabilities </a:t>
            </a:r>
            <a:r>
              <a:rPr sz="1400" i="1" spc="-25" dirty="0">
                <a:solidFill>
                  <a:srgbClr val="0000FF"/>
                </a:solidFill>
                <a:latin typeface="Calibri"/>
                <a:cs typeface="Calibri"/>
              </a:rPr>
              <a:t>and  </a:t>
            </a:r>
            <a:r>
              <a:rPr sz="1400" i="1" spc="5" dirty="0">
                <a:solidFill>
                  <a:srgbClr val="0000FF"/>
                </a:solidFill>
                <a:latin typeface="Calibri"/>
                <a:cs typeface="Calibri"/>
              </a:rPr>
              <a:t>limitation </a:t>
            </a:r>
            <a:r>
              <a:rPr sz="1400" i="1" spc="-10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1400" i="1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0000FF"/>
                </a:solidFill>
                <a:latin typeface="Calibri"/>
                <a:cs typeface="Calibri"/>
              </a:rPr>
              <a:t>computers?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5517" y="211706"/>
            <a:ext cx="26784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Introduction: </a:t>
            </a:r>
            <a:r>
              <a:rPr spc="-25" dirty="0"/>
              <a:t>Computability</a:t>
            </a:r>
            <a:r>
              <a:rPr spc="-200" dirty="0"/>
              <a:t> </a:t>
            </a:r>
            <a:r>
              <a:rPr spc="-40" dirty="0"/>
              <a:t>Theory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357" y="1129282"/>
            <a:ext cx="360997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9230" marR="5080" indent="-177165" algn="just">
              <a:lnSpc>
                <a:spcPct val="102600"/>
              </a:lnSpc>
              <a:spcBef>
                <a:spcPts val="55"/>
              </a:spcBef>
            </a:pPr>
            <a:r>
              <a:rPr sz="1100" spc="-45" dirty="0">
                <a:solidFill>
                  <a:srgbClr val="3333B2"/>
                </a:solidFill>
                <a:latin typeface="Tahoma"/>
                <a:cs typeface="Tahoma"/>
              </a:rPr>
              <a:t>1. </a:t>
            </a:r>
            <a:r>
              <a:rPr sz="1100" spc="-30" dirty="0">
                <a:latin typeface="Tahoma"/>
                <a:cs typeface="Tahoma"/>
              </a:rPr>
              <a:t>Around </a:t>
            </a:r>
            <a:r>
              <a:rPr sz="1100" spc="-40" dirty="0">
                <a:latin typeface="Tahoma"/>
                <a:cs typeface="Tahoma"/>
              </a:rPr>
              <a:t>1930’s, Gödel, </a:t>
            </a:r>
            <a:r>
              <a:rPr sz="1100" spc="-35" dirty="0">
                <a:latin typeface="Tahoma"/>
                <a:cs typeface="Tahoma"/>
              </a:rPr>
              <a:t>Turing, </a:t>
            </a:r>
            <a:r>
              <a:rPr sz="1100" spc="-55" dirty="0">
                <a:latin typeface="Tahoma"/>
                <a:cs typeface="Tahoma"/>
              </a:rPr>
              <a:t>and </a:t>
            </a:r>
            <a:r>
              <a:rPr sz="1100" spc="-35" dirty="0">
                <a:latin typeface="Tahoma"/>
                <a:cs typeface="Tahoma"/>
              </a:rPr>
              <a:t>Church </a:t>
            </a:r>
            <a:r>
              <a:rPr sz="1100" spc="-50" dirty="0">
                <a:latin typeface="Tahoma"/>
                <a:cs typeface="Tahoma"/>
              </a:rPr>
              <a:t>(among </a:t>
            </a:r>
            <a:r>
              <a:rPr sz="1100" spc="-40" dirty="0">
                <a:latin typeface="Tahoma"/>
                <a:cs typeface="Tahoma"/>
              </a:rPr>
              <a:t>others)  </a:t>
            </a:r>
            <a:r>
              <a:rPr sz="1100" spc="-55" dirty="0">
                <a:latin typeface="Tahoma"/>
                <a:cs typeface="Tahoma"/>
              </a:rPr>
              <a:t>discovered </a:t>
            </a:r>
            <a:r>
              <a:rPr sz="1100" spc="-15" dirty="0">
                <a:latin typeface="Tahoma"/>
                <a:cs typeface="Tahoma"/>
              </a:rPr>
              <a:t>that </a:t>
            </a:r>
            <a:r>
              <a:rPr sz="1100" spc="-30" dirty="0">
                <a:latin typeface="Tahoma"/>
                <a:cs typeface="Tahoma"/>
              </a:rPr>
              <a:t>certain </a:t>
            </a:r>
            <a:r>
              <a:rPr sz="1100" spc="-45" dirty="0">
                <a:latin typeface="Tahoma"/>
                <a:cs typeface="Tahoma"/>
              </a:rPr>
              <a:t>basic </a:t>
            </a:r>
            <a:r>
              <a:rPr sz="1100" spc="-60" dirty="0">
                <a:latin typeface="Tahoma"/>
                <a:cs typeface="Tahoma"/>
              </a:rPr>
              <a:t>problems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cannot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 </a:t>
            </a:r>
            <a:r>
              <a:rPr sz="1100" spc="-50" dirty="0">
                <a:latin typeface="Tahoma"/>
                <a:cs typeface="Tahoma"/>
              </a:rPr>
              <a:t>solved </a:t>
            </a:r>
            <a:r>
              <a:rPr sz="1100" spc="-60" dirty="0">
                <a:latin typeface="Tahoma"/>
                <a:cs typeface="Tahoma"/>
              </a:rPr>
              <a:t>by  </a:t>
            </a:r>
            <a:r>
              <a:rPr sz="1100" spc="-45" dirty="0">
                <a:latin typeface="Tahoma"/>
                <a:cs typeface="Tahoma"/>
              </a:rPr>
              <a:t>computers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5517" y="211706"/>
            <a:ext cx="26784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0" dirty="0">
                <a:solidFill>
                  <a:srgbClr val="3333B2"/>
                </a:solidFill>
                <a:latin typeface="Tahoma"/>
                <a:cs typeface="Tahoma"/>
              </a:rPr>
              <a:t>Introduction: </a:t>
            </a:r>
            <a:r>
              <a:rPr sz="1400" spc="-25" dirty="0">
                <a:solidFill>
                  <a:srgbClr val="3333B2"/>
                </a:solidFill>
                <a:latin typeface="Tahoma"/>
                <a:cs typeface="Tahoma"/>
              </a:rPr>
              <a:t>Computability</a:t>
            </a:r>
            <a:r>
              <a:rPr sz="1400" spc="-20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3333B2"/>
                </a:solidFill>
                <a:latin typeface="Tahoma"/>
                <a:cs typeface="Tahoma"/>
              </a:rPr>
              <a:t>Theory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357" y="1129282"/>
            <a:ext cx="3736975" cy="9182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9230" marR="131445" indent="-177165" algn="just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AutoNum type="arabicPeriod"/>
              <a:tabLst>
                <a:tab pos="189865" algn="l"/>
              </a:tabLst>
            </a:pPr>
            <a:r>
              <a:rPr sz="1100" spc="-30" dirty="0">
                <a:latin typeface="Tahoma"/>
                <a:cs typeface="Tahoma"/>
              </a:rPr>
              <a:t>Around </a:t>
            </a:r>
            <a:r>
              <a:rPr sz="1100" spc="-40" dirty="0">
                <a:latin typeface="Tahoma"/>
                <a:cs typeface="Tahoma"/>
              </a:rPr>
              <a:t>1930’s, Gödel, </a:t>
            </a:r>
            <a:r>
              <a:rPr sz="1100" spc="-35" dirty="0">
                <a:latin typeface="Tahoma"/>
                <a:cs typeface="Tahoma"/>
              </a:rPr>
              <a:t>Turing, </a:t>
            </a:r>
            <a:r>
              <a:rPr sz="1100" spc="-55" dirty="0">
                <a:latin typeface="Tahoma"/>
                <a:cs typeface="Tahoma"/>
              </a:rPr>
              <a:t>and </a:t>
            </a:r>
            <a:r>
              <a:rPr sz="1100" spc="-35" dirty="0">
                <a:latin typeface="Tahoma"/>
                <a:cs typeface="Tahoma"/>
              </a:rPr>
              <a:t>Church </a:t>
            </a:r>
            <a:r>
              <a:rPr sz="1100" spc="-50" dirty="0">
                <a:latin typeface="Tahoma"/>
                <a:cs typeface="Tahoma"/>
              </a:rPr>
              <a:t>(among </a:t>
            </a:r>
            <a:r>
              <a:rPr sz="1100" spc="-40" dirty="0">
                <a:latin typeface="Tahoma"/>
                <a:cs typeface="Tahoma"/>
              </a:rPr>
              <a:t>others)  </a:t>
            </a:r>
            <a:r>
              <a:rPr sz="1100" spc="-55" dirty="0">
                <a:latin typeface="Tahoma"/>
                <a:cs typeface="Tahoma"/>
              </a:rPr>
              <a:t>discovered </a:t>
            </a:r>
            <a:r>
              <a:rPr sz="1100" spc="-15" dirty="0">
                <a:latin typeface="Tahoma"/>
                <a:cs typeface="Tahoma"/>
              </a:rPr>
              <a:t>that </a:t>
            </a:r>
            <a:r>
              <a:rPr sz="1100" spc="-30" dirty="0">
                <a:latin typeface="Tahoma"/>
                <a:cs typeface="Tahoma"/>
              </a:rPr>
              <a:t>certain </a:t>
            </a:r>
            <a:r>
              <a:rPr sz="1100" spc="-45" dirty="0">
                <a:latin typeface="Tahoma"/>
                <a:cs typeface="Tahoma"/>
              </a:rPr>
              <a:t>basic </a:t>
            </a:r>
            <a:r>
              <a:rPr sz="1100" spc="-60" dirty="0">
                <a:latin typeface="Tahoma"/>
                <a:cs typeface="Tahoma"/>
              </a:rPr>
              <a:t>problems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cannot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 </a:t>
            </a:r>
            <a:r>
              <a:rPr sz="1100" spc="-50" dirty="0">
                <a:latin typeface="Tahoma"/>
                <a:cs typeface="Tahoma"/>
              </a:rPr>
              <a:t>solved </a:t>
            </a:r>
            <a:r>
              <a:rPr sz="1100" spc="-60" dirty="0">
                <a:latin typeface="Tahoma"/>
                <a:cs typeface="Tahoma"/>
              </a:rPr>
              <a:t>by  </a:t>
            </a:r>
            <a:r>
              <a:rPr sz="1100" spc="-45" dirty="0">
                <a:latin typeface="Tahoma"/>
                <a:cs typeface="Tahoma"/>
              </a:rPr>
              <a:t>computers</a:t>
            </a:r>
            <a:endParaRPr sz="1100">
              <a:latin typeface="Tahoma"/>
              <a:cs typeface="Tahoma"/>
            </a:endParaRPr>
          </a:p>
          <a:p>
            <a:pPr marL="189230" marR="5080" indent="-177165" algn="just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189865" algn="l"/>
              </a:tabLst>
            </a:pPr>
            <a:r>
              <a:rPr sz="1100" spc="-35" dirty="0">
                <a:latin typeface="Tahoma"/>
                <a:cs typeface="Tahoma"/>
              </a:rPr>
              <a:t>For </a:t>
            </a:r>
            <a:r>
              <a:rPr sz="1100" spc="-55" dirty="0">
                <a:latin typeface="Tahoma"/>
                <a:cs typeface="Tahoma"/>
              </a:rPr>
              <a:t>example, </a:t>
            </a:r>
            <a:r>
              <a:rPr sz="1100" spc="-45" dirty="0">
                <a:latin typeface="Tahoma"/>
                <a:cs typeface="Tahoma"/>
              </a:rPr>
              <a:t>determining </a:t>
            </a:r>
            <a:r>
              <a:rPr sz="1100" spc="-55" dirty="0">
                <a:latin typeface="Tahoma"/>
                <a:cs typeface="Tahoma"/>
              </a:rPr>
              <a:t>whether a </a:t>
            </a:r>
            <a:r>
              <a:rPr sz="1100" spc="-35" dirty="0">
                <a:latin typeface="Tahoma"/>
                <a:cs typeface="Tahoma"/>
              </a:rPr>
              <a:t>mathematical </a:t>
            </a:r>
            <a:r>
              <a:rPr sz="1100" spc="-40" dirty="0">
                <a:latin typeface="Tahoma"/>
                <a:cs typeface="Tahoma"/>
              </a:rPr>
              <a:t>statement 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40" dirty="0">
                <a:latin typeface="Tahoma"/>
                <a:cs typeface="Tahoma"/>
              </a:rPr>
              <a:t>true </a:t>
            </a:r>
            <a:r>
              <a:rPr sz="1100" spc="-60" dirty="0">
                <a:latin typeface="Tahoma"/>
                <a:cs typeface="Tahoma"/>
              </a:rPr>
              <a:t>or</a:t>
            </a:r>
            <a:r>
              <a:rPr sz="1100" spc="1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false?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07626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20326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07626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20326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7859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9129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9129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7859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9129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4957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6227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6227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4957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6227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44352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35160" y="48796"/>
                </a:lnTo>
                <a:lnTo>
                  <a:pt x="43248" y="43339"/>
                </a:lnTo>
                <a:lnTo>
                  <a:pt x="48762" y="35262"/>
                </a:lnTo>
                <a:lnTo>
                  <a:pt x="50800" y="25400"/>
                </a:lnTo>
                <a:lnTo>
                  <a:pt x="48796" y="15537"/>
                </a:lnTo>
                <a:lnTo>
                  <a:pt x="43339" y="7461"/>
                </a:lnTo>
                <a:lnTo>
                  <a:pt x="35262" y="2004"/>
                </a:lnTo>
                <a:lnTo>
                  <a:pt x="25400" y="0"/>
                </a:lnTo>
                <a:lnTo>
                  <a:pt x="15537" y="2004"/>
                </a:lnTo>
                <a:lnTo>
                  <a:pt x="7461" y="7461"/>
                </a:lnTo>
                <a:lnTo>
                  <a:pt x="2004" y="15537"/>
                </a:lnTo>
                <a:lnTo>
                  <a:pt x="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29112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496754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15537" y="48796"/>
                </a:lnTo>
                <a:lnTo>
                  <a:pt x="7461" y="43339"/>
                </a:lnTo>
                <a:lnTo>
                  <a:pt x="2004" y="35262"/>
                </a:lnTo>
                <a:lnTo>
                  <a:pt x="0" y="25400"/>
                </a:lnTo>
                <a:lnTo>
                  <a:pt x="2004" y="15537"/>
                </a:lnTo>
                <a:lnTo>
                  <a:pt x="7461" y="7461"/>
                </a:lnTo>
                <a:lnTo>
                  <a:pt x="15537" y="2004"/>
                </a:lnTo>
                <a:lnTo>
                  <a:pt x="25400" y="0"/>
                </a:lnTo>
                <a:lnTo>
                  <a:pt x="35262" y="2004"/>
                </a:lnTo>
                <a:lnTo>
                  <a:pt x="43339" y="7461"/>
                </a:lnTo>
                <a:lnTo>
                  <a:pt x="48796" y="15537"/>
                </a:lnTo>
                <a:lnTo>
                  <a:pt x="5080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32315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0" y="0"/>
            <a:ext cx="4608004" cy="449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965517" y="211706"/>
            <a:ext cx="26784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Introduction: </a:t>
            </a:r>
            <a:r>
              <a:rPr spc="-25" dirty="0"/>
              <a:t>Computability</a:t>
            </a:r>
            <a:r>
              <a:rPr spc="-200" dirty="0"/>
              <a:t> </a:t>
            </a:r>
            <a:r>
              <a:rPr spc="-40" dirty="0"/>
              <a:t>Theory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47357" y="1129282"/>
            <a:ext cx="3736975" cy="13004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9230" marR="131445" indent="-177165" algn="just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AutoNum type="arabicPeriod"/>
              <a:tabLst>
                <a:tab pos="189865" algn="l"/>
              </a:tabLst>
            </a:pPr>
            <a:r>
              <a:rPr sz="1100" spc="-30" dirty="0">
                <a:latin typeface="Tahoma"/>
                <a:cs typeface="Tahoma"/>
              </a:rPr>
              <a:t>Around </a:t>
            </a:r>
            <a:r>
              <a:rPr sz="1100" spc="-40" dirty="0">
                <a:latin typeface="Tahoma"/>
                <a:cs typeface="Tahoma"/>
              </a:rPr>
              <a:t>1930’s, Gödel, </a:t>
            </a:r>
            <a:r>
              <a:rPr sz="1100" spc="-35" dirty="0">
                <a:latin typeface="Tahoma"/>
                <a:cs typeface="Tahoma"/>
              </a:rPr>
              <a:t>Turing, </a:t>
            </a:r>
            <a:r>
              <a:rPr sz="1100" spc="-55" dirty="0">
                <a:latin typeface="Tahoma"/>
                <a:cs typeface="Tahoma"/>
              </a:rPr>
              <a:t>and </a:t>
            </a:r>
            <a:r>
              <a:rPr sz="1100" spc="-35" dirty="0">
                <a:latin typeface="Tahoma"/>
                <a:cs typeface="Tahoma"/>
              </a:rPr>
              <a:t>Church </a:t>
            </a:r>
            <a:r>
              <a:rPr sz="1100" spc="-50" dirty="0">
                <a:latin typeface="Tahoma"/>
                <a:cs typeface="Tahoma"/>
              </a:rPr>
              <a:t>(among </a:t>
            </a:r>
            <a:r>
              <a:rPr sz="1100" spc="-40" dirty="0">
                <a:latin typeface="Tahoma"/>
                <a:cs typeface="Tahoma"/>
              </a:rPr>
              <a:t>others)  </a:t>
            </a:r>
            <a:r>
              <a:rPr sz="1100" spc="-55" dirty="0">
                <a:latin typeface="Tahoma"/>
                <a:cs typeface="Tahoma"/>
              </a:rPr>
              <a:t>discovered </a:t>
            </a:r>
            <a:r>
              <a:rPr sz="1100" spc="-15" dirty="0">
                <a:latin typeface="Tahoma"/>
                <a:cs typeface="Tahoma"/>
              </a:rPr>
              <a:t>that </a:t>
            </a:r>
            <a:r>
              <a:rPr sz="1100" spc="-30" dirty="0">
                <a:latin typeface="Tahoma"/>
                <a:cs typeface="Tahoma"/>
              </a:rPr>
              <a:t>certain </a:t>
            </a:r>
            <a:r>
              <a:rPr sz="1100" spc="-45" dirty="0">
                <a:latin typeface="Tahoma"/>
                <a:cs typeface="Tahoma"/>
              </a:rPr>
              <a:t>basic </a:t>
            </a:r>
            <a:r>
              <a:rPr sz="1100" spc="-60" dirty="0">
                <a:latin typeface="Tahoma"/>
                <a:cs typeface="Tahoma"/>
              </a:rPr>
              <a:t>problems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cannot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 </a:t>
            </a:r>
            <a:r>
              <a:rPr sz="1100" spc="-50" dirty="0">
                <a:latin typeface="Tahoma"/>
                <a:cs typeface="Tahoma"/>
              </a:rPr>
              <a:t>solved </a:t>
            </a:r>
            <a:r>
              <a:rPr sz="1100" spc="-60" dirty="0">
                <a:latin typeface="Tahoma"/>
                <a:cs typeface="Tahoma"/>
              </a:rPr>
              <a:t>by  </a:t>
            </a:r>
            <a:r>
              <a:rPr sz="1100" spc="-45" dirty="0">
                <a:latin typeface="Tahoma"/>
                <a:cs typeface="Tahoma"/>
              </a:rPr>
              <a:t>computers</a:t>
            </a:r>
            <a:endParaRPr sz="1100">
              <a:latin typeface="Tahoma"/>
              <a:cs typeface="Tahoma"/>
            </a:endParaRPr>
          </a:p>
          <a:p>
            <a:pPr marL="189230" marR="50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189865" algn="l"/>
              </a:tabLst>
            </a:pPr>
            <a:r>
              <a:rPr sz="1100" spc="-35" dirty="0">
                <a:latin typeface="Tahoma"/>
                <a:cs typeface="Tahoma"/>
              </a:rPr>
              <a:t>For </a:t>
            </a:r>
            <a:r>
              <a:rPr sz="1100" spc="-55" dirty="0">
                <a:latin typeface="Tahoma"/>
                <a:cs typeface="Tahoma"/>
              </a:rPr>
              <a:t>example, </a:t>
            </a:r>
            <a:r>
              <a:rPr sz="1100" spc="-45" dirty="0">
                <a:latin typeface="Tahoma"/>
                <a:cs typeface="Tahoma"/>
              </a:rPr>
              <a:t>determining </a:t>
            </a:r>
            <a:r>
              <a:rPr sz="1100" spc="-55" dirty="0">
                <a:latin typeface="Tahoma"/>
                <a:cs typeface="Tahoma"/>
              </a:rPr>
              <a:t>whether a </a:t>
            </a:r>
            <a:r>
              <a:rPr sz="1100" spc="-35" dirty="0">
                <a:latin typeface="Tahoma"/>
                <a:cs typeface="Tahoma"/>
              </a:rPr>
              <a:t>mathematical </a:t>
            </a:r>
            <a:r>
              <a:rPr sz="1100" spc="-40" dirty="0">
                <a:latin typeface="Tahoma"/>
                <a:cs typeface="Tahoma"/>
              </a:rPr>
              <a:t>statement 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40" dirty="0">
                <a:latin typeface="Tahoma"/>
                <a:cs typeface="Tahoma"/>
              </a:rPr>
              <a:t>true </a:t>
            </a:r>
            <a:r>
              <a:rPr sz="1100" spc="-60" dirty="0">
                <a:latin typeface="Tahoma"/>
                <a:cs typeface="Tahoma"/>
              </a:rPr>
              <a:t>or</a:t>
            </a:r>
            <a:r>
              <a:rPr sz="1100" spc="1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false?</a:t>
            </a:r>
            <a:endParaRPr sz="1100">
              <a:latin typeface="Tahoma"/>
              <a:cs typeface="Tahoma"/>
            </a:endParaRPr>
          </a:p>
          <a:p>
            <a:pPr marL="189230" marR="31051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189865" algn="l"/>
              </a:tabLst>
            </a:pPr>
            <a:r>
              <a:rPr sz="1100" spc="-10" dirty="0">
                <a:latin typeface="Tahoma"/>
                <a:cs typeface="Tahoma"/>
              </a:rPr>
              <a:t>This </a:t>
            </a:r>
            <a:r>
              <a:rPr sz="1100" spc="-50" dirty="0">
                <a:latin typeface="Tahoma"/>
                <a:cs typeface="Tahoma"/>
              </a:rPr>
              <a:t>led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5" dirty="0">
                <a:latin typeface="Tahoma"/>
                <a:cs typeface="Tahoma"/>
              </a:rPr>
              <a:t>development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55" dirty="0">
                <a:latin typeface="Tahoma"/>
                <a:cs typeface="Tahoma"/>
              </a:rPr>
              <a:t>ideas </a:t>
            </a:r>
            <a:r>
              <a:rPr sz="1100" spc="-45" dirty="0">
                <a:latin typeface="Tahoma"/>
                <a:cs typeface="Tahoma"/>
              </a:rPr>
              <a:t>concerning </a:t>
            </a:r>
            <a:r>
              <a:rPr sz="1100" spc="-40" dirty="0">
                <a:latin typeface="Tahoma"/>
                <a:cs typeface="Tahoma"/>
              </a:rPr>
              <a:t>theoretical  </a:t>
            </a:r>
            <a:r>
              <a:rPr sz="1100" spc="-50" dirty="0">
                <a:latin typeface="Tahoma"/>
                <a:cs typeface="Tahoma"/>
              </a:rPr>
              <a:t>models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45" dirty="0">
                <a:latin typeface="Tahoma"/>
                <a:cs typeface="Tahoma"/>
              </a:rPr>
              <a:t>computers </a:t>
            </a:r>
            <a:r>
              <a:rPr sz="1100" spc="-40" dirty="0">
                <a:latin typeface="Tahoma"/>
                <a:cs typeface="Tahoma"/>
              </a:rPr>
              <a:t>(and eventually </a:t>
            </a:r>
            <a:r>
              <a:rPr sz="1100" spc="-30" dirty="0">
                <a:latin typeface="Tahoma"/>
                <a:cs typeface="Tahoma"/>
              </a:rPr>
              <a:t>actual</a:t>
            </a:r>
            <a:r>
              <a:rPr sz="1100" spc="2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computers)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07626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20326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07626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20326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7859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9129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9129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7859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9129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4957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6227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6227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4957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6227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44352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35160" y="48796"/>
                </a:lnTo>
                <a:lnTo>
                  <a:pt x="43248" y="43339"/>
                </a:lnTo>
                <a:lnTo>
                  <a:pt x="48762" y="35262"/>
                </a:lnTo>
                <a:lnTo>
                  <a:pt x="50800" y="25400"/>
                </a:lnTo>
                <a:lnTo>
                  <a:pt x="48796" y="15537"/>
                </a:lnTo>
                <a:lnTo>
                  <a:pt x="43339" y="7461"/>
                </a:lnTo>
                <a:lnTo>
                  <a:pt x="35262" y="2004"/>
                </a:lnTo>
                <a:lnTo>
                  <a:pt x="25400" y="0"/>
                </a:lnTo>
                <a:lnTo>
                  <a:pt x="15537" y="2004"/>
                </a:lnTo>
                <a:lnTo>
                  <a:pt x="7461" y="7461"/>
                </a:lnTo>
                <a:lnTo>
                  <a:pt x="2004" y="15537"/>
                </a:lnTo>
                <a:lnTo>
                  <a:pt x="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29112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496754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15537" y="48796"/>
                </a:lnTo>
                <a:lnTo>
                  <a:pt x="7461" y="43339"/>
                </a:lnTo>
                <a:lnTo>
                  <a:pt x="2004" y="35262"/>
                </a:lnTo>
                <a:lnTo>
                  <a:pt x="0" y="25400"/>
                </a:lnTo>
                <a:lnTo>
                  <a:pt x="2004" y="15537"/>
                </a:lnTo>
                <a:lnTo>
                  <a:pt x="7461" y="7461"/>
                </a:lnTo>
                <a:lnTo>
                  <a:pt x="15537" y="2004"/>
                </a:lnTo>
                <a:lnTo>
                  <a:pt x="25400" y="0"/>
                </a:lnTo>
                <a:lnTo>
                  <a:pt x="35262" y="2004"/>
                </a:lnTo>
                <a:lnTo>
                  <a:pt x="43339" y="7461"/>
                </a:lnTo>
                <a:lnTo>
                  <a:pt x="48796" y="15537"/>
                </a:lnTo>
                <a:lnTo>
                  <a:pt x="5080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32315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0" y="0"/>
            <a:ext cx="4608004" cy="449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072489" y="211706"/>
            <a:ext cx="24638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Introduction: </a:t>
            </a:r>
            <a:r>
              <a:rPr spc="-35" dirty="0"/>
              <a:t>Complexity</a:t>
            </a:r>
            <a:r>
              <a:rPr spc="-210" dirty="0"/>
              <a:t> </a:t>
            </a:r>
            <a:r>
              <a:rPr spc="-40" dirty="0"/>
              <a:t>Theory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91858" y="1186013"/>
            <a:ext cx="3716654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4780" marR="5080" indent="-13271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45415" algn="l"/>
              </a:tabLst>
            </a:pPr>
            <a:r>
              <a:rPr sz="1100" spc="-30" dirty="0">
                <a:latin typeface="Tahoma"/>
                <a:cs typeface="Tahoma"/>
              </a:rPr>
              <a:t>Computational </a:t>
            </a:r>
            <a:r>
              <a:rPr sz="1100" spc="-55" dirty="0">
                <a:latin typeface="Tahoma"/>
                <a:cs typeface="Tahoma"/>
              </a:rPr>
              <a:t>problems </a:t>
            </a:r>
            <a:r>
              <a:rPr sz="1100" spc="-60" dirty="0">
                <a:latin typeface="Tahoma"/>
                <a:cs typeface="Tahoma"/>
              </a:rPr>
              <a:t>come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-45" dirty="0">
                <a:latin typeface="Tahoma"/>
                <a:cs typeface="Tahoma"/>
              </a:rPr>
              <a:t>different </a:t>
            </a:r>
            <a:r>
              <a:rPr sz="1100" spc="-50" dirty="0">
                <a:latin typeface="Tahoma"/>
                <a:cs typeface="Tahoma"/>
              </a:rPr>
              <a:t>varieties: </a:t>
            </a:r>
            <a:r>
              <a:rPr sz="1100" spc="-70" dirty="0">
                <a:latin typeface="Tahoma"/>
                <a:cs typeface="Tahoma"/>
              </a:rPr>
              <a:t>some </a:t>
            </a:r>
            <a:r>
              <a:rPr sz="1100" spc="-75" dirty="0">
                <a:latin typeface="Tahoma"/>
                <a:cs typeface="Tahoma"/>
              </a:rPr>
              <a:t>are  </a:t>
            </a:r>
            <a:r>
              <a:rPr sz="1100" spc="-80" dirty="0">
                <a:latin typeface="Tahoma"/>
                <a:cs typeface="Tahoma"/>
              </a:rPr>
              <a:t>easy, </a:t>
            </a:r>
            <a:r>
              <a:rPr sz="1100" spc="-55" dirty="0">
                <a:latin typeface="Tahoma"/>
                <a:cs typeface="Tahoma"/>
              </a:rPr>
              <a:t>and </a:t>
            </a:r>
            <a:r>
              <a:rPr sz="1100" spc="-70" dirty="0">
                <a:latin typeface="Tahoma"/>
                <a:cs typeface="Tahoma"/>
              </a:rPr>
              <a:t>some </a:t>
            </a:r>
            <a:r>
              <a:rPr sz="1100" spc="-75" dirty="0">
                <a:latin typeface="Tahoma"/>
                <a:cs typeface="Tahoma"/>
              </a:rPr>
              <a:t>are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hard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07626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20326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07626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20326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7859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9129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9129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7859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9129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4957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6227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6227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4957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6227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44352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35160" y="48796"/>
                </a:lnTo>
                <a:lnTo>
                  <a:pt x="43248" y="43339"/>
                </a:lnTo>
                <a:lnTo>
                  <a:pt x="48762" y="35262"/>
                </a:lnTo>
                <a:lnTo>
                  <a:pt x="50800" y="25400"/>
                </a:lnTo>
                <a:lnTo>
                  <a:pt x="48796" y="15537"/>
                </a:lnTo>
                <a:lnTo>
                  <a:pt x="43339" y="7461"/>
                </a:lnTo>
                <a:lnTo>
                  <a:pt x="35262" y="2004"/>
                </a:lnTo>
                <a:lnTo>
                  <a:pt x="25400" y="0"/>
                </a:lnTo>
                <a:lnTo>
                  <a:pt x="15537" y="2004"/>
                </a:lnTo>
                <a:lnTo>
                  <a:pt x="7461" y="7461"/>
                </a:lnTo>
                <a:lnTo>
                  <a:pt x="2004" y="15537"/>
                </a:lnTo>
                <a:lnTo>
                  <a:pt x="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29112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496754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15537" y="48796"/>
                </a:lnTo>
                <a:lnTo>
                  <a:pt x="7461" y="43339"/>
                </a:lnTo>
                <a:lnTo>
                  <a:pt x="2004" y="35262"/>
                </a:lnTo>
                <a:lnTo>
                  <a:pt x="0" y="25400"/>
                </a:lnTo>
                <a:lnTo>
                  <a:pt x="2004" y="15537"/>
                </a:lnTo>
                <a:lnTo>
                  <a:pt x="7461" y="7461"/>
                </a:lnTo>
                <a:lnTo>
                  <a:pt x="15537" y="2004"/>
                </a:lnTo>
                <a:lnTo>
                  <a:pt x="25400" y="0"/>
                </a:lnTo>
                <a:lnTo>
                  <a:pt x="35262" y="2004"/>
                </a:lnTo>
                <a:lnTo>
                  <a:pt x="43339" y="7461"/>
                </a:lnTo>
                <a:lnTo>
                  <a:pt x="48796" y="15537"/>
                </a:lnTo>
                <a:lnTo>
                  <a:pt x="5080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32315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0" y="0"/>
            <a:ext cx="4608004" cy="449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072489" y="211706"/>
            <a:ext cx="24638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Introduction: </a:t>
            </a:r>
            <a:r>
              <a:rPr spc="-35" dirty="0"/>
              <a:t>Complexity</a:t>
            </a:r>
            <a:r>
              <a:rPr spc="-210" dirty="0"/>
              <a:t> </a:t>
            </a:r>
            <a:r>
              <a:rPr spc="-40" dirty="0"/>
              <a:t>Theory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91858" y="1186013"/>
            <a:ext cx="3716654" cy="5740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4780" marR="5080" indent="-13271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45415" algn="l"/>
              </a:tabLst>
            </a:pPr>
            <a:r>
              <a:rPr sz="1100" spc="-30" dirty="0">
                <a:latin typeface="Tahoma"/>
                <a:cs typeface="Tahoma"/>
              </a:rPr>
              <a:t>Computational </a:t>
            </a:r>
            <a:r>
              <a:rPr sz="1100" spc="-55" dirty="0">
                <a:latin typeface="Tahoma"/>
                <a:cs typeface="Tahoma"/>
              </a:rPr>
              <a:t>problems </a:t>
            </a:r>
            <a:r>
              <a:rPr sz="1100" spc="-60" dirty="0">
                <a:latin typeface="Tahoma"/>
                <a:cs typeface="Tahoma"/>
              </a:rPr>
              <a:t>come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-45" dirty="0">
                <a:latin typeface="Tahoma"/>
                <a:cs typeface="Tahoma"/>
              </a:rPr>
              <a:t>different </a:t>
            </a:r>
            <a:r>
              <a:rPr sz="1100" spc="-50" dirty="0">
                <a:latin typeface="Tahoma"/>
                <a:cs typeface="Tahoma"/>
              </a:rPr>
              <a:t>varieties: </a:t>
            </a:r>
            <a:r>
              <a:rPr sz="1100" spc="-70" dirty="0">
                <a:latin typeface="Tahoma"/>
                <a:cs typeface="Tahoma"/>
              </a:rPr>
              <a:t>some </a:t>
            </a:r>
            <a:r>
              <a:rPr sz="1100" spc="-75" dirty="0">
                <a:latin typeface="Tahoma"/>
                <a:cs typeface="Tahoma"/>
              </a:rPr>
              <a:t>are  </a:t>
            </a:r>
            <a:r>
              <a:rPr sz="1100" spc="-80" dirty="0">
                <a:latin typeface="Tahoma"/>
                <a:cs typeface="Tahoma"/>
              </a:rPr>
              <a:t>easy, </a:t>
            </a:r>
            <a:r>
              <a:rPr sz="1100" spc="-55" dirty="0">
                <a:latin typeface="Tahoma"/>
                <a:cs typeface="Tahoma"/>
              </a:rPr>
              <a:t>and </a:t>
            </a:r>
            <a:r>
              <a:rPr sz="1100" spc="-70" dirty="0">
                <a:latin typeface="Tahoma"/>
                <a:cs typeface="Tahoma"/>
              </a:rPr>
              <a:t>some </a:t>
            </a:r>
            <a:r>
              <a:rPr sz="1100" spc="-75" dirty="0">
                <a:latin typeface="Tahoma"/>
                <a:cs typeface="Tahoma"/>
              </a:rPr>
              <a:t>are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hard</a:t>
            </a:r>
            <a:endParaRPr sz="1100">
              <a:latin typeface="Tahoma"/>
              <a:cs typeface="Tahoma"/>
            </a:endParaRPr>
          </a:p>
          <a:p>
            <a:pPr marL="144780" indent="-13271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45415" algn="l"/>
              </a:tabLst>
            </a:pPr>
            <a:r>
              <a:rPr sz="1100" spc="-35" dirty="0">
                <a:latin typeface="Tahoma"/>
                <a:cs typeface="Tahoma"/>
              </a:rPr>
              <a:t>Sorting is </a:t>
            </a:r>
            <a:r>
              <a:rPr sz="1100" spc="-50" dirty="0">
                <a:latin typeface="Tahoma"/>
                <a:cs typeface="Tahoma"/>
              </a:rPr>
              <a:t>considered</a:t>
            </a:r>
            <a:r>
              <a:rPr sz="1100" spc="1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easy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07626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20326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07626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20326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7859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9129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9129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7859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9129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4957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6227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6227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4957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6227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44352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35160" y="48796"/>
                </a:lnTo>
                <a:lnTo>
                  <a:pt x="43248" y="43339"/>
                </a:lnTo>
                <a:lnTo>
                  <a:pt x="48762" y="35262"/>
                </a:lnTo>
                <a:lnTo>
                  <a:pt x="50800" y="25400"/>
                </a:lnTo>
                <a:lnTo>
                  <a:pt x="48796" y="15537"/>
                </a:lnTo>
                <a:lnTo>
                  <a:pt x="43339" y="7461"/>
                </a:lnTo>
                <a:lnTo>
                  <a:pt x="35262" y="2004"/>
                </a:lnTo>
                <a:lnTo>
                  <a:pt x="25400" y="0"/>
                </a:lnTo>
                <a:lnTo>
                  <a:pt x="15537" y="2004"/>
                </a:lnTo>
                <a:lnTo>
                  <a:pt x="7461" y="7461"/>
                </a:lnTo>
                <a:lnTo>
                  <a:pt x="2004" y="15537"/>
                </a:lnTo>
                <a:lnTo>
                  <a:pt x="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29112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496754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15537" y="48796"/>
                </a:lnTo>
                <a:lnTo>
                  <a:pt x="7461" y="43339"/>
                </a:lnTo>
                <a:lnTo>
                  <a:pt x="2004" y="35262"/>
                </a:lnTo>
                <a:lnTo>
                  <a:pt x="0" y="25400"/>
                </a:lnTo>
                <a:lnTo>
                  <a:pt x="2004" y="15537"/>
                </a:lnTo>
                <a:lnTo>
                  <a:pt x="7461" y="7461"/>
                </a:lnTo>
                <a:lnTo>
                  <a:pt x="15537" y="2004"/>
                </a:lnTo>
                <a:lnTo>
                  <a:pt x="25400" y="0"/>
                </a:lnTo>
                <a:lnTo>
                  <a:pt x="35262" y="2004"/>
                </a:lnTo>
                <a:lnTo>
                  <a:pt x="43339" y="7461"/>
                </a:lnTo>
                <a:lnTo>
                  <a:pt x="48796" y="15537"/>
                </a:lnTo>
                <a:lnTo>
                  <a:pt x="5080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32315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0" y="0"/>
            <a:ext cx="4608004" cy="449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072489" y="211706"/>
            <a:ext cx="24638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Introduction: </a:t>
            </a:r>
            <a:r>
              <a:rPr spc="-35" dirty="0"/>
              <a:t>Complexity</a:t>
            </a:r>
            <a:r>
              <a:rPr spc="-210" dirty="0"/>
              <a:t> </a:t>
            </a:r>
            <a:r>
              <a:rPr spc="-40" dirty="0"/>
              <a:t>Theory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91858" y="1186013"/>
            <a:ext cx="3716654" cy="7842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4780" marR="5080" indent="-13271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45415" algn="l"/>
              </a:tabLst>
            </a:pPr>
            <a:r>
              <a:rPr sz="1100" spc="-30" dirty="0">
                <a:latin typeface="Tahoma"/>
                <a:cs typeface="Tahoma"/>
              </a:rPr>
              <a:t>Computational </a:t>
            </a:r>
            <a:r>
              <a:rPr sz="1100" spc="-55" dirty="0">
                <a:latin typeface="Tahoma"/>
                <a:cs typeface="Tahoma"/>
              </a:rPr>
              <a:t>problems </a:t>
            </a:r>
            <a:r>
              <a:rPr sz="1100" spc="-60" dirty="0">
                <a:latin typeface="Tahoma"/>
                <a:cs typeface="Tahoma"/>
              </a:rPr>
              <a:t>come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-45" dirty="0">
                <a:latin typeface="Tahoma"/>
                <a:cs typeface="Tahoma"/>
              </a:rPr>
              <a:t>different </a:t>
            </a:r>
            <a:r>
              <a:rPr sz="1100" spc="-50" dirty="0">
                <a:latin typeface="Tahoma"/>
                <a:cs typeface="Tahoma"/>
              </a:rPr>
              <a:t>varieties: </a:t>
            </a:r>
            <a:r>
              <a:rPr sz="1100" spc="-70" dirty="0">
                <a:latin typeface="Tahoma"/>
                <a:cs typeface="Tahoma"/>
              </a:rPr>
              <a:t>some </a:t>
            </a:r>
            <a:r>
              <a:rPr sz="1100" spc="-75" dirty="0">
                <a:latin typeface="Tahoma"/>
                <a:cs typeface="Tahoma"/>
              </a:rPr>
              <a:t>are  </a:t>
            </a:r>
            <a:r>
              <a:rPr sz="1100" spc="-80" dirty="0">
                <a:latin typeface="Tahoma"/>
                <a:cs typeface="Tahoma"/>
              </a:rPr>
              <a:t>easy, </a:t>
            </a:r>
            <a:r>
              <a:rPr sz="1100" spc="-55" dirty="0">
                <a:latin typeface="Tahoma"/>
                <a:cs typeface="Tahoma"/>
              </a:rPr>
              <a:t>and </a:t>
            </a:r>
            <a:r>
              <a:rPr sz="1100" spc="-70" dirty="0">
                <a:latin typeface="Tahoma"/>
                <a:cs typeface="Tahoma"/>
              </a:rPr>
              <a:t>some </a:t>
            </a:r>
            <a:r>
              <a:rPr sz="1100" spc="-75" dirty="0">
                <a:latin typeface="Tahoma"/>
                <a:cs typeface="Tahoma"/>
              </a:rPr>
              <a:t>are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hard</a:t>
            </a:r>
            <a:endParaRPr sz="1100">
              <a:latin typeface="Tahoma"/>
              <a:cs typeface="Tahoma"/>
            </a:endParaRPr>
          </a:p>
          <a:p>
            <a:pPr marL="144780" indent="-13271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45415" algn="l"/>
              </a:tabLst>
            </a:pPr>
            <a:r>
              <a:rPr sz="1100" spc="-35" dirty="0">
                <a:latin typeface="Tahoma"/>
                <a:cs typeface="Tahoma"/>
              </a:rPr>
              <a:t>Sorting is </a:t>
            </a:r>
            <a:r>
              <a:rPr sz="1100" spc="-50" dirty="0">
                <a:latin typeface="Tahoma"/>
                <a:cs typeface="Tahoma"/>
              </a:rPr>
              <a:t>considered</a:t>
            </a:r>
            <a:r>
              <a:rPr sz="1100" spc="1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easy</a:t>
            </a:r>
            <a:endParaRPr sz="1100">
              <a:latin typeface="Tahoma"/>
              <a:cs typeface="Tahoma"/>
            </a:endParaRPr>
          </a:p>
          <a:p>
            <a:pPr marL="144780" indent="-13271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45415" algn="l"/>
              </a:tabLst>
            </a:pPr>
            <a:r>
              <a:rPr sz="1100" spc="-45" dirty="0">
                <a:latin typeface="Tahoma"/>
                <a:cs typeface="Tahoma"/>
              </a:rPr>
              <a:t>Scheduling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hard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07626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20326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07626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20326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7859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9129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9129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7859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9129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49573" y="33609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62273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62273" y="3386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49573" y="3399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62273" y="3411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44352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35160" y="48796"/>
                </a:lnTo>
                <a:lnTo>
                  <a:pt x="43248" y="43339"/>
                </a:lnTo>
                <a:lnTo>
                  <a:pt x="48762" y="35262"/>
                </a:lnTo>
                <a:lnTo>
                  <a:pt x="50800" y="25400"/>
                </a:lnTo>
                <a:lnTo>
                  <a:pt x="48796" y="15537"/>
                </a:lnTo>
                <a:lnTo>
                  <a:pt x="43339" y="7461"/>
                </a:lnTo>
                <a:lnTo>
                  <a:pt x="35262" y="2004"/>
                </a:lnTo>
                <a:lnTo>
                  <a:pt x="25400" y="0"/>
                </a:lnTo>
                <a:lnTo>
                  <a:pt x="15537" y="2004"/>
                </a:lnTo>
                <a:lnTo>
                  <a:pt x="7461" y="7461"/>
                </a:lnTo>
                <a:lnTo>
                  <a:pt x="2004" y="15537"/>
                </a:lnTo>
                <a:lnTo>
                  <a:pt x="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29112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496754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15537" y="48796"/>
                </a:lnTo>
                <a:lnTo>
                  <a:pt x="7461" y="43339"/>
                </a:lnTo>
                <a:lnTo>
                  <a:pt x="2004" y="35262"/>
                </a:lnTo>
                <a:lnTo>
                  <a:pt x="0" y="25400"/>
                </a:lnTo>
                <a:lnTo>
                  <a:pt x="2004" y="15537"/>
                </a:lnTo>
                <a:lnTo>
                  <a:pt x="7461" y="7461"/>
                </a:lnTo>
                <a:lnTo>
                  <a:pt x="15537" y="2004"/>
                </a:lnTo>
                <a:lnTo>
                  <a:pt x="25400" y="0"/>
                </a:lnTo>
                <a:lnTo>
                  <a:pt x="35262" y="2004"/>
                </a:lnTo>
                <a:lnTo>
                  <a:pt x="43339" y="7461"/>
                </a:lnTo>
                <a:lnTo>
                  <a:pt x="48796" y="15537"/>
                </a:lnTo>
                <a:lnTo>
                  <a:pt x="50800" y="2540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32315" y="3378695"/>
            <a:ext cx="30480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80" y="0"/>
                </a:moveTo>
                <a:lnTo>
                  <a:pt x="15240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0" y="0"/>
            <a:ext cx="4608004" cy="449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072489" y="211706"/>
            <a:ext cx="24638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Introduction: </a:t>
            </a:r>
            <a:r>
              <a:rPr spc="-35" dirty="0"/>
              <a:t>Complexity</a:t>
            </a:r>
            <a:r>
              <a:rPr spc="-210" dirty="0"/>
              <a:t> </a:t>
            </a:r>
            <a:r>
              <a:rPr spc="-40" dirty="0"/>
              <a:t>Theory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91858" y="1186013"/>
            <a:ext cx="3716654" cy="11664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4780" marR="5080" indent="-13271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45415" algn="l"/>
              </a:tabLst>
            </a:pPr>
            <a:r>
              <a:rPr sz="1100" spc="-30" dirty="0">
                <a:latin typeface="Tahoma"/>
                <a:cs typeface="Tahoma"/>
              </a:rPr>
              <a:t>Computational </a:t>
            </a:r>
            <a:r>
              <a:rPr sz="1100" spc="-55" dirty="0">
                <a:latin typeface="Tahoma"/>
                <a:cs typeface="Tahoma"/>
              </a:rPr>
              <a:t>problems </a:t>
            </a:r>
            <a:r>
              <a:rPr sz="1100" spc="-60" dirty="0">
                <a:latin typeface="Tahoma"/>
                <a:cs typeface="Tahoma"/>
              </a:rPr>
              <a:t>come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-45" dirty="0">
                <a:latin typeface="Tahoma"/>
                <a:cs typeface="Tahoma"/>
              </a:rPr>
              <a:t>different </a:t>
            </a:r>
            <a:r>
              <a:rPr sz="1100" spc="-50" dirty="0">
                <a:latin typeface="Tahoma"/>
                <a:cs typeface="Tahoma"/>
              </a:rPr>
              <a:t>varieties: </a:t>
            </a:r>
            <a:r>
              <a:rPr sz="1100" spc="-70" dirty="0">
                <a:latin typeface="Tahoma"/>
                <a:cs typeface="Tahoma"/>
              </a:rPr>
              <a:t>some </a:t>
            </a:r>
            <a:r>
              <a:rPr sz="1100" spc="-75" dirty="0">
                <a:latin typeface="Tahoma"/>
                <a:cs typeface="Tahoma"/>
              </a:rPr>
              <a:t>are  </a:t>
            </a:r>
            <a:r>
              <a:rPr sz="1100" spc="-80" dirty="0">
                <a:latin typeface="Tahoma"/>
                <a:cs typeface="Tahoma"/>
              </a:rPr>
              <a:t>easy, </a:t>
            </a:r>
            <a:r>
              <a:rPr sz="1100" spc="-55" dirty="0">
                <a:latin typeface="Tahoma"/>
                <a:cs typeface="Tahoma"/>
              </a:rPr>
              <a:t>and </a:t>
            </a:r>
            <a:r>
              <a:rPr sz="1100" spc="-70" dirty="0">
                <a:latin typeface="Tahoma"/>
                <a:cs typeface="Tahoma"/>
              </a:rPr>
              <a:t>some </a:t>
            </a:r>
            <a:r>
              <a:rPr sz="1100" spc="-75" dirty="0">
                <a:latin typeface="Tahoma"/>
                <a:cs typeface="Tahoma"/>
              </a:rPr>
              <a:t>are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hard</a:t>
            </a:r>
            <a:endParaRPr sz="1100">
              <a:latin typeface="Tahoma"/>
              <a:cs typeface="Tahoma"/>
            </a:endParaRPr>
          </a:p>
          <a:p>
            <a:pPr marL="144780" indent="-13271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45415" algn="l"/>
              </a:tabLst>
            </a:pPr>
            <a:r>
              <a:rPr sz="1100" spc="-35" dirty="0">
                <a:latin typeface="Tahoma"/>
                <a:cs typeface="Tahoma"/>
              </a:rPr>
              <a:t>Sorting is </a:t>
            </a:r>
            <a:r>
              <a:rPr sz="1100" spc="-50" dirty="0">
                <a:latin typeface="Tahoma"/>
                <a:cs typeface="Tahoma"/>
              </a:rPr>
              <a:t>considered</a:t>
            </a:r>
            <a:r>
              <a:rPr sz="1100" spc="1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easy</a:t>
            </a:r>
            <a:endParaRPr sz="1100">
              <a:latin typeface="Tahoma"/>
              <a:cs typeface="Tahoma"/>
            </a:endParaRPr>
          </a:p>
          <a:p>
            <a:pPr marL="144780" indent="-13271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45415" algn="l"/>
              </a:tabLst>
            </a:pPr>
            <a:r>
              <a:rPr sz="1100" spc="-45" dirty="0">
                <a:latin typeface="Tahoma"/>
                <a:cs typeface="Tahoma"/>
              </a:rPr>
              <a:t>Scheduling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hard</a:t>
            </a:r>
            <a:endParaRPr sz="1100">
              <a:latin typeface="Tahoma"/>
              <a:cs typeface="Tahoma"/>
            </a:endParaRPr>
          </a:p>
          <a:p>
            <a:pPr marL="144780" marR="240029" indent="-13271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45415" algn="l"/>
              </a:tabLst>
            </a:pPr>
            <a:r>
              <a:rPr sz="1100" spc="-35" dirty="0">
                <a:latin typeface="Tahoma"/>
                <a:cs typeface="Tahoma"/>
              </a:rPr>
              <a:t>So, </a:t>
            </a:r>
            <a:r>
              <a:rPr sz="1100" i="1" spc="-20" dirty="0">
                <a:solidFill>
                  <a:srgbClr val="0000FF"/>
                </a:solidFill>
                <a:latin typeface="Trebuchet MS"/>
                <a:cs typeface="Trebuchet MS"/>
              </a:rPr>
              <a:t>What </a:t>
            </a:r>
            <a:r>
              <a:rPr sz="1100" i="1" spc="-60" dirty="0">
                <a:solidFill>
                  <a:srgbClr val="0000FF"/>
                </a:solidFill>
                <a:latin typeface="Trebuchet MS"/>
                <a:cs typeface="Trebuchet MS"/>
              </a:rPr>
              <a:t>makes some </a:t>
            </a:r>
            <a:r>
              <a:rPr sz="1100" i="1" spc="-80" dirty="0">
                <a:solidFill>
                  <a:srgbClr val="0000FF"/>
                </a:solidFill>
                <a:latin typeface="Trebuchet MS"/>
                <a:cs typeface="Trebuchet MS"/>
              </a:rPr>
              <a:t>problem </a:t>
            </a:r>
            <a:r>
              <a:rPr sz="1100" i="1" spc="-60" dirty="0">
                <a:solidFill>
                  <a:srgbClr val="0000FF"/>
                </a:solidFill>
                <a:latin typeface="Trebuchet MS"/>
                <a:cs typeface="Trebuchet MS"/>
              </a:rPr>
              <a:t>computationally </a:t>
            </a:r>
            <a:r>
              <a:rPr sz="1100" i="1" spc="-75" dirty="0">
                <a:solidFill>
                  <a:srgbClr val="0000FF"/>
                </a:solidFill>
                <a:latin typeface="Trebuchet MS"/>
                <a:cs typeface="Trebuchet MS"/>
              </a:rPr>
              <a:t>hard </a:t>
            </a:r>
            <a:r>
              <a:rPr sz="1100" i="1" spc="-55" dirty="0">
                <a:solidFill>
                  <a:srgbClr val="0000FF"/>
                </a:solidFill>
                <a:latin typeface="Trebuchet MS"/>
                <a:cs typeface="Trebuchet MS"/>
              </a:rPr>
              <a:t>and  </a:t>
            </a:r>
            <a:r>
              <a:rPr sz="1100" i="1" spc="-65" dirty="0">
                <a:solidFill>
                  <a:srgbClr val="0000FF"/>
                </a:solidFill>
                <a:latin typeface="Trebuchet MS"/>
                <a:cs typeface="Trebuchet MS"/>
              </a:rPr>
              <a:t>others</a:t>
            </a:r>
            <a:r>
              <a:rPr sz="1100" i="1" spc="2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100" i="1" spc="-25" dirty="0">
                <a:solidFill>
                  <a:srgbClr val="0000FF"/>
                </a:solidFill>
                <a:latin typeface="Trebuchet MS"/>
                <a:cs typeface="Trebuchet MS"/>
              </a:rPr>
              <a:t>easy?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050" y="211706"/>
            <a:ext cx="2375903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Computational</a:t>
            </a:r>
            <a:r>
              <a:rPr spc="-45" dirty="0"/>
              <a:t> </a:t>
            </a:r>
            <a:r>
              <a:rPr spc="20" dirty="0"/>
              <a:t>Models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6250" y="1120775"/>
            <a:ext cx="3648075" cy="602087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4780" indent="-13271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45415" algn="l"/>
              </a:tabLst>
            </a:pPr>
            <a:r>
              <a:rPr sz="1100" spc="-25" dirty="0">
                <a:latin typeface="LM Sans 10"/>
                <a:cs typeface="LM Sans 10"/>
              </a:rPr>
              <a:t>We </a:t>
            </a:r>
            <a:r>
              <a:rPr sz="1100" spc="-10" dirty="0">
                <a:latin typeface="LM Sans 10"/>
                <a:cs typeface="LM Sans 10"/>
              </a:rPr>
              <a:t>use an idealized </a:t>
            </a:r>
            <a:r>
              <a:rPr sz="1100" spc="-5" dirty="0">
                <a:latin typeface="LM Sans 10"/>
                <a:cs typeface="LM Sans 10"/>
              </a:rPr>
              <a:t>computer </a:t>
            </a:r>
            <a:r>
              <a:rPr sz="1100" spc="-10" dirty="0">
                <a:latin typeface="LM Sans 10"/>
                <a:cs typeface="LM Sans 10"/>
              </a:rPr>
              <a:t>called </a:t>
            </a:r>
            <a:r>
              <a:rPr sz="1100" b="1" spc="-10" dirty="0">
                <a:latin typeface="LM Sans 10"/>
                <a:cs typeface="LM Sans 10"/>
              </a:rPr>
              <a:t>computational</a:t>
            </a:r>
            <a:r>
              <a:rPr sz="1100" b="1" spc="5" dirty="0">
                <a:latin typeface="LM Sans 10"/>
                <a:cs typeface="LM Sans 10"/>
              </a:rPr>
              <a:t> </a:t>
            </a:r>
            <a:r>
              <a:rPr sz="1100" b="1" dirty="0">
                <a:latin typeface="LM Sans 10"/>
                <a:cs typeface="LM Sans 10"/>
              </a:rPr>
              <a:t>model</a:t>
            </a:r>
            <a:endParaRPr sz="1100" dirty="0">
              <a:latin typeface="LM Sans 10"/>
              <a:cs typeface="LM Sans 10"/>
            </a:endParaRPr>
          </a:p>
          <a:p>
            <a:pPr marL="144780" indent="-13271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45415" algn="l"/>
              </a:tabLst>
            </a:pPr>
            <a:r>
              <a:rPr sz="1100" spc="-25" dirty="0">
                <a:latin typeface="LM Sans 10"/>
                <a:cs typeface="LM Sans 10"/>
              </a:rPr>
              <a:t>We </a:t>
            </a:r>
            <a:r>
              <a:rPr sz="1100" dirty="0">
                <a:latin typeface="LM Sans 10"/>
                <a:cs typeface="LM Sans 10"/>
              </a:rPr>
              <a:t>begin </a:t>
            </a:r>
            <a:r>
              <a:rPr sz="1100" spc="-5" dirty="0">
                <a:latin typeface="LM Sans 10"/>
                <a:cs typeface="LM Sans 10"/>
              </a:rPr>
              <a:t>with </a:t>
            </a:r>
            <a:r>
              <a:rPr sz="1100" b="1" spc="-5" dirty="0">
                <a:latin typeface="LM Sans 10"/>
                <a:cs typeface="LM Sans 10"/>
              </a:rPr>
              <a:t>finite </a:t>
            </a:r>
            <a:r>
              <a:rPr sz="1100" b="1" spc="-10" dirty="0">
                <a:latin typeface="LM Sans 10"/>
                <a:cs typeface="LM Sans 10"/>
              </a:rPr>
              <a:t>state machine </a:t>
            </a:r>
            <a:r>
              <a:rPr sz="1100" spc="-25" dirty="0">
                <a:latin typeface="LM Sans 10"/>
                <a:cs typeface="LM Sans 10"/>
              </a:rPr>
              <a:t>or </a:t>
            </a:r>
            <a:r>
              <a:rPr sz="1100" b="1" spc="-5" dirty="0">
                <a:latin typeface="LM Sans 10"/>
                <a:cs typeface="LM Sans 10"/>
              </a:rPr>
              <a:t>finite</a:t>
            </a:r>
            <a:r>
              <a:rPr sz="1100" b="1" spc="-25" dirty="0">
                <a:latin typeface="LM Sans 10"/>
                <a:cs typeface="LM Sans 10"/>
              </a:rPr>
              <a:t> </a:t>
            </a:r>
            <a:r>
              <a:rPr sz="1100" b="1" spc="-5" dirty="0">
                <a:latin typeface="LM Sans 10"/>
                <a:cs typeface="LM Sans 10"/>
              </a:rPr>
              <a:t>automata</a:t>
            </a:r>
            <a:endParaRPr sz="1100" dirty="0">
              <a:latin typeface="LM Sans 10"/>
              <a:cs typeface="LM Sans 10"/>
            </a:endParaRPr>
          </a:p>
        </p:txBody>
      </p:sp>
    </p:spTree>
    <p:extLst>
      <p:ext uri="{BB962C8B-B14F-4D97-AF65-F5344CB8AC3E}">
        <p14:creationId xmlns:p14="http://schemas.microsoft.com/office/powerpoint/2010/main" val="2497041995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211706"/>
            <a:ext cx="206767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Finite</a:t>
            </a:r>
            <a:r>
              <a:rPr spc="-40" dirty="0"/>
              <a:t> </a:t>
            </a:r>
            <a:r>
              <a:rPr spc="10" dirty="0"/>
              <a:t>Automata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1295080"/>
            <a:ext cx="3602990" cy="825033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4780" indent="-13271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45415" algn="l"/>
              </a:tabLst>
            </a:pPr>
            <a:r>
              <a:rPr sz="1100" spc="-10" dirty="0">
                <a:latin typeface="LM Sans 10"/>
                <a:cs typeface="LM Sans 10"/>
              </a:rPr>
              <a:t>A </a:t>
            </a:r>
            <a:r>
              <a:rPr sz="1100" spc="-5" dirty="0">
                <a:latin typeface="LM Sans 10"/>
                <a:cs typeface="LM Sans 10"/>
              </a:rPr>
              <a:t>finite </a:t>
            </a:r>
            <a:r>
              <a:rPr sz="1100" spc="-10" dirty="0">
                <a:latin typeface="LM Sans 10"/>
                <a:cs typeface="LM Sans 10"/>
              </a:rPr>
              <a:t>automaton is </a:t>
            </a:r>
            <a:r>
              <a:rPr sz="1100" spc="-5" dirty="0">
                <a:latin typeface="LM Sans 10"/>
                <a:cs typeface="LM Sans 10"/>
              </a:rPr>
              <a:t>a model </a:t>
            </a:r>
            <a:r>
              <a:rPr sz="1100" spc="-20" dirty="0">
                <a:latin typeface="LM Sans 10"/>
                <a:cs typeface="LM Sans 10"/>
              </a:rPr>
              <a:t>for</a:t>
            </a:r>
            <a:r>
              <a:rPr sz="1100" spc="-5" dirty="0">
                <a:latin typeface="LM Sans 10"/>
                <a:cs typeface="LM Sans 10"/>
              </a:rPr>
              <a:t> computation</a:t>
            </a:r>
            <a:endParaRPr sz="1100" dirty="0">
              <a:latin typeface="LM Sans 10"/>
              <a:cs typeface="LM Sans 10"/>
            </a:endParaRPr>
          </a:p>
          <a:p>
            <a:pPr marL="144780" marR="5080" indent="-13271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45415" algn="l"/>
              </a:tabLst>
            </a:pPr>
            <a:endParaRPr lang="en-US" sz="1100" spc="-5" dirty="0">
              <a:latin typeface="LM Sans 10"/>
              <a:cs typeface="LM Sans 10"/>
            </a:endParaRPr>
          </a:p>
          <a:p>
            <a:pPr marL="144780" marR="5080" indent="-13271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45415" algn="l"/>
              </a:tabLst>
            </a:pPr>
            <a:r>
              <a:rPr sz="1100" spc="-5" dirty="0">
                <a:latin typeface="LM Sans 10"/>
                <a:cs typeface="LM Sans 10"/>
              </a:rPr>
              <a:t>Examples </a:t>
            </a:r>
            <a:r>
              <a:rPr sz="1100" spc="-10" dirty="0">
                <a:latin typeface="LM Sans 10"/>
                <a:cs typeface="LM Sans 10"/>
              </a:rPr>
              <a:t>include: automatic doors </a:t>
            </a:r>
            <a:r>
              <a:rPr sz="1100" spc="-5" dirty="0">
                <a:latin typeface="LM Sans 10"/>
                <a:cs typeface="LM Sans 10"/>
              </a:rPr>
              <a:t>which </a:t>
            </a:r>
            <a:r>
              <a:rPr sz="1100" spc="-10" dirty="0">
                <a:latin typeface="LM Sans 10"/>
                <a:cs typeface="LM Sans 10"/>
              </a:rPr>
              <a:t>swing </a:t>
            </a:r>
            <a:r>
              <a:rPr sz="1100" dirty="0">
                <a:latin typeface="LM Sans 10"/>
                <a:cs typeface="LM Sans 10"/>
              </a:rPr>
              <a:t>open </a:t>
            </a:r>
            <a:r>
              <a:rPr sz="1100" spc="-5" dirty="0">
                <a:latin typeface="LM Sans 10"/>
                <a:cs typeface="LM Sans 10"/>
              </a:rPr>
              <a:t>when  they sense some</a:t>
            </a:r>
            <a:r>
              <a:rPr sz="1100" spc="-15" dirty="0">
                <a:latin typeface="LM Sans 10"/>
                <a:cs typeface="LM Sans 10"/>
              </a:rPr>
              <a:t> </a:t>
            </a:r>
            <a:r>
              <a:rPr sz="1100" dirty="0">
                <a:latin typeface="LM Sans 10"/>
                <a:cs typeface="LM Sans 10"/>
              </a:rPr>
              <a:t>person</a:t>
            </a:r>
          </a:p>
        </p:txBody>
      </p:sp>
    </p:spTree>
    <p:extLst>
      <p:ext uri="{BB962C8B-B14F-4D97-AF65-F5344CB8AC3E}">
        <p14:creationId xmlns:p14="http://schemas.microsoft.com/office/powerpoint/2010/main" val="1153854566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9650" y="211706"/>
            <a:ext cx="191527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3333B2"/>
                </a:solidFill>
                <a:latin typeface="LM Sans 12"/>
                <a:cs typeface="LM Sans 12"/>
              </a:rPr>
              <a:t>Finite</a:t>
            </a:r>
            <a:r>
              <a:rPr sz="1400" spc="-40" dirty="0">
                <a:solidFill>
                  <a:srgbClr val="3333B2"/>
                </a:solidFill>
                <a:latin typeface="LM Sans 12"/>
                <a:cs typeface="LM Sans 12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LM Sans 12"/>
                <a:cs typeface="LM Sans 12"/>
              </a:rPr>
              <a:t>Automata</a:t>
            </a:r>
            <a:endParaRPr sz="1400" dirty="0">
              <a:latin typeface="LM Sans 12"/>
              <a:cs typeface="LM Sans 1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82235" y="1130077"/>
            <a:ext cx="346710" cy="346710"/>
          </a:xfrm>
          <a:custGeom>
            <a:avLst/>
            <a:gdLst/>
            <a:ahLst/>
            <a:cxnLst/>
            <a:rect l="l" t="t" r="r" b="b"/>
            <a:pathLst>
              <a:path w="346710" h="346709">
                <a:moveTo>
                  <a:pt x="346367" y="173183"/>
                </a:moveTo>
                <a:lnTo>
                  <a:pt x="340180" y="127144"/>
                </a:lnTo>
                <a:lnTo>
                  <a:pt x="322722" y="85773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3" y="23644"/>
                </a:lnTo>
                <a:lnTo>
                  <a:pt x="50723" y="50723"/>
                </a:lnTo>
                <a:lnTo>
                  <a:pt x="23644" y="85773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3" y="322722"/>
                </a:lnTo>
                <a:lnTo>
                  <a:pt x="127144" y="340180"/>
                </a:lnTo>
                <a:lnTo>
                  <a:pt x="173183" y="346367"/>
                </a:lnTo>
                <a:lnTo>
                  <a:pt x="219223" y="340180"/>
                </a:lnTo>
                <a:lnTo>
                  <a:pt x="260593" y="322722"/>
                </a:lnTo>
                <a:lnTo>
                  <a:pt x="295643" y="295643"/>
                </a:lnTo>
                <a:lnTo>
                  <a:pt x="322722" y="260593"/>
                </a:lnTo>
                <a:lnTo>
                  <a:pt x="340180" y="219223"/>
                </a:lnTo>
                <a:lnTo>
                  <a:pt x="346367" y="17318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56346" y="1168373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1</a:t>
            </a:r>
            <a:endParaRPr sz="1200" baseline="-10416">
              <a:latin typeface="LM Roman 8"/>
              <a:cs typeface="LM Roman 8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0343" y="1191982"/>
            <a:ext cx="2889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Sans 10"/>
                <a:cs typeface="LM Sans 10"/>
              </a:rPr>
              <a:t>st</a:t>
            </a:r>
            <a:r>
              <a:rPr sz="1100" spc="-40" dirty="0">
                <a:latin typeface="LM Sans 10"/>
                <a:cs typeface="LM Sans 10"/>
              </a:rPr>
              <a:t>a</a:t>
            </a:r>
            <a:r>
              <a:rPr sz="1100" spc="-10" dirty="0">
                <a:latin typeface="LM Sans 10"/>
                <a:cs typeface="LM Sans 10"/>
              </a:rPr>
              <a:t>rt</a:t>
            </a:r>
            <a:endParaRPr sz="1100">
              <a:latin typeface="LM Sans 10"/>
              <a:cs typeface="LM Sans 1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02244" y="1130077"/>
            <a:ext cx="346710" cy="346710"/>
          </a:xfrm>
          <a:custGeom>
            <a:avLst/>
            <a:gdLst/>
            <a:ahLst/>
            <a:cxnLst/>
            <a:rect l="l" t="t" r="r" b="b"/>
            <a:pathLst>
              <a:path w="346710" h="346709">
                <a:moveTo>
                  <a:pt x="346368" y="173183"/>
                </a:moveTo>
                <a:lnTo>
                  <a:pt x="340182" y="127144"/>
                </a:lnTo>
                <a:lnTo>
                  <a:pt x="322723" y="85773"/>
                </a:lnTo>
                <a:lnTo>
                  <a:pt x="295644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4" y="23644"/>
                </a:lnTo>
                <a:lnTo>
                  <a:pt x="50723" y="50723"/>
                </a:lnTo>
                <a:lnTo>
                  <a:pt x="23644" y="85773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4" y="322722"/>
                </a:lnTo>
                <a:lnTo>
                  <a:pt x="127144" y="340180"/>
                </a:lnTo>
                <a:lnTo>
                  <a:pt x="173183" y="346367"/>
                </a:lnTo>
                <a:lnTo>
                  <a:pt x="219223" y="340180"/>
                </a:lnTo>
                <a:lnTo>
                  <a:pt x="260593" y="322722"/>
                </a:lnTo>
                <a:lnTo>
                  <a:pt x="295644" y="295643"/>
                </a:lnTo>
                <a:lnTo>
                  <a:pt x="322723" y="260593"/>
                </a:lnTo>
                <a:lnTo>
                  <a:pt x="340182" y="219223"/>
                </a:lnTo>
                <a:lnTo>
                  <a:pt x="346368" y="173183"/>
                </a:lnTo>
                <a:close/>
              </a:path>
            </a:pathLst>
          </a:custGeom>
          <a:ln w="17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494972" y="922453"/>
            <a:ext cx="436880" cy="403225"/>
            <a:chOff x="1494972" y="922453"/>
            <a:chExt cx="436880" cy="403225"/>
          </a:xfrm>
        </p:grpSpPr>
        <p:sp>
          <p:nvSpPr>
            <p:cNvPr id="8" name="object 8"/>
            <p:cNvSpPr/>
            <p:nvPr/>
          </p:nvSpPr>
          <p:spPr>
            <a:xfrm>
              <a:off x="1494972" y="1303261"/>
              <a:ext cx="166370" cy="0"/>
            </a:xfrm>
            <a:custGeom>
              <a:avLst/>
              <a:gdLst/>
              <a:ahLst/>
              <a:cxnLst/>
              <a:rect l="l" t="t" r="r" b="b"/>
              <a:pathLst>
                <a:path w="166369">
                  <a:moveTo>
                    <a:pt x="0" y="0"/>
                  </a:moveTo>
                  <a:lnTo>
                    <a:pt x="166259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6049" y="1283017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93136" y="922453"/>
              <a:ext cx="138199" cy="21327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76347" y="1168373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2</a:t>
            </a:r>
            <a:endParaRPr sz="1200" baseline="-10416">
              <a:latin typeface="LM Roman 8"/>
              <a:cs typeface="LM Roman 8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22253" y="1130077"/>
            <a:ext cx="346710" cy="346710"/>
          </a:xfrm>
          <a:custGeom>
            <a:avLst/>
            <a:gdLst/>
            <a:ahLst/>
            <a:cxnLst/>
            <a:rect l="l" t="t" r="r" b="b"/>
            <a:pathLst>
              <a:path w="346710" h="346709">
                <a:moveTo>
                  <a:pt x="346370" y="173183"/>
                </a:moveTo>
                <a:lnTo>
                  <a:pt x="340184" y="127144"/>
                </a:lnTo>
                <a:lnTo>
                  <a:pt x="322726" y="85773"/>
                </a:lnTo>
                <a:lnTo>
                  <a:pt x="295647" y="50723"/>
                </a:lnTo>
                <a:lnTo>
                  <a:pt x="260596" y="23644"/>
                </a:lnTo>
                <a:lnTo>
                  <a:pt x="219223" y="6186"/>
                </a:lnTo>
                <a:lnTo>
                  <a:pt x="173181" y="0"/>
                </a:lnTo>
                <a:lnTo>
                  <a:pt x="127143" y="6186"/>
                </a:lnTo>
                <a:lnTo>
                  <a:pt x="85773" y="23644"/>
                </a:lnTo>
                <a:lnTo>
                  <a:pt x="50724" y="50723"/>
                </a:lnTo>
                <a:lnTo>
                  <a:pt x="23644" y="85773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4" y="295643"/>
                </a:lnTo>
                <a:lnTo>
                  <a:pt x="85773" y="322722"/>
                </a:lnTo>
                <a:lnTo>
                  <a:pt x="127143" y="340180"/>
                </a:lnTo>
                <a:lnTo>
                  <a:pt x="173181" y="346367"/>
                </a:lnTo>
                <a:lnTo>
                  <a:pt x="219223" y="340180"/>
                </a:lnTo>
                <a:lnTo>
                  <a:pt x="260596" y="322722"/>
                </a:lnTo>
                <a:lnTo>
                  <a:pt x="295647" y="295643"/>
                </a:lnTo>
                <a:lnTo>
                  <a:pt x="322726" y="260593"/>
                </a:lnTo>
                <a:lnTo>
                  <a:pt x="340184" y="219223"/>
                </a:lnTo>
                <a:lnTo>
                  <a:pt x="346370" y="17318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196348" y="1168373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3</a:t>
            </a:r>
            <a:endParaRPr sz="1200" baseline="-10416">
              <a:latin typeface="LM Roman 8"/>
              <a:cs typeface="LM Roman 8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8086" y="72727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0</a:t>
            </a:r>
            <a:endParaRPr sz="1100">
              <a:latin typeface="LM Roman 10"/>
              <a:cs typeface="LM Roman 1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62262" y="1283017"/>
            <a:ext cx="19050" cy="40640"/>
          </a:xfrm>
          <a:custGeom>
            <a:avLst/>
            <a:gdLst/>
            <a:ahLst/>
            <a:cxnLst/>
            <a:rect l="l" t="t" r="r" b="b"/>
            <a:pathLst>
              <a:path w="19050" h="40640">
                <a:moveTo>
                  <a:pt x="0" y="0"/>
                </a:moveTo>
                <a:lnTo>
                  <a:pt x="2965" y="6187"/>
                </a:lnTo>
                <a:lnTo>
                  <a:pt x="8540" y="12494"/>
                </a:lnTo>
                <a:lnTo>
                  <a:pt x="14589" y="17614"/>
                </a:lnTo>
                <a:lnTo>
                  <a:pt x="18978" y="20243"/>
                </a:lnTo>
                <a:lnTo>
                  <a:pt x="14589" y="22873"/>
                </a:lnTo>
                <a:lnTo>
                  <a:pt x="8540" y="27993"/>
                </a:lnTo>
                <a:lnTo>
                  <a:pt x="2965" y="34300"/>
                </a:lnTo>
                <a:lnTo>
                  <a:pt x="0" y="40487"/>
                </a:lnTo>
              </a:path>
            </a:pathLst>
          </a:custGeom>
          <a:ln w="4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018433" y="1103311"/>
            <a:ext cx="372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8775" algn="l"/>
              </a:tabLst>
            </a:pPr>
            <a:r>
              <a:rPr sz="11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</a:t>
            </a:r>
            <a:r>
              <a:rPr sz="1100" u="sng" spc="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-5" dirty="0">
                <a:uFill>
                  <a:solidFill>
                    <a:srgbClr val="000000"/>
                  </a:solidFill>
                </a:uFill>
                <a:latin typeface="LM Roman 10"/>
                <a:cs typeface="LM Roman 10"/>
              </a:rPr>
              <a:t>1	</a:t>
            </a:r>
            <a:endParaRPr sz="1100" dirty="0">
              <a:latin typeface="LM Roman 10"/>
              <a:cs typeface="LM Roman 10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511855" y="914337"/>
            <a:ext cx="613410" cy="320675"/>
            <a:chOff x="2511855" y="914337"/>
            <a:chExt cx="613410" cy="320675"/>
          </a:xfrm>
        </p:grpSpPr>
        <p:sp>
          <p:nvSpPr>
            <p:cNvPr id="18" name="object 18"/>
            <p:cNvSpPr/>
            <p:nvPr/>
          </p:nvSpPr>
          <p:spPr>
            <a:xfrm>
              <a:off x="2511855" y="914337"/>
              <a:ext cx="140475" cy="21772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38512" y="1177926"/>
              <a:ext cx="381000" cy="49530"/>
            </a:xfrm>
            <a:custGeom>
              <a:avLst/>
              <a:gdLst/>
              <a:ahLst/>
              <a:cxnLst/>
              <a:rect l="l" t="t" r="r" b="b"/>
              <a:pathLst>
                <a:path w="381000" h="49530">
                  <a:moveTo>
                    <a:pt x="0" y="49288"/>
                  </a:moveTo>
                  <a:lnTo>
                    <a:pt x="51680" y="27997"/>
                  </a:lnTo>
                  <a:lnTo>
                    <a:pt x="101455" y="12745"/>
                  </a:lnTo>
                  <a:lnTo>
                    <a:pt x="149691" y="3442"/>
                  </a:lnTo>
                  <a:lnTo>
                    <a:pt x="196752" y="0"/>
                  </a:lnTo>
                  <a:lnTo>
                    <a:pt x="243006" y="2326"/>
                  </a:lnTo>
                  <a:lnTo>
                    <a:pt x="288816" y="10331"/>
                  </a:lnTo>
                  <a:lnTo>
                    <a:pt x="334549" y="23926"/>
                  </a:lnTo>
                  <a:lnTo>
                    <a:pt x="380570" y="43018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96708" y="1196149"/>
              <a:ext cx="26034" cy="36830"/>
            </a:xfrm>
            <a:custGeom>
              <a:avLst/>
              <a:gdLst/>
              <a:ahLst/>
              <a:cxnLst/>
              <a:rect l="l" t="t" r="r" b="b"/>
              <a:pathLst>
                <a:path w="26035" h="36830">
                  <a:moveTo>
                    <a:pt x="17266" y="0"/>
                  </a:moveTo>
                  <a:lnTo>
                    <a:pt x="17311" y="6864"/>
                  </a:lnTo>
                  <a:lnTo>
                    <a:pt x="19667" y="14950"/>
                  </a:lnTo>
                  <a:lnTo>
                    <a:pt x="22958" y="22163"/>
                  </a:lnTo>
                  <a:lnTo>
                    <a:pt x="25809" y="26415"/>
                  </a:lnTo>
                  <a:lnTo>
                    <a:pt x="20716" y="26923"/>
                  </a:lnTo>
                  <a:lnTo>
                    <a:pt x="13057" y="28977"/>
                  </a:lnTo>
                  <a:lnTo>
                    <a:pt x="5322" y="32307"/>
                  </a:lnTo>
                  <a:lnTo>
                    <a:pt x="0" y="36642"/>
                  </a:lnTo>
                </a:path>
              </a:pathLst>
            </a:custGeom>
            <a:ln w="4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528087" y="719161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1</a:t>
            </a:r>
            <a:endParaRPr sz="1100">
              <a:latin typeface="LM Roman 10"/>
              <a:cs typeface="LM Roman 1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90011" y="97896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0</a:t>
            </a:r>
            <a:endParaRPr sz="1100">
              <a:latin typeface="LM Roman 10"/>
              <a:cs typeface="LM Roman 10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49820" y="1372997"/>
            <a:ext cx="388620" cy="58419"/>
            <a:chOff x="2749820" y="1372997"/>
            <a:chExt cx="388620" cy="58419"/>
          </a:xfrm>
        </p:grpSpPr>
        <p:sp>
          <p:nvSpPr>
            <p:cNvPr id="24" name="object 24"/>
            <p:cNvSpPr/>
            <p:nvPr/>
          </p:nvSpPr>
          <p:spPr>
            <a:xfrm>
              <a:off x="2755294" y="1377699"/>
              <a:ext cx="381000" cy="51435"/>
            </a:xfrm>
            <a:custGeom>
              <a:avLst/>
              <a:gdLst/>
              <a:ahLst/>
              <a:cxnLst/>
              <a:rect l="l" t="t" r="r" b="b"/>
              <a:pathLst>
                <a:path w="381000" h="51434">
                  <a:moveTo>
                    <a:pt x="380513" y="0"/>
                  </a:moveTo>
                  <a:lnTo>
                    <a:pt x="329004" y="21708"/>
                  </a:lnTo>
                  <a:lnTo>
                    <a:pt x="279352" y="37362"/>
                  </a:lnTo>
                  <a:lnTo>
                    <a:pt x="231192" y="47055"/>
                  </a:lnTo>
                  <a:lnTo>
                    <a:pt x="184159" y="50879"/>
                  </a:lnTo>
                  <a:lnTo>
                    <a:pt x="137888" y="48929"/>
                  </a:lnTo>
                  <a:lnTo>
                    <a:pt x="92014" y="41295"/>
                  </a:lnTo>
                  <a:lnTo>
                    <a:pt x="46173" y="28071"/>
                  </a:lnTo>
                  <a:lnTo>
                    <a:pt x="0" y="9351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51845" y="1375022"/>
              <a:ext cx="26034" cy="36830"/>
            </a:xfrm>
            <a:custGeom>
              <a:avLst/>
              <a:gdLst/>
              <a:ahLst/>
              <a:cxnLst/>
              <a:rect l="l" t="t" r="r" b="b"/>
              <a:pathLst>
                <a:path w="26035" h="36830">
                  <a:moveTo>
                    <a:pt x="8756" y="36783"/>
                  </a:moveTo>
                  <a:lnTo>
                    <a:pt x="8655" y="29918"/>
                  </a:lnTo>
                  <a:lnTo>
                    <a:pt x="6234" y="21852"/>
                  </a:lnTo>
                  <a:lnTo>
                    <a:pt x="2885" y="14664"/>
                  </a:lnTo>
                  <a:lnTo>
                    <a:pt x="0" y="10436"/>
                  </a:lnTo>
                  <a:lnTo>
                    <a:pt x="5089" y="9887"/>
                  </a:lnTo>
                  <a:lnTo>
                    <a:pt x="12731" y="7771"/>
                  </a:lnTo>
                  <a:lnTo>
                    <a:pt x="20439" y="4378"/>
                  </a:lnTo>
                  <a:lnTo>
                    <a:pt x="25727" y="0"/>
                  </a:lnTo>
                </a:path>
              </a:pathLst>
            </a:custGeom>
            <a:ln w="4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824581" y="1412314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M Roman 10"/>
                <a:cs typeface="LM Roman 10"/>
              </a:rPr>
              <a:t>0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150" dirty="0">
                <a:latin typeface="Georgia"/>
                <a:cs typeface="Georgia"/>
              </a:rPr>
              <a:t> </a:t>
            </a:r>
            <a:r>
              <a:rPr sz="1100" spc="-5" dirty="0">
                <a:latin typeface="LM Roman 10"/>
                <a:cs typeface="LM Roman 10"/>
              </a:rPr>
              <a:t>1</a:t>
            </a:r>
            <a:endParaRPr sz="1100">
              <a:latin typeface="LM Roman 10"/>
              <a:cs typeface="LM Roman 10"/>
            </a:endParaRPr>
          </a:p>
        </p:txBody>
      </p:sp>
    </p:spTree>
    <p:extLst>
      <p:ext uri="{BB962C8B-B14F-4D97-AF65-F5344CB8AC3E}">
        <p14:creationId xmlns:p14="http://schemas.microsoft.com/office/powerpoint/2010/main" val="3234138469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9650" y="211706"/>
            <a:ext cx="191527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Finite</a:t>
            </a:r>
            <a:r>
              <a:rPr spc="-40" dirty="0"/>
              <a:t> </a:t>
            </a:r>
            <a:r>
              <a:rPr spc="10" dirty="0"/>
              <a:t>Automata</a:t>
            </a:r>
          </a:p>
        </p:txBody>
      </p:sp>
      <p:sp>
        <p:nvSpPr>
          <p:cNvPr id="3" name="object 3"/>
          <p:cNvSpPr/>
          <p:nvPr/>
        </p:nvSpPr>
        <p:spPr>
          <a:xfrm>
            <a:off x="1682235" y="1130077"/>
            <a:ext cx="346710" cy="346710"/>
          </a:xfrm>
          <a:custGeom>
            <a:avLst/>
            <a:gdLst/>
            <a:ahLst/>
            <a:cxnLst/>
            <a:rect l="l" t="t" r="r" b="b"/>
            <a:pathLst>
              <a:path w="346710" h="346709">
                <a:moveTo>
                  <a:pt x="346367" y="173183"/>
                </a:moveTo>
                <a:lnTo>
                  <a:pt x="340180" y="127144"/>
                </a:lnTo>
                <a:lnTo>
                  <a:pt x="322722" y="85773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3" y="23644"/>
                </a:lnTo>
                <a:lnTo>
                  <a:pt x="50723" y="50723"/>
                </a:lnTo>
                <a:lnTo>
                  <a:pt x="23644" y="85773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3" y="322722"/>
                </a:lnTo>
                <a:lnTo>
                  <a:pt x="127144" y="340180"/>
                </a:lnTo>
                <a:lnTo>
                  <a:pt x="173183" y="346367"/>
                </a:lnTo>
                <a:lnTo>
                  <a:pt x="219223" y="340180"/>
                </a:lnTo>
                <a:lnTo>
                  <a:pt x="260593" y="322722"/>
                </a:lnTo>
                <a:lnTo>
                  <a:pt x="295643" y="295643"/>
                </a:lnTo>
                <a:lnTo>
                  <a:pt x="322722" y="260593"/>
                </a:lnTo>
                <a:lnTo>
                  <a:pt x="340180" y="219223"/>
                </a:lnTo>
                <a:lnTo>
                  <a:pt x="346367" y="17318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56346" y="1168373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1</a:t>
            </a:r>
            <a:endParaRPr sz="1200" baseline="-10416">
              <a:latin typeface="LM Roman 8"/>
              <a:cs typeface="LM Roman 8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0343" y="1191982"/>
            <a:ext cx="2889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Sans 10"/>
                <a:cs typeface="LM Sans 10"/>
              </a:rPr>
              <a:t>st</a:t>
            </a:r>
            <a:r>
              <a:rPr sz="1100" spc="-40" dirty="0">
                <a:latin typeface="LM Sans 10"/>
                <a:cs typeface="LM Sans 10"/>
              </a:rPr>
              <a:t>a</a:t>
            </a:r>
            <a:r>
              <a:rPr sz="1100" spc="-10" dirty="0">
                <a:latin typeface="LM Sans 10"/>
                <a:cs typeface="LM Sans 10"/>
              </a:rPr>
              <a:t>rt</a:t>
            </a:r>
            <a:endParaRPr sz="1100">
              <a:latin typeface="LM Sans 10"/>
              <a:cs typeface="LM Sans 1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02244" y="1130077"/>
            <a:ext cx="346710" cy="346710"/>
          </a:xfrm>
          <a:custGeom>
            <a:avLst/>
            <a:gdLst/>
            <a:ahLst/>
            <a:cxnLst/>
            <a:rect l="l" t="t" r="r" b="b"/>
            <a:pathLst>
              <a:path w="346710" h="346709">
                <a:moveTo>
                  <a:pt x="346368" y="173183"/>
                </a:moveTo>
                <a:lnTo>
                  <a:pt x="340182" y="127144"/>
                </a:lnTo>
                <a:lnTo>
                  <a:pt x="322723" y="85773"/>
                </a:lnTo>
                <a:lnTo>
                  <a:pt x="295644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4" y="23644"/>
                </a:lnTo>
                <a:lnTo>
                  <a:pt x="50723" y="50723"/>
                </a:lnTo>
                <a:lnTo>
                  <a:pt x="23644" y="85773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4" y="322722"/>
                </a:lnTo>
                <a:lnTo>
                  <a:pt x="127144" y="340180"/>
                </a:lnTo>
                <a:lnTo>
                  <a:pt x="173183" y="346367"/>
                </a:lnTo>
                <a:lnTo>
                  <a:pt x="219223" y="340180"/>
                </a:lnTo>
                <a:lnTo>
                  <a:pt x="260593" y="322722"/>
                </a:lnTo>
                <a:lnTo>
                  <a:pt x="295644" y="295643"/>
                </a:lnTo>
                <a:lnTo>
                  <a:pt x="322723" y="260593"/>
                </a:lnTo>
                <a:lnTo>
                  <a:pt x="340182" y="219223"/>
                </a:lnTo>
                <a:lnTo>
                  <a:pt x="346368" y="173183"/>
                </a:lnTo>
                <a:close/>
              </a:path>
            </a:pathLst>
          </a:custGeom>
          <a:ln w="17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494972" y="922453"/>
            <a:ext cx="436880" cy="403225"/>
            <a:chOff x="1494972" y="922453"/>
            <a:chExt cx="436880" cy="403225"/>
          </a:xfrm>
        </p:grpSpPr>
        <p:sp>
          <p:nvSpPr>
            <p:cNvPr id="8" name="object 8"/>
            <p:cNvSpPr/>
            <p:nvPr/>
          </p:nvSpPr>
          <p:spPr>
            <a:xfrm>
              <a:off x="1494972" y="1303261"/>
              <a:ext cx="166370" cy="0"/>
            </a:xfrm>
            <a:custGeom>
              <a:avLst/>
              <a:gdLst/>
              <a:ahLst/>
              <a:cxnLst/>
              <a:rect l="l" t="t" r="r" b="b"/>
              <a:pathLst>
                <a:path w="166369">
                  <a:moveTo>
                    <a:pt x="0" y="0"/>
                  </a:moveTo>
                  <a:lnTo>
                    <a:pt x="166259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6049" y="1283017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93136" y="922453"/>
              <a:ext cx="138199" cy="21327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76347" y="1168373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2</a:t>
            </a:r>
            <a:endParaRPr sz="1200" baseline="-10416">
              <a:latin typeface="LM Roman 8"/>
              <a:cs typeface="LM Roman 8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22253" y="1130077"/>
            <a:ext cx="346710" cy="346710"/>
          </a:xfrm>
          <a:custGeom>
            <a:avLst/>
            <a:gdLst/>
            <a:ahLst/>
            <a:cxnLst/>
            <a:rect l="l" t="t" r="r" b="b"/>
            <a:pathLst>
              <a:path w="346710" h="346709">
                <a:moveTo>
                  <a:pt x="346370" y="173183"/>
                </a:moveTo>
                <a:lnTo>
                  <a:pt x="340184" y="127144"/>
                </a:lnTo>
                <a:lnTo>
                  <a:pt x="322726" y="85773"/>
                </a:lnTo>
                <a:lnTo>
                  <a:pt x="295647" y="50723"/>
                </a:lnTo>
                <a:lnTo>
                  <a:pt x="260596" y="23644"/>
                </a:lnTo>
                <a:lnTo>
                  <a:pt x="219223" y="6186"/>
                </a:lnTo>
                <a:lnTo>
                  <a:pt x="173181" y="0"/>
                </a:lnTo>
                <a:lnTo>
                  <a:pt x="127143" y="6186"/>
                </a:lnTo>
                <a:lnTo>
                  <a:pt x="85773" y="23644"/>
                </a:lnTo>
                <a:lnTo>
                  <a:pt x="50724" y="50723"/>
                </a:lnTo>
                <a:lnTo>
                  <a:pt x="23644" y="85773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4" y="295643"/>
                </a:lnTo>
                <a:lnTo>
                  <a:pt x="85773" y="322722"/>
                </a:lnTo>
                <a:lnTo>
                  <a:pt x="127143" y="340180"/>
                </a:lnTo>
                <a:lnTo>
                  <a:pt x="173181" y="346367"/>
                </a:lnTo>
                <a:lnTo>
                  <a:pt x="219223" y="340180"/>
                </a:lnTo>
                <a:lnTo>
                  <a:pt x="260596" y="322722"/>
                </a:lnTo>
                <a:lnTo>
                  <a:pt x="295647" y="295643"/>
                </a:lnTo>
                <a:lnTo>
                  <a:pt x="322726" y="260593"/>
                </a:lnTo>
                <a:lnTo>
                  <a:pt x="340184" y="219223"/>
                </a:lnTo>
                <a:lnTo>
                  <a:pt x="346370" y="17318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196348" y="1168373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3</a:t>
            </a:r>
            <a:endParaRPr sz="1200" baseline="-10416">
              <a:latin typeface="LM Roman 8"/>
              <a:cs typeface="LM Roman 8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8086" y="72727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0</a:t>
            </a:r>
            <a:endParaRPr sz="1100">
              <a:latin typeface="LM Roman 10"/>
              <a:cs typeface="LM Roman 1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62262" y="1283017"/>
            <a:ext cx="19050" cy="40640"/>
          </a:xfrm>
          <a:custGeom>
            <a:avLst/>
            <a:gdLst/>
            <a:ahLst/>
            <a:cxnLst/>
            <a:rect l="l" t="t" r="r" b="b"/>
            <a:pathLst>
              <a:path w="19050" h="40640">
                <a:moveTo>
                  <a:pt x="0" y="0"/>
                </a:moveTo>
                <a:lnTo>
                  <a:pt x="2965" y="6187"/>
                </a:lnTo>
                <a:lnTo>
                  <a:pt x="8540" y="12494"/>
                </a:lnTo>
                <a:lnTo>
                  <a:pt x="14589" y="17614"/>
                </a:lnTo>
                <a:lnTo>
                  <a:pt x="18978" y="20243"/>
                </a:lnTo>
                <a:lnTo>
                  <a:pt x="14589" y="22873"/>
                </a:lnTo>
                <a:lnTo>
                  <a:pt x="8540" y="27993"/>
                </a:lnTo>
                <a:lnTo>
                  <a:pt x="2965" y="34300"/>
                </a:lnTo>
                <a:lnTo>
                  <a:pt x="0" y="40487"/>
                </a:lnTo>
              </a:path>
            </a:pathLst>
          </a:custGeom>
          <a:ln w="4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018433" y="1103311"/>
            <a:ext cx="372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8775" algn="l"/>
              </a:tabLst>
            </a:pPr>
            <a:r>
              <a:rPr sz="11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</a:t>
            </a:r>
            <a:r>
              <a:rPr sz="1100" u="sng" spc="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-5" dirty="0">
                <a:uFill>
                  <a:solidFill>
                    <a:srgbClr val="000000"/>
                  </a:solidFill>
                </a:uFill>
                <a:latin typeface="LM Roman 10"/>
                <a:cs typeface="LM Roman 10"/>
              </a:rPr>
              <a:t>1	</a:t>
            </a:r>
            <a:endParaRPr sz="1100">
              <a:latin typeface="LM Roman 10"/>
              <a:cs typeface="LM Roman 10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511855" y="914337"/>
            <a:ext cx="613410" cy="320675"/>
            <a:chOff x="2511855" y="914337"/>
            <a:chExt cx="613410" cy="320675"/>
          </a:xfrm>
        </p:grpSpPr>
        <p:sp>
          <p:nvSpPr>
            <p:cNvPr id="18" name="object 18"/>
            <p:cNvSpPr/>
            <p:nvPr/>
          </p:nvSpPr>
          <p:spPr>
            <a:xfrm>
              <a:off x="2511855" y="914337"/>
              <a:ext cx="140475" cy="21772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38512" y="1177926"/>
              <a:ext cx="381000" cy="49530"/>
            </a:xfrm>
            <a:custGeom>
              <a:avLst/>
              <a:gdLst/>
              <a:ahLst/>
              <a:cxnLst/>
              <a:rect l="l" t="t" r="r" b="b"/>
              <a:pathLst>
                <a:path w="381000" h="49530">
                  <a:moveTo>
                    <a:pt x="0" y="49288"/>
                  </a:moveTo>
                  <a:lnTo>
                    <a:pt x="51680" y="27997"/>
                  </a:lnTo>
                  <a:lnTo>
                    <a:pt x="101455" y="12745"/>
                  </a:lnTo>
                  <a:lnTo>
                    <a:pt x="149691" y="3442"/>
                  </a:lnTo>
                  <a:lnTo>
                    <a:pt x="196752" y="0"/>
                  </a:lnTo>
                  <a:lnTo>
                    <a:pt x="243006" y="2326"/>
                  </a:lnTo>
                  <a:lnTo>
                    <a:pt x="288816" y="10331"/>
                  </a:lnTo>
                  <a:lnTo>
                    <a:pt x="334549" y="23926"/>
                  </a:lnTo>
                  <a:lnTo>
                    <a:pt x="380570" y="43018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96708" y="1196149"/>
              <a:ext cx="26034" cy="36830"/>
            </a:xfrm>
            <a:custGeom>
              <a:avLst/>
              <a:gdLst/>
              <a:ahLst/>
              <a:cxnLst/>
              <a:rect l="l" t="t" r="r" b="b"/>
              <a:pathLst>
                <a:path w="26035" h="36830">
                  <a:moveTo>
                    <a:pt x="17266" y="0"/>
                  </a:moveTo>
                  <a:lnTo>
                    <a:pt x="17311" y="6864"/>
                  </a:lnTo>
                  <a:lnTo>
                    <a:pt x="19667" y="14950"/>
                  </a:lnTo>
                  <a:lnTo>
                    <a:pt x="22958" y="22163"/>
                  </a:lnTo>
                  <a:lnTo>
                    <a:pt x="25809" y="26415"/>
                  </a:lnTo>
                  <a:lnTo>
                    <a:pt x="20716" y="26923"/>
                  </a:lnTo>
                  <a:lnTo>
                    <a:pt x="13057" y="28977"/>
                  </a:lnTo>
                  <a:lnTo>
                    <a:pt x="5322" y="32307"/>
                  </a:lnTo>
                  <a:lnTo>
                    <a:pt x="0" y="36642"/>
                  </a:lnTo>
                </a:path>
              </a:pathLst>
            </a:custGeom>
            <a:ln w="4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528087" y="719161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1</a:t>
            </a:r>
            <a:endParaRPr sz="1100">
              <a:latin typeface="LM Roman 10"/>
              <a:cs typeface="LM Roman 1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90011" y="97896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0</a:t>
            </a:r>
            <a:endParaRPr sz="1100">
              <a:latin typeface="LM Roman 10"/>
              <a:cs typeface="LM Roman 10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49820" y="1372997"/>
            <a:ext cx="388620" cy="58419"/>
            <a:chOff x="2749820" y="1372997"/>
            <a:chExt cx="388620" cy="58419"/>
          </a:xfrm>
        </p:grpSpPr>
        <p:sp>
          <p:nvSpPr>
            <p:cNvPr id="24" name="object 24"/>
            <p:cNvSpPr/>
            <p:nvPr/>
          </p:nvSpPr>
          <p:spPr>
            <a:xfrm>
              <a:off x="2755294" y="1377699"/>
              <a:ext cx="381000" cy="51435"/>
            </a:xfrm>
            <a:custGeom>
              <a:avLst/>
              <a:gdLst/>
              <a:ahLst/>
              <a:cxnLst/>
              <a:rect l="l" t="t" r="r" b="b"/>
              <a:pathLst>
                <a:path w="381000" h="51434">
                  <a:moveTo>
                    <a:pt x="380513" y="0"/>
                  </a:moveTo>
                  <a:lnTo>
                    <a:pt x="329004" y="21708"/>
                  </a:lnTo>
                  <a:lnTo>
                    <a:pt x="279352" y="37362"/>
                  </a:lnTo>
                  <a:lnTo>
                    <a:pt x="231192" y="47055"/>
                  </a:lnTo>
                  <a:lnTo>
                    <a:pt x="184159" y="50879"/>
                  </a:lnTo>
                  <a:lnTo>
                    <a:pt x="137888" y="48929"/>
                  </a:lnTo>
                  <a:lnTo>
                    <a:pt x="92014" y="41295"/>
                  </a:lnTo>
                  <a:lnTo>
                    <a:pt x="46173" y="28071"/>
                  </a:lnTo>
                  <a:lnTo>
                    <a:pt x="0" y="9351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51845" y="1375022"/>
              <a:ext cx="26034" cy="36830"/>
            </a:xfrm>
            <a:custGeom>
              <a:avLst/>
              <a:gdLst/>
              <a:ahLst/>
              <a:cxnLst/>
              <a:rect l="l" t="t" r="r" b="b"/>
              <a:pathLst>
                <a:path w="26035" h="36830">
                  <a:moveTo>
                    <a:pt x="8756" y="36783"/>
                  </a:moveTo>
                  <a:lnTo>
                    <a:pt x="8655" y="29918"/>
                  </a:lnTo>
                  <a:lnTo>
                    <a:pt x="6234" y="21852"/>
                  </a:lnTo>
                  <a:lnTo>
                    <a:pt x="2885" y="14664"/>
                  </a:lnTo>
                  <a:lnTo>
                    <a:pt x="0" y="10436"/>
                  </a:lnTo>
                  <a:lnTo>
                    <a:pt x="5089" y="9887"/>
                  </a:lnTo>
                  <a:lnTo>
                    <a:pt x="12731" y="7771"/>
                  </a:lnTo>
                  <a:lnTo>
                    <a:pt x="20439" y="4378"/>
                  </a:lnTo>
                  <a:lnTo>
                    <a:pt x="25727" y="0"/>
                  </a:lnTo>
                </a:path>
              </a:pathLst>
            </a:custGeom>
            <a:ln w="4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53758" y="1412314"/>
            <a:ext cx="3070225" cy="1504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478155" algn="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M Roman 10"/>
                <a:cs typeface="LM Roman 10"/>
              </a:rPr>
              <a:t>0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185" dirty="0">
                <a:latin typeface="Georgia"/>
                <a:cs typeface="Georgia"/>
              </a:rPr>
              <a:t> </a:t>
            </a:r>
            <a:r>
              <a:rPr sz="1100" spc="-5" dirty="0">
                <a:latin typeface="LM Roman 10"/>
                <a:cs typeface="LM Roman 10"/>
              </a:rPr>
              <a:t>1</a:t>
            </a:r>
            <a:endParaRPr sz="1100">
              <a:latin typeface="LM Roman 10"/>
              <a:cs typeface="LM Roman 10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50">
              <a:latin typeface="LM Roman 10"/>
              <a:cs typeface="LM Roman 10"/>
            </a:endParaRPr>
          </a:p>
          <a:p>
            <a:pPr marL="182880" indent="-132715">
              <a:lnSpc>
                <a:spcPct val="100000"/>
              </a:lnSpc>
              <a:buClr>
                <a:srgbClr val="3333B2"/>
              </a:buClr>
              <a:buSzPct val="90909"/>
              <a:buFont typeface="Arial"/>
              <a:buChar char="•"/>
              <a:tabLst>
                <a:tab pos="183515" algn="l"/>
              </a:tabLst>
            </a:pPr>
            <a:r>
              <a:rPr sz="1100" spc="-10" dirty="0">
                <a:latin typeface="LM Sans 10"/>
                <a:cs typeface="LM Sans 10"/>
              </a:rPr>
              <a:t>Call it </a:t>
            </a:r>
            <a:r>
              <a:rPr sz="1100" i="1" spc="25" dirty="0">
                <a:latin typeface="Georgia"/>
                <a:cs typeface="Georgia"/>
              </a:rPr>
              <a:t>M</a:t>
            </a:r>
            <a:r>
              <a:rPr sz="1200" spc="37" baseline="-10416" dirty="0">
                <a:latin typeface="LM Roman 8"/>
                <a:cs typeface="LM Roman 8"/>
              </a:rPr>
              <a:t>1</a:t>
            </a:r>
            <a:r>
              <a:rPr sz="1100" spc="25" dirty="0">
                <a:latin typeface="LM Sans 10"/>
                <a:cs typeface="LM Sans 10"/>
              </a:rPr>
              <a:t>, </a:t>
            </a:r>
            <a:r>
              <a:rPr sz="1100" spc="-10" dirty="0">
                <a:latin typeface="LM Sans 10"/>
                <a:cs typeface="LM Sans 10"/>
              </a:rPr>
              <a:t>it has </a:t>
            </a:r>
            <a:r>
              <a:rPr sz="1100" spc="-5" dirty="0">
                <a:latin typeface="LM Sans 10"/>
                <a:cs typeface="LM Sans 10"/>
              </a:rPr>
              <a:t>three states, </a:t>
            </a:r>
            <a:r>
              <a:rPr sz="1100" i="1" spc="-25" dirty="0">
                <a:latin typeface="Georgia"/>
                <a:cs typeface="Georgia"/>
              </a:rPr>
              <a:t>q</a:t>
            </a:r>
            <a:r>
              <a:rPr sz="1200" spc="-37" baseline="-10416" dirty="0">
                <a:latin typeface="LM Roman 8"/>
                <a:cs typeface="LM Roman 8"/>
              </a:rPr>
              <a:t>1</a:t>
            </a:r>
            <a:r>
              <a:rPr sz="1100" i="1" spc="-25" dirty="0">
                <a:latin typeface="Georgia"/>
                <a:cs typeface="Georgia"/>
              </a:rPr>
              <a:t>, </a:t>
            </a:r>
            <a:r>
              <a:rPr sz="1100" i="1" spc="-30" dirty="0">
                <a:latin typeface="Georgia"/>
                <a:cs typeface="Georgia"/>
              </a:rPr>
              <a:t>q</a:t>
            </a:r>
            <a:r>
              <a:rPr sz="1200" spc="-44" baseline="-10416" dirty="0">
                <a:latin typeface="LM Roman 8"/>
                <a:cs typeface="LM Roman 8"/>
              </a:rPr>
              <a:t>2</a:t>
            </a:r>
            <a:r>
              <a:rPr sz="1100" spc="-30" dirty="0">
                <a:latin typeface="LM Sans 10"/>
                <a:cs typeface="LM Sans 10"/>
              </a:rPr>
              <a:t>, </a:t>
            </a:r>
            <a:r>
              <a:rPr sz="1100" spc="-10" dirty="0">
                <a:latin typeface="LM Sans 10"/>
                <a:cs typeface="LM Sans 10"/>
              </a:rPr>
              <a:t>and</a:t>
            </a:r>
            <a:r>
              <a:rPr sz="1100" spc="-60" dirty="0">
                <a:latin typeface="LM Sans 10"/>
                <a:cs typeface="LM Sans 10"/>
              </a:rPr>
              <a:t> </a:t>
            </a: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3</a:t>
            </a:r>
            <a:endParaRPr sz="1200" baseline="-10416">
              <a:latin typeface="LM Roman 8"/>
              <a:cs typeface="LM Roman 8"/>
            </a:endParaRPr>
          </a:p>
          <a:p>
            <a:pPr marL="182880" indent="-13271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83515" algn="l"/>
              </a:tabLst>
            </a:pPr>
            <a:r>
              <a:rPr sz="1100" spc="-10" dirty="0">
                <a:latin typeface="LM Sans 10"/>
                <a:cs typeface="LM Sans 10"/>
              </a:rPr>
              <a:t>Stat </a:t>
            </a:r>
            <a:r>
              <a:rPr sz="1100" spc="-20" dirty="0">
                <a:latin typeface="LM Sans 10"/>
                <a:cs typeface="LM Sans 10"/>
              </a:rPr>
              <a:t>or </a:t>
            </a:r>
            <a:r>
              <a:rPr sz="1100" spc="-10" dirty="0">
                <a:latin typeface="LM Sans 10"/>
                <a:cs typeface="LM Sans 10"/>
              </a:rPr>
              <a:t>initial </a:t>
            </a:r>
            <a:r>
              <a:rPr sz="1100" spc="-5" dirty="0">
                <a:latin typeface="LM Sans 10"/>
                <a:cs typeface="LM Sans 10"/>
              </a:rPr>
              <a:t>state: </a:t>
            </a: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1 </a:t>
            </a:r>
            <a:r>
              <a:rPr sz="1100" spc="-10" dirty="0">
                <a:latin typeface="LM Sans 10"/>
                <a:cs typeface="LM Sans 10"/>
              </a:rPr>
              <a:t>(with an incoming</a:t>
            </a:r>
            <a:r>
              <a:rPr sz="1100" spc="110" dirty="0">
                <a:latin typeface="LM Sans 10"/>
                <a:cs typeface="LM Sans 10"/>
              </a:rPr>
              <a:t> </a:t>
            </a:r>
            <a:r>
              <a:rPr sz="1100" spc="-20" dirty="0">
                <a:latin typeface="LM Sans 10"/>
                <a:cs typeface="LM Sans 10"/>
              </a:rPr>
              <a:t>arrow)</a:t>
            </a:r>
            <a:endParaRPr sz="1100">
              <a:latin typeface="LM Sans 10"/>
              <a:cs typeface="LM Sans 10"/>
            </a:endParaRPr>
          </a:p>
          <a:p>
            <a:pPr marL="182880" indent="-13271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83515" algn="l"/>
              </a:tabLst>
            </a:pPr>
            <a:r>
              <a:rPr sz="1100" spc="-10" dirty="0">
                <a:latin typeface="LM Sans 10"/>
                <a:cs typeface="LM Sans 10"/>
              </a:rPr>
              <a:t>Accepting </a:t>
            </a:r>
            <a:r>
              <a:rPr sz="1100" spc="-5" dirty="0">
                <a:latin typeface="LM Sans 10"/>
                <a:cs typeface="LM Sans 10"/>
              </a:rPr>
              <a:t>state: </a:t>
            </a: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2 </a:t>
            </a:r>
            <a:r>
              <a:rPr sz="1100" spc="-10" dirty="0">
                <a:latin typeface="LM Sans 10"/>
                <a:cs typeface="LM Sans 10"/>
              </a:rPr>
              <a:t>(with double</a:t>
            </a:r>
            <a:r>
              <a:rPr sz="1100" spc="85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circle)</a:t>
            </a:r>
            <a:endParaRPr sz="1100">
              <a:latin typeface="LM Sans 10"/>
              <a:cs typeface="LM Sans 10"/>
            </a:endParaRPr>
          </a:p>
          <a:p>
            <a:pPr marL="182880" indent="-13271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83515" algn="l"/>
              </a:tabLst>
            </a:pPr>
            <a:r>
              <a:rPr sz="1100" spc="-15" dirty="0">
                <a:latin typeface="LM Sans 10"/>
                <a:cs typeface="LM Sans 10"/>
              </a:rPr>
              <a:t>Arrows show</a:t>
            </a:r>
            <a:r>
              <a:rPr sz="1100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transitions</a:t>
            </a:r>
            <a:endParaRPr sz="1100">
              <a:latin typeface="LM Sans 10"/>
              <a:cs typeface="LM Sans 10"/>
            </a:endParaRPr>
          </a:p>
          <a:p>
            <a:pPr marL="182880" indent="-13271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83515" algn="l"/>
              </a:tabLst>
            </a:pPr>
            <a:r>
              <a:rPr sz="1100" spc="-10" dirty="0">
                <a:latin typeface="LM Sans 10"/>
                <a:cs typeface="LM Sans 10"/>
              </a:rPr>
              <a:t>Assume input </a:t>
            </a:r>
            <a:r>
              <a:rPr sz="1100" spc="-5" dirty="0">
                <a:latin typeface="LM Sans 10"/>
                <a:cs typeface="LM Sans 10"/>
              </a:rPr>
              <a:t>sequence </a:t>
            </a:r>
            <a:r>
              <a:rPr sz="1100" spc="-5" dirty="0">
                <a:latin typeface="LM Roman 10"/>
                <a:cs typeface="LM Roman 10"/>
              </a:rPr>
              <a:t>1101 </a:t>
            </a:r>
            <a:r>
              <a:rPr sz="1100" spc="-5" dirty="0">
                <a:latin typeface="LM Sans 10"/>
                <a:cs typeface="LM Sans 10"/>
              </a:rPr>
              <a:t>to</a:t>
            </a:r>
            <a:r>
              <a:rPr sz="1100" spc="-15" dirty="0">
                <a:latin typeface="LM Sans 10"/>
                <a:cs typeface="LM Sans 10"/>
              </a:rPr>
              <a:t> </a:t>
            </a:r>
            <a:r>
              <a:rPr sz="1100" i="1" spc="15" dirty="0">
                <a:latin typeface="Georgia"/>
                <a:cs typeface="Georgia"/>
              </a:rPr>
              <a:t>M</a:t>
            </a:r>
            <a:r>
              <a:rPr sz="1200" spc="22" baseline="-10416" dirty="0">
                <a:latin typeface="LM Roman 8"/>
                <a:cs typeface="LM Roman 8"/>
              </a:rPr>
              <a:t>1</a:t>
            </a:r>
            <a:endParaRPr sz="1200" baseline="-10416">
              <a:latin typeface="LM Roman 8"/>
              <a:cs typeface="LM Roman 8"/>
            </a:endParaRPr>
          </a:p>
        </p:txBody>
      </p:sp>
    </p:spTree>
    <p:extLst>
      <p:ext uri="{BB962C8B-B14F-4D97-AF65-F5344CB8AC3E}">
        <p14:creationId xmlns:p14="http://schemas.microsoft.com/office/powerpoint/2010/main" val="1855143703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8250" y="211706"/>
            <a:ext cx="168667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Finite</a:t>
            </a:r>
            <a:r>
              <a:rPr spc="-40" dirty="0"/>
              <a:t> </a:t>
            </a:r>
            <a:r>
              <a:rPr spc="10" dirty="0"/>
              <a:t>Automata</a:t>
            </a:r>
          </a:p>
        </p:txBody>
      </p:sp>
      <p:sp>
        <p:nvSpPr>
          <p:cNvPr id="3" name="object 3"/>
          <p:cNvSpPr/>
          <p:nvPr/>
        </p:nvSpPr>
        <p:spPr>
          <a:xfrm>
            <a:off x="1682235" y="1130077"/>
            <a:ext cx="346710" cy="346710"/>
          </a:xfrm>
          <a:custGeom>
            <a:avLst/>
            <a:gdLst/>
            <a:ahLst/>
            <a:cxnLst/>
            <a:rect l="l" t="t" r="r" b="b"/>
            <a:pathLst>
              <a:path w="346710" h="346709">
                <a:moveTo>
                  <a:pt x="346367" y="173183"/>
                </a:moveTo>
                <a:lnTo>
                  <a:pt x="340180" y="127144"/>
                </a:lnTo>
                <a:lnTo>
                  <a:pt x="322722" y="85773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3" y="23644"/>
                </a:lnTo>
                <a:lnTo>
                  <a:pt x="50723" y="50723"/>
                </a:lnTo>
                <a:lnTo>
                  <a:pt x="23644" y="85773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3" y="322722"/>
                </a:lnTo>
                <a:lnTo>
                  <a:pt x="127144" y="340180"/>
                </a:lnTo>
                <a:lnTo>
                  <a:pt x="173183" y="346367"/>
                </a:lnTo>
                <a:lnTo>
                  <a:pt x="219223" y="340180"/>
                </a:lnTo>
                <a:lnTo>
                  <a:pt x="260593" y="322722"/>
                </a:lnTo>
                <a:lnTo>
                  <a:pt x="295643" y="295643"/>
                </a:lnTo>
                <a:lnTo>
                  <a:pt x="322722" y="260593"/>
                </a:lnTo>
                <a:lnTo>
                  <a:pt x="340180" y="219223"/>
                </a:lnTo>
                <a:lnTo>
                  <a:pt x="346367" y="17318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56346" y="1168373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1</a:t>
            </a:r>
            <a:endParaRPr sz="1200" baseline="-10416">
              <a:latin typeface="LM Roman 8"/>
              <a:cs typeface="LM Roman 8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0343" y="1191982"/>
            <a:ext cx="2889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Sans 10"/>
                <a:cs typeface="LM Sans 10"/>
              </a:rPr>
              <a:t>st</a:t>
            </a:r>
            <a:r>
              <a:rPr sz="1100" spc="-40" dirty="0">
                <a:latin typeface="LM Sans 10"/>
                <a:cs typeface="LM Sans 10"/>
              </a:rPr>
              <a:t>a</a:t>
            </a:r>
            <a:r>
              <a:rPr sz="1100" spc="-10" dirty="0">
                <a:latin typeface="LM Sans 10"/>
                <a:cs typeface="LM Sans 10"/>
              </a:rPr>
              <a:t>rt</a:t>
            </a:r>
            <a:endParaRPr sz="1100">
              <a:latin typeface="LM Sans 10"/>
              <a:cs typeface="LM Sans 1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02244" y="1130077"/>
            <a:ext cx="346710" cy="346710"/>
          </a:xfrm>
          <a:custGeom>
            <a:avLst/>
            <a:gdLst/>
            <a:ahLst/>
            <a:cxnLst/>
            <a:rect l="l" t="t" r="r" b="b"/>
            <a:pathLst>
              <a:path w="346710" h="346709">
                <a:moveTo>
                  <a:pt x="346368" y="173183"/>
                </a:moveTo>
                <a:lnTo>
                  <a:pt x="340182" y="127144"/>
                </a:lnTo>
                <a:lnTo>
                  <a:pt x="322723" y="85773"/>
                </a:lnTo>
                <a:lnTo>
                  <a:pt x="295644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4" y="23644"/>
                </a:lnTo>
                <a:lnTo>
                  <a:pt x="50723" y="50723"/>
                </a:lnTo>
                <a:lnTo>
                  <a:pt x="23644" y="85773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4" y="322722"/>
                </a:lnTo>
                <a:lnTo>
                  <a:pt x="127144" y="340180"/>
                </a:lnTo>
                <a:lnTo>
                  <a:pt x="173183" y="346367"/>
                </a:lnTo>
                <a:lnTo>
                  <a:pt x="219223" y="340180"/>
                </a:lnTo>
                <a:lnTo>
                  <a:pt x="260593" y="322722"/>
                </a:lnTo>
                <a:lnTo>
                  <a:pt x="295644" y="295643"/>
                </a:lnTo>
                <a:lnTo>
                  <a:pt x="322723" y="260593"/>
                </a:lnTo>
                <a:lnTo>
                  <a:pt x="340182" y="219223"/>
                </a:lnTo>
                <a:lnTo>
                  <a:pt x="346368" y="173183"/>
                </a:lnTo>
                <a:close/>
              </a:path>
            </a:pathLst>
          </a:custGeom>
          <a:ln w="17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494972" y="922453"/>
            <a:ext cx="436880" cy="403225"/>
            <a:chOff x="1494972" y="922453"/>
            <a:chExt cx="436880" cy="403225"/>
          </a:xfrm>
        </p:grpSpPr>
        <p:sp>
          <p:nvSpPr>
            <p:cNvPr id="8" name="object 8"/>
            <p:cNvSpPr/>
            <p:nvPr/>
          </p:nvSpPr>
          <p:spPr>
            <a:xfrm>
              <a:off x="1494972" y="1303261"/>
              <a:ext cx="166370" cy="0"/>
            </a:xfrm>
            <a:custGeom>
              <a:avLst/>
              <a:gdLst/>
              <a:ahLst/>
              <a:cxnLst/>
              <a:rect l="l" t="t" r="r" b="b"/>
              <a:pathLst>
                <a:path w="166369">
                  <a:moveTo>
                    <a:pt x="0" y="0"/>
                  </a:moveTo>
                  <a:lnTo>
                    <a:pt x="166259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6049" y="1283017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93136" y="922453"/>
              <a:ext cx="138199" cy="21327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76347" y="1168373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2</a:t>
            </a:r>
            <a:endParaRPr sz="1200" baseline="-10416">
              <a:latin typeface="LM Roman 8"/>
              <a:cs typeface="LM Roman 8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22253" y="1130077"/>
            <a:ext cx="346710" cy="346710"/>
          </a:xfrm>
          <a:custGeom>
            <a:avLst/>
            <a:gdLst/>
            <a:ahLst/>
            <a:cxnLst/>
            <a:rect l="l" t="t" r="r" b="b"/>
            <a:pathLst>
              <a:path w="346710" h="346709">
                <a:moveTo>
                  <a:pt x="346370" y="173183"/>
                </a:moveTo>
                <a:lnTo>
                  <a:pt x="340184" y="127144"/>
                </a:lnTo>
                <a:lnTo>
                  <a:pt x="322726" y="85773"/>
                </a:lnTo>
                <a:lnTo>
                  <a:pt x="295647" y="50723"/>
                </a:lnTo>
                <a:lnTo>
                  <a:pt x="260596" y="23644"/>
                </a:lnTo>
                <a:lnTo>
                  <a:pt x="219223" y="6186"/>
                </a:lnTo>
                <a:lnTo>
                  <a:pt x="173181" y="0"/>
                </a:lnTo>
                <a:lnTo>
                  <a:pt x="127143" y="6186"/>
                </a:lnTo>
                <a:lnTo>
                  <a:pt x="85773" y="23644"/>
                </a:lnTo>
                <a:lnTo>
                  <a:pt x="50724" y="50723"/>
                </a:lnTo>
                <a:lnTo>
                  <a:pt x="23644" y="85773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4" y="295643"/>
                </a:lnTo>
                <a:lnTo>
                  <a:pt x="85773" y="322722"/>
                </a:lnTo>
                <a:lnTo>
                  <a:pt x="127143" y="340180"/>
                </a:lnTo>
                <a:lnTo>
                  <a:pt x="173181" y="346367"/>
                </a:lnTo>
                <a:lnTo>
                  <a:pt x="219223" y="340180"/>
                </a:lnTo>
                <a:lnTo>
                  <a:pt x="260596" y="322722"/>
                </a:lnTo>
                <a:lnTo>
                  <a:pt x="295647" y="295643"/>
                </a:lnTo>
                <a:lnTo>
                  <a:pt x="322726" y="260593"/>
                </a:lnTo>
                <a:lnTo>
                  <a:pt x="340184" y="219223"/>
                </a:lnTo>
                <a:lnTo>
                  <a:pt x="346370" y="17318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196348" y="1168373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3</a:t>
            </a:r>
            <a:endParaRPr sz="1200" baseline="-10416">
              <a:latin typeface="LM Roman 8"/>
              <a:cs typeface="LM Roman 8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8086" y="72727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0</a:t>
            </a:r>
            <a:endParaRPr sz="1100">
              <a:latin typeface="LM Roman 10"/>
              <a:cs typeface="LM Roman 1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62262" y="1283017"/>
            <a:ext cx="19050" cy="40640"/>
          </a:xfrm>
          <a:custGeom>
            <a:avLst/>
            <a:gdLst/>
            <a:ahLst/>
            <a:cxnLst/>
            <a:rect l="l" t="t" r="r" b="b"/>
            <a:pathLst>
              <a:path w="19050" h="40640">
                <a:moveTo>
                  <a:pt x="0" y="0"/>
                </a:moveTo>
                <a:lnTo>
                  <a:pt x="2965" y="6187"/>
                </a:lnTo>
                <a:lnTo>
                  <a:pt x="8540" y="12494"/>
                </a:lnTo>
                <a:lnTo>
                  <a:pt x="14589" y="17614"/>
                </a:lnTo>
                <a:lnTo>
                  <a:pt x="18978" y="20243"/>
                </a:lnTo>
                <a:lnTo>
                  <a:pt x="14589" y="22873"/>
                </a:lnTo>
                <a:lnTo>
                  <a:pt x="8540" y="27993"/>
                </a:lnTo>
                <a:lnTo>
                  <a:pt x="2965" y="34300"/>
                </a:lnTo>
                <a:lnTo>
                  <a:pt x="0" y="40487"/>
                </a:lnTo>
              </a:path>
            </a:pathLst>
          </a:custGeom>
          <a:ln w="4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018433" y="1103311"/>
            <a:ext cx="372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8775" algn="l"/>
              </a:tabLst>
            </a:pPr>
            <a:r>
              <a:rPr sz="11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</a:t>
            </a:r>
            <a:r>
              <a:rPr sz="1100" u="sng" spc="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-5" dirty="0">
                <a:uFill>
                  <a:solidFill>
                    <a:srgbClr val="000000"/>
                  </a:solidFill>
                </a:uFill>
                <a:latin typeface="LM Roman 10"/>
                <a:cs typeface="LM Roman 10"/>
              </a:rPr>
              <a:t>1	</a:t>
            </a:r>
            <a:endParaRPr sz="1100">
              <a:latin typeface="LM Roman 10"/>
              <a:cs typeface="LM Roman 10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511855" y="914337"/>
            <a:ext cx="613410" cy="320675"/>
            <a:chOff x="2511855" y="914337"/>
            <a:chExt cx="613410" cy="320675"/>
          </a:xfrm>
        </p:grpSpPr>
        <p:sp>
          <p:nvSpPr>
            <p:cNvPr id="18" name="object 18"/>
            <p:cNvSpPr/>
            <p:nvPr/>
          </p:nvSpPr>
          <p:spPr>
            <a:xfrm>
              <a:off x="2511855" y="914337"/>
              <a:ext cx="140475" cy="21772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38512" y="1177926"/>
              <a:ext cx="381000" cy="49530"/>
            </a:xfrm>
            <a:custGeom>
              <a:avLst/>
              <a:gdLst/>
              <a:ahLst/>
              <a:cxnLst/>
              <a:rect l="l" t="t" r="r" b="b"/>
              <a:pathLst>
                <a:path w="381000" h="49530">
                  <a:moveTo>
                    <a:pt x="0" y="49288"/>
                  </a:moveTo>
                  <a:lnTo>
                    <a:pt x="51680" y="27997"/>
                  </a:lnTo>
                  <a:lnTo>
                    <a:pt x="101455" y="12745"/>
                  </a:lnTo>
                  <a:lnTo>
                    <a:pt x="149691" y="3442"/>
                  </a:lnTo>
                  <a:lnTo>
                    <a:pt x="196752" y="0"/>
                  </a:lnTo>
                  <a:lnTo>
                    <a:pt x="243006" y="2326"/>
                  </a:lnTo>
                  <a:lnTo>
                    <a:pt x="288816" y="10331"/>
                  </a:lnTo>
                  <a:lnTo>
                    <a:pt x="334549" y="23926"/>
                  </a:lnTo>
                  <a:lnTo>
                    <a:pt x="380570" y="43018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96708" y="1196149"/>
              <a:ext cx="26034" cy="36830"/>
            </a:xfrm>
            <a:custGeom>
              <a:avLst/>
              <a:gdLst/>
              <a:ahLst/>
              <a:cxnLst/>
              <a:rect l="l" t="t" r="r" b="b"/>
              <a:pathLst>
                <a:path w="26035" h="36830">
                  <a:moveTo>
                    <a:pt x="17266" y="0"/>
                  </a:moveTo>
                  <a:lnTo>
                    <a:pt x="17311" y="6864"/>
                  </a:lnTo>
                  <a:lnTo>
                    <a:pt x="19667" y="14950"/>
                  </a:lnTo>
                  <a:lnTo>
                    <a:pt x="22958" y="22163"/>
                  </a:lnTo>
                  <a:lnTo>
                    <a:pt x="25809" y="26415"/>
                  </a:lnTo>
                  <a:lnTo>
                    <a:pt x="20716" y="26923"/>
                  </a:lnTo>
                  <a:lnTo>
                    <a:pt x="13057" y="28977"/>
                  </a:lnTo>
                  <a:lnTo>
                    <a:pt x="5322" y="32307"/>
                  </a:lnTo>
                  <a:lnTo>
                    <a:pt x="0" y="36642"/>
                  </a:lnTo>
                </a:path>
              </a:pathLst>
            </a:custGeom>
            <a:ln w="4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528087" y="719161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1</a:t>
            </a:r>
            <a:endParaRPr sz="1100">
              <a:latin typeface="LM Roman 10"/>
              <a:cs typeface="LM Roman 1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90011" y="97896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0</a:t>
            </a:r>
            <a:endParaRPr sz="1100">
              <a:latin typeface="LM Roman 10"/>
              <a:cs typeface="LM Roman 10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49820" y="1372997"/>
            <a:ext cx="388620" cy="58419"/>
            <a:chOff x="2749820" y="1372997"/>
            <a:chExt cx="388620" cy="58419"/>
          </a:xfrm>
        </p:grpSpPr>
        <p:sp>
          <p:nvSpPr>
            <p:cNvPr id="24" name="object 24"/>
            <p:cNvSpPr/>
            <p:nvPr/>
          </p:nvSpPr>
          <p:spPr>
            <a:xfrm>
              <a:off x="2755294" y="1377699"/>
              <a:ext cx="381000" cy="51435"/>
            </a:xfrm>
            <a:custGeom>
              <a:avLst/>
              <a:gdLst/>
              <a:ahLst/>
              <a:cxnLst/>
              <a:rect l="l" t="t" r="r" b="b"/>
              <a:pathLst>
                <a:path w="381000" h="51434">
                  <a:moveTo>
                    <a:pt x="380513" y="0"/>
                  </a:moveTo>
                  <a:lnTo>
                    <a:pt x="329004" y="21708"/>
                  </a:lnTo>
                  <a:lnTo>
                    <a:pt x="279352" y="37362"/>
                  </a:lnTo>
                  <a:lnTo>
                    <a:pt x="231192" y="47055"/>
                  </a:lnTo>
                  <a:lnTo>
                    <a:pt x="184159" y="50879"/>
                  </a:lnTo>
                  <a:lnTo>
                    <a:pt x="137888" y="48929"/>
                  </a:lnTo>
                  <a:lnTo>
                    <a:pt x="92014" y="41295"/>
                  </a:lnTo>
                  <a:lnTo>
                    <a:pt x="46173" y="28071"/>
                  </a:lnTo>
                  <a:lnTo>
                    <a:pt x="0" y="9351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51845" y="1375022"/>
              <a:ext cx="26034" cy="36830"/>
            </a:xfrm>
            <a:custGeom>
              <a:avLst/>
              <a:gdLst/>
              <a:ahLst/>
              <a:cxnLst/>
              <a:rect l="l" t="t" r="r" b="b"/>
              <a:pathLst>
                <a:path w="26035" h="36830">
                  <a:moveTo>
                    <a:pt x="8756" y="36783"/>
                  </a:moveTo>
                  <a:lnTo>
                    <a:pt x="8655" y="29918"/>
                  </a:lnTo>
                  <a:lnTo>
                    <a:pt x="6234" y="21852"/>
                  </a:lnTo>
                  <a:lnTo>
                    <a:pt x="2885" y="14664"/>
                  </a:lnTo>
                  <a:lnTo>
                    <a:pt x="0" y="10436"/>
                  </a:lnTo>
                  <a:lnTo>
                    <a:pt x="5089" y="9887"/>
                  </a:lnTo>
                  <a:lnTo>
                    <a:pt x="12731" y="7771"/>
                  </a:lnTo>
                  <a:lnTo>
                    <a:pt x="20439" y="4378"/>
                  </a:lnTo>
                  <a:lnTo>
                    <a:pt x="25727" y="0"/>
                  </a:lnTo>
                </a:path>
              </a:pathLst>
            </a:custGeom>
            <a:ln w="4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53758" y="1412314"/>
            <a:ext cx="3070225" cy="17151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478155" algn="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M Roman 10"/>
                <a:cs typeface="LM Roman 10"/>
              </a:rPr>
              <a:t>0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185" dirty="0">
                <a:latin typeface="Georgia"/>
                <a:cs typeface="Georgia"/>
              </a:rPr>
              <a:t> </a:t>
            </a:r>
            <a:r>
              <a:rPr sz="1100" spc="-5" dirty="0">
                <a:latin typeface="LM Roman 10"/>
                <a:cs typeface="LM Roman 10"/>
              </a:rPr>
              <a:t>1</a:t>
            </a:r>
            <a:endParaRPr sz="1100">
              <a:latin typeface="LM Roman 10"/>
              <a:cs typeface="LM Roman 10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50">
              <a:latin typeface="LM Roman 10"/>
              <a:cs typeface="LM Roman 10"/>
            </a:endParaRPr>
          </a:p>
          <a:p>
            <a:pPr marL="182880" indent="-132715">
              <a:lnSpc>
                <a:spcPct val="100000"/>
              </a:lnSpc>
              <a:buClr>
                <a:srgbClr val="3333B2"/>
              </a:buClr>
              <a:buSzPct val="90909"/>
              <a:buFont typeface="Arial"/>
              <a:buChar char="•"/>
              <a:tabLst>
                <a:tab pos="183515" algn="l"/>
              </a:tabLst>
            </a:pPr>
            <a:r>
              <a:rPr sz="1100" spc="-10" dirty="0">
                <a:latin typeface="LM Sans 10"/>
                <a:cs typeface="LM Sans 10"/>
              </a:rPr>
              <a:t>Call it </a:t>
            </a:r>
            <a:r>
              <a:rPr sz="1100" i="1" spc="25" dirty="0">
                <a:latin typeface="Georgia"/>
                <a:cs typeface="Georgia"/>
              </a:rPr>
              <a:t>M</a:t>
            </a:r>
            <a:r>
              <a:rPr sz="1200" spc="37" baseline="-10416" dirty="0">
                <a:latin typeface="LM Roman 8"/>
                <a:cs typeface="LM Roman 8"/>
              </a:rPr>
              <a:t>1</a:t>
            </a:r>
            <a:r>
              <a:rPr sz="1100" spc="25" dirty="0">
                <a:latin typeface="LM Sans 10"/>
                <a:cs typeface="LM Sans 10"/>
              </a:rPr>
              <a:t>, </a:t>
            </a:r>
            <a:r>
              <a:rPr sz="1100" spc="-10" dirty="0">
                <a:latin typeface="LM Sans 10"/>
                <a:cs typeface="LM Sans 10"/>
              </a:rPr>
              <a:t>it has </a:t>
            </a:r>
            <a:r>
              <a:rPr sz="1100" spc="-5" dirty="0">
                <a:latin typeface="LM Sans 10"/>
                <a:cs typeface="LM Sans 10"/>
              </a:rPr>
              <a:t>three states, </a:t>
            </a:r>
            <a:r>
              <a:rPr sz="1100" i="1" spc="-25" dirty="0">
                <a:latin typeface="Georgia"/>
                <a:cs typeface="Georgia"/>
              </a:rPr>
              <a:t>q</a:t>
            </a:r>
            <a:r>
              <a:rPr sz="1200" spc="-37" baseline="-10416" dirty="0">
                <a:latin typeface="LM Roman 8"/>
                <a:cs typeface="LM Roman 8"/>
              </a:rPr>
              <a:t>1</a:t>
            </a:r>
            <a:r>
              <a:rPr sz="1100" i="1" spc="-25" dirty="0">
                <a:latin typeface="Georgia"/>
                <a:cs typeface="Georgia"/>
              </a:rPr>
              <a:t>, </a:t>
            </a:r>
            <a:r>
              <a:rPr sz="1100" i="1" spc="-30" dirty="0">
                <a:latin typeface="Georgia"/>
                <a:cs typeface="Georgia"/>
              </a:rPr>
              <a:t>q</a:t>
            </a:r>
            <a:r>
              <a:rPr sz="1200" spc="-44" baseline="-10416" dirty="0">
                <a:latin typeface="LM Roman 8"/>
                <a:cs typeface="LM Roman 8"/>
              </a:rPr>
              <a:t>2</a:t>
            </a:r>
            <a:r>
              <a:rPr sz="1100" spc="-30" dirty="0">
                <a:latin typeface="LM Sans 10"/>
                <a:cs typeface="LM Sans 10"/>
              </a:rPr>
              <a:t>, </a:t>
            </a:r>
            <a:r>
              <a:rPr sz="1100" spc="-10" dirty="0">
                <a:latin typeface="LM Sans 10"/>
                <a:cs typeface="LM Sans 10"/>
              </a:rPr>
              <a:t>and</a:t>
            </a:r>
            <a:r>
              <a:rPr sz="1100" spc="-60" dirty="0">
                <a:latin typeface="LM Sans 10"/>
                <a:cs typeface="LM Sans 10"/>
              </a:rPr>
              <a:t> </a:t>
            </a: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3</a:t>
            </a:r>
            <a:endParaRPr sz="1200" baseline="-10416">
              <a:latin typeface="LM Roman 8"/>
              <a:cs typeface="LM Roman 8"/>
            </a:endParaRPr>
          </a:p>
          <a:p>
            <a:pPr marL="182880" indent="-13271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83515" algn="l"/>
              </a:tabLst>
            </a:pPr>
            <a:r>
              <a:rPr sz="1100" spc="-10" dirty="0">
                <a:latin typeface="LM Sans 10"/>
                <a:cs typeface="LM Sans 10"/>
              </a:rPr>
              <a:t>Stat </a:t>
            </a:r>
            <a:r>
              <a:rPr sz="1100" spc="-20" dirty="0">
                <a:latin typeface="LM Sans 10"/>
                <a:cs typeface="LM Sans 10"/>
              </a:rPr>
              <a:t>or </a:t>
            </a:r>
            <a:r>
              <a:rPr sz="1100" spc="-10" dirty="0">
                <a:latin typeface="LM Sans 10"/>
                <a:cs typeface="LM Sans 10"/>
              </a:rPr>
              <a:t>initial </a:t>
            </a:r>
            <a:r>
              <a:rPr sz="1100" spc="-5" dirty="0">
                <a:latin typeface="LM Sans 10"/>
                <a:cs typeface="LM Sans 10"/>
              </a:rPr>
              <a:t>state: </a:t>
            </a: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1 </a:t>
            </a:r>
            <a:r>
              <a:rPr sz="1100" spc="-10" dirty="0">
                <a:latin typeface="LM Sans 10"/>
                <a:cs typeface="LM Sans 10"/>
              </a:rPr>
              <a:t>(with an incoming</a:t>
            </a:r>
            <a:r>
              <a:rPr sz="1100" spc="110" dirty="0">
                <a:latin typeface="LM Sans 10"/>
                <a:cs typeface="LM Sans 10"/>
              </a:rPr>
              <a:t> </a:t>
            </a:r>
            <a:r>
              <a:rPr sz="1100" spc="-20" dirty="0">
                <a:latin typeface="LM Sans 10"/>
                <a:cs typeface="LM Sans 10"/>
              </a:rPr>
              <a:t>arrow)</a:t>
            </a:r>
            <a:endParaRPr sz="1100">
              <a:latin typeface="LM Sans 10"/>
              <a:cs typeface="LM Sans 10"/>
            </a:endParaRPr>
          </a:p>
          <a:p>
            <a:pPr marL="182880" indent="-13271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83515" algn="l"/>
              </a:tabLst>
            </a:pPr>
            <a:r>
              <a:rPr sz="1100" spc="-10" dirty="0">
                <a:latin typeface="LM Sans 10"/>
                <a:cs typeface="LM Sans 10"/>
              </a:rPr>
              <a:t>Accepting </a:t>
            </a:r>
            <a:r>
              <a:rPr sz="1100" spc="-5" dirty="0">
                <a:latin typeface="LM Sans 10"/>
                <a:cs typeface="LM Sans 10"/>
              </a:rPr>
              <a:t>state: </a:t>
            </a: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2 </a:t>
            </a:r>
            <a:r>
              <a:rPr sz="1100" spc="-10" dirty="0">
                <a:latin typeface="LM Sans 10"/>
                <a:cs typeface="LM Sans 10"/>
              </a:rPr>
              <a:t>(with double</a:t>
            </a:r>
            <a:r>
              <a:rPr sz="1100" spc="85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circle)</a:t>
            </a:r>
            <a:endParaRPr sz="1100">
              <a:latin typeface="LM Sans 10"/>
              <a:cs typeface="LM Sans 10"/>
            </a:endParaRPr>
          </a:p>
          <a:p>
            <a:pPr marL="182880" indent="-13271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83515" algn="l"/>
              </a:tabLst>
            </a:pPr>
            <a:r>
              <a:rPr sz="1100" spc="-15" dirty="0">
                <a:latin typeface="LM Sans 10"/>
                <a:cs typeface="LM Sans 10"/>
              </a:rPr>
              <a:t>Arrows show</a:t>
            </a:r>
            <a:r>
              <a:rPr sz="1100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transitions</a:t>
            </a:r>
            <a:endParaRPr sz="1100">
              <a:latin typeface="LM Sans 10"/>
              <a:cs typeface="LM Sans 10"/>
            </a:endParaRPr>
          </a:p>
          <a:p>
            <a:pPr marL="182880" indent="-13271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83515" algn="l"/>
              </a:tabLst>
            </a:pPr>
            <a:r>
              <a:rPr sz="1100" spc="-10" dirty="0">
                <a:latin typeface="LM Sans 10"/>
                <a:cs typeface="LM Sans 10"/>
              </a:rPr>
              <a:t>Assume input </a:t>
            </a:r>
            <a:r>
              <a:rPr sz="1100" spc="-5" dirty="0">
                <a:latin typeface="LM Sans 10"/>
                <a:cs typeface="LM Sans 10"/>
              </a:rPr>
              <a:t>sequence </a:t>
            </a:r>
            <a:r>
              <a:rPr sz="1100" spc="-5" dirty="0">
                <a:latin typeface="LM Roman 10"/>
                <a:cs typeface="LM Roman 10"/>
              </a:rPr>
              <a:t>1101 </a:t>
            </a:r>
            <a:r>
              <a:rPr sz="1100" spc="-5" dirty="0">
                <a:latin typeface="LM Sans 10"/>
                <a:cs typeface="LM Sans 10"/>
              </a:rPr>
              <a:t>to</a:t>
            </a:r>
            <a:r>
              <a:rPr sz="1100" spc="-15" dirty="0">
                <a:latin typeface="LM Sans 10"/>
                <a:cs typeface="LM Sans 10"/>
              </a:rPr>
              <a:t> </a:t>
            </a:r>
            <a:r>
              <a:rPr sz="1100" i="1" spc="15" dirty="0">
                <a:latin typeface="Georgia"/>
                <a:cs typeface="Georgia"/>
              </a:rPr>
              <a:t>M</a:t>
            </a:r>
            <a:r>
              <a:rPr sz="1200" spc="22" baseline="-10416" dirty="0">
                <a:latin typeface="LM Roman 8"/>
                <a:cs typeface="LM Roman 8"/>
              </a:rPr>
              <a:t>1</a:t>
            </a:r>
            <a:endParaRPr sz="1200" baseline="-10416">
              <a:latin typeface="LM Roman 8"/>
              <a:cs typeface="LM Roman 8"/>
            </a:endParaRPr>
          </a:p>
          <a:p>
            <a:pPr marL="182880" indent="-13271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183515" algn="l"/>
              </a:tabLst>
            </a:pPr>
            <a:r>
              <a:rPr sz="1100" spc="-10" dirty="0">
                <a:latin typeface="LM Sans 10"/>
                <a:cs typeface="LM Sans 10"/>
              </a:rPr>
              <a:t>It is</a:t>
            </a:r>
            <a:r>
              <a:rPr sz="1100" spc="-5" dirty="0">
                <a:latin typeface="LM Sans 10"/>
                <a:cs typeface="LM Sans 10"/>
              </a:rPr>
              <a:t> </a:t>
            </a:r>
            <a:r>
              <a:rPr sz="1100" spc="-10" dirty="0">
                <a:latin typeface="LM Sans 10"/>
                <a:cs typeface="LM Sans 10"/>
              </a:rPr>
              <a:t>accepted</a:t>
            </a:r>
            <a:endParaRPr sz="1100">
              <a:latin typeface="LM Sans 10"/>
              <a:cs typeface="LM Sans 10"/>
            </a:endParaRPr>
          </a:p>
        </p:txBody>
      </p:sp>
    </p:spTree>
    <p:extLst>
      <p:ext uri="{BB962C8B-B14F-4D97-AF65-F5344CB8AC3E}">
        <p14:creationId xmlns:p14="http://schemas.microsoft.com/office/powerpoint/2010/main" val="2709169050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5850" y="211706"/>
            <a:ext cx="183907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Finite</a:t>
            </a:r>
            <a:r>
              <a:rPr spc="-40" dirty="0"/>
              <a:t> </a:t>
            </a:r>
            <a:r>
              <a:rPr spc="10" dirty="0"/>
              <a:t>Automata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3" y="1068641"/>
            <a:ext cx="4040504" cy="1529080"/>
            <a:chOff x="309193" y="1068641"/>
            <a:chExt cx="4040504" cy="1529080"/>
          </a:xfrm>
        </p:grpSpPr>
        <p:sp>
          <p:nvSpPr>
            <p:cNvPr id="4" name="object 4"/>
            <p:cNvSpPr/>
            <p:nvPr/>
          </p:nvSpPr>
          <p:spPr>
            <a:xfrm>
              <a:off x="309193" y="1068641"/>
              <a:ext cx="3989704" cy="187960"/>
            </a:xfrm>
            <a:custGeom>
              <a:avLst/>
              <a:gdLst/>
              <a:ahLst/>
              <a:cxnLst/>
              <a:rect l="l" t="t" r="r" b="b"/>
              <a:pathLst>
                <a:path w="3989704" h="187959">
                  <a:moveTo>
                    <a:pt x="39388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19"/>
                  </a:lnTo>
                  <a:lnTo>
                    <a:pt x="3989654" y="187819"/>
                  </a:lnTo>
                  <a:lnTo>
                    <a:pt x="3989654" y="50800"/>
                  </a:lnTo>
                  <a:lnTo>
                    <a:pt x="3985646" y="31075"/>
                  </a:lnTo>
                  <a:lnTo>
                    <a:pt x="3974732" y="14922"/>
                  </a:lnTo>
                  <a:lnTo>
                    <a:pt x="3958579" y="4008"/>
                  </a:lnTo>
                  <a:lnTo>
                    <a:pt x="3938854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194" y="1243812"/>
              <a:ext cx="3989653" cy="5060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9994" y="2495740"/>
              <a:ext cx="101600" cy="101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0794" y="2483040"/>
              <a:ext cx="3938802" cy="114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98848" y="1112888"/>
              <a:ext cx="50749" cy="138285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9193" y="1288086"/>
              <a:ext cx="3989704" cy="1258570"/>
            </a:xfrm>
            <a:custGeom>
              <a:avLst/>
              <a:gdLst/>
              <a:ahLst/>
              <a:cxnLst/>
              <a:rect l="l" t="t" r="r" b="b"/>
              <a:pathLst>
                <a:path w="3989704" h="1258570">
                  <a:moveTo>
                    <a:pt x="3989654" y="0"/>
                  </a:moveTo>
                  <a:lnTo>
                    <a:pt x="0" y="0"/>
                  </a:lnTo>
                  <a:lnTo>
                    <a:pt x="0" y="1207654"/>
                  </a:lnTo>
                  <a:lnTo>
                    <a:pt x="4008" y="1227379"/>
                  </a:lnTo>
                  <a:lnTo>
                    <a:pt x="14922" y="1243532"/>
                  </a:lnTo>
                  <a:lnTo>
                    <a:pt x="31075" y="1254446"/>
                  </a:lnTo>
                  <a:lnTo>
                    <a:pt x="50800" y="1258454"/>
                  </a:lnTo>
                  <a:lnTo>
                    <a:pt x="3938854" y="1258454"/>
                  </a:lnTo>
                  <a:lnTo>
                    <a:pt x="3958579" y="1254446"/>
                  </a:lnTo>
                  <a:lnTo>
                    <a:pt x="3974732" y="1243532"/>
                  </a:lnTo>
                  <a:lnTo>
                    <a:pt x="3985646" y="1227379"/>
                  </a:lnTo>
                  <a:lnTo>
                    <a:pt x="3989654" y="1207654"/>
                  </a:lnTo>
                  <a:lnTo>
                    <a:pt x="3989654" y="0"/>
                  </a:lnTo>
                  <a:close/>
                </a:path>
              </a:pathLst>
            </a:custGeom>
            <a:solidFill>
              <a:srgbClr val="F7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98848" y="1150975"/>
              <a:ext cx="0" cy="1363980"/>
            </a:xfrm>
            <a:custGeom>
              <a:avLst/>
              <a:gdLst/>
              <a:ahLst/>
              <a:cxnLst/>
              <a:rect l="l" t="t" r="r" b="b"/>
              <a:pathLst>
                <a:path h="1363980">
                  <a:moveTo>
                    <a:pt x="0" y="13638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98848" y="11382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8848" y="11255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8848" y="11128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9194" y="1007954"/>
            <a:ext cx="3479165" cy="150050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05"/>
              </a:spcBef>
            </a:pPr>
            <a:r>
              <a:rPr sz="1200" spc="-5" dirty="0">
                <a:latin typeface="LM Sans 12"/>
                <a:cs typeface="LM Sans 12"/>
              </a:rPr>
              <a:t>Finite</a:t>
            </a:r>
            <a:r>
              <a:rPr sz="1200" spc="-10" dirty="0">
                <a:latin typeface="LM Sans 12"/>
                <a:cs typeface="LM Sans 12"/>
              </a:rPr>
              <a:t> Automata</a:t>
            </a:r>
            <a:endParaRPr sz="1200">
              <a:latin typeface="LM Sans 12"/>
              <a:cs typeface="LM Sans 12"/>
            </a:endParaRPr>
          </a:p>
          <a:p>
            <a:pPr marL="50800">
              <a:lnSpc>
                <a:spcPct val="100000"/>
              </a:lnSpc>
              <a:spcBef>
                <a:spcPts val="275"/>
              </a:spcBef>
            </a:pPr>
            <a:r>
              <a:rPr sz="1100" spc="-10" dirty="0">
                <a:latin typeface="LM Sans 10"/>
                <a:cs typeface="LM Sans 10"/>
              </a:rPr>
              <a:t>A </a:t>
            </a:r>
            <a:r>
              <a:rPr sz="1100" b="1" spc="-5" dirty="0">
                <a:latin typeface="LM Sans 10"/>
                <a:cs typeface="LM Sans 10"/>
              </a:rPr>
              <a:t>finite</a:t>
            </a:r>
            <a:r>
              <a:rPr sz="1100" b="1" spc="-10" dirty="0">
                <a:latin typeface="LM Sans 10"/>
                <a:cs typeface="LM Sans 10"/>
              </a:rPr>
              <a:t> </a:t>
            </a:r>
            <a:r>
              <a:rPr sz="1100" b="1" spc="-5" dirty="0">
                <a:latin typeface="LM Sans 10"/>
                <a:cs typeface="LM Sans 10"/>
              </a:rPr>
              <a:t>automata</a:t>
            </a:r>
            <a:r>
              <a:rPr sz="1100" b="1" spc="-45" dirty="0">
                <a:latin typeface="LM Sans 10"/>
                <a:cs typeface="LM Sans 10"/>
              </a:rPr>
              <a:t> </a:t>
            </a:r>
            <a:r>
              <a:rPr sz="1100" spc="-10" dirty="0">
                <a:latin typeface="LM Sans 10"/>
                <a:cs typeface="LM Sans 10"/>
              </a:rPr>
              <a:t>is </a:t>
            </a:r>
            <a:r>
              <a:rPr sz="1100" spc="-5" dirty="0">
                <a:latin typeface="LM Sans 10"/>
                <a:cs typeface="LM Sans 10"/>
              </a:rPr>
              <a:t>a </a:t>
            </a:r>
            <a:r>
              <a:rPr sz="1100" spc="-5" dirty="0">
                <a:latin typeface="LM Roman 10"/>
                <a:cs typeface="LM Roman 10"/>
              </a:rPr>
              <a:t>5</a:t>
            </a:r>
            <a:r>
              <a:rPr sz="1100" spc="-5" dirty="0">
                <a:latin typeface="LM Sans 10"/>
                <a:cs typeface="LM Sans 10"/>
              </a:rPr>
              <a:t>-tuple</a:t>
            </a:r>
            <a:r>
              <a:rPr sz="1100" spc="-10" dirty="0">
                <a:latin typeface="LM Sans 10"/>
                <a:cs typeface="LM Sans 10"/>
              </a:rPr>
              <a:t> </a:t>
            </a:r>
            <a:r>
              <a:rPr sz="1100" spc="15" dirty="0">
                <a:latin typeface="LM Roman 10"/>
                <a:cs typeface="LM Roman 10"/>
              </a:rPr>
              <a:t>(</a:t>
            </a:r>
            <a:r>
              <a:rPr sz="1100" i="1" spc="15" dirty="0">
                <a:latin typeface="Georgia"/>
                <a:cs typeface="Georgia"/>
              </a:rPr>
              <a:t>Q,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dirty="0">
                <a:latin typeface="LM Roman 10"/>
                <a:cs typeface="LM Roman 10"/>
              </a:rPr>
              <a:t>Σ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spc="-65" dirty="0">
                <a:latin typeface="Georgia"/>
                <a:cs typeface="Georgia"/>
              </a:rPr>
              <a:t>δ,</a:t>
            </a:r>
            <a:r>
              <a:rPr sz="1100" i="1" spc="-90" dirty="0">
                <a:latin typeface="Georgia"/>
                <a:cs typeface="Georgia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q</a:t>
            </a:r>
            <a:r>
              <a:rPr sz="1200" spc="-37" baseline="-10416" dirty="0">
                <a:latin typeface="LM Roman 8"/>
                <a:cs typeface="LM Roman 8"/>
              </a:rPr>
              <a:t>0</a:t>
            </a:r>
            <a:r>
              <a:rPr sz="1100" i="1" spc="-25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spc="40" dirty="0">
                <a:latin typeface="Georgia"/>
                <a:cs typeface="Georgia"/>
              </a:rPr>
              <a:t>F</a:t>
            </a:r>
            <a:r>
              <a:rPr sz="1100" i="1" spc="-114" dirty="0">
                <a:latin typeface="Georgia"/>
                <a:cs typeface="Georgia"/>
              </a:rPr>
              <a:t> </a:t>
            </a:r>
            <a:r>
              <a:rPr sz="1100" spc="-10" dirty="0">
                <a:latin typeface="LM Roman 10"/>
                <a:cs typeface="LM Roman 10"/>
              </a:rPr>
              <a:t>)</a:t>
            </a:r>
            <a:r>
              <a:rPr sz="1100" spc="-10" dirty="0">
                <a:latin typeface="LM Sans 10"/>
                <a:cs typeface="LM Sans 10"/>
              </a:rPr>
              <a:t>, </a:t>
            </a:r>
            <a:r>
              <a:rPr sz="1100" spc="-5" dirty="0">
                <a:latin typeface="LM Sans 10"/>
                <a:cs typeface="LM Sans 10"/>
              </a:rPr>
              <a:t>where</a:t>
            </a:r>
            <a:endParaRPr sz="1100">
              <a:latin typeface="LM Sans 10"/>
              <a:cs typeface="LM Sans 10"/>
            </a:endParaRPr>
          </a:p>
          <a:p>
            <a:pPr marL="32766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M Sans 10"/>
              <a:buAutoNum type="arabicPeriod"/>
              <a:tabLst>
                <a:tab pos="328295" algn="l"/>
              </a:tabLst>
            </a:pPr>
            <a:r>
              <a:rPr sz="1100" i="1" spc="55" dirty="0">
                <a:latin typeface="Georgia"/>
                <a:cs typeface="Georgia"/>
              </a:rPr>
              <a:t>Q </a:t>
            </a:r>
            <a:r>
              <a:rPr sz="1100" spc="-10" dirty="0">
                <a:latin typeface="LM Sans 10"/>
                <a:cs typeface="LM Sans 10"/>
              </a:rPr>
              <a:t>is </a:t>
            </a:r>
            <a:r>
              <a:rPr sz="1100" spc="-5" dirty="0">
                <a:latin typeface="LM Sans 10"/>
                <a:cs typeface="LM Sans 10"/>
              </a:rPr>
              <a:t>a finite set called</a:t>
            </a:r>
            <a:r>
              <a:rPr sz="1100" spc="30" dirty="0">
                <a:latin typeface="LM Sans 10"/>
                <a:cs typeface="LM Sans 10"/>
              </a:rPr>
              <a:t> </a:t>
            </a:r>
            <a:r>
              <a:rPr sz="1100" b="1" spc="-10" dirty="0">
                <a:latin typeface="LM Sans 10"/>
                <a:cs typeface="LM Sans 10"/>
              </a:rPr>
              <a:t>states</a:t>
            </a:r>
            <a:r>
              <a:rPr sz="1100" spc="-10" dirty="0">
                <a:latin typeface="LM Sans 10"/>
                <a:cs typeface="LM Sans 10"/>
              </a:rPr>
              <a:t>,</a:t>
            </a:r>
            <a:endParaRPr sz="1100">
              <a:latin typeface="LM Sans 10"/>
              <a:cs typeface="LM Sans 10"/>
            </a:endParaRPr>
          </a:p>
          <a:p>
            <a:pPr marL="32766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M Sans 10"/>
              <a:buAutoNum type="arabicPeriod"/>
              <a:tabLst>
                <a:tab pos="328295" algn="l"/>
              </a:tabLst>
            </a:pPr>
            <a:r>
              <a:rPr sz="1100" spc="-10" dirty="0">
                <a:latin typeface="LM Roman 10"/>
                <a:cs typeface="LM Roman 10"/>
              </a:rPr>
              <a:t>Σ </a:t>
            </a:r>
            <a:r>
              <a:rPr sz="1100" spc="-10" dirty="0">
                <a:latin typeface="LM Sans 10"/>
                <a:cs typeface="LM Sans 10"/>
              </a:rPr>
              <a:t>is </a:t>
            </a:r>
            <a:r>
              <a:rPr sz="1100" spc="-5" dirty="0">
                <a:latin typeface="LM Sans 10"/>
                <a:cs typeface="LM Sans 10"/>
              </a:rPr>
              <a:t>a finite set called </a:t>
            </a:r>
            <a:r>
              <a:rPr sz="1100" b="1" spc="-5" dirty="0">
                <a:latin typeface="LM Sans 10"/>
                <a:cs typeface="LM Sans 10"/>
              </a:rPr>
              <a:t>alphabet</a:t>
            </a:r>
            <a:r>
              <a:rPr sz="1100" spc="-5" dirty="0">
                <a:latin typeface="LM Sans 10"/>
                <a:cs typeface="LM Sans 10"/>
              </a:rPr>
              <a:t>,</a:t>
            </a:r>
            <a:endParaRPr sz="1100">
              <a:latin typeface="LM Sans 10"/>
              <a:cs typeface="LM Sans 10"/>
            </a:endParaRPr>
          </a:p>
          <a:p>
            <a:pPr marL="327660" indent="-1778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M Sans 10"/>
              <a:buAutoNum type="arabicPeriod"/>
              <a:tabLst>
                <a:tab pos="328295" algn="l"/>
              </a:tabLst>
            </a:pPr>
            <a:r>
              <a:rPr sz="1100" i="1" spc="-110" dirty="0">
                <a:latin typeface="Georgia"/>
                <a:cs typeface="Georgia"/>
              </a:rPr>
              <a:t>δ </a:t>
            </a:r>
            <a:r>
              <a:rPr sz="1100" spc="-5" dirty="0">
                <a:latin typeface="LM Roman 10"/>
                <a:cs typeface="LM Roman 10"/>
              </a:rPr>
              <a:t>: </a:t>
            </a:r>
            <a:r>
              <a:rPr sz="1100" i="1" spc="55" dirty="0">
                <a:latin typeface="Georgia"/>
                <a:cs typeface="Georgia"/>
              </a:rPr>
              <a:t>Q </a:t>
            </a:r>
            <a:r>
              <a:rPr sz="1100" i="1" spc="-75" dirty="0">
                <a:latin typeface="DejaVu Sans"/>
                <a:cs typeface="DejaVu Sans"/>
              </a:rPr>
              <a:t>× </a:t>
            </a:r>
            <a:r>
              <a:rPr sz="1100" spc="-10" dirty="0">
                <a:latin typeface="LM Roman 10"/>
                <a:cs typeface="LM Roman 10"/>
              </a:rPr>
              <a:t>Σ </a:t>
            </a:r>
            <a:r>
              <a:rPr sz="1100" i="1" spc="165" dirty="0">
                <a:latin typeface="DejaVu Sans"/>
                <a:cs typeface="DejaVu Sans"/>
              </a:rPr>
              <a:t>→</a:t>
            </a:r>
            <a:r>
              <a:rPr sz="1100" i="1" spc="-225" dirty="0">
                <a:latin typeface="DejaVu Sans"/>
                <a:cs typeface="DejaVu Sans"/>
              </a:rPr>
              <a:t> </a:t>
            </a:r>
            <a:r>
              <a:rPr sz="1100" i="1" spc="55" dirty="0">
                <a:latin typeface="Georgia"/>
                <a:cs typeface="Georgia"/>
              </a:rPr>
              <a:t>Q </a:t>
            </a:r>
            <a:r>
              <a:rPr sz="1100" spc="-10" dirty="0">
                <a:latin typeface="LM Sans 10"/>
                <a:cs typeface="LM Sans 10"/>
              </a:rPr>
              <a:t>is </a:t>
            </a:r>
            <a:r>
              <a:rPr sz="1100" spc="-5" dirty="0">
                <a:latin typeface="LM Sans 10"/>
                <a:cs typeface="LM Sans 10"/>
              </a:rPr>
              <a:t>a </a:t>
            </a:r>
            <a:r>
              <a:rPr sz="1100" b="1" spc="-5" dirty="0">
                <a:latin typeface="LM Sans 10"/>
                <a:cs typeface="LM Sans 10"/>
              </a:rPr>
              <a:t>transition function</a:t>
            </a:r>
            <a:r>
              <a:rPr sz="1100" spc="-5" dirty="0">
                <a:latin typeface="LM Sans 10"/>
                <a:cs typeface="LM Sans 10"/>
              </a:rPr>
              <a:t>,</a:t>
            </a:r>
            <a:endParaRPr sz="1100">
              <a:latin typeface="LM Sans 10"/>
              <a:cs typeface="LM Sans 10"/>
            </a:endParaRPr>
          </a:p>
          <a:p>
            <a:pPr marL="327660" indent="-177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M Sans 10"/>
              <a:buAutoNum type="arabicPeriod"/>
              <a:tabLst>
                <a:tab pos="328295" algn="l"/>
              </a:tabLst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0 </a:t>
            </a:r>
            <a:r>
              <a:rPr sz="1100" i="1" spc="-235" dirty="0">
                <a:latin typeface="DejaVu Sans"/>
                <a:cs typeface="DejaVu Sans"/>
              </a:rPr>
              <a:t>∈ </a:t>
            </a:r>
            <a:r>
              <a:rPr sz="1100" i="1" spc="55" dirty="0">
                <a:latin typeface="Georgia"/>
                <a:cs typeface="Georgia"/>
              </a:rPr>
              <a:t>Q </a:t>
            </a:r>
            <a:r>
              <a:rPr sz="1100" spc="-10" dirty="0">
                <a:latin typeface="LM Sans 10"/>
                <a:cs typeface="LM Sans 10"/>
              </a:rPr>
              <a:t>is </a:t>
            </a:r>
            <a:r>
              <a:rPr sz="1100" spc="-5" dirty="0">
                <a:latin typeface="LM Sans 10"/>
                <a:cs typeface="LM Sans 10"/>
              </a:rPr>
              <a:t>the </a:t>
            </a:r>
            <a:r>
              <a:rPr sz="1100" b="1" spc="-15" dirty="0">
                <a:latin typeface="LM Sans 10"/>
                <a:cs typeface="LM Sans 10"/>
              </a:rPr>
              <a:t>start </a:t>
            </a:r>
            <a:r>
              <a:rPr sz="1100" b="1" spc="-10" dirty="0">
                <a:latin typeface="LM Sans 10"/>
                <a:cs typeface="LM Sans 10"/>
              </a:rPr>
              <a:t>state</a:t>
            </a:r>
            <a:r>
              <a:rPr sz="1100" spc="-10" dirty="0">
                <a:latin typeface="LM Sans 10"/>
                <a:cs typeface="LM Sans 10"/>
              </a:rPr>
              <a:t>,</a:t>
            </a:r>
            <a:r>
              <a:rPr sz="1100" spc="-95" dirty="0">
                <a:latin typeface="LM Sans 10"/>
                <a:cs typeface="LM Sans 10"/>
              </a:rPr>
              <a:t> </a:t>
            </a:r>
            <a:r>
              <a:rPr sz="1100" spc="-10" dirty="0">
                <a:latin typeface="LM Sans 10"/>
                <a:cs typeface="LM Sans 10"/>
              </a:rPr>
              <a:t>and</a:t>
            </a:r>
            <a:endParaRPr sz="1100">
              <a:latin typeface="LM Sans 10"/>
              <a:cs typeface="LM Sans 10"/>
            </a:endParaRPr>
          </a:p>
          <a:p>
            <a:pPr marL="32766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M Sans 10"/>
              <a:buAutoNum type="arabicPeriod"/>
              <a:tabLst>
                <a:tab pos="328295" algn="l"/>
              </a:tabLst>
            </a:pPr>
            <a:r>
              <a:rPr sz="1100" i="1" spc="40" dirty="0">
                <a:latin typeface="Georgia"/>
                <a:cs typeface="Georgia"/>
              </a:rPr>
              <a:t>F </a:t>
            </a:r>
            <a:r>
              <a:rPr sz="1100" i="1" spc="-75" dirty="0">
                <a:latin typeface="DejaVu Sans"/>
                <a:cs typeface="DejaVu Sans"/>
              </a:rPr>
              <a:t>⊆ </a:t>
            </a:r>
            <a:r>
              <a:rPr sz="1100" i="1" spc="55" dirty="0">
                <a:latin typeface="Georgia"/>
                <a:cs typeface="Georgia"/>
              </a:rPr>
              <a:t>Q </a:t>
            </a:r>
            <a:r>
              <a:rPr sz="1100" spc="-10" dirty="0">
                <a:latin typeface="LM Sans 10"/>
                <a:cs typeface="LM Sans 10"/>
              </a:rPr>
              <a:t>is </a:t>
            </a:r>
            <a:r>
              <a:rPr sz="1100" spc="-5" dirty="0">
                <a:latin typeface="LM Sans 10"/>
                <a:cs typeface="LM Sans 10"/>
              </a:rPr>
              <a:t>the </a:t>
            </a:r>
            <a:r>
              <a:rPr sz="1100" b="1" spc="-10" dirty="0">
                <a:latin typeface="LM Sans 10"/>
                <a:cs typeface="LM Sans 10"/>
              </a:rPr>
              <a:t>set </a:t>
            </a:r>
            <a:r>
              <a:rPr sz="1100" b="1" spc="-5" dirty="0">
                <a:latin typeface="LM Sans 10"/>
                <a:cs typeface="LM Sans 10"/>
              </a:rPr>
              <a:t>of accept </a:t>
            </a:r>
            <a:r>
              <a:rPr sz="1100" b="1" spc="-10" dirty="0">
                <a:latin typeface="LM Sans 10"/>
                <a:cs typeface="LM Sans 10"/>
              </a:rPr>
              <a:t>states </a:t>
            </a:r>
            <a:r>
              <a:rPr sz="1100" spc="-20" dirty="0">
                <a:latin typeface="LM Sans 10"/>
                <a:cs typeface="LM Sans 10"/>
              </a:rPr>
              <a:t>(or </a:t>
            </a:r>
            <a:r>
              <a:rPr sz="1100" b="1" spc="-5" dirty="0">
                <a:latin typeface="LM Sans 10"/>
                <a:cs typeface="LM Sans 10"/>
              </a:rPr>
              <a:t>final</a:t>
            </a:r>
            <a:r>
              <a:rPr sz="1100" b="1" spc="-120" dirty="0">
                <a:latin typeface="LM Sans 10"/>
                <a:cs typeface="LM Sans 10"/>
              </a:rPr>
              <a:t> </a:t>
            </a:r>
            <a:r>
              <a:rPr sz="1100" b="1" spc="-10" dirty="0">
                <a:latin typeface="LM Sans 10"/>
                <a:cs typeface="LM Sans 10"/>
              </a:rPr>
              <a:t>states</a:t>
            </a:r>
            <a:r>
              <a:rPr sz="1100" spc="-10" dirty="0">
                <a:latin typeface="LM Sans 10"/>
                <a:cs typeface="LM Sans 10"/>
              </a:rPr>
              <a:t>).</a:t>
            </a:r>
            <a:endParaRPr sz="1100">
              <a:latin typeface="LM Sans 10"/>
              <a:cs typeface="LM Sans 10"/>
            </a:endParaRPr>
          </a:p>
        </p:txBody>
      </p:sp>
    </p:spTree>
    <p:extLst>
      <p:ext uri="{BB962C8B-B14F-4D97-AF65-F5344CB8AC3E}">
        <p14:creationId xmlns:p14="http://schemas.microsoft.com/office/powerpoint/2010/main" val="390252210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450" y="211706"/>
            <a:ext cx="199147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Finite</a:t>
            </a:r>
            <a:r>
              <a:rPr spc="-40" dirty="0"/>
              <a:t> </a:t>
            </a:r>
            <a:r>
              <a:rPr spc="10" dirty="0"/>
              <a:t>Automata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67305" y="1671726"/>
            <a:ext cx="750570" cy="693420"/>
            <a:chOff x="2067305" y="1671726"/>
            <a:chExt cx="750570" cy="693420"/>
          </a:xfrm>
        </p:grpSpPr>
        <p:sp>
          <p:nvSpPr>
            <p:cNvPr id="4" name="object 4"/>
            <p:cNvSpPr/>
            <p:nvPr/>
          </p:nvSpPr>
          <p:spPr>
            <a:xfrm>
              <a:off x="2318308" y="167172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67305" y="1846338"/>
              <a:ext cx="750570" cy="0"/>
            </a:xfrm>
            <a:custGeom>
              <a:avLst/>
              <a:gdLst/>
              <a:ahLst/>
              <a:cxnLst/>
              <a:rect l="l" t="t" r="r" b="b"/>
              <a:pathLst>
                <a:path w="750569">
                  <a:moveTo>
                    <a:pt x="0" y="0"/>
                  </a:moveTo>
                  <a:lnTo>
                    <a:pt x="75048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18308" y="1848866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18308" y="2020938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18308" y="2193010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02958" y="833955"/>
            <a:ext cx="2434590" cy="19729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33679" indent="-13271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234315" algn="l"/>
              </a:tabLst>
            </a:pPr>
            <a:r>
              <a:rPr sz="1100" spc="-10" dirty="0">
                <a:latin typeface="LM Sans 10"/>
                <a:cs typeface="LM Sans 10"/>
              </a:rPr>
              <a:t>The </a:t>
            </a:r>
            <a:r>
              <a:rPr sz="1100" spc="-5" dirty="0">
                <a:latin typeface="LM Sans 10"/>
                <a:cs typeface="LM Sans 10"/>
              </a:rPr>
              <a:t>finite </a:t>
            </a:r>
            <a:r>
              <a:rPr sz="1100" spc="-10" dirty="0">
                <a:latin typeface="LM Sans 10"/>
                <a:cs typeface="LM Sans 10"/>
              </a:rPr>
              <a:t>automaton </a:t>
            </a:r>
            <a:r>
              <a:rPr sz="1100" i="1" spc="25" dirty="0">
                <a:latin typeface="Georgia"/>
                <a:cs typeface="Georgia"/>
              </a:rPr>
              <a:t>M</a:t>
            </a:r>
            <a:r>
              <a:rPr sz="1200" spc="37" baseline="-10416" dirty="0">
                <a:latin typeface="LM Roman 8"/>
                <a:cs typeface="LM Roman 8"/>
              </a:rPr>
              <a:t>1</a:t>
            </a:r>
            <a:r>
              <a:rPr sz="1100" spc="25" dirty="0">
                <a:latin typeface="LM Sans 10"/>
                <a:cs typeface="LM Sans 10"/>
              </a:rPr>
              <a:t>:</a:t>
            </a:r>
            <a:endParaRPr sz="1100">
              <a:latin typeface="LM Sans 10"/>
              <a:cs typeface="LM Sans 10"/>
            </a:endParaRPr>
          </a:p>
          <a:p>
            <a:pPr marL="233679" indent="-13271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234315" algn="l"/>
              </a:tabLst>
            </a:pPr>
            <a:r>
              <a:rPr sz="1100" i="1" spc="55" dirty="0">
                <a:latin typeface="Georgia"/>
                <a:cs typeface="Georgia"/>
              </a:rPr>
              <a:t>Q </a:t>
            </a:r>
            <a:r>
              <a:rPr sz="1100" spc="-10" dirty="0">
                <a:latin typeface="LM Roman 10"/>
                <a:cs typeface="LM Roman 10"/>
              </a:rPr>
              <a:t>= </a:t>
            </a:r>
            <a:r>
              <a:rPr sz="1100" i="1" spc="-60" dirty="0">
                <a:latin typeface="DejaVu Sans"/>
                <a:cs typeface="DejaVu Sans"/>
              </a:rPr>
              <a:t>{</a:t>
            </a:r>
            <a:r>
              <a:rPr sz="1100" i="1" spc="-60" dirty="0">
                <a:latin typeface="Georgia"/>
                <a:cs typeface="Georgia"/>
              </a:rPr>
              <a:t>q</a:t>
            </a:r>
            <a:r>
              <a:rPr sz="1200" spc="-89" baseline="-10416" dirty="0">
                <a:latin typeface="LM Roman 8"/>
                <a:cs typeface="LM Roman 8"/>
              </a:rPr>
              <a:t>1</a:t>
            </a:r>
            <a:r>
              <a:rPr sz="1100" i="1" spc="-60" dirty="0">
                <a:latin typeface="Georgia"/>
                <a:cs typeface="Georgia"/>
              </a:rPr>
              <a:t>, </a:t>
            </a:r>
            <a:r>
              <a:rPr sz="1100" i="1" spc="-25" dirty="0">
                <a:latin typeface="Georgia"/>
                <a:cs typeface="Georgia"/>
              </a:rPr>
              <a:t>q</a:t>
            </a:r>
            <a:r>
              <a:rPr sz="1200" spc="-37" baseline="-10416" dirty="0">
                <a:latin typeface="LM Roman 8"/>
                <a:cs typeface="LM Roman 8"/>
              </a:rPr>
              <a:t>2</a:t>
            </a:r>
            <a:r>
              <a:rPr sz="1100" i="1" spc="-25" dirty="0">
                <a:latin typeface="Georgia"/>
                <a:cs typeface="Georgia"/>
              </a:rPr>
              <a:t>,</a:t>
            </a:r>
            <a:r>
              <a:rPr sz="1100" i="1" spc="-195" dirty="0">
                <a:latin typeface="Georgia"/>
                <a:cs typeface="Georgia"/>
              </a:rPr>
              <a:t> </a:t>
            </a:r>
            <a:r>
              <a:rPr sz="1100" i="1" spc="-80" dirty="0">
                <a:latin typeface="Georgia"/>
                <a:cs typeface="Georgia"/>
              </a:rPr>
              <a:t>q</a:t>
            </a:r>
            <a:r>
              <a:rPr sz="1200" spc="-120" baseline="-10416" dirty="0">
                <a:latin typeface="LM Roman 8"/>
                <a:cs typeface="LM Roman 8"/>
              </a:rPr>
              <a:t>3</a:t>
            </a:r>
            <a:r>
              <a:rPr sz="1100" i="1" spc="-80" dirty="0">
                <a:latin typeface="DejaVu Sans"/>
                <a:cs typeface="DejaVu Sans"/>
              </a:rPr>
              <a:t>}</a:t>
            </a:r>
            <a:endParaRPr sz="1100">
              <a:latin typeface="DejaVu Sans"/>
              <a:cs typeface="DejaVu Sans"/>
            </a:endParaRPr>
          </a:p>
          <a:p>
            <a:pPr marL="233679" indent="-13271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234315" algn="l"/>
              </a:tabLst>
            </a:pPr>
            <a:r>
              <a:rPr sz="1100" spc="-10" dirty="0">
                <a:latin typeface="LM Roman 10"/>
                <a:cs typeface="LM Roman 10"/>
              </a:rPr>
              <a:t>Σ = </a:t>
            </a:r>
            <a:r>
              <a:rPr sz="1100" spc="-5" dirty="0">
                <a:latin typeface="LM Roman 10"/>
                <a:cs typeface="LM Roman 10"/>
              </a:rPr>
              <a:t>0</a:t>
            </a:r>
            <a:r>
              <a:rPr sz="1100" i="1" spc="-5" dirty="0">
                <a:latin typeface="Georgia"/>
                <a:cs typeface="Georgia"/>
              </a:rPr>
              <a:t>,</a:t>
            </a:r>
            <a:r>
              <a:rPr sz="1100" i="1" spc="-200" dirty="0">
                <a:latin typeface="Georgia"/>
                <a:cs typeface="Georgia"/>
              </a:rPr>
              <a:t> </a:t>
            </a:r>
            <a:r>
              <a:rPr sz="1100" spc="-10" dirty="0">
                <a:latin typeface="LM Roman 10"/>
                <a:cs typeface="LM Roman 10"/>
              </a:rPr>
              <a:t>1</a:t>
            </a:r>
            <a:r>
              <a:rPr sz="1100" spc="-10" dirty="0">
                <a:latin typeface="LM Sans 10"/>
                <a:cs typeface="LM Sans 10"/>
              </a:rPr>
              <a:t>,</a:t>
            </a:r>
            <a:endParaRPr sz="1100">
              <a:latin typeface="LM Sans 10"/>
              <a:cs typeface="LM Sans 10"/>
            </a:endParaRPr>
          </a:p>
          <a:p>
            <a:pPr marL="233679" indent="-13271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234315" algn="l"/>
                <a:tab pos="2007235" algn="l"/>
                <a:tab pos="2255520" algn="l"/>
              </a:tabLst>
            </a:pPr>
            <a:r>
              <a:rPr sz="1100" i="1" spc="-110" dirty="0">
                <a:latin typeface="Georgia"/>
                <a:cs typeface="Georgia"/>
              </a:rPr>
              <a:t>δ </a:t>
            </a:r>
            <a:r>
              <a:rPr sz="1100" i="1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LM Sans 10"/>
                <a:cs typeface="LM Sans 10"/>
              </a:rPr>
              <a:t>is</a:t>
            </a:r>
            <a:r>
              <a:rPr sz="1100" spc="-60" dirty="0">
                <a:latin typeface="LM Sans 10"/>
                <a:cs typeface="LM Sans 10"/>
              </a:rPr>
              <a:t> </a:t>
            </a:r>
            <a:r>
              <a:rPr sz="1100" spc="-10" dirty="0">
                <a:latin typeface="LM Sans 10"/>
                <a:cs typeface="LM Sans 10"/>
              </a:rPr>
              <a:t>defined</a:t>
            </a:r>
            <a:r>
              <a:rPr sz="1100" dirty="0">
                <a:latin typeface="LM Sans 10"/>
                <a:cs typeface="LM Sans 10"/>
              </a:rPr>
              <a:t> </a:t>
            </a:r>
            <a:r>
              <a:rPr sz="1100" spc="-10" dirty="0">
                <a:latin typeface="LM Sans 10"/>
                <a:cs typeface="LM Sans 10"/>
              </a:rPr>
              <a:t>as:	</a:t>
            </a:r>
            <a:r>
              <a:rPr sz="1650" spc="-7" baseline="-53030" dirty="0">
                <a:latin typeface="LM Roman 10"/>
                <a:cs typeface="LM Roman 10"/>
              </a:rPr>
              <a:t>0	1</a:t>
            </a:r>
            <a:endParaRPr sz="1650" baseline="-53030">
              <a:latin typeface="LM Roman 10"/>
              <a:cs typeface="LM Roman 10"/>
            </a:endParaRPr>
          </a:p>
          <a:p>
            <a:pPr marR="81280" algn="r">
              <a:lnSpc>
                <a:spcPct val="100000"/>
              </a:lnSpc>
              <a:spcBef>
                <a:spcPts val="1125"/>
              </a:spcBef>
              <a:tabLst>
                <a:tab pos="253365" algn="l"/>
                <a:tab pos="501650" algn="l"/>
              </a:tabLst>
            </a:pPr>
            <a:r>
              <a:rPr sz="1100" i="1" spc="-125" dirty="0">
                <a:latin typeface="Georgia"/>
                <a:cs typeface="Georgia"/>
              </a:rPr>
              <a:t>q</a:t>
            </a:r>
            <a:r>
              <a:rPr sz="1200" spc="-7" baseline="-10416" dirty="0">
                <a:latin typeface="LM Roman 8"/>
                <a:cs typeface="LM Roman 8"/>
              </a:rPr>
              <a:t>1	</a:t>
            </a:r>
            <a:r>
              <a:rPr sz="1100" i="1" spc="-125" dirty="0">
                <a:latin typeface="Georgia"/>
                <a:cs typeface="Georgia"/>
              </a:rPr>
              <a:t>q</a:t>
            </a:r>
            <a:r>
              <a:rPr sz="1200" spc="-7" baseline="-10416" dirty="0">
                <a:latin typeface="LM Roman 8"/>
                <a:cs typeface="LM Roman 8"/>
              </a:rPr>
              <a:t>1	</a:t>
            </a:r>
            <a:r>
              <a:rPr sz="1100" i="1" spc="-125" dirty="0">
                <a:latin typeface="Georgia"/>
                <a:cs typeface="Georgia"/>
              </a:rPr>
              <a:t>q</a:t>
            </a:r>
            <a:r>
              <a:rPr sz="1200" spc="-7" baseline="-10416" dirty="0">
                <a:latin typeface="LM Roman 8"/>
                <a:cs typeface="LM Roman 8"/>
              </a:rPr>
              <a:t>2</a:t>
            </a:r>
            <a:endParaRPr sz="1200" baseline="-10416">
              <a:latin typeface="LM Roman 8"/>
              <a:cs typeface="LM Roman 8"/>
            </a:endParaRPr>
          </a:p>
          <a:p>
            <a:pPr marR="81280" algn="r">
              <a:lnSpc>
                <a:spcPct val="100000"/>
              </a:lnSpc>
              <a:spcBef>
                <a:spcPts val="35"/>
              </a:spcBef>
              <a:tabLst>
                <a:tab pos="253365" algn="l"/>
                <a:tab pos="501650" algn="l"/>
              </a:tabLst>
            </a:pPr>
            <a:r>
              <a:rPr sz="1100" i="1" spc="-125" dirty="0">
                <a:latin typeface="Georgia"/>
                <a:cs typeface="Georgia"/>
              </a:rPr>
              <a:t>q</a:t>
            </a:r>
            <a:r>
              <a:rPr sz="1200" spc="-7" baseline="-10416" dirty="0">
                <a:latin typeface="LM Roman 8"/>
                <a:cs typeface="LM Roman 8"/>
              </a:rPr>
              <a:t>2	</a:t>
            </a:r>
            <a:r>
              <a:rPr sz="1100" i="1" spc="-125" dirty="0">
                <a:latin typeface="Georgia"/>
                <a:cs typeface="Georgia"/>
              </a:rPr>
              <a:t>q</a:t>
            </a:r>
            <a:r>
              <a:rPr sz="1200" spc="-7" baseline="-10416" dirty="0">
                <a:latin typeface="LM Roman 8"/>
                <a:cs typeface="LM Roman 8"/>
              </a:rPr>
              <a:t>3	</a:t>
            </a:r>
            <a:r>
              <a:rPr sz="1100" i="1" spc="-125" dirty="0">
                <a:latin typeface="Georgia"/>
                <a:cs typeface="Georgia"/>
              </a:rPr>
              <a:t>q</a:t>
            </a:r>
            <a:r>
              <a:rPr sz="1200" spc="-7" baseline="-10416" dirty="0">
                <a:latin typeface="LM Roman 8"/>
                <a:cs typeface="LM Roman 8"/>
              </a:rPr>
              <a:t>2</a:t>
            </a:r>
            <a:endParaRPr sz="1200" baseline="-10416">
              <a:latin typeface="LM Roman 8"/>
              <a:cs typeface="LM Roman 8"/>
            </a:endParaRPr>
          </a:p>
          <a:p>
            <a:pPr marR="81280" algn="r">
              <a:lnSpc>
                <a:spcPct val="100000"/>
              </a:lnSpc>
              <a:spcBef>
                <a:spcPts val="35"/>
              </a:spcBef>
              <a:tabLst>
                <a:tab pos="253365" algn="l"/>
                <a:tab pos="501650" algn="l"/>
              </a:tabLst>
            </a:pPr>
            <a:r>
              <a:rPr sz="1100" i="1" spc="-125" dirty="0">
                <a:latin typeface="Georgia"/>
                <a:cs typeface="Georgia"/>
              </a:rPr>
              <a:t>q</a:t>
            </a:r>
            <a:r>
              <a:rPr sz="1200" spc="-7" baseline="-10416" dirty="0">
                <a:latin typeface="LM Roman 8"/>
                <a:cs typeface="LM Roman 8"/>
              </a:rPr>
              <a:t>3	</a:t>
            </a:r>
            <a:r>
              <a:rPr sz="1100" i="1" spc="-125" dirty="0">
                <a:latin typeface="Georgia"/>
                <a:cs typeface="Georgia"/>
              </a:rPr>
              <a:t>q</a:t>
            </a:r>
            <a:r>
              <a:rPr sz="1200" spc="-7" baseline="-10416" dirty="0">
                <a:latin typeface="LM Roman 8"/>
                <a:cs typeface="LM Roman 8"/>
              </a:rPr>
              <a:t>2	</a:t>
            </a:r>
            <a:r>
              <a:rPr sz="1100" i="1" spc="-125" dirty="0">
                <a:latin typeface="Georgia"/>
                <a:cs typeface="Georgia"/>
              </a:rPr>
              <a:t>q</a:t>
            </a:r>
            <a:r>
              <a:rPr sz="1200" spc="-7" baseline="-10416" dirty="0">
                <a:latin typeface="LM Roman 8"/>
                <a:cs typeface="LM Roman 8"/>
              </a:rPr>
              <a:t>2</a:t>
            </a:r>
            <a:endParaRPr sz="1200" baseline="-10416">
              <a:latin typeface="LM Roman 8"/>
              <a:cs typeface="LM Roman 8"/>
            </a:endParaRPr>
          </a:p>
          <a:p>
            <a:pPr marL="233679" indent="-133350">
              <a:lnSpc>
                <a:spcPct val="100000"/>
              </a:lnSpc>
              <a:spcBef>
                <a:spcPts val="590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234315" algn="l"/>
              </a:tabLst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1 </a:t>
            </a:r>
            <a:r>
              <a:rPr sz="1100" spc="-10" dirty="0">
                <a:latin typeface="LM Sans 10"/>
                <a:cs typeface="LM Sans 10"/>
              </a:rPr>
              <a:t>is </a:t>
            </a:r>
            <a:r>
              <a:rPr sz="1100" spc="-5" dirty="0">
                <a:latin typeface="LM Sans 10"/>
                <a:cs typeface="LM Sans 10"/>
              </a:rPr>
              <a:t>the </a:t>
            </a:r>
            <a:r>
              <a:rPr sz="1100" spc="-15" dirty="0">
                <a:latin typeface="LM Sans 10"/>
                <a:cs typeface="LM Sans 10"/>
              </a:rPr>
              <a:t>start</a:t>
            </a:r>
            <a:r>
              <a:rPr sz="1100" spc="-35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state</a:t>
            </a:r>
            <a:endParaRPr sz="1100">
              <a:latin typeface="LM Sans 10"/>
              <a:cs typeface="LM Sans 10"/>
            </a:endParaRPr>
          </a:p>
          <a:p>
            <a:pPr marL="233679" indent="-13335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234315" algn="l"/>
              </a:tabLst>
            </a:pPr>
            <a:r>
              <a:rPr sz="1100" i="1" spc="40" dirty="0">
                <a:latin typeface="Georgia"/>
                <a:cs typeface="Georgia"/>
              </a:rPr>
              <a:t>F </a:t>
            </a:r>
            <a:r>
              <a:rPr sz="1100" spc="-10" dirty="0">
                <a:latin typeface="LM Roman 10"/>
                <a:cs typeface="LM Roman 10"/>
              </a:rPr>
              <a:t>=</a:t>
            </a:r>
            <a:r>
              <a:rPr sz="1100" spc="-229" dirty="0">
                <a:latin typeface="LM Roman 10"/>
                <a:cs typeface="LM Roman 10"/>
              </a:rPr>
              <a:t> </a:t>
            </a:r>
            <a:r>
              <a:rPr sz="1100" i="1" spc="-100" dirty="0">
                <a:latin typeface="DejaVu Sans"/>
                <a:cs typeface="DejaVu Sans"/>
              </a:rPr>
              <a:t>{</a:t>
            </a:r>
            <a:r>
              <a:rPr sz="1100" i="1" spc="-100" dirty="0">
                <a:latin typeface="Georgia"/>
                <a:cs typeface="Georgia"/>
              </a:rPr>
              <a:t>q</a:t>
            </a:r>
            <a:r>
              <a:rPr sz="1200" spc="-150" baseline="-10416" dirty="0">
                <a:latin typeface="LM Roman 8"/>
                <a:cs typeface="LM Roman 8"/>
              </a:rPr>
              <a:t>2</a:t>
            </a:r>
            <a:r>
              <a:rPr sz="1100" i="1" spc="-100" dirty="0">
                <a:latin typeface="DejaVu Sans"/>
                <a:cs typeface="DejaVu Sans"/>
              </a:rPr>
              <a:t>}</a:t>
            </a:r>
            <a:endParaRPr sz="1100">
              <a:latin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74145063"/>
      </p:ext>
    </p:extLst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4666" y="211706"/>
            <a:ext cx="22790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Languages of Finite</a:t>
            </a:r>
            <a:r>
              <a:rPr spc="-30" dirty="0"/>
              <a:t> </a:t>
            </a:r>
            <a:r>
              <a:rPr spc="10" dirty="0"/>
              <a:t>Automata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8358" y="895945"/>
            <a:ext cx="3761104" cy="18034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8279" marR="43180" indent="-13271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208915" algn="l"/>
              </a:tabLst>
            </a:pPr>
            <a:r>
              <a:rPr sz="1100" spc="-10" dirty="0">
                <a:latin typeface="LM Sans 10"/>
                <a:cs typeface="LM Sans 10"/>
              </a:rPr>
              <a:t>If </a:t>
            </a:r>
            <a:r>
              <a:rPr sz="1100" i="1" spc="80" dirty="0">
                <a:latin typeface="Georgia"/>
                <a:cs typeface="Georgia"/>
              </a:rPr>
              <a:t>A </a:t>
            </a:r>
            <a:r>
              <a:rPr sz="1100" spc="-10" dirty="0">
                <a:latin typeface="LM Sans 10"/>
                <a:cs typeface="LM Sans 10"/>
              </a:rPr>
              <a:t>is </a:t>
            </a:r>
            <a:r>
              <a:rPr sz="1100" spc="-5" dirty="0">
                <a:latin typeface="LM Sans 10"/>
                <a:cs typeface="LM Sans 10"/>
              </a:rPr>
              <a:t>the set of </a:t>
            </a:r>
            <a:r>
              <a:rPr sz="1100" spc="-10" dirty="0">
                <a:latin typeface="LM Sans 10"/>
                <a:cs typeface="LM Sans 10"/>
              </a:rPr>
              <a:t>all </a:t>
            </a:r>
            <a:r>
              <a:rPr sz="1100" spc="-5" dirty="0">
                <a:latin typeface="LM Sans 10"/>
                <a:cs typeface="LM Sans 10"/>
              </a:rPr>
              <a:t>strings that machine </a:t>
            </a:r>
            <a:r>
              <a:rPr sz="1100" i="1" spc="35" dirty="0">
                <a:latin typeface="Georgia"/>
                <a:cs typeface="Georgia"/>
              </a:rPr>
              <a:t>M </a:t>
            </a:r>
            <a:r>
              <a:rPr sz="1100" spc="-10" dirty="0">
                <a:latin typeface="LM Sans 10"/>
                <a:cs typeface="LM Sans 10"/>
              </a:rPr>
              <a:t>accepts, </a:t>
            </a:r>
            <a:r>
              <a:rPr sz="1100" spc="-25" dirty="0">
                <a:latin typeface="LM Sans 10"/>
                <a:cs typeface="LM Sans 10"/>
              </a:rPr>
              <a:t>we </a:t>
            </a:r>
            <a:r>
              <a:rPr sz="1100" spc="-20" dirty="0">
                <a:latin typeface="LM Sans 10"/>
                <a:cs typeface="LM Sans 10"/>
              </a:rPr>
              <a:t>say  </a:t>
            </a:r>
            <a:r>
              <a:rPr sz="1100" spc="-5" dirty="0">
                <a:latin typeface="LM Sans 10"/>
                <a:cs typeface="LM Sans 10"/>
              </a:rPr>
              <a:t>that </a:t>
            </a:r>
            <a:r>
              <a:rPr sz="1100" i="1" spc="80" dirty="0">
                <a:latin typeface="Georgia"/>
                <a:cs typeface="Georgia"/>
              </a:rPr>
              <a:t>A </a:t>
            </a:r>
            <a:r>
              <a:rPr sz="1100" spc="-10" dirty="0">
                <a:latin typeface="LM Sans 10"/>
                <a:cs typeface="LM Sans 10"/>
              </a:rPr>
              <a:t>is </a:t>
            </a:r>
            <a:r>
              <a:rPr sz="1100" spc="-5" dirty="0">
                <a:latin typeface="LM Sans 10"/>
                <a:cs typeface="LM Sans 10"/>
              </a:rPr>
              <a:t>the </a:t>
            </a:r>
            <a:r>
              <a:rPr sz="1100" b="1" spc="-10" dirty="0">
                <a:latin typeface="LM Sans 10"/>
                <a:cs typeface="LM Sans 10"/>
              </a:rPr>
              <a:t>language </a:t>
            </a:r>
            <a:r>
              <a:rPr sz="1100" b="1" spc="-5" dirty="0">
                <a:latin typeface="LM Sans 10"/>
                <a:cs typeface="LM Sans 10"/>
              </a:rPr>
              <a:t>of </a:t>
            </a:r>
            <a:r>
              <a:rPr sz="1100" b="1" spc="-10" dirty="0">
                <a:latin typeface="LM Sans 10"/>
                <a:cs typeface="LM Sans 10"/>
              </a:rPr>
              <a:t>machine</a:t>
            </a:r>
            <a:r>
              <a:rPr sz="1100" b="1" spc="10" dirty="0">
                <a:latin typeface="LM Sans 10"/>
                <a:cs typeface="LM Sans 10"/>
              </a:rPr>
              <a:t> </a:t>
            </a:r>
            <a:r>
              <a:rPr sz="1100" i="1" spc="35" dirty="0">
                <a:latin typeface="Georgia"/>
                <a:cs typeface="Georgia"/>
              </a:rPr>
              <a:t>M</a:t>
            </a:r>
            <a:endParaRPr sz="1100">
              <a:latin typeface="Georgia"/>
              <a:cs typeface="Georgia"/>
            </a:endParaRPr>
          </a:p>
          <a:p>
            <a:pPr marL="208279" indent="-13335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208915" algn="l"/>
              </a:tabLst>
            </a:pPr>
            <a:r>
              <a:rPr sz="1100" spc="-25" dirty="0">
                <a:latin typeface="LM Sans 10"/>
                <a:cs typeface="LM Sans 10"/>
              </a:rPr>
              <a:t>We </a:t>
            </a:r>
            <a:r>
              <a:rPr sz="1100" spc="-5" dirty="0">
                <a:latin typeface="LM Sans 10"/>
                <a:cs typeface="LM Sans 10"/>
              </a:rPr>
              <a:t>write </a:t>
            </a:r>
            <a:r>
              <a:rPr sz="1100" i="1" spc="30" dirty="0">
                <a:latin typeface="Georgia"/>
                <a:cs typeface="Georgia"/>
              </a:rPr>
              <a:t>L</a:t>
            </a:r>
            <a:r>
              <a:rPr sz="1100" spc="30" dirty="0">
                <a:latin typeface="LM Roman 10"/>
                <a:cs typeface="LM Roman 10"/>
              </a:rPr>
              <a:t>(</a:t>
            </a:r>
            <a:r>
              <a:rPr sz="1100" i="1" spc="30" dirty="0">
                <a:latin typeface="Georgia"/>
                <a:cs typeface="Georgia"/>
              </a:rPr>
              <a:t>M </a:t>
            </a:r>
            <a:r>
              <a:rPr sz="1100" spc="-5" dirty="0">
                <a:latin typeface="LM Roman 10"/>
                <a:cs typeface="LM Roman 10"/>
              </a:rPr>
              <a:t>) </a:t>
            </a:r>
            <a:r>
              <a:rPr sz="1100" spc="-10" dirty="0">
                <a:latin typeface="LM Roman 10"/>
                <a:cs typeface="LM Roman 10"/>
              </a:rPr>
              <a:t>= </a:t>
            </a:r>
            <a:r>
              <a:rPr sz="1100" i="1" spc="80" dirty="0">
                <a:latin typeface="Georgia"/>
                <a:cs typeface="Georgia"/>
              </a:rPr>
              <a:t>A </a:t>
            </a:r>
            <a:r>
              <a:rPr sz="1100" spc="-10" dirty="0">
                <a:latin typeface="LM Sans 10"/>
                <a:cs typeface="LM Sans 10"/>
              </a:rPr>
              <a:t>and </a:t>
            </a:r>
            <a:r>
              <a:rPr sz="1100" spc="-15" dirty="0">
                <a:latin typeface="LM Sans 10"/>
                <a:cs typeface="LM Sans 10"/>
              </a:rPr>
              <a:t>say </a:t>
            </a:r>
            <a:r>
              <a:rPr sz="1100" i="1" spc="35" dirty="0">
                <a:latin typeface="Georgia"/>
                <a:cs typeface="Georgia"/>
              </a:rPr>
              <a:t>M </a:t>
            </a:r>
            <a:r>
              <a:rPr sz="1100" b="1" spc="-5" dirty="0">
                <a:latin typeface="LM Sans 10"/>
                <a:cs typeface="LM Sans 10"/>
              </a:rPr>
              <a:t>accepts </a:t>
            </a:r>
            <a:r>
              <a:rPr sz="1100" i="1" spc="80" dirty="0">
                <a:latin typeface="Georgia"/>
                <a:cs typeface="Georgia"/>
              </a:rPr>
              <a:t>A </a:t>
            </a:r>
            <a:r>
              <a:rPr sz="1100" spc="-25" dirty="0">
                <a:latin typeface="LM Sans 10"/>
                <a:cs typeface="LM Sans 10"/>
              </a:rPr>
              <a:t>or</a:t>
            </a:r>
            <a:r>
              <a:rPr sz="1100" spc="-15" dirty="0">
                <a:latin typeface="LM Sans 10"/>
                <a:cs typeface="LM Sans 10"/>
              </a:rPr>
              <a:t> </a:t>
            </a:r>
            <a:r>
              <a:rPr sz="1100" i="1" spc="35" dirty="0">
                <a:latin typeface="Georgia"/>
                <a:cs typeface="Georgia"/>
              </a:rPr>
              <a:t>M</a:t>
            </a:r>
            <a:endParaRPr sz="1100">
              <a:latin typeface="Georgia"/>
              <a:cs typeface="Georgia"/>
            </a:endParaRPr>
          </a:p>
          <a:p>
            <a:pPr marL="208279">
              <a:lnSpc>
                <a:spcPct val="100000"/>
              </a:lnSpc>
              <a:spcBef>
                <a:spcPts val="35"/>
              </a:spcBef>
            </a:pPr>
            <a:r>
              <a:rPr sz="1100" b="1" spc="-5" dirty="0">
                <a:latin typeface="LM Sans 10"/>
                <a:cs typeface="LM Sans 10"/>
              </a:rPr>
              <a:t>recognizes</a:t>
            </a:r>
            <a:r>
              <a:rPr sz="1100" b="1" spc="-15" dirty="0">
                <a:latin typeface="LM Sans 10"/>
                <a:cs typeface="LM Sans 10"/>
              </a:rPr>
              <a:t> </a:t>
            </a:r>
            <a:r>
              <a:rPr sz="1100" i="1" spc="80" dirty="0">
                <a:latin typeface="Georgia"/>
                <a:cs typeface="Georgia"/>
              </a:rPr>
              <a:t>A</a:t>
            </a:r>
            <a:endParaRPr sz="1100">
              <a:latin typeface="Georgia"/>
              <a:cs typeface="Georgia"/>
            </a:endParaRPr>
          </a:p>
          <a:p>
            <a:pPr marL="208279" marR="82550" indent="-13271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208915" algn="l"/>
              </a:tabLst>
            </a:pPr>
            <a:r>
              <a:rPr sz="1100" spc="-10" dirty="0">
                <a:latin typeface="LM Sans 10"/>
                <a:cs typeface="LM Sans 10"/>
              </a:rPr>
              <a:t>A </a:t>
            </a:r>
            <a:r>
              <a:rPr sz="1100" spc="-5" dirty="0">
                <a:latin typeface="LM Sans 10"/>
                <a:cs typeface="LM Sans 10"/>
              </a:rPr>
              <a:t>machine </a:t>
            </a:r>
            <a:r>
              <a:rPr sz="1100" spc="-20" dirty="0">
                <a:latin typeface="LM Sans 10"/>
                <a:cs typeface="LM Sans 10"/>
              </a:rPr>
              <a:t>may </a:t>
            </a:r>
            <a:r>
              <a:rPr sz="1100" spc="-10" dirty="0">
                <a:latin typeface="LM Sans 10"/>
                <a:cs typeface="LM Sans 10"/>
              </a:rPr>
              <a:t>accept </a:t>
            </a:r>
            <a:r>
              <a:rPr sz="1100" spc="-5" dirty="0">
                <a:latin typeface="LM Sans 10"/>
                <a:cs typeface="LM Sans 10"/>
              </a:rPr>
              <a:t>several strings </a:t>
            </a:r>
            <a:r>
              <a:rPr sz="1100" spc="-10" dirty="0">
                <a:latin typeface="LM Sans 10"/>
                <a:cs typeface="LM Sans 10"/>
              </a:rPr>
              <a:t>but it recognizes </a:t>
            </a:r>
            <a:r>
              <a:rPr sz="1100" spc="-5" dirty="0">
                <a:latin typeface="LM Sans 10"/>
                <a:cs typeface="LM Sans 10"/>
              </a:rPr>
              <a:t>only  one</a:t>
            </a:r>
            <a:r>
              <a:rPr sz="1100" spc="-10" dirty="0">
                <a:latin typeface="LM Sans 10"/>
                <a:cs typeface="LM Sans 10"/>
              </a:rPr>
              <a:t> language</a:t>
            </a:r>
            <a:endParaRPr sz="1100">
              <a:latin typeface="LM Sans 10"/>
              <a:cs typeface="LM Sans 10"/>
            </a:endParaRPr>
          </a:p>
          <a:p>
            <a:pPr marL="208279" indent="-13271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208915" algn="l"/>
              </a:tabLst>
            </a:pPr>
            <a:r>
              <a:rPr sz="1100" spc="-30" dirty="0">
                <a:latin typeface="LM Sans 10"/>
                <a:cs typeface="LM Sans 10"/>
              </a:rPr>
              <a:t>For </a:t>
            </a:r>
            <a:r>
              <a:rPr sz="1100" spc="-5" dirty="0">
                <a:latin typeface="LM Sans 10"/>
                <a:cs typeface="LM Sans 10"/>
              </a:rPr>
              <a:t>the machine</a:t>
            </a:r>
            <a:r>
              <a:rPr sz="1100" spc="10" dirty="0">
                <a:latin typeface="LM Sans 10"/>
                <a:cs typeface="LM Sans 10"/>
              </a:rPr>
              <a:t> </a:t>
            </a:r>
            <a:r>
              <a:rPr sz="1100" i="1" spc="25" dirty="0">
                <a:latin typeface="Georgia"/>
                <a:cs typeface="Georgia"/>
              </a:rPr>
              <a:t>M</a:t>
            </a:r>
            <a:r>
              <a:rPr sz="1200" spc="37" baseline="-10416" dirty="0">
                <a:latin typeface="LM Roman 8"/>
                <a:cs typeface="LM Roman 8"/>
              </a:rPr>
              <a:t>1</a:t>
            </a:r>
            <a:r>
              <a:rPr sz="1100" spc="25" dirty="0">
                <a:latin typeface="LM Sans 10"/>
                <a:cs typeface="LM Sans 10"/>
              </a:rPr>
              <a:t>,</a:t>
            </a:r>
            <a:endParaRPr sz="1100">
              <a:latin typeface="LM Sans 10"/>
              <a:cs typeface="LM Sans 10"/>
            </a:endParaRPr>
          </a:p>
          <a:p>
            <a:pPr marL="468630">
              <a:lnSpc>
                <a:spcPct val="100000"/>
              </a:lnSpc>
              <a:spcBef>
                <a:spcPts val="990"/>
              </a:spcBef>
            </a:pPr>
            <a:r>
              <a:rPr sz="1100" i="1" spc="80" dirty="0">
                <a:latin typeface="Georgia"/>
                <a:cs typeface="Georgia"/>
              </a:rPr>
              <a:t>A </a:t>
            </a:r>
            <a:r>
              <a:rPr sz="1100" spc="-10" dirty="0">
                <a:latin typeface="LM Roman 10"/>
                <a:cs typeface="LM Roman 10"/>
              </a:rPr>
              <a:t>= </a:t>
            </a:r>
            <a:r>
              <a:rPr sz="1100" i="1" spc="-140" dirty="0">
                <a:latin typeface="DejaVu Sans"/>
                <a:cs typeface="DejaVu Sans"/>
              </a:rPr>
              <a:t>{</a:t>
            </a:r>
            <a:r>
              <a:rPr sz="1100" i="1" spc="-140" dirty="0">
                <a:latin typeface="Georgia"/>
                <a:cs typeface="Georgia"/>
              </a:rPr>
              <a:t>w </a:t>
            </a:r>
            <a:r>
              <a:rPr sz="1100" spc="-5" dirty="0">
                <a:latin typeface="LM Roman 10"/>
                <a:cs typeface="LM Roman 10"/>
              </a:rPr>
              <a:t>: </a:t>
            </a:r>
            <a:r>
              <a:rPr sz="1100" i="1" spc="-125" dirty="0">
                <a:latin typeface="Georgia"/>
                <a:cs typeface="Georgia"/>
              </a:rPr>
              <a:t>w </a:t>
            </a:r>
            <a:r>
              <a:rPr sz="1100" spc="-5" dirty="0">
                <a:latin typeface="LM Sans 10"/>
                <a:cs typeface="LM Sans 10"/>
              </a:rPr>
              <a:t>contains </a:t>
            </a:r>
            <a:r>
              <a:rPr sz="1100" spc="-10" dirty="0">
                <a:latin typeface="LM Sans 10"/>
                <a:cs typeface="LM Sans 10"/>
              </a:rPr>
              <a:t>at least </a:t>
            </a:r>
            <a:r>
              <a:rPr sz="1100" spc="-5" dirty="0">
                <a:latin typeface="LM Sans 10"/>
                <a:cs typeface="LM Sans 10"/>
              </a:rPr>
              <a:t>one </a:t>
            </a:r>
            <a:r>
              <a:rPr sz="1100" spc="-5" dirty="0">
                <a:latin typeface="LM Roman 10"/>
                <a:cs typeface="LM Roman 10"/>
              </a:rPr>
              <a:t>1</a:t>
            </a:r>
            <a:r>
              <a:rPr sz="1100" spc="-190" dirty="0">
                <a:latin typeface="LM Roman 10"/>
                <a:cs typeface="LM Roman 10"/>
              </a:rPr>
              <a:t> </a:t>
            </a:r>
            <a:r>
              <a:rPr sz="1100" spc="-10" dirty="0">
                <a:latin typeface="LM Sans 10"/>
                <a:cs typeface="LM Sans 10"/>
              </a:rPr>
              <a:t>and</a:t>
            </a:r>
            <a:endParaRPr sz="1100">
              <a:latin typeface="LM Sans 10"/>
              <a:cs typeface="LM Sans 10"/>
            </a:endParaRPr>
          </a:p>
          <a:p>
            <a:pPr marL="122047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LM Sans 10"/>
                <a:cs typeface="LM Sans 10"/>
              </a:rPr>
              <a:t>an </a:t>
            </a:r>
            <a:r>
              <a:rPr sz="1100" spc="-5" dirty="0">
                <a:latin typeface="LM Sans 10"/>
                <a:cs typeface="LM Sans 10"/>
              </a:rPr>
              <a:t>even number of </a:t>
            </a:r>
            <a:r>
              <a:rPr sz="1100" spc="-10" dirty="0">
                <a:latin typeface="LM Roman 10"/>
                <a:cs typeface="LM Roman 10"/>
              </a:rPr>
              <a:t>0</a:t>
            </a:r>
            <a:r>
              <a:rPr sz="1100" spc="-10" dirty="0">
                <a:latin typeface="LM Sans 10"/>
                <a:cs typeface="LM Sans 10"/>
              </a:rPr>
              <a:t>’s </a:t>
            </a:r>
            <a:r>
              <a:rPr sz="1100" spc="-15" dirty="0">
                <a:latin typeface="LM Sans 10"/>
                <a:cs typeface="LM Sans 10"/>
              </a:rPr>
              <a:t>follow </a:t>
            </a:r>
            <a:r>
              <a:rPr sz="1100" spc="-5" dirty="0">
                <a:latin typeface="LM Sans 10"/>
                <a:cs typeface="LM Sans 10"/>
              </a:rPr>
              <a:t>the </a:t>
            </a:r>
            <a:r>
              <a:rPr sz="1100" spc="-10" dirty="0">
                <a:latin typeface="LM Sans 10"/>
                <a:cs typeface="LM Sans 10"/>
              </a:rPr>
              <a:t>last</a:t>
            </a:r>
            <a:r>
              <a:rPr sz="1100" spc="5" dirty="0">
                <a:latin typeface="LM Sans 10"/>
                <a:cs typeface="LM Sans 10"/>
              </a:rPr>
              <a:t> </a:t>
            </a:r>
            <a:r>
              <a:rPr sz="1100" spc="-85" dirty="0">
                <a:latin typeface="LM Roman 10"/>
                <a:cs typeface="LM Roman 10"/>
              </a:rPr>
              <a:t>1</a:t>
            </a:r>
            <a:r>
              <a:rPr sz="1100" i="1" spc="-85" dirty="0">
                <a:latin typeface="DejaVu Sans"/>
                <a:cs typeface="DejaVu Sans"/>
              </a:rPr>
              <a:t>}</a:t>
            </a:r>
            <a:endParaRPr sz="1100">
              <a:latin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681970391"/>
      </p:ext>
    </p:extLst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948" y="0"/>
            <a:ext cx="31292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>
                <a:solidFill>
                  <a:srgbClr val="7A0000"/>
                </a:solidFill>
              </a:rPr>
              <a:t>Basic Notions: Strings and</a:t>
            </a:r>
            <a:r>
              <a:rPr spc="55" dirty="0">
                <a:solidFill>
                  <a:srgbClr val="7A0000"/>
                </a:solidFill>
              </a:rPr>
              <a:t> </a:t>
            </a:r>
            <a:r>
              <a:rPr spc="15" dirty="0">
                <a:solidFill>
                  <a:srgbClr val="7A0000"/>
                </a:solidFill>
              </a:rPr>
              <a:t>Languages</a:t>
            </a:r>
          </a:p>
        </p:txBody>
      </p:sp>
      <p:sp>
        <p:nvSpPr>
          <p:cNvPr id="3" name="object 3"/>
          <p:cNvSpPr/>
          <p:nvPr/>
        </p:nvSpPr>
        <p:spPr>
          <a:xfrm>
            <a:off x="491007" y="1128128"/>
            <a:ext cx="76809" cy="76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007" y="1338160"/>
            <a:ext cx="76809" cy="76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09193" y="1625510"/>
            <a:ext cx="4040504" cy="654685"/>
            <a:chOff x="309193" y="1625510"/>
            <a:chExt cx="4040504" cy="654685"/>
          </a:xfrm>
        </p:grpSpPr>
        <p:sp>
          <p:nvSpPr>
            <p:cNvPr id="6" name="object 6"/>
            <p:cNvSpPr/>
            <p:nvPr/>
          </p:nvSpPr>
          <p:spPr>
            <a:xfrm>
              <a:off x="309193" y="1625510"/>
              <a:ext cx="3989704" cy="191770"/>
            </a:xfrm>
            <a:custGeom>
              <a:avLst/>
              <a:gdLst/>
              <a:ahLst/>
              <a:cxnLst/>
              <a:rect l="l" t="t" r="r" b="b"/>
              <a:pathLst>
                <a:path w="3989704" h="191769">
                  <a:moveTo>
                    <a:pt x="39388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1282"/>
                  </a:lnTo>
                  <a:lnTo>
                    <a:pt x="3989654" y="191282"/>
                  </a:lnTo>
                  <a:lnTo>
                    <a:pt x="3989654" y="50800"/>
                  </a:lnTo>
                  <a:lnTo>
                    <a:pt x="3985646" y="31075"/>
                  </a:lnTo>
                  <a:lnTo>
                    <a:pt x="3974732" y="14922"/>
                  </a:lnTo>
                  <a:lnTo>
                    <a:pt x="3958579" y="4008"/>
                  </a:lnTo>
                  <a:lnTo>
                    <a:pt x="39388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9194" y="1804136"/>
              <a:ext cx="3989653" cy="5060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9994" y="2177973"/>
              <a:ext cx="101600" cy="1016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0794" y="2165273"/>
              <a:ext cx="3938802" cy="1143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98848" y="1669745"/>
              <a:ext cx="50749" cy="50822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9193" y="1848417"/>
              <a:ext cx="3989704" cy="380365"/>
            </a:xfrm>
            <a:custGeom>
              <a:avLst/>
              <a:gdLst/>
              <a:ahLst/>
              <a:cxnLst/>
              <a:rect l="l" t="t" r="r" b="b"/>
              <a:pathLst>
                <a:path w="3989704" h="380364">
                  <a:moveTo>
                    <a:pt x="3989654" y="0"/>
                  </a:moveTo>
                  <a:lnTo>
                    <a:pt x="0" y="0"/>
                  </a:lnTo>
                  <a:lnTo>
                    <a:pt x="0" y="329556"/>
                  </a:lnTo>
                  <a:lnTo>
                    <a:pt x="4008" y="349280"/>
                  </a:lnTo>
                  <a:lnTo>
                    <a:pt x="14922" y="365433"/>
                  </a:lnTo>
                  <a:lnTo>
                    <a:pt x="31075" y="376347"/>
                  </a:lnTo>
                  <a:lnTo>
                    <a:pt x="50800" y="380356"/>
                  </a:lnTo>
                  <a:lnTo>
                    <a:pt x="3938854" y="380356"/>
                  </a:lnTo>
                  <a:lnTo>
                    <a:pt x="3958579" y="376347"/>
                  </a:lnTo>
                  <a:lnTo>
                    <a:pt x="3974732" y="365433"/>
                  </a:lnTo>
                  <a:lnTo>
                    <a:pt x="3985646" y="349280"/>
                  </a:lnTo>
                  <a:lnTo>
                    <a:pt x="3989654" y="329556"/>
                  </a:lnTo>
                  <a:lnTo>
                    <a:pt x="39896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8848" y="1707841"/>
              <a:ext cx="0" cy="489584"/>
            </a:xfrm>
            <a:custGeom>
              <a:avLst/>
              <a:gdLst/>
              <a:ahLst/>
              <a:cxnLst/>
              <a:rect l="l" t="t" r="r" b="b"/>
              <a:pathLst>
                <a:path h="489585">
                  <a:moveTo>
                    <a:pt x="0" y="4891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8848" y="16951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98848" y="16824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98848" y="16697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96494" y="1012441"/>
            <a:ext cx="3670935" cy="1051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marR="30480">
              <a:lnSpc>
                <a:spcPct val="125299"/>
              </a:lnSpc>
              <a:spcBef>
                <a:spcPts val="100"/>
              </a:spcBef>
            </a:pPr>
            <a:r>
              <a:rPr sz="1100" spc="-5" dirty="0">
                <a:latin typeface="Arial"/>
                <a:cs typeface="Arial"/>
              </a:rPr>
              <a:t>An</a:t>
            </a:r>
            <a:r>
              <a:rPr sz="1100" spc="-5" dirty="0">
                <a:solidFill>
                  <a:srgbClr val="BC1919"/>
                </a:solidFill>
                <a:latin typeface="Arial"/>
                <a:cs typeface="Arial"/>
              </a:rPr>
              <a:t>alphabet</a:t>
            </a:r>
            <a:r>
              <a:rPr lang="en-US" sz="1100" spc="-5" dirty="0">
                <a:solidFill>
                  <a:srgbClr val="BC1919"/>
                </a:solidFill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5" dirty="0">
                <a:latin typeface="Arial"/>
                <a:cs typeface="Arial"/>
              </a:rPr>
              <a:t>finite set of symbols (denoted </a:t>
            </a:r>
            <a:r>
              <a:rPr sz="1100" spc="-55" dirty="0">
                <a:latin typeface="Latin Modern Math"/>
                <a:cs typeface="Latin Modern Math"/>
              </a:rPr>
              <a:t>Σ</a:t>
            </a:r>
            <a:r>
              <a:rPr sz="1100" i="1" spc="-55" dirty="0">
                <a:latin typeface="Verdana"/>
                <a:cs typeface="Verdana"/>
              </a:rPr>
              <a:t>, </a:t>
            </a:r>
            <a:r>
              <a:rPr sz="1100" spc="-55" dirty="0">
                <a:latin typeface="Latin Modern Math"/>
                <a:cs typeface="Latin Modern Math"/>
              </a:rPr>
              <a:t>Γ</a:t>
            </a:r>
            <a:r>
              <a:rPr sz="1100" spc="-55" dirty="0">
                <a:latin typeface="Arial"/>
                <a:cs typeface="Arial"/>
              </a:rPr>
              <a:t>)</a:t>
            </a:r>
            <a:endParaRPr lang="en-US" sz="1100" spc="-55" dirty="0">
              <a:latin typeface="Arial"/>
              <a:cs typeface="Arial"/>
            </a:endParaRPr>
          </a:p>
          <a:p>
            <a:pPr marL="340360" marR="30480">
              <a:lnSpc>
                <a:spcPct val="125299"/>
              </a:lnSpc>
              <a:spcBef>
                <a:spcPts val="100"/>
              </a:spcBef>
            </a:pPr>
            <a:r>
              <a:rPr sz="1100" spc="-55" dirty="0">
                <a:latin typeface="Arial"/>
                <a:cs typeface="Arial"/>
              </a:rPr>
              <a:t>  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BC1919"/>
                </a:solidFill>
                <a:latin typeface="Arial"/>
                <a:cs typeface="Arial"/>
              </a:rPr>
              <a:t>string</a:t>
            </a:r>
            <a:r>
              <a:rPr lang="en-US" sz="1100" spc="-10" dirty="0">
                <a:solidFill>
                  <a:srgbClr val="BC1919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over </a:t>
            </a:r>
            <a:r>
              <a:rPr sz="1100" spc="-10" dirty="0">
                <a:latin typeface="Latin Modern Math"/>
                <a:cs typeface="Latin Modern Math"/>
              </a:rPr>
              <a:t>Σ </a:t>
            </a:r>
            <a:r>
              <a:rPr sz="1100" spc="-5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5" dirty="0">
                <a:latin typeface="Arial"/>
                <a:cs typeface="Arial"/>
              </a:rPr>
              <a:t>finite </a:t>
            </a:r>
            <a:r>
              <a:rPr sz="1100" spc="-10" dirty="0">
                <a:latin typeface="Arial"/>
                <a:cs typeface="Arial"/>
              </a:rPr>
              <a:t>sequence </a:t>
            </a:r>
            <a:r>
              <a:rPr sz="1100" spc="-5" dirty="0">
                <a:latin typeface="Arial"/>
                <a:cs typeface="Arial"/>
              </a:rPr>
              <a:t>of symbols from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Latin Modern Math"/>
                <a:cs typeface="Latin Modern Math"/>
              </a:rPr>
              <a:t>Σ</a:t>
            </a:r>
            <a:endParaRPr sz="1100" dirty="0">
              <a:latin typeface="Latin Modern Math"/>
              <a:cs typeface="Latin Modern Math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00" dirty="0">
              <a:latin typeface="Latin Modern Math"/>
              <a:cs typeface="Latin Modern Math"/>
            </a:endParaRPr>
          </a:p>
          <a:p>
            <a:pPr marL="63500">
              <a:lnSpc>
                <a:spcPct val="100000"/>
              </a:lnSpc>
            </a:pPr>
            <a:r>
              <a:rPr sz="1100" spc="-10" dirty="0">
                <a:solidFill>
                  <a:srgbClr val="007F00"/>
                </a:solidFill>
                <a:latin typeface="Arial"/>
                <a:cs typeface="Arial"/>
              </a:rPr>
              <a:t>Example</a:t>
            </a:r>
            <a:endParaRPr sz="1100" dirty="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375"/>
              </a:spcBef>
            </a:pPr>
            <a:r>
              <a:rPr sz="1100" spc="-10" dirty="0">
                <a:latin typeface="Arial"/>
                <a:cs typeface="Arial"/>
              </a:rPr>
              <a:t>1010 </a:t>
            </a:r>
            <a:r>
              <a:rPr sz="1100" spc="-5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5" dirty="0">
                <a:latin typeface="Arial"/>
                <a:cs typeface="Arial"/>
              </a:rPr>
              <a:t>string </a:t>
            </a:r>
            <a:r>
              <a:rPr sz="1100" spc="-20" dirty="0">
                <a:latin typeface="Arial"/>
                <a:cs typeface="Arial"/>
              </a:rPr>
              <a:t>over </a:t>
            </a:r>
            <a:r>
              <a:rPr sz="1100" spc="-5" dirty="0">
                <a:latin typeface="Latin Modern Math"/>
                <a:cs typeface="Latin Modern Math"/>
              </a:rPr>
              <a:t>Σ</a:t>
            </a:r>
            <a:r>
              <a:rPr sz="1200" spc="-7" baseline="-13888" dirty="0">
                <a:latin typeface="Arial"/>
                <a:cs typeface="Arial"/>
              </a:rPr>
              <a:t>1 </a:t>
            </a:r>
            <a:r>
              <a:rPr sz="1100" spc="-10" dirty="0">
                <a:latin typeface="Latin Modern Math"/>
                <a:cs typeface="Latin Modern Math"/>
              </a:rPr>
              <a:t>= </a:t>
            </a:r>
            <a:r>
              <a:rPr sz="1100" i="1" spc="-65" dirty="0">
                <a:latin typeface="DejaVu Sans Condensed"/>
                <a:cs typeface="DejaVu Sans Condensed"/>
              </a:rPr>
              <a:t>{</a:t>
            </a:r>
            <a:r>
              <a:rPr sz="1100" spc="-65" dirty="0">
                <a:latin typeface="Arial"/>
                <a:cs typeface="Arial"/>
              </a:rPr>
              <a:t>0</a:t>
            </a:r>
            <a:r>
              <a:rPr sz="1100" i="1" spc="-65" dirty="0">
                <a:latin typeface="Verdana"/>
                <a:cs typeface="Verdana"/>
              </a:rPr>
              <a:t>,</a:t>
            </a:r>
            <a:r>
              <a:rPr sz="1100" i="1" spc="-330" dirty="0">
                <a:latin typeface="Verdana"/>
                <a:cs typeface="Verdana"/>
              </a:rPr>
              <a:t> </a:t>
            </a:r>
            <a:r>
              <a:rPr sz="1100" spc="-45" dirty="0">
                <a:latin typeface="Arial"/>
                <a:cs typeface="Arial"/>
              </a:rPr>
              <a:t>1</a:t>
            </a:r>
            <a:r>
              <a:rPr sz="1100" i="1" spc="-45" dirty="0">
                <a:latin typeface="DejaVu Sans Condensed"/>
                <a:cs typeface="DejaVu Sans Condensed"/>
              </a:rPr>
              <a:t>}</a:t>
            </a:r>
            <a:endParaRPr sz="1100" dirty="0">
              <a:latin typeface="DejaVu Sans Condensed"/>
              <a:cs typeface="DejaVu Sans Condensed"/>
            </a:endParaRPr>
          </a:p>
          <a:p>
            <a:pPr marL="635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theory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string </a:t>
            </a:r>
            <a:r>
              <a:rPr sz="1100" spc="-20" dirty="0">
                <a:latin typeface="Arial"/>
                <a:cs typeface="Arial"/>
              </a:rPr>
              <a:t>over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" dirty="0">
                <a:latin typeface="Latin Modern Math"/>
                <a:cs typeface="Latin Modern Math"/>
              </a:rPr>
              <a:t>Σ</a:t>
            </a:r>
            <a:r>
              <a:rPr sz="1200" spc="-7" baseline="-13888" dirty="0">
                <a:latin typeface="Arial"/>
                <a:cs typeface="Arial"/>
              </a:rPr>
              <a:t>2</a:t>
            </a:r>
            <a:r>
              <a:rPr sz="1200" spc="187" baseline="-13888" dirty="0">
                <a:latin typeface="Arial"/>
                <a:cs typeface="Arial"/>
              </a:rPr>
              <a:t> </a:t>
            </a:r>
            <a:r>
              <a:rPr sz="1100" spc="-10" dirty="0">
                <a:latin typeface="Latin Modern Math"/>
                <a:cs typeface="Latin Modern Math"/>
              </a:rPr>
              <a:t>=</a:t>
            </a:r>
            <a:r>
              <a:rPr sz="1100" spc="-65" dirty="0">
                <a:latin typeface="Latin Modern Math"/>
                <a:cs typeface="Latin Modern Math"/>
              </a:rPr>
              <a:t> </a:t>
            </a:r>
            <a:r>
              <a:rPr sz="1100" i="1" spc="-65" dirty="0">
                <a:latin typeface="DejaVu Sans Condensed"/>
                <a:cs typeface="DejaVu Sans Condensed"/>
              </a:rPr>
              <a:t>{</a:t>
            </a:r>
            <a:r>
              <a:rPr sz="1100" i="1" spc="-65" dirty="0">
                <a:latin typeface="Arial"/>
                <a:cs typeface="Arial"/>
              </a:rPr>
              <a:t>a</a:t>
            </a:r>
            <a:r>
              <a:rPr sz="1100" i="1" spc="-65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i="1" spc="-40" dirty="0">
                <a:latin typeface="Arial"/>
                <a:cs typeface="Arial"/>
              </a:rPr>
              <a:t>b</a:t>
            </a:r>
            <a:r>
              <a:rPr sz="1100" i="1" spc="-4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i="1" spc="-25" dirty="0">
                <a:latin typeface="Arial"/>
                <a:cs typeface="Arial"/>
              </a:rPr>
              <a:t>c</a:t>
            </a:r>
            <a:r>
              <a:rPr sz="1100" i="1" spc="-25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i="1" spc="-10" dirty="0">
                <a:latin typeface="Arial"/>
                <a:cs typeface="Arial"/>
              </a:rPr>
              <a:t>z</a:t>
            </a:r>
            <a:r>
              <a:rPr sz="1100" i="1" spc="-10" dirty="0">
                <a:latin typeface="DejaVu Sans Condensed"/>
                <a:cs typeface="DejaVu Sans Condensed"/>
              </a:rPr>
              <a:t>}</a:t>
            </a:r>
            <a:endParaRPr sz="1100" dirty="0">
              <a:latin typeface="DejaVu Sans Condensed"/>
              <a:cs typeface="DejaVu San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795272641"/>
      </p:ext>
    </p:extLst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295" y="434975"/>
            <a:ext cx="31292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>
                <a:solidFill>
                  <a:srgbClr val="7A0000"/>
                </a:solidFill>
              </a:rPr>
              <a:t>Basic Notions: Strings and</a:t>
            </a:r>
            <a:r>
              <a:rPr spc="55" dirty="0">
                <a:solidFill>
                  <a:srgbClr val="7A0000"/>
                </a:solidFill>
              </a:rPr>
              <a:t> </a:t>
            </a:r>
            <a:r>
              <a:rPr spc="15" dirty="0">
                <a:solidFill>
                  <a:srgbClr val="7A0000"/>
                </a:solidFill>
              </a:rPr>
              <a:t>Languages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121" y="739775"/>
            <a:ext cx="3311627" cy="20050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49910" marR="43180" indent="-171450">
              <a:lnSpc>
                <a:spcPct val="102600"/>
              </a:lnSpc>
              <a:spcBef>
                <a:spcPts val="1620"/>
              </a:spcBef>
              <a:buFont typeface="Arial" panose="020B0604020202020204" pitchFamily="34" charset="0"/>
              <a:buChar char="•"/>
            </a:pPr>
            <a:r>
              <a:rPr lang="en-US" sz="1200" spc="-5" dirty="0">
                <a:latin typeface="Arial"/>
                <a:cs typeface="Arial"/>
              </a:rPr>
              <a:t>The </a:t>
            </a:r>
            <a:r>
              <a:rPr lang="en-US" sz="1200" spc="-5" dirty="0">
                <a:solidFill>
                  <a:srgbClr val="BC1919"/>
                </a:solidFill>
                <a:latin typeface="Arial"/>
                <a:cs typeface="Arial"/>
              </a:rPr>
              <a:t>length </a:t>
            </a:r>
            <a:r>
              <a:rPr lang="en-US" sz="1200" spc="-5" dirty="0">
                <a:latin typeface="Arial"/>
                <a:cs typeface="Arial"/>
              </a:rPr>
              <a:t>of </a:t>
            </a:r>
            <a:r>
              <a:rPr lang="en-US" sz="1200" spc="-10" dirty="0">
                <a:latin typeface="Arial"/>
                <a:cs typeface="Arial"/>
              </a:rPr>
              <a:t>a </a:t>
            </a:r>
            <a:r>
              <a:rPr lang="en-US" sz="1200" spc="-5" dirty="0">
                <a:latin typeface="Arial"/>
                <a:cs typeface="Arial"/>
              </a:rPr>
              <a:t>string </a:t>
            </a:r>
            <a:r>
              <a:rPr lang="en-US" sz="1200" i="1" spc="-10" dirty="0">
                <a:latin typeface="Arial"/>
                <a:cs typeface="Arial"/>
              </a:rPr>
              <a:t>w </a:t>
            </a:r>
            <a:r>
              <a:rPr lang="en-US" sz="1200" spc="-5" dirty="0">
                <a:latin typeface="Arial"/>
                <a:cs typeface="Arial"/>
              </a:rPr>
              <a:t>(denoted </a:t>
            </a:r>
            <a:r>
              <a:rPr lang="en-US" sz="1200" i="1" spc="5" dirty="0">
                <a:latin typeface="DejaVu Sans Condensed"/>
                <a:cs typeface="DejaVu Sans Condensed"/>
              </a:rPr>
              <a:t>|</a:t>
            </a:r>
            <a:r>
              <a:rPr lang="en-US" sz="1200" i="1" spc="5" dirty="0">
                <a:latin typeface="Arial"/>
                <a:cs typeface="Arial"/>
              </a:rPr>
              <a:t>w</a:t>
            </a:r>
            <a:r>
              <a:rPr lang="en-US" sz="1200" i="1" spc="5" dirty="0">
                <a:latin typeface="DejaVu Sans Condensed"/>
                <a:cs typeface="DejaVu Sans Condensed"/>
              </a:rPr>
              <a:t>|</a:t>
            </a:r>
            <a:r>
              <a:rPr lang="en-US" sz="1200" spc="5" dirty="0">
                <a:latin typeface="Arial"/>
                <a:cs typeface="Arial"/>
              </a:rPr>
              <a:t>) </a:t>
            </a:r>
            <a:r>
              <a:rPr lang="en-US" sz="1200" spc="-5" dirty="0">
                <a:latin typeface="Arial"/>
                <a:cs typeface="Arial"/>
              </a:rPr>
              <a:t>is the </a:t>
            </a:r>
            <a:r>
              <a:rPr lang="en-US" sz="1200" spc="-10" dirty="0">
                <a:latin typeface="Arial"/>
                <a:cs typeface="Arial"/>
              </a:rPr>
              <a:t>number </a:t>
            </a:r>
            <a:r>
              <a:rPr lang="en-US" sz="1200" spc="-5" dirty="0">
                <a:latin typeface="Arial"/>
                <a:cs typeface="Arial"/>
              </a:rPr>
              <a:t>of  symbols it </a:t>
            </a:r>
            <a:r>
              <a:rPr lang="en-US" sz="1200" spc="-10" dirty="0">
                <a:latin typeface="Arial"/>
                <a:cs typeface="Arial"/>
              </a:rPr>
              <a:t>contains. </a:t>
            </a:r>
            <a:r>
              <a:rPr lang="en-US" sz="1200" i="1" spc="-15" dirty="0">
                <a:latin typeface="DejaVu Sans Condensed"/>
                <a:cs typeface="DejaVu Sans Condensed"/>
              </a:rPr>
              <a:t>|</a:t>
            </a:r>
            <a:r>
              <a:rPr lang="en-US" sz="1200" spc="-15" dirty="0">
                <a:latin typeface="Arial"/>
                <a:cs typeface="Arial"/>
              </a:rPr>
              <a:t>1010</a:t>
            </a:r>
            <a:r>
              <a:rPr lang="en-US" sz="1200" i="1" spc="-15" dirty="0">
                <a:latin typeface="DejaVu Sans Condensed"/>
                <a:cs typeface="DejaVu Sans Condensed"/>
              </a:rPr>
              <a:t>| </a:t>
            </a:r>
            <a:r>
              <a:rPr lang="en-US" sz="1200" spc="-10" dirty="0">
                <a:latin typeface="Latin Modern Math"/>
                <a:cs typeface="Latin Modern Math"/>
              </a:rPr>
              <a:t>= </a:t>
            </a:r>
            <a:r>
              <a:rPr lang="en-US" sz="1200" spc="-5" dirty="0">
                <a:latin typeface="Arial"/>
                <a:cs typeface="Arial"/>
              </a:rPr>
              <a:t>4, </a:t>
            </a:r>
            <a:r>
              <a:rPr lang="en-US" sz="1200" i="1" spc="5" dirty="0">
                <a:latin typeface="DejaVu Sans Condensed"/>
                <a:cs typeface="DejaVu Sans Condensed"/>
              </a:rPr>
              <a:t>|</a:t>
            </a:r>
            <a:r>
              <a:rPr lang="en-US" sz="1200" i="1" spc="5" dirty="0">
                <a:latin typeface="Arial"/>
                <a:cs typeface="Arial"/>
              </a:rPr>
              <a:t>theory</a:t>
            </a:r>
            <a:r>
              <a:rPr lang="en-US" sz="1200" i="1" spc="5" dirty="0">
                <a:latin typeface="DejaVu Sans Condensed"/>
                <a:cs typeface="DejaVu Sans Condensed"/>
              </a:rPr>
              <a:t>| </a:t>
            </a:r>
            <a:r>
              <a:rPr lang="en-US" sz="1200" spc="-10" dirty="0">
                <a:latin typeface="Latin Modern Math"/>
                <a:cs typeface="Latin Modern Math"/>
              </a:rPr>
              <a:t>=</a:t>
            </a:r>
            <a:r>
              <a:rPr lang="en-US" sz="1200" spc="-80" dirty="0">
                <a:latin typeface="Latin Modern Math"/>
                <a:cs typeface="Latin Modern Math"/>
              </a:rPr>
              <a:t> </a:t>
            </a:r>
            <a:r>
              <a:rPr lang="en-US" sz="1200" spc="-10" dirty="0">
                <a:latin typeface="Arial"/>
                <a:cs typeface="Arial"/>
              </a:rPr>
              <a:t>6</a:t>
            </a:r>
            <a:endParaRPr lang="en-US" sz="1200" dirty="0">
              <a:latin typeface="Arial"/>
              <a:cs typeface="Arial"/>
            </a:endParaRPr>
          </a:p>
          <a:p>
            <a:pPr marL="549910" marR="186690" indent="-171450">
              <a:lnSpc>
                <a:spcPct val="125299"/>
              </a:lnSpc>
              <a:buFont typeface="Arial" panose="020B0604020202020204" pitchFamily="34" charset="0"/>
              <a:buChar char="•"/>
            </a:pPr>
            <a:r>
              <a:rPr lang="en-US" sz="1200" spc="-10" dirty="0">
                <a:latin typeface="Arial"/>
                <a:cs typeface="Arial"/>
              </a:rPr>
              <a:t>The </a:t>
            </a:r>
            <a:r>
              <a:rPr lang="en-US" sz="1200" spc="-10" dirty="0">
                <a:solidFill>
                  <a:srgbClr val="BC1919"/>
                </a:solidFill>
                <a:latin typeface="Arial"/>
                <a:cs typeface="Arial"/>
              </a:rPr>
              <a:t>empty </a:t>
            </a:r>
            <a:r>
              <a:rPr lang="en-US" sz="1200" spc="-5" dirty="0">
                <a:solidFill>
                  <a:srgbClr val="BC1919"/>
                </a:solidFill>
                <a:latin typeface="Arial"/>
                <a:cs typeface="Arial"/>
              </a:rPr>
              <a:t>string </a:t>
            </a:r>
            <a:r>
              <a:rPr lang="en-US" sz="1200" spc="-5" dirty="0">
                <a:latin typeface="Arial"/>
                <a:cs typeface="Arial"/>
              </a:rPr>
              <a:t>(denoted </a:t>
            </a:r>
            <a:r>
              <a:rPr lang="el-GR" sz="1200" i="1" spc="-30" dirty="0">
                <a:latin typeface="Verdana"/>
                <a:cs typeface="Verdana"/>
              </a:rPr>
              <a:t>ε</a:t>
            </a:r>
            <a:r>
              <a:rPr lang="el-GR" sz="1200" spc="-30" dirty="0">
                <a:latin typeface="Arial"/>
                <a:cs typeface="Arial"/>
              </a:rPr>
              <a:t>) </a:t>
            </a:r>
            <a:r>
              <a:rPr lang="en-US" sz="1200" spc="-5" dirty="0">
                <a:latin typeface="Arial"/>
                <a:cs typeface="Arial"/>
              </a:rPr>
              <a:t>is the string of length </a:t>
            </a:r>
            <a:r>
              <a:rPr lang="en-US" sz="1200" spc="-10" dirty="0">
                <a:latin typeface="Arial"/>
                <a:cs typeface="Arial"/>
              </a:rPr>
              <a:t>0  </a:t>
            </a:r>
          </a:p>
          <a:p>
            <a:pPr marL="549910" marR="186690" indent="-171450">
              <a:lnSpc>
                <a:spcPct val="125299"/>
              </a:lnSpc>
              <a:buFont typeface="Arial" panose="020B0604020202020204" pitchFamily="34" charset="0"/>
              <a:buChar char="•"/>
            </a:pPr>
            <a:r>
              <a:rPr lang="en-US" sz="1200" spc="-5" dirty="0">
                <a:latin typeface="Arial"/>
                <a:cs typeface="Arial"/>
              </a:rPr>
              <a:t>The </a:t>
            </a:r>
            <a:r>
              <a:rPr lang="en-US" sz="1200" spc="-5" dirty="0">
                <a:solidFill>
                  <a:srgbClr val="BC1919"/>
                </a:solidFill>
                <a:latin typeface="Arial"/>
                <a:cs typeface="Arial"/>
              </a:rPr>
              <a:t>concatenation </a:t>
            </a:r>
            <a:r>
              <a:rPr lang="en-US" sz="1200" spc="-5" dirty="0">
                <a:latin typeface="Arial"/>
                <a:cs typeface="Arial"/>
              </a:rPr>
              <a:t>of strings </a:t>
            </a:r>
            <a:r>
              <a:rPr lang="en-US" sz="1200" i="1" spc="-5" dirty="0">
                <a:latin typeface="Arial"/>
                <a:cs typeface="Arial"/>
              </a:rPr>
              <a:t>x </a:t>
            </a:r>
            <a:r>
              <a:rPr lang="en-US" sz="1200" spc="-10" dirty="0">
                <a:latin typeface="Arial"/>
                <a:cs typeface="Arial"/>
              </a:rPr>
              <a:t>and </a:t>
            </a:r>
            <a:r>
              <a:rPr lang="en-US" sz="1200" i="1" spc="-5" dirty="0">
                <a:latin typeface="Arial"/>
                <a:cs typeface="Arial"/>
              </a:rPr>
              <a:t>y </a:t>
            </a:r>
            <a:r>
              <a:rPr lang="en-US" sz="1200" spc="-5" dirty="0">
                <a:latin typeface="Arial"/>
                <a:cs typeface="Arial"/>
              </a:rPr>
              <a:t>is written </a:t>
            </a:r>
            <a:r>
              <a:rPr lang="en-US" sz="1200" i="1" spc="-5" dirty="0" err="1">
                <a:latin typeface="Arial"/>
                <a:cs typeface="Arial"/>
              </a:rPr>
              <a:t>xy</a:t>
            </a:r>
            <a:r>
              <a:rPr lang="en-US" sz="1200" i="1" spc="5" dirty="0">
                <a:latin typeface="Arial"/>
                <a:cs typeface="Arial"/>
              </a:rPr>
              <a:t> </a:t>
            </a:r>
            <a:r>
              <a:rPr lang="en-US" sz="1200" spc="-5" dirty="0">
                <a:latin typeface="Arial"/>
                <a:cs typeface="Arial"/>
              </a:rPr>
              <a:t>.</a:t>
            </a:r>
            <a:endParaRPr lang="en-US" sz="1200" dirty="0">
              <a:latin typeface="Arial"/>
              <a:cs typeface="Arial"/>
            </a:endParaRPr>
          </a:p>
          <a:p>
            <a:pPr marL="549910" marR="165735" indent="-171450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i="1" spc="45" dirty="0" err="1">
                <a:latin typeface="Arial"/>
                <a:cs typeface="Arial"/>
              </a:rPr>
              <a:t>x</a:t>
            </a:r>
            <a:r>
              <a:rPr lang="en-US" sz="1200" i="1" spc="67" baseline="27777" dirty="0" err="1">
                <a:latin typeface="Arial"/>
                <a:cs typeface="Arial"/>
              </a:rPr>
              <a:t>k</a:t>
            </a:r>
            <a:r>
              <a:rPr lang="en-US" sz="1200" i="1" spc="67" baseline="27777" dirty="0">
                <a:latin typeface="Arial"/>
                <a:cs typeface="Arial"/>
              </a:rPr>
              <a:t> </a:t>
            </a:r>
            <a:r>
              <a:rPr lang="en-US" sz="1200" spc="-5" dirty="0">
                <a:latin typeface="Arial"/>
                <a:cs typeface="Arial"/>
              </a:rPr>
              <a:t>denotes the concatenation of </a:t>
            </a:r>
            <a:r>
              <a:rPr lang="en-US" sz="1200" i="1" spc="-5" dirty="0">
                <a:latin typeface="Arial"/>
                <a:cs typeface="Arial"/>
              </a:rPr>
              <a:t>x </a:t>
            </a:r>
            <a:r>
              <a:rPr lang="en-US" sz="1200" spc="-5" dirty="0">
                <a:latin typeface="Arial"/>
                <a:cs typeface="Arial"/>
              </a:rPr>
              <a:t>with itself </a:t>
            </a:r>
            <a:r>
              <a:rPr lang="en-US" sz="1200" i="1" spc="-5" dirty="0">
                <a:latin typeface="Arial"/>
                <a:cs typeface="Arial"/>
              </a:rPr>
              <a:t>k </a:t>
            </a:r>
            <a:r>
              <a:rPr lang="en-US" sz="1200" spc="-10" dirty="0">
                <a:latin typeface="Arial"/>
                <a:cs typeface="Arial"/>
              </a:rPr>
              <a:t>times.  </a:t>
            </a:r>
            <a:r>
              <a:rPr lang="en-US" sz="1200" spc="5" dirty="0">
                <a:latin typeface="Arial"/>
                <a:cs typeface="Arial"/>
              </a:rPr>
              <a:t>01</a:t>
            </a:r>
            <a:r>
              <a:rPr lang="en-US" sz="1200" spc="7" baseline="27777" dirty="0">
                <a:latin typeface="Arial"/>
                <a:cs typeface="Arial"/>
              </a:rPr>
              <a:t>5</a:t>
            </a:r>
            <a:r>
              <a:rPr lang="en-US" sz="1200" spc="5" dirty="0">
                <a:latin typeface="Arial"/>
                <a:cs typeface="Arial"/>
              </a:rPr>
              <a:t>0 </a:t>
            </a:r>
            <a:r>
              <a:rPr lang="en-US" sz="1200" spc="-10" dirty="0">
                <a:latin typeface="Latin Modern Math"/>
                <a:cs typeface="Latin Modern Math"/>
              </a:rPr>
              <a:t>= </a:t>
            </a:r>
            <a:r>
              <a:rPr lang="en-US" sz="1200" spc="-5" dirty="0">
                <a:latin typeface="Arial"/>
                <a:cs typeface="Arial"/>
              </a:rPr>
              <a:t>0111110</a:t>
            </a:r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8802604"/>
      </p:ext>
    </p:extLst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948" y="0"/>
            <a:ext cx="31292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>
                <a:solidFill>
                  <a:srgbClr val="7A0000"/>
                </a:solidFill>
              </a:rPr>
              <a:t>Basic Notions: Strings and</a:t>
            </a:r>
            <a:r>
              <a:rPr spc="55" dirty="0">
                <a:solidFill>
                  <a:srgbClr val="7A0000"/>
                </a:solidFill>
              </a:rPr>
              <a:t> </a:t>
            </a:r>
            <a:r>
              <a:rPr spc="15" dirty="0">
                <a:solidFill>
                  <a:srgbClr val="7A0000"/>
                </a:solidFill>
              </a:rPr>
              <a:t>Languages</a:t>
            </a:r>
          </a:p>
        </p:txBody>
      </p:sp>
      <p:sp>
        <p:nvSpPr>
          <p:cNvPr id="3" name="object 3"/>
          <p:cNvSpPr/>
          <p:nvPr/>
        </p:nvSpPr>
        <p:spPr>
          <a:xfrm>
            <a:off x="491007" y="883678"/>
            <a:ext cx="76809" cy="76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3595" y="767992"/>
            <a:ext cx="3381375" cy="12477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34"/>
              </a:spcBef>
            </a:pPr>
            <a:r>
              <a:rPr sz="1100" spc="-5" dirty="0">
                <a:latin typeface="Arial"/>
                <a:cs typeface="Arial"/>
              </a:rPr>
              <a:t>A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BC1919"/>
                </a:solidFill>
                <a:latin typeface="Arial"/>
                <a:cs typeface="Arial"/>
              </a:rPr>
              <a:t>language</a:t>
            </a:r>
            <a:r>
              <a:rPr lang="en-US" sz="1100" spc="-5" dirty="0">
                <a:solidFill>
                  <a:srgbClr val="BC1919"/>
                </a:solidFill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5" dirty="0">
                <a:latin typeface="Arial"/>
                <a:cs typeface="Arial"/>
              </a:rPr>
              <a:t>set of strings </a:t>
            </a:r>
            <a:r>
              <a:rPr sz="1100" spc="-20" dirty="0">
                <a:latin typeface="Arial"/>
                <a:cs typeface="Arial"/>
              </a:rPr>
              <a:t>over </a:t>
            </a:r>
            <a:r>
              <a:rPr sz="1100" spc="-10" dirty="0">
                <a:latin typeface="Arial"/>
                <a:cs typeface="Arial"/>
              </a:rPr>
              <a:t>an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alphabet</a:t>
            </a:r>
            <a:endParaRPr sz="1100" dirty="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334"/>
              </a:spcBef>
            </a:pPr>
            <a:r>
              <a:rPr sz="1100" spc="-130" dirty="0">
                <a:latin typeface="Latin Modern Math"/>
                <a:cs typeface="Latin Modern Math"/>
              </a:rPr>
              <a:t>Σ</a:t>
            </a:r>
            <a:r>
              <a:rPr sz="1200" i="1" spc="-195" baseline="27777" dirty="0">
                <a:latin typeface="DejaVu Sans"/>
                <a:cs typeface="DejaVu Sans"/>
              </a:rPr>
              <a:t>∗ </a:t>
            </a:r>
            <a:r>
              <a:rPr sz="1100" spc="-5" dirty="0">
                <a:latin typeface="Arial"/>
                <a:cs typeface="Arial"/>
              </a:rPr>
              <a:t>is the language consisting of all strings </a:t>
            </a:r>
            <a:r>
              <a:rPr sz="1100" spc="-20" dirty="0">
                <a:latin typeface="Arial"/>
                <a:cs typeface="Arial"/>
              </a:rPr>
              <a:t>over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Latin Modern Math"/>
                <a:cs typeface="Latin Modern Math"/>
              </a:rPr>
              <a:t>Σ</a:t>
            </a:r>
            <a:endParaRPr sz="1100" dirty="0">
              <a:latin typeface="Latin Modern Math"/>
              <a:cs typeface="Latin Modern Math"/>
            </a:endParaRPr>
          </a:p>
          <a:p>
            <a:pPr marL="63500" marR="30480">
              <a:lnSpc>
                <a:spcPct val="102600"/>
              </a:lnSpc>
              <a:spcBef>
                <a:spcPts val="295"/>
              </a:spcBef>
            </a:pPr>
            <a:r>
              <a:rPr sz="1100" spc="-5" dirty="0">
                <a:latin typeface="Arial"/>
                <a:cs typeface="Arial"/>
              </a:rPr>
              <a:t>Union </a:t>
            </a:r>
            <a:r>
              <a:rPr sz="1100" spc="-10" dirty="0">
                <a:latin typeface="Arial"/>
                <a:cs typeface="Arial"/>
              </a:rPr>
              <a:t>and </a:t>
            </a:r>
            <a:r>
              <a:rPr sz="1100" spc="-5" dirty="0">
                <a:latin typeface="Arial"/>
                <a:cs typeface="Arial"/>
              </a:rPr>
              <a:t>intersection: </a:t>
            </a:r>
            <a:r>
              <a:rPr sz="1100" i="1" spc="-10" dirty="0">
                <a:latin typeface="Arial"/>
                <a:cs typeface="Arial"/>
              </a:rPr>
              <a:t>A </a:t>
            </a:r>
            <a:r>
              <a:rPr sz="1100" i="1" dirty="0">
                <a:latin typeface="DejaVu Sans Condensed"/>
                <a:cs typeface="DejaVu Sans Condensed"/>
              </a:rPr>
              <a:t>∪ </a:t>
            </a:r>
            <a:r>
              <a:rPr sz="1100" i="1" spc="-10" dirty="0">
                <a:latin typeface="Arial"/>
                <a:cs typeface="Arial"/>
              </a:rPr>
              <a:t>B </a:t>
            </a:r>
            <a:r>
              <a:rPr sz="1100" spc="-10" dirty="0">
                <a:latin typeface="Latin Modern Math"/>
                <a:cs typeface="Latin Modern Math"/>
              </a:rPr>
              <a:t>= </a:t>
            </a:r>
            <a:r>
              <a:rPr sz="1100" i="1" spc="-45" dirty="0">
                <a:latin typeface="DejaVu Sans Condensed"/>
                <a:cs typeface="DejaVu Sans Condensed"/>
              </a:rPr>
              <a:t>{</a:t>
            </a:r>
            <a:r>
              <a:rPr sz="1100" i="1" spc="-45" dirty="0">
                <a:latin typeface="Arial"/>
                <a:cs typeface="Arial"/>
              </a:rPr>
              <a:t>x </a:t>
            </a:r>
            <a:r>
              <a:rPr sz="1100" i="1" spc="-35" dirty="0">
                <a:latin typeface="DejaVu Sans Condensed"/>
                <a:cs typeface="DejaVu Sans Condensed"/>
              </a:rPr>
              <a:t>| </a:t>
            </a:r>
            <a:r>
              <a:rPr sz="1100" i="1" spc="-5" dirty="0">
                <a:latin typeface="Arial"/>
                <a:cs typeface="Arial"/>
              </a:rPr>
              <a:t>x </a:t>
            </a:r>
            <a:r>
              <a:rPr sz="1100" i="1" spc="-135" dirty="0">
                <a:latin typeface="DejaVu Sans Condensed"/>
                <a:cs typeface="DejaVu Sans Condensed"/>
              </a:rPr>
              <a:t>∈ </a:t>
            </a:r>
            <a:r>
              <a:rPr sz="1100" i="1" spc="-10" dirty="0">
                <a:latin typeface="Arial"/>
                <a:cs typeface="Arial"/>
              </a:rPr>
              <a:t>A </a:t>
            </a:r>
            <a:r>
              <a:rPr sz="1100" i="1" spc="-5" dirty="0">
                <a:latin typeface="Arial"/>
                <a:cs typeface="Arial"/>
              </a:rPr>
              <a:t>or x </a:t>
            </a:r>
            <a:r>
              <a:rPr sz="1100" i="1" spc="-135" dirty="0">
                <a:latin typeface="DejaVu Sans Condensed"/>
                <a:cs typeface="DejaVu Sans Condensed"/>
              </a:rPr>
              <a:t>∈ </a:t>
            </a:r>
            <a:r>
              <a:rPr sz="1100" i="1" spc="-20" dirty="0">
                <a:latin typeface="Arial"/>
                <a:cs typeface="Arial"/>
              </a:rPr>
              <a:t>B</a:t>
            </a:r>
            <a:r>
              <a:rPr sz="1100" i="1" spc="-20" dirty="0">
                <a:latin typeface="DejaVu Sans Condensed"/>
                <a:cs typeface="DejaVu Sans Condensed"/>
              </a:rPr>
              <a:t>}</a:t>
            </a:r>
            <a:r>
              <a:rPr sz="1100" spc="-20" dirty="0">
                <a:latin typeface="Arial"/>
                <a:cs typeface="Arial"/>
              </a:rPr>
              <a:t>,  </a:t>
            </a:r>
            <a:r>
              <a:rPr sz="1100" i="1" spc="-10" dirty="0">
                <a:latin typeface="Arial"/>
                <a:cs typeface="Arial"/>
              </a:rPr>
              <a:t>A </a:t>
            </a:r>
            <a:r>
              <a:rPr sz="1100" i="1" dirty="0">
                <a:latin typeface="DejaVu Sans Condensed"/>
                <a:cs typeface="DejaVu Sans Condensed"/>
              </a:rPr>
              <a:t>∩ </a:t>
            </a:r>
            <a:r>
              <a:rPr sz="1100" i="1" spc="-10" dirty="0">
                <a:latin typeface="Arial"/>
                <a:cs typeface="Arial"/>
              </a:rPr>
              <a:t>B </a:t>
            </a:r>
            <a:r>
              <a:rPr sz="1100" spc="-10" dirty="0">
                <a:latin typeface="Latin Modern Math"/>
                <a:cs typeface="Latin Modern Math"/>
              </a:rPr>
              <a:t>= </a:t>
            </a:r>
            <a:r>
              <a:rPr sz="1100" i="1" spc="-45" dirty="0">
                <a:latin typeface="DejaVu Sans Condensed"/>
                <a:cs typeface="DejaVu Sans Condensed"/>
              </a:rPr>
              <a:t>{</a:t>
            </a:r>
            <a:r>
              <a:rPr sz="1100" i="1" spc="-45" dirty="0">
                <a:latin typeface="Arial"/>
                <a:cs typeface="Arial"/>
              </a:rPr>
              <a:t>x </a:t>
            </a:r>
            <a:r>
              <a:rPr sz="1100" i="1" spc="-35" dirty="0">
                <a:latin typeface="DejaVu Sans Condensed"/>
                <a:cs typeface="DejaVu Sans Condensed"/>
              </a:rPr>
              <a:t>| </a:t>
            </a:r>
            <a:r>
              <a:rPr sz="1100" i="1" spc="-5" dirty="0">
                <a:latin typeface="Arial"/>
                <a:cs typeface="Arial"/>
              </a:rPr>
              <a:t>x </a:t>
            </a:r>
            <a:r>
              <a:rPr sz="1100" i="1" u="sng" spc="-135" dirty="0">
                <a:uFill>
                  <a:solidFill>
                    <a:srgbClr val="000000"/>
                  </a:solidFill>
                </a:uFill>
                <a:latin typeface="DejaVu Sans Condensed"/>
                <a:cs typeface="DejaVu Sans Condensed"/>
              </a:rPr>
              <a:t>∈</a:t>
            </a:r>
            <a:r>
              <a:rPr sz="1100" i="1" spc="-135" dirty="0">
                <a:latin typeface="DejaVu Sans Condensed"/>
                <a:cs typeface="DejaVu Sans Condensed"/>
              </a:rPr>
              <a:t> </a:t>
            </a:r>
            <a:r>
              <a:rPr sz="1100" i="1" spc="-10" dirty="0">
                <a:latin typeface="Arial"/>
                <a:cs typeface="Arial"/>
              </a:rPr>
              <a:t>A and </a:t>
            </a:r>
            <a:r>
              <a:rPr sz="1100" i="1" spc="-5" dirty="0">
                <a:latin typeface="Arial"/>
                <a:cs typeface="Arial"/>
              </a:rPr>
              <a:t>x </a:t>
            </a:r>
            <a:r>
              <a:rPr sz="1100" i="1" spc="-135" dirty="0">
                <a:latin typeface="DejaVu Sans Condensed"/>
                <a:cs typeface="DejaVu Sans Condensed"/>
              </a:rPr>
              <a:t>∈</a:t>
            </a:r>
            <a:r>
              <a:rPr sz="1100" i="1" spc="10" dirty="0">
                <a:latin typeface="DejaVu Sans Condensed"/>
                <a:cs typeface="DejaVu Sans Condensed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i="1" spc="-25" dirty="0">
                <a:latin typeface="DejaVu Sans Condensed"/>
                <a:cs typeface="DejaVu Sans Condensed"/>
              </a:rPr>
              <a:t>}</a:t>
            </a:r>
            <a:endParaRPr sz="1100" dirty="0">
              <a:latin typeface="DejaVu Sans Condensed"/>
              <a:cs typeface="DejaVu Sans Condensed"/>
            </a:endParaRPr>
          </a:p>
          <a:p>
            <a:pPr marL="63500">
              <a:lnSpc>
                <a:spcPct val="100000"/>
              </a:lnSpc>
              <a:spcBef>
                <a:spcPts val="335"/>
              </a:spcBef>
            </a:pPr>
            <a:r>
              <a:rPr sz="1100" spc="-5" dirty="0">
                <a:latin typeface="Arial"/>
                <a:cs typeface="Arial"/>
              </a:rPr>
              <a:t>Complement: </a:t>
            </a:r>
            <a:r>
              <a:rPr sz="1100" i="1" spc="-10" dirty="0">
                <a:latin typeface="Arial"/>
                <a:cs typeface="Arial"/>
              </a:rPr>
              <a:t>A </a:t>
            </a:r>
            <a:r>
              <a:rPr sz="1100" spc="-10" dirty="0">
                <a:latin typeface="Latin Modern Math"/>
                <a:cs typeface="Latin Modern Math"/>
              </a:rPr>
              <a:t>= </a:t>
            </a:r>
            <a:r>
              <a:rPr sz="1100" i="1" spc="-50" dirty="0">
                <a:latin typeface="DejaVu Sans Condensed"/>
                <a:cs typeface="DejaVu Sans Condensed"/>
              </a:rPr>
              <a:t>{</a:t>
            </a:r>
            <a:r>
              <a:rPr sz="1100" i="1" spc="-50" dirty="0">
                <a:latin typeface="Arial"/>
                <a:cs typeface="Arial"/>
              </a:rPr>
              <a:t>x </a:t>
            </a:r>
            <a:r>
              <a:rPr sz="1100" i="1" spc="-135" dirty="0">
                <a:latin typeface="DejaVu Sans Condensed"/>
                <a:cs typeface="DejaVu Sans Condensed"/>
              </a:rPr>
              <a:t>∈ </a:t>
            </a:r>
            <a:r>
              <a:rPr sz="1100" spc="-130" dirty="0">
                <a:latin typeface="Latin Modern Math"/>
                <a:cs typeface="Latin Modern Math"/>
              </a:rPr>
              <a:t>Σ</a:t>
            </a:r>
            <a:r>
              <a:rPr sz="1200" i="1" spc="-195" baseline="27777" dirty="0">
                <a:latin typeface="DejaVu Sans"/>
                <a:cs typeface="DejaVu Sans"/>
              </a:rPr>
              <a:t>∗ </a:t>
            </a:r>
            <a:r>
              <a:rPr sz="1100" i="1" spc="-35" dirty="0">
                <a:latin typeface="DejaVu Sans Condensed"/>
                <a:cs typeface="DejaVu Sans Condensed"/>
              </a:rPr>
              <a:t>| </a:t>
            </a:r>
            <a:r>
              <a:rPr sz="1100" i="1" spc="-5" dirty="0">
                <a:latin typeface="Arial"/>
                <a:cs typeface="Arial"/>
              </a:rPr>
              <a:t>x </a:t>
            </a:r>
            <a:r>
              <a:rPr sz="1100" i="1" spc="-350" dirty="0">
                <a:latin typeface="DejaVu Sans Condensed"/>
                <a:cs typeface="DejaVu Sans Condensed"/>
              </a:rPr>
              <a:t>∈</a:t>
            </a:r>
            <a:r>
              <a:rPr sz="1100" i="1" spc="-350" dirty="0">
                <a:latin typeface="Verdana"/>
                <a:cs typeface="Verdana"/>
              </a:rPr>
              <a:t>/</a:t>
            </a:r>
            <a:r>
              <a:rPr sz="1100" i="1" spc="-345" dirty="0">
                <a:latin typeface="Verdana"/>
                <a:cs typeface="Verdana"/>
              </a:rPr>
              <a:t> </a:t>
            </a:r>
            <a:r>
              <a:rPr sz="1100" i="1" spc="-45" dirty="0">
                <a:latin typeface="Arial"/>
                <a:cs typeface="Arial"/>
              </a:rPr>
              <a:t>A</a:t>
            </a:r>
            <a:r>
              <a:rPr sz="1100" i="1" spc="-45" dirty="0">
                <a:latin typeface="DejaVu Sans Condensed"/>
                <a:cs typeface="DejaVu Sans Condensed"/>
              </a:rPr>
              <a:t>}</a:t>
            </a:r>
            <a:endParaRPr sz="1100" dirty="0">
              <a:latin typeface="DejaVu Sans Condensed"/>
              <a:cs typeface="DejaVu Sans Condensed"/>
            </a:endParaRPr>
          </a:p>
          <a:p>
            <a:pPr marL="63500">
              <a:lnSpc>
                <a:spcPct val="100000"/>
              </a:lnSpc>
              <a:spcBef>
                <a:spcPts val="335"/>
              </a:spcBef>
            </a:pPr>
            <a:r>
              <a:rPr sz="1100" spc="-5" dirty="0">
                <a:latin typeface="Arial"/>
                <a:cs typeface="Arial"/>
              </a:rPr>
              <a:t>Concatenation: </a:t>
            </a:r>
            <a:r>
              <a:rPr sz="1100" i="1" spc="-10" dirty="0">
                <a:latin typeface="Arial"/>
                <a:cs typeface="Arial"/>
              </a:rPr>
              <a:t>AB </a:t>
            </a:r>
            <a:r>
              <a:rPr sz="1100" spc="-10" dirty="0">
                <a:latin typeface="Latin Modern Math"/>
                <a:cs typeface="Latin Modern Math"/>
              </a:rPr>
              <a:t>= </a:t>
            </a:r>
            <a:r>
              <a:rPr sz="1100" i="1" spc="-35" dirty="0">
                <a:latin typeface="DejaVu Sans Condensed"/>
                <a:cs typeface="DejaVu Sans Condensed"/>
              </a:rPr>
              <a:t>{</a:t>
            </a:r>
            <a:r>
              <a:rPr sz="1100" i="1" spc="-35" dirty="0">
                <a:latin typeface="Arial"/>
                <a:cs typeface="Arial"/>
              </a:rPr>
              <a:t>xy </a:t>
            </a:r>
            <a:r>
              <a:rPr sz="1100" i="1" spc="-35" dirty="0">
                <a:latin typeface="DejaVu Sans Condensed"/>
                <a:cs typeface="DejaVu Sans Condensed"/>
              </a:rPr>
              <a:t>| </a:t>
            </a:r>
            <a:r>
              <a:rPr sz="1100" i="1" spc="-5" dirty="0">
                <a:latin typeface="Arial"/>
                <a:cs typeface="Arial"/>
              </a:rPr>
              <a:t>x </a:t>
            </a:r>
            <a:r>
              <a:rPr sz="1100" i="1" spc="-135" dirty="0">
                <a:latin typeface="DejaVu Sans Condensed"/>
                <a:cs typeface="DejaVu Sans Condensed"/>
              </a:rPr>
              <a:t>∈ </a:t>
            </a:r>
            <a:r>
              <a:rPr sz="1100" i="1" spc="-10" dirty="0">
                <a:latin typeface="Arial"/>
                <a:cs typeface="Arial"/>
              </a:rPr>
              <a:t>A and </a:t>
            </a:r>
            <a:r>
              <a:rPr sz="1100" i="1" spc="-5" dirty="0">
                <a:latin typeface="Arial"/>
                <a:cs typeface="Arial"/>
              </a:rPr>
              <a:t>y </a:t>
            </a:r>
            <a:r>
              <a:rPr sz="1100" i="1" spc="-135" dirty="0">
                <a:latin typeface="DejaVu Sans Condensed"/>
                <a:cs typeface="DejaVu Sans Condensed"/>
              </a:rPr>
              <a:t>∈</a:t>
            </a:r>
            <a:r>
              <a:rPr sz="1100" i="1" spc="15" dirty="0">
                <a:latin typeface="DejaVu Sans Condensed"/>
                <a:cs typeface="DejaVu Sans Condensed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i="1" spc="-25" dirty="0">
                <a:latin typeface="DejaVu Sans Condensed"/>
                <a:cs typeface="DejaVu Sans Condensed"/>
              </a:rPr>
              <a:t>}</a:t>
            </a:r>
            <a:endParaRPr sz="1100" dirty="0">
              <a:latin typeface="DejaVu Sans Condensed"/>
              <a:cs typeface="DejaVu Sans Condensed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1007" y="1093711"/>
            <a:ext cx="76809" cy="76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007" y="1303744"/>
            <a:ext cx="76809" cy="76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1007" y="1685848"/>
            <a:ext cx="76809" cy="76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1007" y="1895881"/>
            <a:ext cx="76809" cy="768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3106517"/>
      </p:ext>
    </p:extLst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948" y="0"/>
            <a:ext cx="31292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>
                <a:solidFill>
                  <a:srgbClr val="7A0000"/>
                </a:solidFill>
              </a:rPr>
              <a:t>Basic Notions: Strings and</a:t>
            </a:r>
            <a:r>
              <a:rPr spc="55" dirty="0">
                <a:solidFill>
                  <a:srgbClr val="7A0000"/>
                </a:solidFill>
              </a:rPr>
              <a:t> </a:t>
            </a:r>
            <a:r>
              <a:rPr spc="15" dirty="0">
                <a:solidFill>
                  <a:srgbClr val="7A0000"/>
                </a:solidFill>
              </a:rPr>
              <a:t>Languages</a:t>
            </a:r>
          </a:p>
        </p:txBody>
      </p:sp>
      <p:sp>
        <p:nvSpPr>
          <p:cNvPr id="3" name="object 3"/>
          <p:cNvSpPr/>
          <p:nvPr/>
        </p:nvSpPr>
        <p:spPr>
          <a:xfrm>
            <a:off x="491007" y="883678"/>
            <a:ext cx="76809" cy="76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007" y="1093711"/>
            <a:ext cx="76809" cy="768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1007" y="1303744"/>
            <a:ext cx="76809" cy="768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007" y="1685848"/>
            <a:ext cx="76809" cy="768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1007" y="1895881"/>
            <a:ext cx="76809" cy="768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1007" y="2105914"/>
            <a:ext cx="76809" cy="768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1007" y="2488018"/>
            <a:ext cx="76809" cy="768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48195" y="767992"/>
            <a:ext cx="3432175" cy="184023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34"/>
              </a:spcBef>
            </a:pPr>
            <a:r>
              <a:rPr sz="1100" spc="-5" dirty="0">
                <a:latin typeface="Arial"/>
                <a:cs typeface="Arial"/>
              </a:rPr>
              <a:t>A</a:t>
            </a:r>
            <a:r>
              <a:rPr sz="1100" spc="-5" dirty="0">
                <a:solidFill>
                  <a:srgbClr val="BC1919"/>
                </a:solidFill>
                <a:latin typeface="Arial"/>
                <a:cs typeface="Arial"/>
              </a:rPr>
              <a:t>language</a:t>
            </a:r>
            <a:r>
              <a:rPr sz="1100" spc="-5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5" dirty="0">
                <a:latin typeface="Arial"/>
                <a:cs typeface="Arial"/>
              </a:rPr>
              <a:t>set of strings </a:t>
            </a:r>
            <a:r>
              <a:rPr sz="1100" spc="-20" dirty="0">
                <a:latin typeface="Arial"/>
                <a:cs typeface="Arial"/>
              </a:rPr>
              <a:t>over </a:t>
            </a:r>
            <a:r>
              <a:rPr sz="1100" spc="-10" dirty="0">
                <a:latin typeface="Arial"/>
                <a:cs typeface="Arial"/>
              </a:rPr>
              <a:t>an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alphabet</a:t>
            </a:r>
            <a:endParaRPr sz="110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334"/>
              </a:spcBef>
            </a:pPr>
            <a:r>
              <a:rPr sz="1100" spc="-130" dirty="0">
                <a:latin typeface="Latin Modern Math"/>
                <a:cs typeface="Latin Modern Math"/>
              </a:rPr>
              <a:t>Σ</a:t>
            </a:r>
            <a:r>
              <a:rPr sz="1200" i="1" spc="-195" baseline="27777" dirty="0">
                <a:latin typeface="DejaVu Sans"/>
                <a:cs typeface="DejaVu Sans"/>
              </a:rPr>
              <a:t>∗ </a:t>
            </a:r>
            <a:r>
              <a:rPr sz="1100" spc="-5" dirty="0">
                <a:latin typeface="Arial"/>
                <a:cs typeface="Arial"/>
              </a:rPr>
              <a:t>is the language consisting of all strings </a:t>
            </a:r>
            <a:r>
              <a:rPr sz="1100" spc="-20" dirty="0">
                <a:latin typeface="Arial"/>
                <a:cs typeface="Arial"/>
              </a:rPr>
              <a:t>over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Latin Modern Math"/>
                <a:cs typeface="Latin Modern Math"/>
              </a:rPr>
              <a:t>Σ</a:t>
            </a:r>
            <a:endParaRPr sz="1100">
              <a:latin typeface="Latin Modern Math"/>
              <a:cs typeface="Latin Modern Math"/>
            </a:endParaRPr>
          </a:p>
          <a:p>
            <a:pPr marL="88900" marR="55880">
              <a:lnSpc>
                <a:spcPct val="102600"/>
              </a:lnSpc>
              <a:spcBef>
                <a:spcPts val="295"/>
              </a:spcBef>
            </a:pPr>
            <a:r>
              <a:rPr sz="1100" spc="-5" dirty="0">
                <a:latin typeface="Arial"/>
                <a:cs typeface="Arial"/>
              </a:rPr>
              <a:t>Union </a:t>
            </a:r>
            <a:r>
              <a:rPr sz="1100" spc="-10" dirty="0">
                <a:latin typeface="Arial"/>
                <a:cs typeface="Arial"/>
              </a:rPr>
              <a:t>and </a:t>
            </a:r>
            <a:r>
              <a:rPr sz="1100" spc="-5" dirty="0">
                <a:latin typeface="Arial"/>
                <a:cs typeface="Arial"/>
              </a:rPr>
              <a:t>intersection: </a:t>
            </a:r>
            <a:r>
              <a:rPr sz="1100" i="1" spc="-10" dirty="0">
                <a:latin typeface="Arial"/>
                <a:cs typeface="Arial"/>
              </a:rPr>
              <a:t>A </a:t>
            </a:r>
            <a:r>
              <a:rPr sz="1100" i="1" dirty="0">
                <a:latin typeface="DejaVu Sans Condensed"/>
                <a:cs typeface="DejaVu Sans Condensed"/>
              </a:rPr>
              <a:t>∪ </a:t>
            </a:r>
            <a:r>
              <a:rPr sz="1100" i="1" spc="-10" dirty="0">
                <a:latin typeface="Arial"/>
                <a:cs typeface="Arial"/>
              </a:rPr>
              <a:t>B </a:t>
            </a:r>
            <a:r>
              <a:rPr sz="1100" spc="-10" dirty="0">
                <a:latin typeface="Latin Modern Math"/>
                <a:cs typeface="Latin Modern Math"/>
              </a:rPr>
              <a:t>= </a:t>
            </a:r>
            <a:r>
              <a:rPr sz="1100" i="1" spc="-45" dirty="0">
                <a:latin typeface="DejaVu Sans Condensed"/>
                <a:cs typeface="DejaVu Sans Condensed"/>
              </a:rPr>
              <a:t>{</a:t>
            </a:r>
            <a:r>
              <a:rPr sz="1100" i="1" spc="-45" dirty="0">
                <a:latin typeface="Arial"/>
                <a:cs typeface="Arial"/>
              </a:rPr>
              <a:t>x </a:t>
            </a:r>
            <a:r>
              <a:rPr sz="1100" i="1" spc="-35" dirty="0">
                <a:latin typeface="DejaVu Sans Condensed"/>
                <a:cs typeface="DejaVu Sans Condensed"/>
              </a:rPr>
              <a:t>| </a:t>
            </a:r>
            <a:r>
              <a:rPr sz="1100" i="1" spc="-5" dirty="0">
                <a:latin typeface="Arial"/>
                <a:cs typeface="Arial"/>
              </a:rPr>
              <a:t>x </a:t>
            </a:r>
            <a:r>
              <a:rPr sz="1100" i="1" spc="-135" dirty="0">
                <a:latin typeface="DejaVu Sans Condensed"/>
                <a:cs typeface="DejaVu Sans Condensed"/>
              </a:rPr>
              <a:t>∈ </a:t>
            </a:r>
            <a:r>
              <a:rPr sz="1100" i="1" spc="-10" dirty="0">
                <a:latin typeface="Arial"/>
                <a:cs typeface="Arial"/>
              </a:rPr>
              <a:t>A </a:t>
            </a:r>
            <a:r>
              <a:rPr sz="1100" i="1" spc="-5" dirty="0">
                <a:latin typeface="Arial"/>
                <a:cs typeface="Arial"/>
              </a:rPr>
              <a:t>or x </a:t>
            </a:r>
            <a:r>
              <a:rPr sz="1100" i="1" spc="-135" dirty="0">
                <a:latin typeface="DejaVu Sans Condensed"/>
                <a:cs typeface="DejaVu Sans Condensed"/>
              </a:rPr>
              <a:t>∈ </a:t>
            </a:r>
            <a:r>
              <a:rPr sz="1100" i="1" spc="-20" dirty="0">
                <a:latin typeface="Arial"/>
                <a:cs typeface="Arial"/>
              </a:rPr>
              <a:t>B</a:t>
            </a:r>
            <a:r>
              <a:rPr sz="1100" i="1" spc="-20" dirty="0">
                <a:latin typeface="DejaVu Sans Condensed"/>
                <a:cs typeface="DejaVu Sans Condensed"/>
              </a:rPr>
              <a:t>}</a:t>
            </a:r>
            <a:r>
              <a:rPr sz="1100" spc="-20" dirty="0">
                <a:latin typeface="Arial"/>
                <a:cs typeface="Arial"/>
              </a:rPr>
              <a:t>,  </a:t>
            </a:r>
            <a:r>
              <a:rPr sz="1100" i="1" spc="-10" dirty="0">
                <a:latin typeface="Arial"/>
                <a:cs typeface="Arial"/>
              </a:rPr>
              <a:t>A </a:t>
            </a:r>
            <a:r>
              <a:rPr sz="1100" i="1" dirty="0">
                <a:latin typeface="DejaVu Sans Condensed"/>
                <a:cs typeface="DejaVu Sans Condensed"/>
              </a:rPr>
              <a:t>∩ </a:t>
            </a:r>
            <a:r>
              <a:rPr sz="1100" i="1" spc="-10" dirty="0">
                <a:latin typeface="Arial"/>
                <a:cs typeface="Arial"/>
              </a:rPr>
              <a:t>B </a:t>
            </a:r>
            <a:r>
              <a:rPr sz="1100" spc="-10" dirty="0">
                <a:latin typeface="Latin Modern Math"/>
                <a:cs typeface="Latin Modern Math"/>
              </a:rPr>
              <a:t>= </a:t>
            </a:r>
            <a:r>
              <a:rPr sz="1100" i="1" spc="-45" dirty="0">
                <a:latin typeface="DejaVu Sans Condensed"/>
                <a:cs typeface="DejaVu Sans Condensed"/>
              </a:rPr>
              <a:t>{</a:t>
            </a:r>
            <a:r>
              <a:rPr sz="1100" i="1" spc="-45" dirty="0">
                <a:latin typeface="Arial"/>
                <a:cs typeface="Arial"/>
              </a:rPr>
              <a:t>x </a:t>
            </a:r>
            <a:r>
              <a:rPr sz="1100" i="1" spc="-35" dirty="0">
                <a:latin typeface="DejaVu Sans Condensed"/>
                <a:cs typeface="DejaVu Sans Condensed"/>
              </a:rPr>
              <a:t>| </a:t>
            </a:r>
            <a:r>
              <a:rPr sz="1100" i="1" spc="-5" dirty="0">
                <a:latin typeface="Arial"/>
                <a:cs typeface="Arial"/>
              </a:rPr>
              <a:t>x </a:t>
            </a:r>
            <a:r>
              <a:rPr sz="1100" i="1" u="sng" spc="-135" dirty="0">
                <a:uFill>
                  <a:solidFill>
                    <a:srgbClr val="000000"/>
                  </a:solidFill>
                </a:uFill>
                <a:latin typeface="DejaVu Sans Condensed"/>
                <a:cs typeface="DejaVu Sans Condensed"/>
              </a:rPr>
              <a:t>∈</a:t>
            </a:r>
            <a:r>
              <a:rPr sz="1100" i="1" spc="-135" dirty="0">
                <a:latin typeface="DejaVu Sans Condensed"/>
                <a:cs typeface="DejaVu Sans Condensed"/>
              </a:rPr>
              <a:t> </a:t>
            </a:r>
            <a:r>
              <a:rPr sz="1100" i="1" spc="-10" dirty="0">
                <a:latin typeface="Arial"/>
                <a:cs typeface="Arial"/>
              </a:rPr>
              <a:t>A and </a:t>
            </a:r>
            <a:r>
              <a:rPr sz="1100" i="1" spc="-5" dirty="0">
                <a:latin typeface="Arial"/>
                <a:cs typeface="Arial"/>
              </a:rPr>
              <a:t>x </a:t>
            </a:r>
            <a:r>
              <a:rPr sz="1100" i="1" spc="-135" dirty="0">
                <a:latin typeface="DejaVu Sans Condensed"/>
                <a:cs typeface="DejaVu Sans Condensed"/>
              </a:rPr>
              <a:t>∈</a:t>
            </a:r>
            <a:r>
              <a:rPr sz="1100" i="1" spc="10" dirty="0">
                <a:latin typeface="DejaVu Sans Condensed"/>
                <a:cs typeface="DejaVu Sans Condensed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i="1" spc="-25" dirty="0">
                <a:latin typeface="DejaVu Sans Condensed"/>
                <a:cs typeface="DejaVu Sans Condensed"/>
              </a:rPr>
              <a:t>}</a:t>
            </a:r>
            <a:endParaRPr sz="1100">
              <a:latin typeface="DejaVu Sans Condensed"/>
              <a:cs typeface="DejaVu Sans Condensed"/>
            </a:endParaRPr>
          </a:p>
          <a:p>
            <a:pPr marL="88900">
              <a:lnSpc>
                <a:spcPct val="100000"/>
              </a:lnSpc>
              <a:spcBef>
                <a:spcPts val="335"/>
              </a:spcBef>
            </a:pPr>
            <a:r>
              <a:rPr sz="1100" spc="-5" dirty="0">
                <a:latin typeface="Arial"/>
                <a:cs typeface="Arial"/>
              </a:rPr>
              <a:t>Complement: </a:t>
            </a:r>
            <a:r>
              <a:rPr sz="1100" i="1" spc="-10" dirty="0">
                <a:latin typeface="Arial"/>
                <a:cs typeface="Arial"/>
              </a:rPr>
              <a:t>A </a:t>
            </a:r>
            <a:r>
              <a:rPr sz="1100" spc="-10" dirty="0">
                <a:latin typeface="Latin Modern Math"/>
                <a:cs typeface="Latin Modern Math"/>
              </a:rPr>
              <a:t>= </a:t>
            </a:r>
            <a:r>
              <a:rPr sz="1100" i="1" spc="-50" dirty="0">
                <a:latin typeface="DejaVu Sans Condensed"/>
                <a:cs typeface="DejaVu Sans Condensed"/>
              </a:rPr>
              <a:t>{</a:t>
            </a:r>
            <a:r>
              <a:rPr sz="1100" i="1" spc="-50" dirty="0">
                <a:latin typeface="Arial"/>
                <a:cs typeface="Arial"/>
              </a:rPr>
              <a:t>x </a:t>
            </a:r>
            <a:r>
              <a:rPr sz="1100" i="1" spc="-135" dirty="0">
                <a:latin typeface="DejaVu Sans Condensed"/>
                <a:cs typeface="DejaVu Sans Condensed"/>
              </a:rPr>
              <a:t>∈ </a:t>
            </a:r>
            <a:r>
              <a:rPr sz="1100" spc="-130" dirty="0">
                <a:latin typeface="Latin Modern Math"/>
                <a:cs typeface="Latin Modern Math"/>
              </a:rPr>
              <a:t>Σ</a:t>
            </a:r>
            <a:r>
              <a:rPr sz="1200" i="1" spc="-195" baseline="27777" dirty="0">
                <a:latin typeface="DejaVu Sans"/>
                <a:cs typeface="DejaVu Sans"/>
              </a:rPr>
              <a:t>∗ </a:t>
            </a:r>
            <a:r>
              <a:rPr sz="1100" i="1" spc="-35" dirty="0">
                <a:latin typeface="DejaVu Sans Condensed"/>
                <a:cs typeface="DejaVu Sans Condensed"/>
              </a:rPr>
              <a:t>| </a:t>
            </a:r>
            <a:r>
              <a:rPr sz="1100" i="1" spc="-5" dirty="0">
                <a:latin typeface="Arial"/>
                <a:cs typeface="Arial"/>
              </a:rPr>
              <a:t>x </a:t>
            </a:r>
            <a:r>
              <a:rPr sz="1100" i="1" spc="-350" dirty="0">
                <a:latin typeface="DejaVu Sans Condensed"/>
                <a:cs typeface="DejaVu Sans Condensed"/>
              </a:rPr>
              <a:t>∈</a:t>
            </a:r>
            <a:r>
              <a:rPr sz="1100" i="1" spc="-350" dirty="0">
                <a:latin typeface="Verdana"/>
                <a:cs typeface="Verdana"/>
              </a:rPr>
              <a:t>/</a:t>
            </a:r>
            <a:r>
              <a:rPr sz="1100" i="1" spc="-345" dirty="0">
                <a:latin typeface="Verdana"/>
                <a:cs typeface="Verdana"/>
              </a:rPr>
              <a:t> </a:t>
            </a:r>
            <a:r>
              <a:rPr sz="1100" i="1" spc="-45" dirty="0">
                <a:latin typeface="Arial"/>
                <a:cs typeface="Arial"/>
              </a:rPr>
              <a:t>A</a:t>
            </a:r>
            <a:r>
              <a:rPr sz="1100" i="1" spc="-45" dirty="0">
                <a:latin typeface="DejaVu Sans Condensed"/>
                <a:cs typeface="DejaVu Sans Condensed"/>
              </a:rPr>
              <a:t>}</a:t>
            </a:r>
            <a:endParaRPr sz="1100">
              <a:latin typeface="DejaVu Sans Condensed"/>
              <a:cs typeface="DejaVu Sans Condensed"/>
            </a:endParaRPr>
          </a:p>
          <a:p>
            <a:pPr marL="88900">
              <a:lnSpc>
                <a:spcPct val="100000"/>
              </a:lnSpc>
              <a:spcBef>
                <a:spcPts val="335"/>
              </a:spcBef>
            </a:pPr>
            <a:r>
              <a:rPr sz="1100" spc="-5" dirty="0">
                <a:latin typeface="Arial"/>
                <a:cs typeface="Arial"/>
              </a:rPr>
              <a:t>Concatenation: </a:t>
            </a:r>
            <a:r>
              <a:rPr sz="1100" i="1" spc="-10" dirty="0">
                <a:latin typeface="Arial"/>
                <a:cs typeface="Arial"/>
              </a:rPr>
              <a:t>AB </a:t>
            </a:r>
            <a:r>
              <a:rPr sz="1100" spc="-10" dirty="0">
                <a:latin typeface="Latin Modern Math"/>
                <a:cs typeface="Latin Modern Math"/>
              </a:rPr>
              <a:t>= </a:t>
            </a:r>
            <a:r>
              <a:rPr sz="1100" i="1" spc="-35" dirty="0">
                <a:latin typeface="DejaVu Sans Condensed"/>
                <a:cs typeface="DejaVu Sans Condensed"/>
              </a:rPr>
              <a:t>{</a:t>
            </a:r>
            <a:r>
              <a:rPr sz="1100" i="1" spc="-35" dirty="0">
                <a:latin typeface="Arial"/>
                <a:cs typeface="Arial"/>
              </a:rPr>
              <a:t>xy </a:t>
            </a:r>
            <a:r>
              <a:rPr sz="1100" i="1" spc="-35" dirty="0">
                <a:latin typeface="DejaVu Sans Condensed"/>
                <a:cs typeface="DejaVu Sans Condensed"/>
              </a:rPr>
              <a:t>| </a:t>
            </a:r>
            <a:r>
              <a:rPr sz="1100" i="1" spc="-5" dirty="0">
                <a:latin typeface="Arial"/>
                <a:cs typeface="Arial"/>
              </a:rPr>
              <a:t>x </a:t>
            </a:r>
            <a:r>
              <a:rPr sz="1100" i="1" spc="-135" dirty="0">
                <a:latin typeface="DejaVu Sans Condensed"/>
                <a:cs typeface="DejaVu Sans Condensed"/>
              </a:rPr>
              <a:t>∈ </a:t>
            </a:r>
            <a:r>
              <a:rPr sz="1100" i="1" spc="-10" dirty="0">
                <a:latin typeface="Arial"/>
                <a:cs typeface="Arial"/>
              </a:rPr>
              <a:t>A and </a:t>
            </a:r>
            <a:r>
              <a:rPr sz="1100" i="1" spc="-5" dirty="0">
                <a:latin typeface="Arial"/>
                <a:cs typeface="Arial"/>
              </a:rPr>
              <a:t>y </a:t>
            </a:r>
            <a:r>
              <a:rPr sz="1100" i="1" spc="-135" dirty="0">
                <a:latin typeface="DejaVu Sans Condensed"/>
                <a:cs typeface="DejaVu Sans Condensed"/>
              </a:rPr>
              <a:t>∈</a:t>
            </a:r>
            <a:r>
              <a:rPr sz="1100" i="1" spc="15" dirty="0">
                <a:latin typeface="DejaVu Sans Condensed"/>
                <a:cs typeface="DejaVu Sans Condensed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i="1" spc="-25" dirty="0">
                <a:latin typeface="DejaVu Sans Condensed"/>
                <a:cs typeface="DejaVu Sans Condensed"/>
              </a:rPr>
              <a:t>}</a:t>
            </a:r>
            <a:endParaRPr sz="1100">
              <a:latin typeface="DejaVu Sans Condensed"/>
              <a:cs typeface="DejaVu Sans Condensed"/>
            </a:endParaRPr>
          </a:p>
          <a:p>
            <a:pPr marL="88265" marR="127000">
              <a:lnSpc>
                <a:spcPct val="102600"/>
              </a:lnSpc>
              <a:spcBef>
                <a:spcPts val="300"/>
              </a:spcBef>
            </a:pPr>
            <a:r>
              <a:rPr sz="1100" i="1" spc="-5" dirty="0">
                <a:latin typeface="Arial"/>
                <a:cs typeface="Arial"/>
              </a:rPr>
              <a:t>A</a:t>
            </a:r>
            <a:r>
              <a:rPr sz="1200" i="1" spc="-7" baseline="27777" dirty="0">
                <a:latin typeface="Arial"/>
                <a:cs typeface="Arial"/>
              </a:rPr>
              <a:t>k </a:t>
            </a:r>
            <a:r>
              <a:rPr sz="1100" spc="-5" dirty="0">
                <a:latin typeface="Arial"/>
                <a:cs typeface="Arial"/>
              </a:rPr>
              <a:t>denotes the concatenation of </a:t>
            </a:r>
            <a:r>
              <a:rPr sz="1100" i="1" spc="-10" dirty="0">
                <a:latin typeface="Arial"/>
                <a:cs typeface="Arial"/>
              </a:rPr>
              <a:t>A </a:t>
            </a:r>
            <a:r>
              <a:rPr sz="1100" spc="-5" dirty="0">
                <a:latin typeface="Arial"/>
                <a:cs typeface="Arial"/>
              </a:rPr>
              <a:t>with itself </a:t>
            </a:r>
            <a:r>
              <a:rPr sz="1100" i="1" spc="-5" dirty="0">
                <a:latin typeface="Arial"/>
                <a:cs typeface="Arial"/>
              </a:rPr>
              <a:t>k </a:t>
            </a:r>
            <a:r>
              <a:rPr sz="1100" spc="-5" dirty="0">
                <a:latin typeface="Arial"/>
                <a:cs typeface="Arial"/>
              </a:rPr>
              <a:t>times  (note: </a:t>
            </a:r>
            <a:r>
              <a:rPr sz="1100" i="1" spc="-5" dirty="0">
                <a:latin typeface="Arial"/>
                <a:cs typeface="Arial"/>
              </a:rPr>
              <a:t>A</a:t>
            </a:r>
            <a:r>
              <a:rPr sz="1200" spc="-7" baseline="27777" dirty="0">
                <a:latin typeface="Arial"/>
                <a:cs typeface="Arial"/>
              </a:rPr>
              <a:t>0 </a:t>
            </a:r>
            <a:r>
              <a:rPr sz="1100" spc="-10" dirty="0">
                <a:latin typeface="Latin Modern Math"/>
                <a:cs typeface="Latin Modern Math"/>
              </a:rPr>
              <a:t>=</a:t>
            </a:r>
            <a:r>
              <a:rPr sz="1100" spc="-85" dirty="0">
                <a:latin typeface="Latin Modern Math"/>
                <a:cs typeface="Latin Modern Math"/>
              </a:rPr>
              <a:t> </a:t>
            </a:r>
            <a:r>
              <a:rPr sz="1100" i="1" spc="-60" dirty="0">
                <a:latin typeface="DejaVu Sans Condensed"/>
                <a:cs typeface="DejaVu Sans Condensed"/>
              </a:rPr>
              <a:t>{</a:t>
            </a:r>
            <a:r>
              <a:rPr sz="1100" i="1" spc="-60" dirty="0">
                <a:latin typeface="Verdana"/>
                <a:cs typeface="Verdana"/>
              </a:rPr>
              <a:t>ε</a:t>
            </a:r>
            <a:r>
              <a:rPr sz="1100" i="1" spc="-60" dirty="0">
                <a:latin typeface="DejaVu Sans Condensed"/>
                <a:cs typeface="DejaVu Sans Condensed"/>
              </a:rPr>
              <a:t>}</a:t>
            </a:r>
            <a:r>
              <a:rPr sz="1100" spc="-6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88265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Arial"/>
                <a:cs typeface="Arial"/>
              </a:rPr>
              <a:t>Star: </a:t>
            </a:r>
            <a:r>
              <a:rPr sz="1100" i="1" spc="-130" dirty="0">
                <a:latin typeface="Arial"/>
                <a:cs typeface="Arial"/>
              </a:rPr>
              <a:t>A</a:t>
            </a:r>
            <a:r>
              <a:rPr sz="1200" i="1" spc="-195" baseline="27777" dirty="0">
                <a:latin typeface="DejaVu Sans"/>
                <a:cs typeface="DejaVu Sans"/>
              </a:rPr>
              <a:t>∗ </a:t>
            </a:r>
            <a:r>
              <a:rPr sz="1100" spc="-10" dirty="0">
                <a:latin typeface="Latin Modern Math"/>
                <a:cs typeface="Latin Modern Math"/>
              </a:rPr>
              <a:t>= </a:t>
            </a:r>
            <a:r>
              <a:rPr sz="1100" i="1" spc="-5" dirty="0">
                <a:latin typeface="Arial"/>
                <a:cs typeface="Arial"/>
              </a:rPr>
              <a:t>A</a:t>
            </a:r>
            <a:r>
              <a:rPr sz="1200" spc="-7" baseline="27777" dirty="0">
                <a:latin typeface="Arial"/>
                <a:cs typeface="Arial"/>
              </a:rPr>
              <a:t>0 </a:t>
            </a:r>
            <a:r>
              <a:rPr sz="1100" i="1" dirty="0">
                <a:latin typeface="DejaVu Sans Condensed"/>
                <a:cs typeface="DejaVu Sans Condensed"/>
              </a:rPr>
              <a:t>∪ </a:t>
            </a:r>
            <a:r>
              <a:rPr sz="1100" i="1" spc="-5" dirty="0">
                <a:latin typeface="Arial"/>
                <a:cs typeface="Arial"/>
              </a:rPr>
              <a:t>A</a:t>
            </a:r>
            <a:r>
              <a:rPr sz="1200" spc="-7" baseline="27777" dirty="0">
                <a:latin typeface="Arial"/>
                <a:cs typeface="Arial"/>
              </a:rPr>
              <a:t>1 </a:t>
            </a:r>
            <a:r>
              <a:rPr sz="1100" i="1" dirty="0">
                <a:latin typeface="DejaVu Sans Condensed"/>
                <a:cs typeface="DejaVu Sans Condensed"/>
              </a:rPr>
              <a:t>∪ </a:t>
            </a:r>
            <a:r>
              <a:rPr sz="1100" i="1" spc="-5" dirty="0">
                <a:latin typeface="Arial"/>
                <a:cs typeface="Arial"/>
              </a:rPr>
              <a:t>A</a:t>
            </a:r>
            <a:r>
              <a:rPr sz="1200" spc="-7" baseline="27777" dirty="0">
                <a:latin typeface="Arial"/>
                <a:cs typeface="Arial"/>
              </a:rPr>
              <a:t>2 </a:t>
            </a:r>
            <a:r>
              <a:rPr sz="1100" i="1" dirty="0">
                <a:latin typeface="DejaVu Sans Condensed"/>
                <a:cs typeface="DejaVu Sans Condensed"/>
              </a:rPr>
              <a:t>∪ </a:t>
            </a:r>
            <a:r>
              <a:rPr sz="1100" i="1" spc="-100" dirty="0">
                <a:latin typeface="Verdana"/>
                <a:cs typeface="Verdana"/>
              </a:rPr>
              <a:t>. .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59865259"/>
      </p:ext>
    </p:extLst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948" y="0"/>
            <a:ext cx="198056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>
                <a:solidFill>
                  <a:srgbClr val="7A0000"/>
                </a:solidFill>
              </a:rPr>
              <a:t>Examples </a:t>
            </a:r>
            <a:r>
              <a:rPr spc="10" dirty="0">
                <a:solidFill>
                  <a:srgbClr val="7A0000"/>
                </a:solidFill>
              </a:rPr>
              <a:t>of</a:t>
            </a:r>
            <a:r>
              <a:rPr spc="-30" dirty="0">
                <a:solidFill>
                  <a:srgbClr val="7A0000"/>
                </a:solidFill>
              </a:rPr>
              <a:t> </a:t>
            </a:r>
            <a:r>
              <a:rPr spc="15" dirty="0">
                <a:solidFill>
                  <a:srgbClr val="7A0000"/>
                </a:solidFill>
              </a:rPr>
              <a:t>Languages</a:t>
            </a:r>
          </a:p>
        </p:txBody>
      </p:sp>
      <p:sp>
        <p:nvSpPr>
          <p:cNvPr id="3" name="object 3"/>
          <p:cNvSpPr/>
          <p:nvPr/>
        </p:nvSpPr>
        <p:spPr>
          <a:xfrm>
            <a:off x="491007" y="1121029"/>
            <a:ext cx="76809" cy="76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8995" y="1005342"/>
            <a:ext cx="3378835" cy="1247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1496695">
              <a:lnSpc>
                <a:spcPct val="125299"/>
              </a:lnSpc>
              <a:spcBef>
                <a:spcPts val="100"/>
              </a:spcBef>
            </a:pPr>
            <a:r>
              <a:rPr sz="1100" spc="-5" dirty="0">
                <a:latin typeface="Arial"/>
                <a:cs typeface="Arial"/>
              </a:rPr>
              <a:t>the set of </a:t>
            </a:r>
            <a:r>
              <a:rPr sz="1100" spc="-10" dirty="0">
                <a:latin typeface="Arial"/>
                <a:cs typeface="Arial"/>
              </a:rPr>
              <a:t>odd </a:t>
            </a:r>
            <a:r>
              <a:rPr sz="1100" dirty="0">
                <a:latin typeface="Arial"/>
                <a:cs typeface="Arial"/>
              </a:rPr>
              <a:t>binary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numbers  </a:t>
            </a:r>
            <a:r>
              <a:rPr sz="1100" spc="-5" dirty="0">
                <a:latin typeface="Arial"/>
                <a:cs typeface="Arial"/>
              </a:rPr>
              <a:t>the set of prime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numbers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100" spc="-5" dirty="0">
                <a:latin typeface="Arial"/>
                <a:cs typeface="Arial"/>
              </a:rPr>
              <a:t>the set of syntactically correct </a:t>
            </a:r>
            <a:r>
              <a:rPr sz="1100" spc="-25" dirty="0">
                <a:latin typeface="Arial"/>
                <a:cs typeface="Arial"/>
              </a:rPr>
              <a:t>Java </a:t>
            </a:r>
            <a:r>
              <a:rPr sz="1100" spc="-10" dirty="0">
                <a:latin typeface="Arial"/>
                <a:cs typeface="Arial"/>
              </a:rPr>
              <a:t>programs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spc="-5" dirty="0">
                <a:latin typeface="Arial"/>
                <a:cs typeface="Arial"/>
              </a:rPr>
              <a:t>the set of </a:t>
            </a:r>
            <a:r>
              <a:rPr sz="1100" spc="-10" dirty="0">
                <a:latin typeface="Arial"/>
                <a:cs typeface="Arial"/>
              </a:rPr>
              <a:t>positive </a:t>
            </a:r>
            <a:r>
              <a:rPr sz="1100" spc="-5" dirty="0">
                <a:latin typeface="Arial"/>
                <a:cs typeface="Arial"/>
              </a:rPr>
              <a:t>integer solutions to </a:t>
            </a:r>
            <a:r>
              <a:rPr sz="1100" i="1" spc="45" dirty="0">
                <a:latin typeface="Arial"/>
                <a:cs typeface="Arial"/>
              </a:rPr>
              <a:t>x</a:t>
            </a:r>
            <a:r>
              <a:rPr sz="1200" i="1" spc="67" baseline="27777" dirty="0">
                <a:latin typeface="Arial"/>
                <a:cs typeface="Arial"/>
              </a:rPr>
              <a:t>n </a:t>
            </a:r>
            <a:r>
              <a:rPr sz="1100" spc="-10" dirty="0">
                <a:latin typeface="Latin Modern Math"/>
                <a:cs typeface="Latin Modern Math"/>
              </a:rPr>
              <a:t>+ </a:t>
            </a:r>
            <a:r>
              <a:rPr sz="1100" i="1" spc="45" dirty="0">
                <a:latin typeface="Arial"/>
                <a:cs typeface="Arial"/>
              </a:rPr>
              <a:t>y</a:t>
            </a:r>
            <a:r>
              <a:rPr sz="1200" i="1" spc="67" baseline="27777" dirty="0">
                <a:latin typeface="Arial"/>
                <a:cs typeface="Arial"/>
              </a:rPr>
              <a:t>n </a:t>
            </a:r>
            <a:r>
              <a:rPr sz="1100" spc="-10" dirty="0">
                <a:latin typeface="Latin Modern Math"/>
                <a:cs typeface="Latin Modern Math"/>
              </a:rPr>
              <a:t>= </a:t>
            </a:r>
            <a:r>
              <a:rPr sz="1100" i="1" spc="30" dirty="0">
                <a:latin typeface="Arial"/>
                <a:cs typeface="Arial"/>
              </a:rPr>
              <a:t>z</a:t>
            </a:r>
            <a:r>
              <a:rPr sz="1200" i="1" spc="44" baseline="27777" dirty="0">
                <a:latin typeface="Arial"/>
                <a:cs typeface="Arial"/>
              </a:rPr>
              <a:t>n</a:t>
            </a:r>
            <a:r>
              <a:rPr sz="1200" i="1" spc="142" baseline="27777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for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i="1" spc="-10" dirty="0">
                <a:latin typeface="Arial"/>
                <a:cs typeface="Arial"/>
              </a:rPr>
              <a:t>n </a:t>
            </a:r>
            <a:r>
              <a:rPr sz="1100" i="1" spc="-55" dirty="0">
                <a:latin typeface="Verdana"/>
                <a:cs typeface="Verdana"/>
              </a:rPr>
              <a:t>&gt;</a:t>
            </a:r>
            <a:r>
              <a:rPr sz="1100" i="1" spc="-65" dirty="0">
                <a:latin typeface="Verdana"/>
                <a:cs typeface="Verdana"/>
              </a:rPr>
              <a:t> </a:t>
            </a:r>
            <a:r>
              <a:rPr sz="1100" spc="-1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sz="1100" spc="-5" dirty="0">
                <a:latin typeface="Arial"/>
                <a:cs typeface="Arial"/>
              </a:rPr>
              <a:t>the set of true mathematical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statements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1007" y="1331061"/>
            <a:ext cx="76809" cy="768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007" y="1541094"/>
            <a:ext cx="76809" cy="768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1007" y="1751126"/>
            <a:ext cx="76809" cy="768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1007" y="2133231"/>
            <a:ext cx="76809" cy="768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7355400"/>
      </p:ext>
    </p:extLst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1507" y="211706"/>
            <a:ext cx="9988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LM Sans 12"/>
                <a:cs typeface="LM Sans 12"/>
              </a:rPr>
              <a:t>Example</a:t>
            </a:r>
            <a:r>
              <a:rPr sz="1400" spc="-40" dirty="0">
                <a:solidFill>
                  <a:srgbClr val="3333B2"/>
                </a:solidFill>
                <a:latin typeface="LM Sans 12"/>
                <a:cs typeface="LM Sans 12"/>
              </a:rPr>
              <a:t> </a:t>
            </a:r>
            <a:r>
              <a:rPr sz="1400" i="1" spc="85" dirty="0">
                <a:solidFill>
                  <a:srgbClr val="3333B2"/>
                </a:solidFill>
                <a:latin typeface="Verdana"/>
                <a:cs typeface="Verdana"/>
              </a:rPr>
              <a:t>M</a:t>
            </a:r>
            <a:r>
              <a:rPr sz="1500" spc="127" baseline="-11111" dirty="0">
                <a:solidFill>
                  <a:srgbClr val="3333B2"/>
                </a:solidFill>
                <a:latin typeface="LM Roman 10"/>
                <a:cs typeface="LM Roman 10"/>
              </a:rPr>
              <a:t>2</a:t>
            </a:r>
            <a:endParaRPr sz="1500" baseline="-11111">
              <a:latin typeface="LM Roman 10"/>
              <a:cs typeface="LM Roman 1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39080" y="1172445"/>
            <a:ext cx="346710" cy="346710"/>
          </a:xfrm>
          <a:custGeom>
            <a:avLst/>
            <a:gdLst/>
            <a:ahLst/>
            <a:cxnLst/>
            <a:rect l="l" t="t" r="r" b="b"/>
            <a:pathLst>
              <a:path w="346710" h="346709">
                <a:moveTo>
                  <a:pt x="346367" y="173183"/>
                </a:moveTo>
                <a:lnTo>
                  <a:pt x="340180" y="127144"/>
                </a:lnTo>
                <a:lnTo>
                  <a:pt x="322722" y="85773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3" y="23644"/>
                </a:lnTo>
                <a:lnTo>
                  <a:pt x="50723" y="50723"/>
                </a:lnTo>
                <a:lnTo>
                  <a:pt x="23644" y="85773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3" y="322722"/>
                </a:lnTo>
                <a:lnTo>
                  <a:pt x="127144" y="340180"/>
                </a:lnTo>
                <a:lnTo>
                  <a:pt x="173183" y="346367"/>
                </a:lnTo>
                <a:lnTo>
                  <a:pt x="219223" y="340180"/>
                </a:lnTo>
                <a:lnTo>
                  <a:pt x="260593" y="322722"/>
                </a:lnTo>
                <a:lnTo>
                  <a:pt x="295643" y="295643"/>
                </a:lnTo>
                <a:lnTo>
                  <a:pt x="322722" y="260593"/>
                </a:lnTo>
                <a:lnTo>
                  <a:pt x="340180" y="219223"/>
                </a:lnTo>
                <a:lnTo>
                  <a:pt x="346367" y="17318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13191" y="1210740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1</a:t>
            </a:r>
            <a:endParaRPr sz="1200" baseline="-10416">
              <a:latin typeface="LM Roman 8"/>
              <a:cs typeface="LM Roman 8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49277" y="1163555"/>
            <a:ext cx="1265555" cy="364490"/>
            <a:chOff x="1849277" y="1163555"/>
            <a:chExt cx="1265555" cy="364490"/>
          </a:xfrm>
        </p:grpSpPr>
        <p:sp>
          <p:nvSpPr>
            <p:cNvPr id="6" name="object 6"/>
            <p:cNvSpPr/>
            <p:nvPr/>
          </p:nvSpPr>
          <p:spPr>
            <a:xfrm>
              <a:off x="1851817" y="1345628"/>
              <a:ext cx="166370" cy="0"/>
            </a:xfrm>
            <a:custGeom>
              <a:avLst/>
              <a:gdLst/>
              <a:ahLst/>
              <a:cxnLst/>
              <a:rect l="l" t="t" r="r" b="b"/>
              <a:pathLst>
                <a:path w="166369">
                  <a:moveTo>
                    <a:pt x="0" y="0"/>
                  </a:moveTo>
                  <a:lnTo>
                    <a:pt x="166259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02893" y="1325384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59088" y="1172445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09">
                  <a:moveTo>
                    <a:pt x="346368" y="173183"/>
                  </a:moveTo>
                  <a:lnTo>
                    <a:pt x="340182" y="127144"/>
                  </a:lnTo>
                  <a:lnTo>
                    <a:pt x="322723" y="85773"/>
                  </a:lnTo>
                  <a:lnTo>
                    <a:pt x="295644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3"/>
                  </a:lnTo>
                  <a:lnTo>
                    <a:pt x="23644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4" y="322722"/>
                  </a:lnTo>
                  <a:lnTo>
                    <a:pt x="127144" y="340180"/>
                  </a:lnTo>
                  <a:lnTo>
                    <a:pt x="173183" y="346367"/>
                  </a:lnTo>
                  <a:lnTo>
                    <a:pt x="219223" y="340180"/>
                  </a:lnTo>
                  <a:lnTo>
                    <a:pt x="260593" y="322722"/>
                  </a:lnTo>
                  <a:lnTo>
                    <a:pt x="295644" y="295643"/>
                  </a:lnTo>
                  <a:lnTo>
                    <a:pt x="322723" y="260593"/>
                  </a:lnTo>
                  <a:lnTo>
                    <a:pt x="340182" y="219223"/>
                  </a:lnTo>
                  <a:lnTo>
                    <a:pt x="346368" y="173183"/>
                  </a:lnTo>
                  <a:close/>
                </a:path>
              </a:pathLst>
            </a:custGeom>
            <a:ln w="177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27175" y="1234349"/>
            <a:ext cx="2889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Sans 10"/>
                <a:cs typeface="LM Sans 10"/>
              </a:rPr>
              <a:t>st</a:t>
            </a:r>
            <a:r>
              <a:rPr sz="1100" spc="-40" dirty="0">
                <a:latin typeface="LM Sans 10"/>
                <a:cs typeface="LM Sans 10"/>
              </a:rPr>
              <a:t>a</a:t>
            </a:r>
            <a:r>
              <a:rPr sz="1100" spc="-10" dirty="0">
                <a:latin typeface="LM Sans 10"/>
                <a:cs typeface="LM Sans 10"/>
              </a:rPr>
              <a:t>rt</a:t>
            </a:r>
            <a:endParaRPr sz="1100">
              <a:latin typeface="LM Sans 10"/>
              <a:cs typeface="LM Sans 1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33192" y="1210740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2</a:t>
            </a:r>
            <a:endParaRPr sz="1200" baseline="-10416">
              <a:latin typeface="LM Roman 8"/>
              <a:cs typeface="LM Roman 8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49981" y="964821"/>
            <a:ext cx="138199" cy="2132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164930" y="769644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0</a:t>
            </a:r>
            <a:endParaRPr sz="1100">
              <a:latin typeface="LM Roman 10"/>
              <a:cs typeface="LM Roman 10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369359" y="1217770"/>
            <a:ext cx="389255" cy="58419"/>
            <a:chOff x="2369359" y="1217770"/>
            <a:chExt cx="389255" cy="58419"/>
          </a:xfrm>
        </p:grpSpPr>
        <p:sp>
          <p:nvSpPr>
            <p:cNvPr id="14" name="object 14"/>
            <p:cNvSpPr/>
            <p:nvPr/>
          </p:nvSpPr>
          <p:spPr>
            <a:xfrm>
              <a:off x="2371899" y="1220310"/>
              <a:ext cx="381000" cy="51435"/>
            </a:xfrm>
            <a:custGeom>
              <a:avLst/>
              <a:gdLst/>
              <a:ahLst/>
              <a:cxnLst/>
              <a:rect l="l" t="t" r="r" b="b"/>
              <a:pathLst>
                <a:path w="381000" h="51434">
                  <a:moveTo>
                    <a:pt x="0" y="50879"/>
                  </a:moveTo>
                  <a:lnTo>
                    <a:pt x="51507" y="29171"/>
                  </a:lnTo>
                  <a:lnTo>
                    <a:pt x="101158" y="13517"/>
                  </a:lnTo>
                  <a:lnTo>
                    <a:pt x="149317" y="3824"/>
                  </a:lnTo>
                  <a:lnTo>
                    <a:pt x="196349" y="0"/>
                  </a:lnTo>
                  <a:lnTo>
                    <a:pt x="242620" y="1950"/>
                  </a:lnTo>
                  <a:lnTo>
                    <a:pt x="288493" y="9584"/>
                  </a:lnTo>
                  <a:lnTo>
                    <a:pt x="334334" y="22808"/>
                  </a:lnTo>
                  <a:lnTo>
                    <a:pt x="380507" y="41528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30126" y="1237083"/>
              <a:ext cx="26034" cy="36830"/>
            </a:xfrm>
            <a:custGeom>
              <a:avLst/>
              <a:gdLst/>
              <a:ahLst/>
              <a:cxnLst/>
              <a:rect l="l" t="t" r="r" b="b"/>
              <a:pathLst>
                <a:path w="26035" h="36830">
                  <a:moveTo>
                    <a:pt x="16971" y="0"/>
                  </a:moveTo>
                  <a:lnTo>
                    <a:pt x="17071" y="6864"/>
                  </a:lnTo>
                  <a:lnTo>
                    <a:pt x="19493" y="14931"/>
                  </a:lnTo>
                  <a:lnTo>
                    <a:pt x="22842" y="22118"/>
                  </a:lnTo>
                  <a:lnTo>
                    <a:pt x="25727" y="26346"/>
                  </a:lnTo>
                  <a:lnTo>
                    <a:pt x="20638" y="26895"/>
                  </a:lnTo>
                  <a:lnTo>
                    <a:pt x="12996" y="29012"/>
                  </a:lnTo>
                  <a:lnTo>
                    <a:pt x="5287" y="32404"/>
                  </a:lnTo>
                  <a:lnTo>
                    <a:pt x="0" y="36783"/>
                  </a:lnTo>
                </a:path>
              </a:pathLst>
            </a:custGeom>
            <a:ln w="4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523007" y="1021332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1</a:t>
            </a:r>
            <a:endParaRPr sz="1100">
              <a:latin typeface="LM Roman 10"/>
              <a:cs typeface="LM Roman 10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383156" y="956704"/>
            <a:ext cx="626110" cy="516890"/>
            <a:chOff x="2383156" y="956704"/>
            <a:chExt cx="626110" cy="516890"/>
          </a:xfrm>
        </p:grpSpPr>
        <p:sp>
          <p:nvSpPr>
            <p:cNvPr id="18" name="object 18"/>
            <p:cNvSpPr/>
            <p:nvPr/>
          </p:nvSpPr>
          <p:spPr>
            <a:xfrm>
              <a:off x="2868699" y="956704"/>
              <a:ext cx="140475" cy="21772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88617" y="1421674"/>
              <a:ext cx="381000" cy="49530"/>
            </a:xfrm>
            <a:custGeom>
              <a:avLst/>
              <a:gdLst/>
              <a:ahLst/>
              <a:cxnLst/>
              <a:rect l="l" t="t" r="r" b="b"/>
              <a:pathLst>
                <a:path w="381000" h="49530">
                  <a:moveTo>
                    <a:pt x="380572" y="0"/>
                  </a:moveTo>
                  <a:lnTo>
                    <a:pt x="328891" y="21291"/>
                  </a:lnTo>
                  <a:lnTo>
                    <a:pt x="279116" y="36543"/>
                  </a:lnTo>
                  <a:lnTo>
                    <a:pt x="230880" y="45846"/>
                  </a:lnTo>
                  <a:lnTo>
                    <a:pt x="183819" y="49288"/>
                  </a:lnTo>
                  <a:lnTo>
                    <a:pt x="137565" y="46962"/>
                  </a:lnTo>
                  <a:lnTo>
                    <a:pt x="91755" y="38957"/>
                  </a:lnTo>
                  <a:lnTo>
                    <a:pt x="46021" y="25362"/>
                  </a:lnTo>
                  <a:lnTo>
                    <a:pt x="0" y="6269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85182" y="1416098"/>
              <a:ext cx="26034" cy="36830"/>
            </a:xfrm>
            <a:custGeom>
              <a:avLst/>
              <a:gdLst/>
              <a:ahLst/>
              <a:cxnLst/>
              <a:rect l="l" t="t" r="r" b="b"/>
              <a:pathLst>
                <a:path w="26035" h="36830">
                  <a:moveTo>
                    <a:pt x="8542" y="36642"/>
                  </a:moveTo>
                  <a:lnTo>
                    <a:pt x="8497" y="29777"/>
                  </a:lnTo>
                  <a:lnTo>
                    <a:pt x="6141" y="21692"/>
                  </a:lnTo>
                  <a:lnTo>
                    <a:pt x="2850" y="14478"/>
                  </a:lnTo>
                  <a:lnTo>
                    <a:pt x="0" y="10227"/>
                  </a:lnTo>
                  <a:lnTo>
                    <a:pt x="5093" y="9719"/>
                  </a:lnTo>
                  <a:lnTo>
                    <a:pt x="12751" y="7665"/>
                  </a:lnTo>
                  <a:lnTo>
                    <a:pt x="20486" y="4335"/>
                  </a:lnTo>
                  <a:lnTo>
                    <a:pt x="25809" y="0"/>
                  </a:lnTo>
                </a:path>
              </a:pathLst>
            </a:custGeom>
            <a:ln w="4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84919" y="76151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1</a:t>
            </a:r>
            <a:endParaRPr sz="1100">
              <a:latin typeface="LM Roman 10"/>
              <a:cs typeface="LM Roman 1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23007" y="1454682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0</a:t>
            </a:r>
            <a:endParaRPr sz="1100">
              <a:latin typeface="LM Roman 10"/>
              <a:cs typeface="LM Roman 10"/>
            </a:endParaRPr>
          </a:p>
        </p:txBody>
      </p:sp>
    </p:spTree>
    <p:extLst>
      <p:ext uri="{BB962C8B-B14F-4D97-AF65-F5344CB8AC3E}">
        <p14:creationId xmlns:p14="http://schemas.microsoft.com/office/powerpoint/2010/main" val="842627303"/>
      </p:ext>
    </p:extLst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1507" y="211706"/>
            <a:ext cx="9988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Example</a:t>
            </a:r>
            <a:r>
              <a:rPr spc="-40" dirty="0"/>
              <a:t> </a:t>
            </a:r>
            <a:r>
              <a:rPr i="1" spc="85" dirty="0">
                <a:latin typeface="Verdana"/>
                <a:cs typeface="Verdana"/>
              </a:rPr>
              <a:t>M</a:t>
            </a:r>
            <a:r>
              <a:rPr sz="1500" spc="127" baseline="-11111" dirty="0">
                <a:latin typeface="LM Roman 10"/>
                <a:cs typeface="LM Roman 10"/>
              </a:rPr>
              <a:t>2</a:t>
            </a:r>
            <a:endParaRPr sz="1500" baseline="-11111">
              <a:latin typeface="LM Roman 10"/>
              <a:cs typeface="LM Roman 1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39080" y="1172445"/>
            <a:ext cx="346710" cy="346710"/>
          </a:xfrm>
          <a:custGeom>
            <a:avLst/>
            <a:gdLst/>
            <a:ahLst/>
            <a:cxnLst/>
            <a:rect l="l" t="t" r="r" b="b"/>
            <a:pathLst>
              <a:path w="346710" h="346709">
                <a:moveTo>
                  <a:pt x="346367" y="173183"/>
                </a:moveTo>
                <a:lnTo>
                  <a:pt x="340180" y="127144"/>
                </a:lnTo>
                <a:lnTo>
                  <a:pt x="322722" y="85773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3" y="23644"/>
                </a:lnTo>
                <a:lnTo>
                  <a:pt x="50723" y="50723"/>
                </a:lnTo>
                <a:lnTo>
                  <a:pt x="23644" y="85773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3" y="322722"/>
                </a:lnTo>
                <a:lnTo>
                  <a:pt x="127144" y="340180"/>
                </a:lnTo>
                <a:lnTo>
                  <a:pt x="173183" y="346367"/>
                </a:lnTo>
                <a:lnTo>
                  <a:pt x="219223" y="340180"/>
                </a:lnTo>
                <a:lnTo>
                  <a:pt x="260593" y="322722"/>
                </a:lnTo>
                <a:lnTo>
                  <a:pt x="295643" y="295643"/>
                </a:lnTo>
                <a:lnTo>
                  <a:pt x="322722" y="260593"/>
                </a:lnTo>
                <a:lnTo>
                  <a:pt x="340180" y="219223"/>
                </a:lnTo>
                <a:lnTo>
                  <a:pt x="346367" y="17318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13191" y="1210740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1</a:t>
            </a:r>
            <a:endParaRPr sz="1200" baseline="-10416">
              <a:latin typeface="LM Roman 8"/>
              <a:cs typeface="LM Roman 8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49277" y="1163555"/>
            <a:ext cx="1265555" cy="364490"/>
            <a:chOff x="1849277" y="1163555"/>
            <a:chExt cx="1265555" cy="364490"/>
          </a:xfrm>
        </p:grpSpPr>
        <p:sp>
          <p:nvSpPr>
            <p:cNvPr id="6" name="object 6"/>
            <p:cNvSpPr/>
            <p:nvPr/>
          </p:nvSpPr>
          <p:spPr>
            <a:xfrm>
              <a:off x="1851817" y="1345628"/>
              <a:ext cx="166370" cy="0"/>
            </a:xfrm>
            <a:custGeom>
              <a:avLst/>
              <a:gdLst/>
              <a:ahLst/>
              <a:cxnLst/>
              <a:rect l="l" t="t" r="r" b="b"/>
              <a:pathLst>
                <a:path w="166369">
                  <a:moveTo>
                    <a:pt x="0" y="0"/>
                  </a:moveTo>
                  <a:lnTo>
                    <a:pt x="166259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02893" y="1325384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59088" y="1172445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09">
                  <a:moveTo>
                    <a:pt x="346368" y="173183"/>
                  </a:moveTo>
                  <a:lnTo>
                    <a:pt x="340182" y="127144"/>
                  </a:lnTo>
                  <a:lnTo>
                    <a:pt x="322723" y="85773"/>
                  </a:lnTo>
                  <a:lnTo>
                    <a:pt x="295644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3"/>
                  </a:lnTo>
                  <a:lnTo>
                    <a:pt x="23644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4" y="322722"/>
                  </a:lnTo>
                  <a:lnTo>
                    <a:pt x="127144" y="340180"/>
                  </a:lnTo>
                  <a:lnTo>
                    <a:pt x="173183" y="346367"/>
                  </a:lnTo>
                  <a:lnTo>
                    <a:pt x="219223" y="340180"/>
                  </a:lnTo>
                  <a:lnTo>
                    <a:pt x="260593" y="322722"/>
                  </a:lnTo>
                  <a:lnTo>
                    <a:pt x="295644" y="295643"/>
                  </a:lnTo>
                  <a:lnTo>
                    <a:pt x="322723" y="260593"/>
                  </a:lnTo>
                  <a:lnTo>
                    <a:pt x="340182" y="219223"/>
                  </a:lnTo>
                  <a:lnTo>
                    <a:pt x="346368" y="173183"/>
                  </a:lnTo>
                  <a:close/>
                </a:path>
              </a:pathLst>
            </a:custGeom>
            <a:ln w="177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27175" y="1234349"/>
            <a:ext cx="2889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Sans 10"/>
                <a:cs typeface="LM Sans 10"/>
              </a:rPr>
              <a:t>st</a:t>
            </a:r>
            <a:r>
              <a:rPr sz="1100" spc="-40" dirty="0">
                <a:latin typeface="LM Sans 10"/>
                <a:cs typeface="LM Sans 10"/>
              </a:rPr>
              <a:t>a</a:t>
            </a:r>
            <a:r>
              <a:rPr sz="1100" spc="-10" dirty="0">
                <a:latin typeface="LM Sans 10"/>
                <a:cs typeface="LM Sans 10"/>
              </a:rPr>
              <a:t>rt</a:t>
            </a:r>
            <a:endParaRPr sz="1100">
              <a:latin typeface="LM Sans 10"/>
              <a:cs typeface="LM Sans 1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33192" y="1210740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2</a:t>
            </a:r>
            <a:endParaRPr sz="1200" baseline="-10416">
              <a:latin typeface="LM Roman 8"/>
              <a:cs typeface="LM Roman 8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49981" y="964821"/>
            <a:ext cx="138199" cy="2132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164930" y="769644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0</a:t>
            </a:r>
            <a:endParaRPr sz="1100">
              <a:latin typeface="LM Roman 10"/>
              <a:cs typeface="LM Roman 10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369359" y="1217770"/>
            <a:ext cx="389255" cy="58419"/>
            <a:chOff x="2369359" y="1217770"/>
            <a:chExt cx="389255" cy="58419"/>
          </a:xfrm>
        </p:grpSpPr>
        <p:sp>
          <p:nvSpPr>
            <p:cNvPr id="14" name="object 14"/>
            <p:cNvSpPr/>
            <p:nvPr/>
          </p:nvSpPr>
          <p:spPr>
            <a:xfrm>
              <a:off x="2371899" y="1220310"/>
              <a:ext cx="381000" cy="51435"/>
            </a:xfrm>
            <a:custGeom>
              <a:avLst/>
              <a:gdLst/>
              <a:ahLst/>
              <a:cxnLst/>
              <a:rect l="l" t="t" r="r" b="b"/>
              <a:pathLst>
                <a:path w="381000" h="51434">
                  <a:moveTo>
                    <a:pt x="0" y="50879"/>
                  </a:moveTo>
                  <a:lnTo>
                    <a:pt x="51507" y="29171"/>
                  </a:lnTo>
                  <a:lnTo>
                    <a:pt x="101158" y="13517"/>
                  </a:lnTo>
                  <a:lnTo>
                    <a:pt x="149317" y="3824"/>
                  </a:lnTo>
                  <a:lnTo>
                    <a:pt x="196349" y="0"/>
                  </a:lnTo>
                  <a:lnTo>
                    <a:pt x="242620" y="1950"/>
                  </a:lnTo>
                  <a:lnTo>
                    <a:pt x="288493" y="9584"/>
                  </a:lnTo>
                  <a:lnTo>
                    <a:pt x="334334" y="22808"/>
                  </a:lnTo>
                  <a:lnTo>
                    <a:pt x="380507" y="41528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30126" y="1237083"/>
              <a:ext cx="26034" cy="36830"/>
            </a:xfrm>
            <a:custGeom>
              <a:avLst/>
              <a:gdLst/>
              <a:ahLst/>
              <a:cxnLst/>
              <a:rect l="l" t="t" r="r" b="b"/>
              <a:pathLst>
                <a:path w="26035" h="36830">
                  <a:moveTo>
                    <a:pt x="16971" y="0"/>
                  </a:moveTo>
                  <a:lnTo>
                    <a:pt x="17071" y="6864"/>
                  </a:lnTo>
                  <a:lnTo>
                    <a:pt x="19493" y="14931"/>
                  </a:lnTo>
                  <a:lnTo>
                    <a:pt x="22842" y="22118"/>
                  </a:lnTo>
                  <a:lnTo>
                    <a:pt x="25727" y="26346"/>
                  </a:lnTo>
                  <a:lnTo>
                    <a:pt x="20638" y="26895"/>
                  </a:lnTo>
                  <a:lnTo>
                    <a:pt x="12996" y="29012"/>
                  </a:lnTo>
                  <a:lnTo>
                    <a:pt x="5287" y="32404"/>
                  </a:lnTo>
                  <a:lnTo>
                    <a:pt x="0" y="36783"/>
                  </a:lnTo>
                </a:path>
              </a:pathLst>
            </a:custGeom>
            <a:ln w="4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523007" y="1021332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1</a:t>
            </a:r>
            <a:endParaRPr sz="1100">
              <a:latin typeface="LM Roman 10"/>
              <a:cs typeface="LM Roman 10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383156" y="956704"/>
            <a:ext cx="626110" cy="516890"/>
            <a:chOff x="2383156" y="956704"/>
            <a:chExt cx="626110" cy="516890"/>
          </a:xfrm>
        </p:grpSpPr>
        <p:sp>
          <p:nvSpPr>
            <p:cNvPr id="18" name="object 18"/>
            <p:cNvSpPr/>
            <p:nvPr/>
          </p:nvSpPr>
          <p:spPr>
            <a:xfrm>
              <a:off x="2868699" y="956704"/>
              <a:ext cx="140475" cy="21772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88617" y="1421674"/>
              <a:ext cx="381000" cy="49530"/>
            </a:xfrm>
            <a:custGeom>
              <a:avLst/>
              <a:gdLst/>
              <a:ahLst/>
              <a:cxnLst/>
              <a:rect l="l" t="t" r="r" b="b"/>
              <a:pathLst>
                <a:path w="381000" h="49530">
                  <a:moveTo>
                    <a:pt x="380572" y="0"/>
                  </a:moveTo>
                  <a:lnTo>
                    <a:pt x="328891" y="21291"/>
                  </a:lnTo>
                  <a:lnTo>
                    <a:pt x="279116" y="36543"/>
                  </a:lnTo>
                  <a:lnTo>
                    <a:pt x="230880" y="45846"/>
                  </a:lnTo>
                  <a:lnTo>
                    <a:pt x="183819" y="49288"/>
                  </a:lnTo>
                  <a:lnTo>
                    <a:pt x="137565" y="46962"/>
                  </a:lnTo>
                  <a:lnTo>
                    <a:pt x="91755" y="38957"/>
                  </a:lnTo>
                  <a:lnTo>
                    <a:pt x="46021" y="25362"/>
                  </a:lnTo>
                  <a:lnTo>
                    <a:pt x="0" y="6269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85182" y="1416098"/>
              <a:ext cx="26034" cy="36830"/>
            </a:xfrm>
            <a:custGeom>
              <a:avLst/>
              <a:gdLst/>
              <a:ahLst/>
              <a:cxnLst/>
              <a:rect l="l" t="t" r="r" b="b"/>
              <a:pathLst>
                <a:path w="26035" h="36830">
                  <a:moveTo>
                    <a:pt x="8542" y="36642"/>
                  </a:moveTo>
                  <a:lnTo>
                    <a:pt x="8497" y="29777"/>
                  </a:lnTo>
                  <a:lnTo>
                    <a:pt x="6141" y="21692"/>
                  </a:lnTo>
                  <a:lnTo>
                    <a:pt x="2850" y="14478"/>
                  </a:lnTo>
                  <a:lnTo>
                    <a:pt x="0" y="10227"/>
                  </a:lnTo>
                  <a:lnTo>
                    <a:pt x="5093" y="9719"/>
                  </a:lnTo>
                  <a:lnTo>
                    <a:pt x="12751" y="7665"/>
                  </a:lnTo>
                  <a:lnTo>
                    <a:pt x="20486" y="4335"/>
                  </a:lnTo>
                  <a:lnTo>
                    <a:pt x="25809" y="0"/>
                  </a:lnTo>
                </a:path>
              </a:pathLst>
            </a:custGeom>
            <a:ln w="4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84919" y="76151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1</a:t>
            </a:r>
            <a:endParaRPr sz="1100">
              <a:latin typeface="LM Roman 10"/>
              <a:cs typeface="LM Roman 10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067305" y="2238400"/>
            <a:ext cx="750570" cy="521334"/>
            <a:chOff x="2067305" y="2238400"/>
            <a:chExt cx="750570" cy="521334"/>
          </a:xfrm>
        </p:grpSpPr>
        <p:sp>
          <p:nvSpPr>
            <p:cNvPr id="23" name="object 23"/>
            <p:cNvSpPr/>
            <p:nvPr/>
          </p:nvSpPr>
          <p:spPr>
            <a:xfrm>
              <a:off x="2318308" y="2238400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067305" y="2413000"/>
              <a:ext cx="750570" cy="0"/>
            </a:xfrm>
            <a:custGeom>
              <a:avLst/>
              <a:gdLst/>
              <a:ahLst/>
              <a:cxnLst/>
              <a:rect l="l" t="t" r="r" b="b"/>
              <a:pathLst>
                <a:path w="750569">
                  <a:moveTo>
                    <a:pt x="0" y="0"/>
                  </a:moveTo>
                  <a:lnTo>
                    <a:pt x="75048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318308" y="2415527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18308" y="2587599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15658" y="1454682"/>
            <a:ext cx="3589654" cy="1601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19455" algn="ctr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0</a:t>
            </a:r>
            <a:endParaRPr sz="1100">
              <a:latin typeface="LM Roman 10"/>
              <a:cs typeface="LM Roman 10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500">
              <a:latin typeface="LM Roman 10"/>
              <a:cs typeface="LM Roman 10"/>
            </a:endParaRPr>
          </a:p>
          <a:p>
            <a:pPr marL="220979" indent="-132715">
              <a:lnSpc>
                <a:spcPct val="100000"/>
              </a:lnSpc>
              <a:buClr>
                <a:srgbClr val="3333B2"/>
              </a:buClr>
              <a:buSzPct val="90909"/>
              <a:buFont typeface="Arial"/>
              <a:buChar char="•"/>
              <a:tabLst>
                <a:tab pos="221615" algn="l"/>
              </a:tabLst>
            </a:pPr>
            <a:r>
              <a:rPr sz="1100" i="1" spc="15" dirty="0">
                <a:latin typeface="Georgia"/>
                <a:cs typeface="Georgia"/>
              </a:rPr>
              <a:t>M</a:t>
            </a:r>
            <a:r>
              <a:rPr sz="1200" spc="22" baseline="-10416" dirty="0">
                <a:latin typeface="LM Roman 8"/>
                <a:cs typeface="LM Roman 8"/>
              </a:rPr>
              <a:t>2 </a:t>
            </a:r>
            <a:r>
              <a:rPr sz="1100" spc="-10" dirty="0">
                <a:latin typeface="LM Roman 10"/>
                <a:cs typeface="LM Roman 10"/>
              </a:rPr>
              <a:t>= </a:t>
            </a:r>
            <a:r>
              <a:rPr sz="1100" i="1" spc="-80" dirty="0">
                <a:latin typeface="DejaVu Sans"/>
                <a:cs typeface="DejaVu Sans"/>
              </a:rPr>
              <a:t>{{</a:t>
            </a:r>
            <a:r>
              <a:rPr sz="1100" i="1" spc="-80" dirty="0">
                <a:latin typeface="Georgia"/>
                <a:cs typeface="Georgia"/>
              </a:rPr>
              <a:t>q</a:t>
            </a:r>
            <a:r>
              <a:rPr sz="1200" spc="-120" baseline="-10416" dirty="0">
                <a:latin typeface="LM Roman 8"/>
                <a:cs typeface="LM Roman 8"/>
              </a:rPr>
              <a:t>1</a:t>
            </a:r>
            <a:r>
              <a:rPr sz="1100" i="1" spc="-80" dirty="0">
                <a:latin typeface="Georgia"/>
                <a:cs typeface="Georgia"/>
              </a:rPr>
              <a:t>, </a:t>
            </a:r>
            <a:r>
              <a:rPr sz="1100" i="1" spc="-60" dirty="0">
                <a:latin typeface="Georgia"/>
                <a:cs typeface="Georgia"/>
              </a:rPr>
              <a:t>q</a:t>
            </a:r>
            <a:r>
              <a:rPr sz="1200" spc="-89" baseline="-10416" dirty="0">
                <a:latin typeface="LM Roman 8"/>
                <a:cs typeface="LM Roman 8"/>
              </a:rPr>
              <a:t>2</a:t>
            </a:r>
            <a:r>
              <a:rPr sz="1100" i="1" spc="-60" dirty="0">
                <a:latin typeface="DejaVu Sans"/>
                <a:cs typeface="DejaVu Sans"/>
              </a:rPr>
              <a:t>}</a:t>
            </a:r>
            <a:r>
              <a:rPr sz="1100" i="1" spc="-60" dirty="0">
                <a:latin typeface="Georgia"/>
                <a:cs typeface="Georgia"/>
              </a:rPr>
              <a:t>, </a:t>
            </a:r>
            <a:r>
              <a:rPr sz="1100" i="1" spc="-55" dirty="0">
                <a:latin typeface="DejaVu Sans"/>
                <a:cs typeface="DejaVu Sans"/>
              </a:rPr>
              <a:t>{</a:t>
            </a:r>
            <a:r>
              <a:rPr sz="1100" spc="-55" dirty="0">
                <a:latin typeface="LM Roman 10"/>
                <a:cs typeface="LM Roman 10"/>
              </a:rPr>
              <a:t>0</a:t>
            </a:r>
            <a:r>
              <a:rPr sz="1100" i="1" spc="-55" dirty="0">
                <a:latin typeface="Georgia"/>
                <a:cs typeface="Georgia"/>
              </a:rPr>
              <a:t>, </a:t>
            </a:r>
            <a:r>
              <a:rPr sz="1100" spc="-55" dirty="0">
                <a:latin typeface="LM Roman 10"/>
                <a:cs typeface="LM Roman 10"/>
              </a:rPr>
              <a:t>1</a:t>
            </a:r>
            <a:r>
              <a:rPr sz="1100" i="1" spc="-55" dirty="0">
                <a:latin typeface="DejaVu Sans"/>
                <a:cs typeface="DejaVu Sans"/>
              </a:rPr>
              <a:t>}</a:t>
            </a:r>
            <a:r>
              <a:rPr sz="1100" i="1" spc="-55" dirty="0">
                <a:latin typeface="Georgia"/>
                <a:cs typeface="Georgia"/>
              </a:rPr>
              <a:t>, </a:t>
            </a:r>
            <a:r>
              <a:rPr sz="1100" i="1" spc="-65" dirty="0">
                <a:latin typeface="Georgia"/>
                <a:cs typeface="Georgia"/>
              </a:rPr>
              <a:t>δ, </a:t>
            </a:r>
            <a:r>
              <a:rPr sz="1100" i="1" spc="-25" dirty="0">
                <a:latin typeface="Georgia"/>
                <a:cs typeface="Georgia"/>
              </a:rPr>
              <a:t>q</a:t>
            </a:r>
            <a:r>
              <a:rPr sz="1200" spc="-37" baseline="-10416" dirty="0">
                <a:latin typeface="LM Roman 8"/>
                <a:cs typeface="LM Roman 8"/>
              </a:rPr>
              <a:t>1</a:t>
            </a:r>
            <a:r>
              <a:rPr sz="1100" i="1" spc="-25" dirty="0">
                <a:latin typeface="Georgia"/>
                <a:cs typeface="Georgia"/>
              </a:rPr>
              <a:t>, </a:t>
            </a:r>
            <a:r>
              <a:rPr sz="1100" i="1" spc="-95" dirty="0">
                <a:latin typeface="DejaVu Sans"/>
                <a:cs typeface="DejaVu Sans"/>
              </a:rPr>
              <a:t>{</a:t>
            </a:r>
            <a:r>
              <a:rPr sz="1100" i="1" spc="-95" dirty="0">
                <a:latin typeface="Georgia"/>
                <a:cs typeface="Georgia"/>
              </a:rPr>
              <a:t>q</a:t>
            </a:r>
            <a:r>
              <a:rPr sz="1200" spc="-142" baseline="-10416" dirty="0">
                <a:latin typeface="LM Roman 8"/>
                <a:cs typeface="LM Roman 8"/>
              </a:rPr>
              <a:t>2</a:t>
            </a:r>
            <a:r>
              <a:rPr sz="1100" i="1" spc="-95" dirty="0">
                <a:latin typeface="DejaVu Sans"/>
                <a:cs typeface="DejaVu Sans"/>
              </a:rPr>
              <a:t>}}</a:t>
            </a:r>
            <a:r>
              <a:rPr sz="1100" spc="-95" dirty="0">
                <a:latin typeface="LM Sans 10"/>
                <a:cs typeface="LM Sans 10"/>
              </a:rPr>
              <a:t>, </a:t>
            </a:r>
            <a:r>
              <a:rPr sz="1100" spc="-5" dirty="0">
                <a:latin typeface="LM Sans 10"/>
                <a:cs typeface="LM Sans 10"/>
              </a:rPr>
              <a:t>where </a:t>
            </a:r>
            <a:r>
              <a:rPr sz="1100" i="1" spc="-110" dirty="0">
                <a:latin typeface="Georgia"/>
                <a:cs typeface="Georgia"/>
              </a:rPr>
              <a:t>δ</a:t>
            </a:r>
            <a:r>
              <a:rPr sz="1100" i="1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LM Sans 10"/>
                <a:cs typeface="LM Sans 10"/>
              </a:rPr>
              <a:t>is defined</a:t>
            </a:r>
            <a:r>
              <a:rPr sz="1100" spc="-135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as</a:t>
            </a:r>
            <a:endParaRPr sz="1100">
              <a:latin typeface="LM Sans 10"/>
              <a:cs typeface="LM Sans 10"/>
            </a:endParaRPr>
          </a:p>
          <a:p>
            <a:pPr marL="717550" algn="ctr">
              <a:lnSpc>
                <a:spcPct val="100000"/>
              </a:lnSpc>
              <a:spcBef>
                <a:spcPts val="1095"/>
              </a:spcBef>
              <a:tabLst>
                <a:tab pos="965835" algn="l"/>
              </a:tabLst>
            </a:pPr>
            <a:r>
              <a:rPr sz="1100" spc="-5" dirty="0">
                <a:latin typeface="LM Roman 10"/>
                <a:cs typeface="LM Roman 10"/>
              </a:rPr>
              <a:t>0	1</a:t>
            </a:r>
            <a:endParaRPr sz="1100">
              <a:latin typeface="LM Roman 10"/>
              <a:cs typeface="LM Roman 10"/>
            </a:endParaRPr>
          </a:p>
          <a:p>
            <a:pPr marL="457834" algn="ctr">
              <a:lnSpc>
                <a:spcPct val="100000"/>
              </a:lnSpc>
              <a:spcBef>
                <a:spcPts val="75"/>
              </a:spcBef>
              <a:tabLst>
                <a:tab pos="711200" algn="l"/>
                <a:tab pos="959485" algn="l"/>
              </a:tabLst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1	</a:t>
            </a: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1	</a:t>
            </a: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2</a:t>
            </a:r>
            <a:endParaRPr sz="1200" baseline="-10416">
              <a:latin typeface="LM Roman 8"/>
              <a:cs typeface="LM Roman 8"/>
            </a:endParaRPr>
          </a:p>
          <a:p>
            <a:pPr marL="457834" algn="ctr">
              <a:lnSpc>
                <a:spcPct val="100000"/>
              </a:lnSpc>
              <a:spcBef>
                <a:spcPts val="35"/>
              </a:spcBef>
              <a:tabLst>
                <a:tab pos="711200" algn="l"/>
                <a:tab pos="959485" algn="l"/>
              </a:tabLst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2	</a:t>
            </a: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1	</a:t>
            </a: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2</a:t>
            </a:r>
            <a:endParaRPr sz="1200" baseline="-10416">
              <a:latin typeface="LM Roman 8"/>
              <a:cs typeface="LM Roman 8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50">
              <a:latin typeface="LM Roman 8"/>
              <a:cs typeface="LM Roman 8"/>
            </a:endParaRPr>
          </a:p>
          <a:p>
            <a:pPr marL="220979" indent="-133350">
              <a:lnSpc>
                <a:spcPct val="100000"/>
              </a:lnSpc>
              <a:buClr>
                <a:srgbClr val="3333B2"/>
              </a:buClr>
              <a:buSzPct val="90909"/>
              <a:buFont typeface="Arial"/>
              <a:buChar char="•"/>
              <a:tabLst>
                <a:tab pos="221615" algn="l"/>
              </a:tabLst>
            </a:pPr>
            <a:r>
              <a:rPr sz="1100" i="1" spc="25" dirty="0">
                <a:latin typeface="Georgia"/>
                <a:cs typeface="Georgia"/>
              </a:rPr>
              <a:t>L</a:t>
            </a:r>
            <a:r>
              <a:rPr sz="1100" spc="25" dirty="0">
                <a:latin typeface="LM Roman 10"/>
                <a:cs typeface="LM Roman 10"/>
              </a:rPr>
              <a:t>(</a:t>
            </a:r>
            <a:r>
              <a:rPr sz="1100" i="1" spc="25" dirty="0">
                <a:latin typeface="Georgia"/>
                <a:cs typeface="Georgia"/>
              </a:rPr>
              <a:t>M</a:t>
            </a:r>
            <a:r>
              <a:rPr sz="1200" spc="37" baseline="-10416" dirty="0">
                <a:latin typeface="LM Roman 8"/>
                <a:cs typeface="LM Roman 8"/>
              </a:rPr>
              <a:t>2</a:t>
            </a:r>
            <a:r>
              <a:rPr sz="1100" spc="25" dirty="0">
                <a:latin typeface="LM Roman 10"/>
                <a:cs typeface="LM Roman 10"/>
              </a:rPr>
              <a:t>) </a:t>
            </a:r>
            <a:r>
              <a:rPr sz="1100" spc="-10" dirty="0">
                <a:latin typeface="LM Roman 10"/>
                <a:cs typeface="LM Roman 10"/>
              </a:rPr>
              <a:t>= </a:t>
            </a:r>
            <a:r>
              <a:rPr sz="1100" i="1" spc="-140" dirty="0">
                <a:latin typeface="DejaVu Sans"/>
                <a:cs typeface="DejaVu Sans"/>
              </a:rPr>
              <a:t>{</a:t>
            </a:r>
            <a:r>
              <a:rPr sz="1100" i="1" spc="-140" dirty="0">
                <a:latin typeface="Georgia"/>
                <a:cs typeface="Georgia"/>
              </a:rPr>
              <a:t>w </a:t>
            </a:r>
            <a:r>
              <a:rPr sz="1100" spc="-5" dirty="0">
                <a:latin typeface="LM Roman 10"/>
                <a:cs typeface="LM Roman 10"/>
              </a:rPr>
              <a:t>: </a:t>
            </a:r>
            <a:r>
              <a:rPr sz="1100" i="1" spc="-125" dirty="0">
                <a:latin typeface="Georgia"/>
                <a:cs typeface="Georgia"/>
              </a:rPr>
              <a:t>w </a:t>
            </a:r>
            <a:r>
              <a:rPr sz="1100" spc="-5" dirty="0">
                <a:latin typeface="LM Sans 10"/>
                <a:cs typeface="LM Sans 10"/>
              </a:rPr>
              <a:t>ends </a:t>
            </a:r>
            <a:r>
              <a:rPr sz="1100" spc="-10" dirty="0">
                <a:latin typeface="LM Sans 10"/>
                <a:cs typeface="LM Sans 10"/>
              </a:rPr>
              <a:t>in </a:t>
            </a:r>
            <a:r>
              <a:rPr sz="1100" spc="-5" dirty="0">
                <a:latin typeface="LM Sans 10"/>
                <a:cs typeface="LM Sans 10"/>
              </a:rPr>
              <a:t>a </a:t>
            </a:r>
            <a:r>
              <a:rPr sz="1100" spc="-5" dirty="0">
                <a:latin typeface="LM Roman 10"/>
                <a:cs typeface="LM Roman 10"/>
              </a:rPr>
              <a:t>1</a:t>
            </a:r>
            <a:r>
              <a:rPr sz="1100" spc="-175" dirty="0">
                <a:latin typeface="LM Roman 10"/>
                <a:cs typeface="LM Roman 10"/>
              </a:rPr>
              <a:t> </a:t>
            </a:r>
            <a:r>
              <a:rPr sz="1100" i="1" spc="-155" dirty="0">
                <a:latin typeface="DejaVu Sans"/>
                <a:cs typeface="DejaVu Sans"/>
              </a:rPr>
              <a:t>}</a:t>
            </a:r>
            <a:endParaRPr sz="1100">
              <a:latin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709252648"/>
      </p:ext>
    </p:extLst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1507" y="211706"/>
            <a:ext cx="9988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LM Sans 12"/>
                <a:cs typeface="LM Sans 12"/>
              </a:rPr>
              <a:t>Example</a:t>
            </a:r>
            <a:r>
              <a:rPr sz="1400" spc="-40" dirty="0">
                <a:solidFill>
                  <a:srgbClr val="3333B2"/>
                </a:solidFill>
                <a:latin typeface="LM Sans 12"/>
                <a:cs typeface="LM Sans 12"/>
              </a:rPr>
              <a:t> </a:t>
            </a:r>
            <a:r>
              <a:rPr sz="1400" i="1" spc="85" dirty="0">
                <a:solidFill>
                  <a:srgbClr val="3333B2"/>
                </a:solidFill>
                <a:latin typeface="Verdana"/>
                <a:cs typeface="Verdana"/>
              </a:rPr>
              <a:t>M</a:t>
            </a:r>
            <a:r>
              <a:rPr sz="1500" spc="127" baseline="-11111" dirty="0">
                <a:solidFill>
                  <a:srgbClr val="3333B2"/>
                </a:solidFill>
                <a:latin typeface="LM Roman 10"/>
                <a:cs typeface="LM Roman 10"/>
              </a:rPr>
              <a:t>3</a:t>
            </a:r>
            <a:endParaRPr sz="1500" baseline="-11111">
              <a:latin typeface="LM Roman 10"/>
              <a:cs typeface="LM Roman 1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44134" y="1557839"/>
            <a:ext cx="346710" cy="346710"/>
          </a:xfrm>
          <a:custGeom>
            <a:avLst/>
            <a:gdLst/>
            <a:ahLst/>
            <a:cxnLst/>
            <a:rect l="l" t="t" r="r" b="b"/>
            <a:pathLst>
              <a:path w="346710" h="346710">
                <a:moveTo>
                  <a:pt x="346367" y="173183"/>
                </a:moveTo>
                <a:lnTo>
                  <a:pt x="340180" y="127144"/>
                </a:lnTo>
                <a:lnTo>
                  <a:pt x="322722" y="85773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3" y="23644"/>
                </a:lnTo>
                <a:lnTo>
                  <a:pt x="50723" y="50723"/>
                </a:lnTo>
                <a:lnTo>
                  <a:pt x="23644" y="85773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3" y="322722"/>
                </a:lnTo>
                <a:lnTo>
                  <a:pt x="127144" y="340180"/>
                </a:lnTo>
                <a:lnTo>
                  <a:pt x="173183" y="346367"/>
                </a:lnTo>
                <a:lnTo>
                  <a:pt x="219223" y="340180"/>
                </a:lnTo>
                <a:lnTo>
                  <a:pt x="260593" y="322722"/>
                </a:lnTo>
                <a:lnTo>
                  <a:pt x="295643" y="295643"/>
                </a:lnTo>
                <a:lnTo>
                  <a:pt x="322722" y="260593"/>
                </a:lnTo>
                <a:lnTo>
                  <a:pt x="340180" y="219223"/>
                </a:lnTo>
                <a:lnTo>
                  <a:pt x="346367" y="173183"/>
                </a:lnTo>
                <a:close/>
              </a:path>
            </a:pathLst>
          </a:custGeom>
          <a:ln w="17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18245" y="1596134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1</a:t>
            </a:r>
            <a:endParaRPr sz="1200" baseline="-10416">
              <a:latin typeface="LM Roman 8"/>
              <a:cs typeface="LM Roman 8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0536" y="1555299"/>
            <a:ext cx="1263015" cy="351790"/>
            <a:chOff x="1850536" y="1555299"/>
            <a:chExt cx="1263015" cy="351790"/>
          </a:xfrm>
        </p:grpSpPr>
        <p:sp>
          <p:nvSpPr>
            <p:cNvPr id="6" name="object 6"/>
            <p:cNvSpPr/>
            <p:nvPr/>
          </p:nvSpPr>
          <p:spPr>
            <a:xfrm>
              <a:off x="1853076" y="1731022"/>
              <a:ext cx="166370" cy="0"/>
            </a:xfrm>
            <a:custGeom>
              <a:avLst/>
              <a:gdLst/>
              <a:ahLst/>
              <a:cxnLst/>
              <a:rect l="l" t="t" r="r" b="b"/>
              <a:pathLst>
                <a:path w="166369">
                  <a:moveTo>
                    <a:pt x="0" y="0"/>
                  </a:moveTo>
                  <a:lnTo>
                    <a:pt x="166259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04152" y="1710778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64143" y="1557839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10">
                  <a:moveTo>
                    <a:pt x="346368" y="173183"/>
                  </a:moveTo>
                  <a:lnTo>
                    <a:pt x="340182" y="127144"/>
                  </a:lnTo>
                  <a:lnTo>
                    <a:pt x="322723" y="85773"/>
                  </a:lnTo>
                  <a:lnTo>
                    <a:pt x="295644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3"/>
                  </a:lnTo>
                  <a:lnTo>
                    <a:pt x="23644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4" y="322722"/>
                  </a:lnTo>
                  <a:lnTo>
                    <a:pt x="127144" y="340180"/>
                  </a:lnTo>
                  <a:lnTo>
                    <a:pt x="173183" y="346367"/>
                  </a:lnTo>
                  <a:lnTo>
                    <a:pt x="219223" y="340180"/>
                  </a:lnTo>
                  <a:lnTo>
                    <a:pt x="260593" y="322722"/>
                  </a:lnTo>
                  <a:lnTo>
                    <a:pt x="295644" y="295643"/>
                  </a:lnTo>
                  <a:lnTo>
                    <a:pt x="322723" y="260593"/>
                  </a:lnTo>
                  <a:lnTo>
                    <a:pt x="340182" y="219223"/>
                  </a:lnTo>
                  <a:lnTo>
                    <a:pt x="346368" y="173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28444" y="1619744"/>
            <a:ext cx="2889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Sans 10"/>
                <a:cs typeface="LM Sans 10"/>
              </a:rPr>
              <a:t>st</a:t>
            </a:r>
            <a:r>
              <a:rPr sz="1100" spc="-40" dirty="0">
                <a:latin typeface="LM Sans 10"/>
                <a:cs typeface="LM Sans 10"/>
              </a:rPr>
              <a:t>a</a:t>
            </a:r>
            <a:r>
              <a:rPr sz="1100" spc="-10" dirty="0">
                <a:latin typeface="LM Sans 10"/>
                <a:cs typeface="LM Sans 10"/>
              </a:rPr>
              <a:t>rt</a:t>
            </a:r>
            <a:endParaRPr sz="1100">
              <a:latin typeface="LM Sans 10"/>
              <a:cs typeface="LM Sans 1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38246" y="1596134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2</a:t>
            </a:r>
            <a:endParaRPr sz="1200" baseline="-10416">
              <a:latin typeface="LM Roman 8"/>
              <a:cs typeface="LM Roman 8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53745" y="1342098"/>
            <a:ext cx="613410" cy="320675"/>
            <a:chOff x="2153745" y="1342098"/>
            <a:chExt cx="613410" cy="320675"/>
          </a:xfrm>
        </p:grpSpPr>
        <p:sp>
          <p:nvSpPr>
            <p:cNvPr id="12" name="object 12"/>
            <p:cNvSpPr/>
            <p:nvPr/>
          </p:nvSpPr>
          <p:spPr>
            <a:xfrm>
              <a:off x="2153745" y="1342098"/>
              <a:ext cx="140475" cy="21772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80401" y="1605688"/>
              <a:ext cx="381000" cy="49530"/>
            </a:xfrm>
            <a:custGeom>
              <a:avLst/>
              <a:gdLst/>
              <a:ahLst/>
              <a:cxnLst/>
              <a:rect l="l" t="t" r="r" b="b"/>
              <a:pathLst>
                <a:path w="381000" h="49530">
                  <a:moveTo>
                    <a:pt x="0" y="49288"/>
                  </a:moveTo>
                  <a:lnTo>
                    <a:pt x="51680" y="27997"/>
                  </a:lnTo>
                  <a:lnTo>
                    <a:pt x="101456" y="12745"/>
                  </a:lnTo>
                  <a:lnTo>
                    <a:pt x="149691" y="3442"/>
                  </a:lnTo>
                  <a:lnTo>
                    <a:pt x="196753" y="0"/>
                  </a:lnTo>
                  <a:lnTo>
                    <a:pt x="243006" y="2326"/>
                  </a:lnTo>
                  <a:lnTo>
                    <a:pt x="288817" y="10331"/>
                  </a:lnTo>
                  <a:lnTo>
                    <a:pt x="334550" y="23926"/>
                  </a:lnTo>
                  <a:lnTo>
                    <a:pt x="380572" y="43018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38599" y="1623910"/>
              <a:ext cx="26034" cy="36830"/>
            </a:xfrm>
            <a:custGeom>
              <a:avLst/>
              <a:gdLst/>
              <a:ahLst/>
              <a:cxnLst/>
              <a:rect l="l" t="t" r="r" b="b"/>
              <a:pathLst>
                <a:path w="26035" h="36830">
                  <a:moveTo>
                    <a:pt x="17266" y="0"/>
                  </a:moveTo>
                  <a:lnTo>
                    <a:pt x="17311" y="6864"/>
                  </a:lnTo>
                  <a:lnTo>
                    <a:pt x="19667" y="14950"/>
                  </a:lnTo>
                  <a:lnTo>
                    <a:pt x="22958" y="22163"/>
                  </a:lnTo>
                  <a:lnTo>
                    <a:pt x="25809" y="26415"/>
                  </a:lnTo>
                  <a:lnTo>
                    <a:pt x="20716" y="26923"/>
                  </a:lnTo>
                  <a:lnTo>
                    <a:pt x="13057" y="28977"/>
                  </a:lnTo>
                  <a:lnTo>
                    <a:pt x="5322" y="32307"/>
                  </a:lnTo>
                  <a:lnTo>
                    <a:pt x="0" y="36642"/>
                  </a:lnTo>
                </a:path>
              </a:pathLst>
            </a:custGeom>
            <a:ln w="4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169985" y="1146923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0</a:t>
            </a:r>
            <a:endParaRPr sz="1100">
              <a:latin typeface="LM Roman 10"/>
              <a:cs typeface="LM Roman 1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31910" y="140672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1</a:t>
            </a:r>
            <a:endParaRPr sz="1100">
              <a:latin typeface="LM Roman 10"/>
              <a:cs typeface="LM Roman 1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875044" y="1350215"/>
            <a:ext cx="138199" cy="2132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889986" y="1155038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1</a:t>
            </a:r>
            <a:endParaRPr sz="1100">
              <a:latin typeface="LM Roman 10"/>
              <a:cs typeface="LM Roman 10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91710" y="1800759"/>
            <a:ext cx="388620" cy="58419"/>
            <a:chOff x="2391710" y="1800759"/>
            <a:chExt cx="388620" cy="58419"/>
          </a:xfrm>
        </p:grpSpPr>
        <p:sp>
          <p:nvSpPr>
            <p:cNvPr id="20" name="object 20"/>
            <p:cNvSpPr/>
            <p:nvPr/>
          </p:nvSpPr>
          <p:spPr>
            <a:xfrm>
              <a:off x="2397184" y="1805460"/>
              <a:ext cx="381000" cy="51435"/>
            </a:xfrm>
            <a:custGeom>
              <a:avLst/>
              <a:gdLst/>
              <a:ahLst/>
              <a:cxnLst/>
              <a:rect l="l" t="t" r="r" b="b"/>
              <a:pathLst>
                <a:path w="381000" h="51435">
                  <a:moveTo>
                    <a:pt x="380507" y="0"/>
                  </a:moveTo>
                  <a:lnTo>
                    <a:pt x="329000" y="21708"/>
                  </a:lnTo>
                  <a:lnTo>
                    <a:pt x="279349" y="37362"/>
                  </a:lnTo>
                  <a:lnTo>
                    <a:pt x="231190" y="47055"/>
                  </a:lnTo>
                  <a:lnTo>
                    <a:pt x="184158" y="50879"/>
                  </a:lnTo>
                  <a:lnTo>
                    <a:pt x="137887" y="48929"/>
                  </a:lnTo>
                  <a:lnTo>
                    <a:pt x="92014" y="41295"/>
                  </a:lnTo>
                  <a:lnTo>
                    <a:pt x="46173" y="28071"/>
                  </a:lnTo>
                  <a:lnTo>
                    <a:pt x="0" y="9351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93736" y="1802784"/>
              <a:ext cx="26034" cy="36830"/>
            </a:xfrm>
            <a:custGeom>
              <a:avLst/>
              <a:gdLst/>
              <a:ahLst/>
              <a:cxnLst/>
              <a:rect l="l" t="t" r="r" b="b"/>
              <a:pathLst>
                <a:path w="26035" h="36830">
                  <a:moveTo>
                    <a:pt x="8756" y="36783"/>
                  </a:moveTo>
                  <a:lnTo>
                    <a:pt x="8655" y="29918"/>
                  </a:lnTo>
                  <a:lnTo>
                    <a:pt x="6234" y="21852"/>
                  </a:lnTo>
                  <a:lnTo>
                    <a:pt x="2885" y="14664"/>
                  </a:lnTo>
                  <a:lnTo>
                    <a:pt x="0" y="10436"/>
                  </a:lnTo>
                  <a:lnTo>
                    <a:pt x="5089" y="9887"/>
                  </a:lnTo>
                  <a:lnTo>
                    <a:pt x="12731" y="7771"/>
                  </a:lnTo>
                  <a:lnTo>
                    <a:pt x="20439" y="4378"/>
                  </a:lnTo>
                  <a:lnTo>
                    <a:pt x="25727" y="0"/>
                  </a:lnTo>
                </a:path>
              </a:pathLst>
            </a:custGeom>
            <a:ln w="4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531910" y="184007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0</a:t>
            </a:r>
            <a:endParaRPr sz="1100">
              <a:latin typeface="LM Roman 10"/>
              <a:cs typeface="LM Roman 10"/>
            </a:endParaRPr>
          </a:p>
        </p:txBody>
      </p:sp>
    </p:spTree>
    <p:extLst>
      <p:ext uri="{BB962C8B-B14F-4D97-AF65-F5344CB8AC3E}">
        <p14:creationId xmlns:p14="http://schemas.microsoft.com/office/powerpoint/2010/main" val="3614698719"/>
      </p:ext>
    </p:extLst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1507" y="211706"/>
            <a:ext cx="9988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LM Sans 12"/>
                <a:cs typeface="LM Sans 12"/>
              </a:rPr>
              <a:t>Example</a:t>
            </a:r>
            <a:r>
              <a:rPr sz="1400" spc="-40" dirty="0">
                <a:solidFill>
                  <a:srgbClr val="3333B2"/>
                </a:solidFill>
                <a:latin typeface="LM Sans 12"/>
                <a:cs typeface="LM Sans 12"/>
              </a:rPr>
              <a:t> </a:t>
            </a:r>
            <a:r>
              <a:rPr sz="1400" i="1" spc="85" dirty="0">
                <a:solidFill>
                  <a:srgbClr val="3333B2"/>
                </a:solidFill>
                <a:latin typeface="Verdana"/>
                <a:cs typeface="Verdana"/>
              </a:rPr>
              <a:t>M</a:t>
            </a:r>
            <a:r>
              <a:rPr sz="1500" spc="127" baseline="-11111" dirty="0">
                <a:solidFill>
                  <a:srgbClr val="3333B2"/>
                </a:solidFill>
                <a:latin typeface="LM Roman 10"/>
                <a:cs typeface="LM Roman 10"/>
              </a:rPr>
              <a:t>3</a:t>
            </a:r>
            <a:endParaRPr sz="1500" baseline="-11111">
              <a:latin typeface="LM Roman 10"/>
              <a:cs typeface="LM Roman 1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44134" y="1557839"/>
            <a:ext cx="346710" cy="346710"/>
          </a:xfrm>
          <a:custGeom>
            <a:avLst/>
            <a:gdLst/>
            <a:ahLst/>
            <a:cxnLst/>
            <a:rect l="l" t="t" r="r" b="b"/>
            <a:pathLst>
              <a:path w="346710" h="346710">
                <a:moveTo>
                  <a:pt x="346367" y="173183"/>
                </a:moveTo>
                <a:lnTo>
                  <a:pt x="340180" y="127144"/>
                </a:lnTo>
                <a:lnTo>
                  <a:pt x="322722" y="85773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3" y="23644"/>
                </a:lnTo>
                <a:lnTo>
                  <a:pt x="50723" y="50723"/>
                </a:lnTo>
                <a:lnTo>
                  <a:pt x="23644" y="85773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3" y="322722"/>
                </a:lnTo>
                <a:lnTo>
                  <a:pt x="127144" y="340180"/>
                </a:lnTo>
                <a:lnTo>
                  <a:pt x="173183" y="346367"/>
                </a:lnTo>
                <a:lnTo>
                  <a:pt x="219223" y="340180"/>
                </a:lnTo>
                <a:lnTo>
                  <a:pt x="260593" y="322722"/>
                </a:lnTo>
                <a:lnTo>
                  <a:pt x="295643" y="295643"/>
                </a:lnTo>
                <a:lnTo>
                  <a:pt x="322722" y="260593"/>
                </a:lnTo>
                <a:lnTo>
                  <a:pt x="340180" y="219223"/>
                </a:lnTo>
                <a:lnTo>
                  <a:pt x="346367" y="173183"/>
                </a:lnTo>
                <a:close/>
              </a:path>
            </a:pathLst>
          </a:custGeom>
          <a:ln w="17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18245" y="1596134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1</a:t>
            </a:r>
            <a:endParaRPr sz="1200" baseline="-10416">
              <a:latin typeface="LM Roman 8"/>
              <a:cs typeface="LM Roman 8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0536" y="1555299"/>
            <a:ext cx="1263015" cy="351790"/>
            <a:chOff x="1850536" y="1555299"/>
            <a:chExt cx="1263015" cy="351790"/>
          </a:xfrm>
        </p:grpSpPr>
        <p:sp>
          <p:nvSpPr>
            <p:cNvPr id="6" name="object 6"/>
            <p:cNvSpPr/>
            <p:nvPr/>
          </p:nvSpPr>
          <p:spPr>
            <a:xfrm>
              <a:off x="1853076" y="1731022"/>
              <a:ext cx="166370" cy="0"/>
            </a:xfrm>
            <a:custGeom>
              <a:avLst/>
              <a:gdLst/>
              <a:ahLst/>
              <a:cxnLst/>
              <a:rect l="l" t="t" r="r" b="b"/>
              <a:pathLst>
                <a:path w="166369">
                  <a:moveTo>
                    <a:pt x="0" y="0"/>
                  </a:moveTo>
                  <a:lnTo>
                    <a:pt x="166259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04152" y="1710778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64143" y="1557839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10">
                  <a:moveTo>
                    <a:pt x="346368" y="173183"/>
                  </a:moveTo>
                  <a:lnTo>
                    <a:pt x="340182" y="127144"/>
                  </a:lnTo>
                  <a:lnTo>
                    <a:pt x="322723" y="85773"/>
                  </a:lnTo>
                  <a:lnTo>
                    <a:pt x="295644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3"/>
                  </a:lnTo>
                  <a:lnTo>
                    <a:pt x="23644" y="85773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4" y="322722"/>
                  </a:lnTo>
                  <a:lnTo>
                    <a:pt x="127144" y="340180"/>
                  </a:lnTo>
                  <a:lnTo>
                    <a:pt x="173183" y="346367"/>
                  </a:lnTo>
                  <a:lnTo>
                    <a:pt x="219223" y="340180"/>
                  </a:lnTo>
                  <a:lnTo>
                    <a:pt x="260593" y="322722"/>
                  </a:lnTo>
                  <a:lnTo>
                    <a:pt x="295644" y="295643"/>
                  </a:lnTo>
                  <a:lnTo>
                    <a:pt x="322723" y="260593"/>
                  </a:lnTo>
                  <a:lnTo>
                    <a:pt x="340182" y="219223"/>
                  </a:lnTo>
                  <a:lnTo>
                    <a:pt x="346368" y="173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28444" y="1619744"/>
            <a:ext cx="2889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Sans 10"/>
                <a:cs typeface="LM Sans 10"/>
              </a:rPr>
              <a:t>st</a:t>
            </a:r>
            <a:r>
              <a:rPr sz="1100" spc="-40" dirty="0">
                <a:latin typeface="LM Sans 10"/>
                <a:cs typeface="LM Sans 10"/>
              </a:rPr>
              <a:t>a</a:t>
            </a:r>
            <a:r>
              <a:rPr sz="1100" spc="-10" dirty="0">
                <a:latin typeface="LM Sans 10"/>
                <a:cs typeface="LM Sans 10"/>
              </a:rPr>
              <a:t>rt</a:t>
            </a:r>
            <a:endParaRPr sz="1100">
              <a:latin typeface="LM Sans 10"/>
              <a:cs typeface="LM Sans 1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38246" y="1596134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65" dirty="0">
                <a:latin typeface="Georgia"/>
                <a:cs typeface="Georgia"/>
              </a:rPr>
              <a:t>q</a:t>
            </a:r>
            <a:r>
              <a:rPr sz="1200" spc="-97" baseline="-10416" dirty="0">
                <a:latin typeface="LM Roman 8"/>
                <a:cs typeface="LM Roman 8"/>
              </a:rPr>
              <a:t>2</a:t>
            </a:r>
            <a:endParaRPr sz="1200" baseline="-10416">
              <a:latin typeface="LM Roman 8"/>
              <a:cs typeface="LM Roman 8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53745" y="1342098"/>
            <a:ext cx="613410" cy="320675"/>
            <a:chOff x="2153745" y="1342098"/>
            <a:chExt cx="613410" cy="320675"/>
          </a:xfrm>
        </p:grpSpPr>
        <p:sp>
          <p:nvSpPr>
            <p:cNvPr id="12" name="object 12"/>
            <p:cNvSpPr/>
            <p:nvPr/>
          </p:nvSpPr>
          <p:spPr>
            <a:xfrm>
              <a:off x="2153745" y="1342098"/>
              <a:ext cx="140475" cy="21772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80401" y="1605688"/>
              <a:ext cx="381000" cy="49530"/>
            </a:xfrm>
            <a:custGeom>
              <a:avLst/>
              <a:gdLst/>
              <a:ahLst/>
              <a:cxnLst/>
              <a:rect l="l" t="t" r="r" b="b"/>
              <a:pathLst>
                <a:path w="381000" h="49530">
                  <a:moveTo>
                    <a:pt x="0" y="49288"/>
                  </a:moveTo>
                  <a:lnTo>
                    <a:pt x="51680" y="27997"/>
                  </a:lnTo>
                  <a:lnTo>
                    <a:pt x="101456" y="12745"/>
                  </a:lnTo>
                  <a:lnTo>
                    <a:pt x="149691" y="3442"/>
                  </a:lnTo>
                  <a:lnTo>
                    <a:pt x="196753" y="0"/>
                  </a:lnTo>
                  <a:lnTo>
                    <a:pt x="243006" y="2326"/>
                  </a:lnTo>
                  <a:lnTo>
                    <a:pt x="288817" y="10331"/>
                  </a:lnTo>
                  <a:lnTo>
                    <a:pt x="334550" y="23926"/>
                  </a:lnTo>
                  <a:lnTo>
                    <a:pt x="380572" y="43018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38599" y="1623910"/>
              <a:ext cx="26034" cy="36830"/>
            </a:xfrm>
            <a:custGeom>
              <a:avLst/>
              <a:gdLst/>
              <a:ahLst/>
              <a:cxnLst/>
              <a:rect l="l" t="t" r="r" b="b"/>
              <a:pathLst>
                <a:path w="26035" h="36830">
                  <a:moveTo>
                    <a:pt x="17266" y="0"/>
                  </a:moveTo>
                  <a:lnTo>
                    <a:pt x="17311" y="6864"/>
                  </a:lnTo>
                  <a:lnTo>
                    <a:pt x="19667" y="14950"/>
                  </a:lnTo>
                  <a:lnTo>
                    <a:pt x="22958" y="22163"/>
                  </a:lnTo>
                  <a:lnTo>
                    <a:pt x="25809" y="26415"/>
                  </a:lnTo>
                  <a:lnTo>
                    <a:pt x="20716" y="26923"/>
                  </a:lnTo>
                  <a:lnTo>
                    <a:pt x="13057" y="28977"/>
                  </a:lnTo>
                  <a:lnTo>
                    <a:pt x="5322" y="32307"/>
                  </a:lnTo>
                  <a:lnTo>
                    <a:pt x="0" y="36642"/>
                  </a:lnTo>
                </a:path>
              </a:pathLst>
            </a:custGeom>
            <a:ln w="4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169985" y="1146923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0</a:t>
            </a:r>
            <a:endParaRPr sz="1100">
              <a:latin typeface="LM Roman 10"/>
              <a:cs typeface="LM Roman 1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31910" y="140672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1</a:t>
            </a:r>
            <a:endParaRPr sz="1100">
              <a:latin typeface="LM Roman 10"/>
              <a:cs typeface="LM Roman 1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875044" y="1350215"/>
            <a:ext cx="138199" cy="2132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889986" y="1155038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1</a:t>
            </a:r>
            <a:endParaRPr sz="1100">
              <a:latin typeface="LM Roman 10"/>
              <a:cs typeface="LM Roman 10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91710" y="1800759"/>
            <a:ext cx="388620" cy="58419"/>
            <a:chOff x="2391710" y="1800759"/>
            <a:chExt cx="388620" cy="58419"/>
          </a:xfrm>
        </p:grpSpPr>
        <p:sp>
          <p:nvSpPr>
            <p:cNvPr id="20" name="object 20"/>
            <p:cNvSpPr/>
            <p:nvPr/>
          </p:nvSpPr>
          <p:spPr>
            <a:xfrm>
              <a:off x="2397184" y="1805460"/>
              <a:ext cx="381000" cy="51435"/>
            </a:xfrm>
            <a:custGeom>
              <a:avLst/>
              <a:gdLst/>
              <a:ahLst/>
              <a:cxnLst/>
              <a:rect l="l" t="t" r="r" b="b"/>
              <a:pathLst>
                <a:path w="381000" h="51435">
                  <a:moveTo>
                    <a:pt x="380507" y="0"/>
                  </a:moveTo>
                  <a:lnTo>
                    <a:pt x="329000" y="21708"/>
                  </a:lnTo>
                  <a:lnTo>
                    <a:pt x="279349" y="37362"/>
                  </a:lnTo>
                  <a:lnTo>
                    <a:pt x="231190" y="47055"/>
                  </a:lnTo>
                  <a:lnTo>
                    <a:pt x="184158" y="50879"/>
                  </a:lnTo>
                  <a:lnTo>
                    <a:pt x="137887" y="48929"/>
                  </a:lnTo>
                  <a:lnTo>
                    <a:pt x="92014" y="41295"/>
                  </a:lnTo>
                  <a:lnTo>
                    <a:pt x="46173" y="28071"/>
                  </a:lnTo>
                  <a:lnTo>
                    <a:pt x="0" y="9351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93736" y="1802784"/>
              <a:ext cx="26034" cy="36830"/>
            </a:xfrm>
            <a:custGeom>
              <a:avLst/>
              <a:gdLst/>
              <a:ahLst/>
              <a:cxnLst/>
              <a:rect l="l" t="t" r="r" b="b"/>
              <a:pathLst>
                <a:path w="26035" h="36830">
                  <a:moveTo>
                    <a:pt x="8756" y="36783"/>
                  </a:moveTo>
                  <a:lnTo>
                    <a:pt x="8655" y="29918"/>
                  </a:lnTo>
                  <a:lnTo>
                    <a:pt x="6234" y="21852"/>
                  </a:lnTo>
                  <a:lnTo>
                    <a:pt x="2885" y="14664"/>
                  </a:lnTo>
                  <a:lnTo>
                    <a:pt x="0" y="10436"/>
                  </a:lnTo>
                  <a:lnTo>
                    <a:pt x="5089" y="9887"/>
                  </a:lnTo>
                  <a:lnTo>
                    <a:pt x="12731" y="7771"/>
                  </a:lnTo>
                  <a:lnTo>
                    <a:pt x="20439" y="4378"/>
                  </a:lnTo>
                  <a:lnTo>
                    <a:pt x="25727" y="0"/>
                  </a:lnTo>
                </a:path>
              </a:pathLst>
            </a:custGeom>
            <a:ln w="4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53758" y="1840076"/>
            <a:ext cx="3397885" cy="6381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52805" algn="ctr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LM Roman 10"/>
                <a:cs typeface="LM Roman 10"/>
              </a:rPr>
              <a:t>0</a:t>
            </a:r>
            <a:endParaRPr sz="1100">
              <a:latin typeface="LM Roman 10"/>
              <a:cs typeface="LM Roman 10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500">
              <a:latin typeface="LM Roman 10"/>
              <a:cs typeface="LM Roman 10"/>
            </a:endParaRPr>
          </a:p>
          <a:p>
            <a:pPr marL="182880" indent="-132715">
              <a:lnSpc>
                <a:spcPct val="100000"/>
              </a:lnSpc>
              <a:buClr>
                <a:srgbClr val="3333B2"/>
              </a:buClr>
              <a:buSzPct val="90909"/>
              <a:buFont typeface="Arial"/>
              <a:buChar char="•"/>
              <a:tabLst>
                <a:tab pos="183515" algn="l"/>
              </a:tabLst>
            </a:pPr>
            <a:r>
              <a:rPr sz="1100" i="1" spc="25" dirty="0">
                <a:latin typeface="Georgia"/>
                <a:cs typeface="Georgia"/>
              </a:rPr>
              <a:t>L</a:t>
            </a:r>
            <a:r>
              <a:rPr sz="1100" spc="25" dirty="0">
                <a:latin typeface="LM Roman 10"/>
                <a:cs typeface="LM Roman 10"/>
              </a:rPr>
              <a:t>(</a:t>
            </a:r>
            <a:r>
              <a:rPr sz="1100" i="1" spc="25" dirty="0">
                <a:latin typeface="Georgia"/>
                <a:cs typeface="Georgia"/>
              </a:rPr>
              <a:t>M</a:t>
            </a:r>
            <a:r>
              <a:rPr sz="1200" spc="37" baseline="-10416" dirty="0">
                <a:latin typeface="LM Roman 8"/>
                <a:cs typeface="LM Roman 8"/>
              </a:rPr>
              <a:t>3</a:t>
            </a:r>
            <a:r>
              <a:rPr sz="1100" spc="25" dirty="0">
                <a:latin typeface="LM Roman 10"/>
                <a:cs typeface="LM Roman 10"/>
              </a:rPr>
              <a:t>) </a:t>
            </a:r>
            <a:r>
              <a:rPr sz="1100" spc="-10" dirty="0">
                <a:latin typeface="LM Roman 10"/>
                <a:cs typeface="LM Roman 10"/>
              </a:rPr>
              <a:t>= </a:t>
            </a:r>
            <a:r>
              <a:rPr sz="1100" i="1" spc="-140" dirty="0">
                <a:latin typeface="DejaVu Sans"/>
                <a:cs typeface="DejaVu Sans"/>
              </a:rPr>
              <a:t>{</a:t>
            </a:r>
            <a:r>
              <a:rPr sz="1100" i="1" spc="-140" dirty="0">
                <a:latin typeface="Georgia"/>
                <a:cs typeface="Georgia"/>
              </a:rPr>
              <a:t>w </a:t>
            </a:r>
            <a:r>
              <a:rPr sz="1100" spc="-5" dirty="0">
                <a:latin typeface="LM Roman 10"/>
                <a:cs typeface="LM Roman 10"/>
              </a:rPr>
              <a:t>: </a:t>
            </a:r>
            <a:r>
              <a:rPr sz="1100" i="1" spc="-125" dirty="0">
                <a:latin typeface="Georgia"/>
                <a:cs typeface="Georgia"/>
              </a:rPr>
              <a:t>w </a:t>
            </a:r>
            <a:r>
              <a:rPr sz="1100" spc="-10" dirty="0">
                <a:latin typeface="LM Sans 10"/>
                <a:cs typeface="LM Sans 10"/>
              </a:rPr>
              <a:t>is </a:t>
            </a:r>
            <a:r>
              <a:rPr sz="1100" spc="-5" dirty="0">
                <a:latin typeface="LM Sans 10"/>
                <a:cs typeface="LM Sans 10"/>
              </a:rPr>
              <a:t>the </a:t>
            </a:r>
            <a:r>
              <a:rPr sz="1100" spc="-15" dirty="0">
                <a:latin typeface="LM Sans 10"/>
                <a:cs typeface="LM Sans 10"/>
              </a:rPr>
              <a:t>empty </a:t>
            </a:r>
            <a:r>
              <a:rPr sz="1100" spc="-5" dirty="0">
                <a:latin typeface="LM Sans 10"/>
                <a:cs typeface="LM Sans 10"/>
              </a:rPr>
              <a:t>string </a:t>
            </a:r>
            <a:r>
              <a:rPr sz="1100" i="1" spc="-35" dirty="0">
                <a:latin typeface="Georgia"/>
                <a:cs typeface="Georgia"/>
              </a:rPr>
              <a:t>s </a:t>
            </a:r>
            <a:r>
              <a:rPr sz="1100" spc="-25" dirty="0">
                <a:latin typeface="LM Sans 10"/>
                <a:cs typeface="LM Sans 10"/>
              </a:rPr>
              <a:t>or </a:t>
            </a:r>
            <a:r>
              <a:rPr sz="1100" spc="-10" dirty="0">
                <a:latin typeface="LM Sans 10"/>
                <a:cs typeface="LM Sans 10"/>
              </a:rPr>
              <a:t>ends in </a:t>
            </a:r>
            <a:r>
              <a:rPr sz="1100" spc="-5" dirty="0">
                <a:latin typeface="LM Sans 10"/>
                <a:cs typeface="LM Sans 10"/>
              </a:rPr>
              <a:t>a </a:t>
            </a:r>
            <a:r>
              <a:rPr sz="1100" spc="-5" dirty="0">
                <a:latin typeface="LM Roman 10"/>
                <a:cs typeface="LM Roman 10"/>
              </a:rPr>
              <a:t>0</a:t>
            </a:r>
            <a:r>
              <a:rPr sz="1100" spc="-110" dirty="0">
                <a:latin typeface="LM Roman 10"/>
                <a:cs typeface="LM Roman 10"/>
              </a:rPr>
              <a:t> </a:t>
            </a:r>
            <a:r>
              <a:rPr sz="1100" i="1" spc="-155" dirty="0">
                <a:latin typeface="DejaVu Sans"/>
                <a:cs typeface="DejaVu Sans"/>
              </a:rPr>
              <a:t>}</a:t>
            </a:r>
            <a:endParaRPr sz="1100">
              <a:latin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4115794837"/>
      </p:ext>
    </p:extLst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9651" y="206375"/>
            <a:ext cx="2003982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" dirty="0">
                <a:solidFill>
                  <a:srgbClr val="3333B2"/>
                </a:solidFill>
                <a:latin typeface="LM Sans 12"/>
                <a:cs typeface="LM Sans 12"/>
              </a:rPr>
              <a:t>Regular</a:t>
            </a:r>
            <a:r>
              <a:rPr sz="1400" spc="-35" dirty="0">
                <a:solidFill>
                  <a:srgbClr val="3333B2"/>
                </a:solidFill>
                <a:latin typeface="LM Sans 12"/>
                <a:cs typeface="LM Sans 12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LM Sans 12"/>
                <a:cs typeface="LM Sans 12"/>
              </a:rPr>
              <a:t>Languages</a:t>
            </a:r>
            <a:endParaRPr sz="1400" dirty="0">
              <a:latin typeface="LM Sans 12"/>
              <a:cs typeface="LM Sans 12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9193" y="1034656"/>
            <a:ext cx="4040504" cy="645795"/>
            <a:chOff x="309193" y="1034656"/>
            <a:chExt cx="4040504" cy="645795"/>
          </a:xfrm>
        </p:grpSpPr>
        <p:sp>
          <p:nvSpPr>
            <p:cNvPr id="4" name="object 4"/>
            <p:cNvSpPr/>
            <p:nvPr/>
          </p:nvSpPr>
          <p:spPr>
            <a:xfrm>
              <a:off x="309193" y="1034656"/>
              <a:ext cx="3989704" cy="198755"/>
            </a:xfrm>
            <a:custGeom>
              <a:avLst/>
              <a:gdLst/>
              <a:ahLst/>
              <a:cxnLst/>
              <a:rect l="l" t="t" r="r" b="b"/>
              <a:pathLst>
                <a:path w="3989704" h="198755">
                  <a:moveTo>
                    <a:pt x="39388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2"/>
                  </a:lnTo>
                  <a:lnTo>
                    <a:pt x="3989654" y="198362"/>
                  </a:lnTo>
                  <a:lnTo>
                    <a:pt x="3989654" y="50800"/>
                  </a:lnTo>
                  <a:lnTo>
                    <a:pt x="3985646" y="31075"/>
                  </a:lnTo>
                  <a:lnTo>
                    <a:pt x="3974732" y="14922"/>
                  </a:lnTo>
                  <a:lnTo>
                    <a:pt x="3958579" y="4008"/>
                  </a:lnTo>
                  <a:lnTo>
                    <a:pt x="3938854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194" y="1220368"/>
              <a:ext cx="3989653" cy="5060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9994" y="1578800"/>
              <a:ext cx="101600" cy="101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0794" y="1566100"/>
              <a:ext cx="3938802" cy="114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98848" y="1078890"/>
              <a:ext cx="50749" cy="4999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9193" y="1264638"/>
              <a:ext cx="3989704" cy="365125"/>
            </a:xfrm>
            <a:custGeom>
              <a:avLst/>
              <a:gdLst/>
              <a:ahLst/>
              <a:cxnLst/>
              <a:rect l="l" t="t" r="r" b="b"/>
              <a:pathLst>
                <a:path w="3989704" h="365125">
                  <a:moveTo>
                    <a:pt x="3989654" y="0"/>
                  </a:moveTo>
                  <a:lnTo>
                    <a:pt x="0" y="0"/>
                  </a:lnTo>
                  <a:lnTo>
                    <a:pt x="0" y="314162"/>
                  </a:lnTo>
                  <a:lnTo>
                    <a:pt x="4008" y="333887"/>
                  </a:lnTo>
                  <a:lnTo>
                    <a:pt x="14922" y="350040"/>
                  </a:lnTo>
                  <a:lnTo>
                    <a:pt x="31075" y="360954"/>
                  </a:lnTo>
                  <a:lnTo>
                    <a:pt x="50800" y="364962"/>
                  </a:lnTo>
                  <a:lnTo>
                    <a:pt x="3938854" y="364962"/>
                  </a:lnTo>
                  <a:lnTo>
                    <a:pt x="3958579" y="360954"/>
                  </a:lnTo>
                  <a:lnTo>
                    <a:pt x="3974732" y="350040"/>
                  </a:lnTo>
                  <a:lnTo>
                    <a:pt x="3985646" y="333887"/>
                  </a:lnTo>
                  <a:lnTo>
                    <a:pt x="3989654" y="314162"/>
                  </a:lnTo>
                  <a:lnTo>
                    <a:pt x="3989654" y="0"/>
                  </a:lnTo>
                  <a:close/>
                </a:path>
              </a:pathLst>
            </a:custGeom>
            <a:solidFill>
              <a:srgbClr val="F7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98848" y="1116980"/>
              <a:ext cx="0" cy="481330"/>
            </a:xfrm>
            <a:custGeom>
              <a:avLst/>
              <a:gdLst/>
              <a:ahLst/>
              <a:cxnLst/>
              <a:rect l="l" t="t" r="r" b="b"/>
              <a:pathLst>
                <a:path h="481330">
                  <a:moveTo>
                    <a:pt x="0" y="48087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98848" y="11042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8848" y="10915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8848" y="10788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47294" y="970851"/>
            <a:ext cx="3850004" cy="6280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spc="-10" dirty="0">
                <a:latin typeface="LM Sans 12"/>
                <a:cs typeface="LM Sans 12"/>
              </a:rPr>
              <a:t>Regular Language</a:t>
            </a:r>
            <a:endParaRPr sz="1200">
              <a:latin typeface="LM Sans 12"/>
              <a:cs typeface="LM Sans 12"/>
            </a:endParaRPr>
          </a:p>
          <a:p>
            <a:pPr marL="12700" marR="5080">
              <a:lnSpc>
                <a:spcPct val="102600"/>
              </a:lnSpc>
              <a:spcBef>
                <a:spcPts val="265"/>
              </a:spcBef>
            </a:pPr>
            <a:r>
              <a:rPr sz="1100" spc="-10" dirty="0">
                <a:latin typeface="LM Sans 10"/>
                <a:cs typeface="LM Sans 10"/>
              </a:rPr>
              <a:t>A language is </a:t>
            </a:r>
            <a:r>
              <a:rPr sz="1100" spc="-5" dirty="0">
                <a:latin typeface="LM Sans 10"/>
                <a:cs typeface="LM Sans 10"/>
              </a:rPr>
              <a:t>called a </a:t>
            </a:r>
            <a:r>
              <a:rPr sz="1100" b="1" spc="-10" dirty="0">
                <a:latin typeface="LM Sans 10"/>
                <a:cs typeface="LM Sans 10"/>
              </a:rPr>
              <a:t>regular language </a:t>
            </a:r>
            <a:r>
              <a:rPr sz="1100" spc="-5" dirty="0">
                <a:latin typeface="LM Sans 10"/>
                <a:cs typeface="LM Sans 10"/>
              </a:rPr>
              <a:t>if some finite </a:t>
            </a:r>
            <a:r>
              <a:rPr sz="1100" spc="-10" dirty="0">
                <a:latin typeface="LM Sans 10"/>
                <a:cs typeface="LM Sans 10"/>
              </a:rPr>
              <a:t>automaton  recognizes it.</a:t>
            </a:r>
            <a:endParaRPr sz="1100">
              <a:latin typeface="LM Sans 10"/>
              <a:cs typeface="LM Sans 10"/>
            </a:endParaRPr>
          </a:p>
        </p:txBody>
      </p:sp>
    </p:spTree>
    <p:extLst>
      <p:ext uri="{BB962C8B-B14F-4D97-AF65-F5344CB8AC3E}">
        <p14:creationId xmlns:p14="http://schemas.microsoft.com/office/powerpoint/2010/main" val="3320494961"/>
      </p:ext>
    </p:extLst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3766" y="1558082"/>
            <a:ext cx="4482566" cy="338554"/>
          </a:xfrm>
        </p:spPr>
        <p:txBody>
          <a:bodyPr/>
          <a:lstStyle/>
          <a:p>
            <a:r>
              <a:rPr lang="en-US" dirty="0"/>
              <a:t>L(M1)={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€</a:t>
            </a:r>
            <a:r>
              <a:rPr lang="en-US" dirty="0"/>
              <a:t>} language that recognizes strings over {</a:t>
            </a:r>
            <a:r>
              <a:rPr lang="en-US" dirty="0" err="1"/>
              <a:t>a,b</a:t>
            </a:r>
            <a:r>
              <a:rPr lang="en-US" dirty="0"/>
              <a:t>} with length 0</a:t>
            </a:r>
          </a:p>
          <a:p>
            <a:r>
              <a:rPr lang="en-US" dirty="0"/>
              <a:t>L(M2)= {}= Empty Language</a:t>
            </a:r>
          </a:p>
        </p:txBody>
      </p:sp>
      <p:pic>
        <p:nvPicPr>
          <p:cNvPr id="1026" name="Picture 2" descr="fa-lamb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" y="206375"/>
            <a:ext cx="4648200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fa-p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2035175"/>
            <a:ext cx="17145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1059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2051" y="211706"/>
            <a:ext cx="18516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" dirty="0"/>
              <a:t>Regular</a:t>
            </a:r>
            <a:r>
              <a:rPr spc="-35" dirty="0"/>
              <a:t> </a:t>
            </a:r>
            <a:r>
              <a:rPr spc="10" dirty="0"/>
              <a:t>Languages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3" y="1034656"/>
            <a:ext cx="4040504" cy="645795"/>
            <a:chOff x="309193" y="1034656"/>
            <a:chExt cx="4040504" cy="645795"/>
          </a:xfrm>
        </p:grpSpPr>
        <p:sp>
          <p:nvSpPr>
            <p:cNvPr id="4" name="object 4"/>
            <p:cNvSpPr/>
            <p:nvPr/>
          </p:nvSpPr>
          <p:spPr>
            <a:xfrm>
              <a:off x="309193" y="1034656"/>
              <a:ext cx="3989704" cy="198755"/>
            </a:xfrm>
            <a:custGeom>
              <a:avLst/>
              <a:gdLst/>
              <a:ahLst/>
              <a:cxnLst/>
              <a:rect l="l" t="t" r="r" b="b"/>
              <a:pathLst>
                <a:path w="3989704" h="198755">
                  <a:moveTo>
                    <a:pt x="39388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2"/>
                  </a:lnTo>
                  <a:lnTo>
                    <a:pt x="3989654" y="198362"/>
                  </a:lnTo>
                  <a:lnTo>
                    <a:pt x="3989654" y="50800"/>
                  </a:lnTo>
                  <a:lnTo>
                    <a:pt x="3985646" y="31075"/>
                  </a:lnTo>
                  <a:lnTo>
                    <a:pt x="3974732" y="14922"/>
                  </a:lnTo>
                  <a:lnTo>
                    <a:pt x="3958579" y="4008"/>
                  </a:lnTo>
                  <a:lnTo>
                    <a:pt x="3938854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194" y="1220368"/>
              <a:ext cx="3989653" cy="5060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9994" y="1578800"/>
              <a:ext cx="101600" cy="101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0794" y="1566100"/>
              <a:ext cx="3938802" cy="114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98848" y="1078890"/>
              <a:ext cx="50749" cy="4999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9193" y="1264638"/>
              <a:ext cx="3989704" cy="365125"/>
            </a:xfrm>
            <a:custGeom>
              <a:avLst/>
              <a:gdLst/>
              <a:ahLst/>
              <a:cxnLst/>
              <a:rect l="l" t="t" r="r" b="b"/>
              <a:pathLst>
                <a:path w="3989704" h="365125">
                  <a:moveTo>
                    <a:pt x="3989654" y="0"/>
                  </a:moveTo>
                  <a:lnTo>
                    <a:pt x="0" y="0"/>
                  </a:lnTo>
                  <a:lnTo>
                    <a:pt x="0" y="314162"/>
                  </a:lnTo>
                  <a:lnTo>
                    <a:pt x="4008" y="333887"/>
                  </a:lnTo>
                  <a:lnTo>
                    <a:pt x="14922" y="350040"/>
                  </a:lnTo>
                  <a:lnTo>
                    <a:pt x="31075" y="360954"/>
                  </a:lnTo>
                  <a:lnTo>
                    <a:pt x="50800" y="364962"/>
                  </a:lnTo>
                  <a:lnTo>
                    <a:pt x="3938854" y="364962"/>
                  </a:lnTo>
                  <a:lnTo>
                    <a:pt x="3958579" y="360954"/>
                  </a:lnTo>
                  <a:lnTo>
                    <a:pt x="3974732" y="350040"/>
                  </a:lnTo>
                  <a:lnTo>
                    <a:pt x="3985646" y="333887"/>
                  </a:lnTo>
                  <a:lnTo>
                    <a:pt x="3989654" y="314162"/>
                  </a:lnTo>
                  <a:lnTo>
                    <a:pt x="3989654" y="0"/>
                  </a:lnTo>
                  <a:close/>
                </a:path>
              </a:pathLst>
            </a:custGeom>
            <a:solidFill>
              <a:srgbClr val="F7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98848" y="1116980"/>
              <a:ext cx="0" cy="481330"/>
            </a:xfrm>
            <a:custGeom>
              <a:avLst/>
              <a:gdLst/>
              <a:ahLst/>
              <a:cxnLst/>
              <a:rect l="l" t="t" r="r" b="b"/>
              <a:pathLst>
                <a:path h="481330">
                  <a:moveTo>
                    <a:pt x="0" y="48087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98848" y="11042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8848" y="10915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8848" y="10788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34594" y="970851"/>
            <a:ext cx="3875404" cy="16078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30"/>
              </a:spcBef>
            </a:pPr>
            <a:r>
              <a:rPr sz="1200" spc="-10" dirty="0">
                <a:latin typeface="LM Sans 12"/>
                <a:cs typeface="LM Sans 12"/>
              </a:rPr>
              <a:t>Regular Language</a:t>
            </a:r>
            <a:endParaRPr sz="1200">
              <a:latin typeface="LM Sans 12"/>
              <a:cs typeface="LM Sans 12"/>
            </a:endParaRPr>
          </a:p>
          <a:p>
            <a:pPr marL="25400" marR="17780">
              <a:lnSpc>
                <a:spcPct val="102600"/>
              </a:lnSpc>
              <a:spcBef>
                <a:spcPts val="265"/>
              </a:spcBef>
            </a:pPr>
            <a:r>
              <a:rPr sz="1100" spc="-10" dirty="0">
                <a:latin typeface="LM Sans 10"/>
                <a:cs typeface="LM Sans 10"/>
              </a:rPr>
              <a:t>A language is </a:t>
            </a:r>
            <a:r>
              <a:rPr sz="1100" spc="-5" dirty="0">
                <a:latin typeface="LM Sans 10"/>
                <a:cs typeface="LM Sans 10"/>
              </a:rPr>
              <a:t>called a </a:t>
            </a:r>
            <a:r>
              <a:rPr sz="1100" b="1" spc="-10" dirty="0">
                <a:latin typeface="LM Sans 10"/>
                <a:cs typeface="LM Sans 10"/>
              </a:rPr>
              <a:t>regular language </a:t>
            </a:r>
            <a:r>
              <a:rPr sz="1100" spc="-5" dirty="0">
                <a:latin typeface="LM Sans 10"/>
                <a:cs typeface="LM Sans 10"/>
              </a:rPr>
              <a:t>if some finite </a:t>
            </a:r>
            <a:r>
              <a:rPr sz="1100" spc="-10" dirty="0">
                <a:latin typeface="LM Sans 10"/>
                <a:cs typeface="LM Sans 10"/>
              </a:rPr>
              <a:t>automaton  recognizes it.</a:t>
            </a:r>
            <a:endParaRPr sz="1100">
              <a:latin typeface="LM Sans 10"/>
              <a:cs typeface="LM Sans 10"/>
            </a:endParaRPr>
          </a:p>
          <a:p>
            <a:pPr marL="302260" indent="-133350">
              <a:lnSpc>
                <a:spcPts val="1260"/>
              </a:lnSpc>
              <a:spcBef>
                <a:spcPts val="1435"/>
              </a:spcBef>
              <a:buClr>
                <a:srgbClr val="3333B2"/>
              </a:buClr>
              <a:buSzPct val="90909"/>
              <a:buFont typeface="Arial"/>
              <a:buChar char="•"/>
              <a:tabLst>
                <a:tab pos="302895" algn="l"/>
              </a:tabLst>
            </a:pPr>
            <a:r>
              <a:rPr sz="1100" spc="-10" dirty="0">
                <a:latin typeface="LM Sans 10"/>
                <a:cs typeface="LM Sans 10"/>
              </a:rPr>
              <a:t>Let </a:t>
            </a:r>
            <a:r>
              <a:rPr sz="1100" i="1" spc="80" dirty="0">
                <a:latin typeface="Georgia"/>
                <a:cs typeface="Georgia"/>
              </a:rPr>
              <a:t>A </a:t>
            </a:r>
            <a:r>
              <a:rPr sz="1100" spc="-10" dirty="0">
                <a:latin typeface="LM Sans 10"/>
                <a:cs typeface="LM Sans 10"/>
              </a:rPr>
              <a:t>and </a:t>
            </a:r>
            <a:r>
              <a:rPr sz="1100" i="1" spc="105" dirty="0">
                <a:latin typeface="Georgia"/>
                <a:cs typeface="Georgia"/>
              </a:rPr>
              <a:t>B </a:t>
            </a:r>
            <a:r>
              <a:rPr sz="1100" spc="10" dirty="0">
                <a:latin typeface="LM Sans 10"/>
                <a:cs typeface="LM Sans 10"/>
              </a:rPr>
              <a:t>be </a:t>
            </a:r>
            <a:r>
              <a:rPr sz="1100" spc="-10" dirty="0">
                <a:latin typeface="LM Sans 10"/>
                <a:cs typeface="LM Sans 10"/>
              </a:rPr>
              <a:t>languages. </a:t>
            </a:r>
            <a:r>
              <a:rPr sz="1100" spc="-25" dirty="0">
                <a:latin typeface="LM Sans 10"/>
                <a:cs typeface="LM Sans 10"/>
              </a:rPr>
              <a:t>We </a:t>
            </a:r>
            <a:r>
              <a:rPr sz="1100" spc="-10" dirty="0">
                <a:latin typeface="LM Sans 10"/>
                <a:cs typeface="LM Sans 10"/>
              </a:rPr>
              <a:t>define </a:t>
            </a:r>
            <a:r>
              <a:rPr sz="1100" spc="-15" dirty="0">
                <a:latin typeface="LM Sans 10"/>
                <a:cs typeface="LM Sans 10"/>
              </a:rPr>
              <a:t>regular</a:t>
            </a:r>
            <a:r>
              <a:rPr sz="1100" spc="-160" dirty="0">
                <a:latin typeface="LM Sans 10"/>
                <a:cs typeface="LM Sans 10"/>
              </a:rPr>
              <a:t> </a:t>
            </a:r>
            <a:r>
              <a:rPr sz="1100" spc="-5" dirty="0">
                <a:latin typeface="LM Sans 10"/>
                <a:cs typeface="LM Sans 10"/>
              </a:rPr>
              <a:t>operations</a:t>
            </a:r>
            <a:endParaRPr sz="1100">
              <a:latin typeface="LM Sans 10"/>
              <a:cs typeface="LM Sans 10"/>
            </a:endParaRPr>
          </a:p>
          <a:p>
            <a:pPr marL="302260">
              <a:lnSpc>
                <a:spcPts val="1260"/>
              </a:lnSpc>
            </a:pPr>
            <a:r>
              <a:rPr sz="1100" b="1" spc="-5" dirty="0">
                <a:latin typeface="LM Sans 10"/>
                <a:cs typeface="LM Sans 10"/>
              </a:rPr>
              <a:t>union</a:t>
            </a:r>
            <a:r>
              <a:rPr sz="1100" spc="-5" dirty="0">
                <a:latin typeface="LM Sans 10"/>
                <a:cs typeface="LM Sans 10"/>
              </a:rPr>
              <a:t>, </a:t>
            </a:r>
            <a:r>
              <a:rPr sz="1100" b="1" spc="-10" dirty="0">
                <a:latin typeface="LM Sans 10"/>
                <a:cs typeface="LM Sans 10"/>
              </a:rPr>
              <a:t>concatenation</a:t>
            </a:r>
            <a:r>
              <a:rPr sz="1100" spc="-10" dirty="0">
                <a:latin typeface="LM Sans 10"/>
                <a:cs typeface="LM Sans 10"/>
              </a:rPr>
              <a:t>, and </a:t>
            </a:r>
            <a:r>
              <a:rPr sz="1100" b="1" spc="-15" dirty="0">
                <a:latin typeface="LM Sans 10"/>
                <a:cs typeface="LM Sans 10"/>
              </a:rPr>
              <a:t>start </a:t>
            </a:r>
            <a:r>
              <a:rPr sz="1100" spc="-10" dirty="0">
                <a:latin typeface="LM Sans 10"/>
                <a:cs typeface="LM Sans 10"/>
              </a:rPr>
              <a:t>as</a:t>
            </a:r>
            <a:r>
              <a:rPr sz="1100" spc="-35" dirty="0">
                <a:latin typeface="LM Sans 10"/>
                <a:cs typeface="LM Sans 10"/>
              </a:rPr>
              <a:t> </a:t>
            </a:r>
            <a:r>
              <a:rPr sz="1100" spc="-10" dirty="0">
                <a:latin typeface="LM Sans 10"/>
                <a:cs typeface="LM Sans 10"/>
              </a:rPr>
              <a:t>follows:</a:t>
            </a:r>
            <a:endParaRPr sz="1100">
              <a:latin typeface="LM Sans 10"/>
              <a:cs typeface="LM Sans 10"/>
            </a:endParaRPr>
          </a:p>
          <a:p>
            <a:pPr marL="579120" lvl="1" indent="-128270">
              <a:lnSpc>
                <a:spcPts val="1200"/>
              </a:lnSpc>
              <a:spcBef>
                <a:spcPts val="175"/>
              </a:spcBef>
              <a:buClr>
                <a:srgbClr val="3333B2"/>
              </a:buClr>
              <a:buSzPct val="90000"/>
              <a:buFont typeface="Arial"/>
              <a:buChar char="•"/>
              <a:tabLst>
                <a:tab pos="579755" algn="l"/>
              </a:tabLst>
            </a:pPr>
            <a:r>
              <a:rPr sz="1000" b="1" spc="-10" dirty="0">
                <a:latin typeface="LM Sans 10"/>
                <a:cs typeface="LM Sans 10"/>
              </a:rPr>
              <a:t>Union: </a:t>
            </a:r>
            <a:r>
              <a:rPr sz="1000" i="1" spc="75" dirty="0">
                <a:latin typeface="Georgia"/>
                <a:cs typeface="Georgia"/>
              </a:rPr>
              <a:t>A </a:t>
            </a:r>
            <a:r>
              <a:rPr sz="1000" i="1" spc="-70" dirty="0">
                <a:latin typeface="DejaVu Sans"/>
                <a:cs typeface="DejaVu Sans"/>
              </a:rPr>
              <a:t>∪ </a:t>
            </a:r>
            <a:r>
              <a:rPr sz="1000" i="1" spc="100" dirty="0">
                <a:latin typeface="Georgia"/>
                <a:cs typeface="Georgia"/>
              </a:rPr>
              <a:t>B </a:t>
            </a:r>
            <a:r>
              <a:rPr sz="1000" spc="-5" dirty="0">
                <a:latin typeface="LM Roman 10"/>
                <a:cs typeface="LM Roman 10"/>
              </a:rPr>
              <a:t>= </a:t>
            </a:r>
            <a:r>
              <a:rPr sz="1000" i="1" spc="-35" dirty="0">
                <a:latin typeface="DejaVu Sans"/>
                <a:cs typeface="DejaVu Sans"/>
              </a:rPr>
              <a:t>{</a:t>
            </a:r>
            <a:r>
              <a:rPr sz="1000" i="1" spc="-35" dirty="0">
                <a:latin typeface="Georgia"/>
                <a:cs typeface="Georgia"/>
              </a:rPr>
              <a:t>x </a:t>
            </a:r>
            <a:r>
              <a:rPr sz="1000" spc="-5" dirty="0">
                <a:latin typeface="LM Roman 10"/>
                <a:cs typeface="LM Roman 10"/>
              </a:rPr>
              <a:t>: </a:t>
            </a:r>
            <a:r>
              <a:rPr sz="1000" i="1" spc="65" dirty="0">
                <a:latin typeface="Georgia"/>
                <a:cs typeface="Georgia"/>
              </a:rPr>
              <a:t>x </a:t>
            </a:r>
            <a:r>
              <a:rPr sz="1000" i="1" spc="-210" dirty="0">
                <a:latin typeface="DejaVu Sans"/>
                <a:cs typeface="DejaVu Sans"/>
              </a:rPr>
              <a:t>∈ </a:t>
            </a:r>
            <a:r>
              <a:rPr sz="1000" i="1" spc="25" dirty="0">
                <a:latin typeface="Georgia"/>
                <a:cs typeface="Georgia"/>
              </a:rPr>
              <a:t>A</a:t>
            </a:r>
            <a:r>
              <a:rPr sz="1000" spc="25" dirty="0">
                <a:latin typeface="LM Sans 10"/>
                <a:cs typeface="LM Sans 10"/>
              </a:rPr>
              <a:t>or</a:t>
            </a:r>
            <a:r>
              <a:rPr sz="1000" i="1" spc="25" dirty="0">
                <a:latin typeface="Georgia"/>
                <a:cs typeface="Georgia"/>
              </a:rPr>
              <a:t>x </a:t>
            </a:r>
            <a:r>
              <a:rPr sz="1000" i="1" spc="-210" dirty="0">
                <a:latin typeface="DejaVu Sans"/>
                <a:cs typeface="DejaVu Sans"/>
              </a:rPr>
              <a:t>∈</a:t>
            </a:r>
            <a:r>
              <a:rPr sz="1000" i="1" spc="-220" dirty="0">
                <a:latin typeface="DejaVu Sans"/>
                <a:cs typeface="DejaVu Sans"/>
              </a:rPr>
              <a:t> </a:t>
            </a:r>
            <a:r>
              <a:rPr sz="1000" i="1" dirty="0">
                <a:latin typeface="Georgia"/>
                <a:cs typeface="Georgia"/>
              </a:rPr>
              <a:t>B</a:t>
            </a:r>
            <a:r>
              <a:rPr sz="1000" i="1" dirty="0">
                <a:latin typeface="DejaVu Sans"/>
                <a:cs typeface="DejaVu Sans"/>
              </a:rPr>
              <a:t>}</a:t>
            </a:r>
            <a:endParaRPr sz="1000">
              <a:latin typeface="DejaVu Sans"/>
              <a:cs typeface="DejaVu Sans"/>
            </a:endParaRPr>
          </a:p>
          <a:p>
            <a:pPr marL="579120" lvl="1" indent="-128270">
              <a:lnSpc>
                <a:spcPts val="1195"/>
              </a:lnSpc>
              <a:buClr>
                <a:srgbClr val="3333B2"/>
              </a:buClr>
              <a:buSzPct val="90000"/>
              <a:buFont typeface="Arial"/>
              <a:buChar char="•"/>
              <a:tabLst>
                <a:tab pos="579755" algn="l"/>
              </a:tabLst>
            </a:pPr>
            <a:r>
              <a:rPr sz="1000" b="1" spc="-10" dirty="0">
                <a:latin typeface="LM Sans 10"/>
                <a:cs typeface="LM Sans 10"/>
              </a:rPr>
              <a:t>Concatenation: </a:t>
            </a:r>
            <a:r>
              <a:rPr sz="1000" i="1" spc="75" dirty="0">
                <a:latin typeface="Georgia"/>
                <a:cs typeface="Georgia"/>
              </a:rPr>
              <a:t>A </a:t>
            </a:r>
            <a:r>
              <a:rPr sz="1000" i="1" spc="-95" dirty="0">
                <a:latin typeface="DejaVu Sans"/>
                <a:cs typeface="DejaVu Sans"/>
              </a:rPr>
              <a:t>◦ </a:t>
            </a:r>
            <a:r>
              <a:rPr sz="1000" i="1" spc="100" dirty="0">
                <a:latin typeface="Georgia"/>
                <a:cs typeface="Georgia"/>
              </a:rPr>
              <a:t>B </a:t>
            </a:r>
            <a:r>
              <a:rPr sz="1000" spc="-5" dirty="0">
                <a:latin typeface="LM Roman 10"/>
                <a:cs typeface="LM Roman 10"/>
              </a:rPr>
              <a:t>= </a:t>
            </a:r>
            <a:r>
              <a:rPr sz="1000" i="1" spc="85" dirty="0">
                <a:latin typeface="Georgia"/>
                <a:cs typeface="Georgia"/>
              </a:rPr>
              <a:t>AB </a:t>
            </a:r>
            <a:r>
              <a:rPr sz="1000" spc="-5" dirty="0">
                <a:latin typeface="LM Roman 10"/>
                <a:cs typeface="LM Roman 10"/>
              </a:rPr>
              <a:t>= </a:t>
            </a:r>
            <a:r>
              <a:rPr sz="1000" i="1" spc="-50" dirty="0">
                <a:latin typeface="DejaVu Sans"/>
                <a:cs typeface="DejaVu Sans"/>
              </a:rPr>
              <a:t>{</a:t>
            </a:r>
            <a:r>
              <a:rPr sz="1000" i="1" spc="-50" dirty="0">
                <a:latin typeface="Georgia"/>
                <a:cs typeface="Georgia"/>
              </a:rPr>
              <a:t>xy </a:t>
            </a:r>
            <a:r>
              <a:rPr sz="1000" spc="-5" dirty="0">
                <a:latin typeface="LM Roman 10"/>
                <a:cs typeface="LM Roman 10"/>
              </a:rPr>
              <a:t>: </a:t>
            </a:r>
            <a:r>
              <a:rPr sz="1000" i="1" spc="65" dirty="0">
                <a:latin typeface="Georgia"/>
                <a:cs typeface="Georgia"/>
              </a:rPr>
              <a:t>x </a:t>
            </a:r>
            <a:r>
              <a:rPr sz="1000" i="1" spc="-210" dirty="0">
                <a:latin typeface="DejaVu Sans"/>
                <a:cs typeface="DejaVu Sans"/>
              </a:rPr>
              <a:t>∈ </a:t>
            </a:r>
            <a:r>
              <a:rPr sz="1000" i="1" spc="-5" dirty="0">
                <a:latin typeface="Georgia"/>
                <a:cs typeface="Georgia"/>
              </a:rPr>
              <a:t>A</a:t>
            </a:r>
            <a:r>
              <a:rPr sz="1000" spc="-5" dirty="0">
                <a:latin typeface="LM Sans 10"/>
                <a:cs typeface="LM Sans 10"/>
              </a:rPr>
              <a:t>and</a:t>
            </a:r>
            <a:r>
              <a:rPr sz="1000" i="1" spc="-5" dirty="0">
                <a:latin typeface="Georgia"/>
                <a:cs typeface="Georgia"/>
              </a:rPr>
              <a:t>y </a:t>
            </a:r>
            <a:r>
              <a:rPr sz="1000" i="1" spc="-210" dirty="0">
                <a:latin typeface="DejaVu Sans"/>
                <a:cs typeface="DejaVu Sans"/>
              </a:rPr>
              <a:t>∈ </a:t>
            </a:r>
            <a:r>
              <a:rPr sz="1000" i="1" dirty="0">
                <a:latin typeface="Georgia"/>
                <a:cs typeface="Georgia"/>
              </a:rPr>
              <a:t>B</a:t>
            </a:r>
            <a:r>
              <a:rPr sz="1000" i="1" dirty="0">
                <a:latin typeface="DejaVu Sans"/>
                <a:cs typeface="DejaVu Sans"/>
              </a:rPr>
              <a:t>}</a:t>
            </a:r>
            <a:endParaRPr sz="1000">
              <a:latin typeface="DejaVu Sans"/>
              <a:cs typeface="DejaVu Sans"/>
            </a:endParaRPr>
          </a:p>
          <a:p>
            <a:pPr marL="579120" lvl="1" indent="-128270">
              <a:lnSpc>
                <a:spcPts val="1200"/>
              </a:lnSpc>
              <a:buClr>
                <a:srgbClr val="3333B2"/>
              </a:buClr>
              <a:buSzPct val="90000"/>
              <a:buFont typeface="Arial"/>
              <a:buChar char="•"/>
              <a:tabLst>
                <a:tab pos="579755" algn="l"/>
              </a:tabLst>
            </a:pPr>
            <a:r>
              <a:rPr sz="1000" b="1" spc="-10" dirty="0">
                <a:latin typeface="LM Sans 10"/>
                <a:cs typeface="LM Sans 10"/>
              </a:rPr>
              <a:t>Star: </a:t>
            </a:r>
            <a:r>
              <a:rPr sz="1000" i="1" spc="-55" dirty="0">
                <a:latin typeface="Georgia"/>
                <a:cs typeface="Georgia"/>
              </a:rPr>
              <a:t>A</a:t>
            </a:r>
            <a:r>
              <a:rPr sz="1050" i="1" spc="-82" baseline="27777" dirty="0">
                <a:latin typeface="DejaVu Sans"/>
                <a:cs typeface="DejaVu Sans"/>
              </a:rPr>
              <a:t>∗ </a:t>
            </a:r>
            <a:r>
              <a:rPr sz="1000" spc="-5" dirty="0">
                <a:latin typeface="LM Roman 10"/>
                <a:cs typeface="LM Roman 10"/>
              </a:rPr>
              <a:t>= </a:t>
            </a:r>
            <a:r>
              <a:rPr sz="1000" i="1" spc="-5" dirty="0">
                <a:latin typeface="DejaVu Sans"/>
                <a:cs typeface="DejaVu Sans"/>
              </a:rPr>
              <a:t>{</a:t>
            </a:r>
            <a:r>
              <a:rPr sz="1000" i="1" spc="-5" dirty="0">
                <a:latin typeface="Georgia"/>
                <a:cs typeface="Georgia"/>
              </a:rPr>
              <a:t>x</a:t>
            </a:r>
            <a:r>
              <a:rPr sz="1050" spc="-7" baseline="-11904" dirty="0">
                <a:latin typeface="LM Roman 7"/>
                <a:cs typeface="LM Roman 7"/>
              </a:rPr>
              <a:t>1</a:t>
            </a:r>
            <a:r>
              <a:rPr sz="1000" i="1" spc="-5" dirty="0">
                <a:latin typeface="Georgia"/>
                <a:cs typeface="Georgia"/>
              </a:rPr>
              <a:t>, </a:t>
            </a:r>
            <a:r>
              <a:rPr sz="1000" i="1" spc="35" dirty="0">
                <a:latin typeface="Georgia"/>
                <a:cs typeface="Georgia"/>
              </a:rPr>
              <a:t>x</a:t>
            </a:r>
            <a:r>
              <a:rPr sz="1050" spc="52" baseline="-11904" dirty="0">
                <a:latin typeface="LM Roman 7"/>
                <a:cs typeface="LM Roman 7"/>
              </a:rPr>
              <a:t>2</a:t>
            </a:r>
            <a:r>
              <a:rPr sz="1000" i="1" spc="35" dirty="0">
                <a:latin typeface="Georgia"/>
                <a:cs typeface="Georgia"/>
              </a:rPr>
              <a:t>, </a:t>
            </a:r>
            <a:r>
              <a:rPr sz="1000" i="1" spc="5" dirty="0">
                <a:latin typeface="Georgia"/>
                <a:cs typeface="Georgia"/>
              </a:rPr>
              <a:t>. . . , </a:t>
            </a:r>
            <a:r>
              <a:rPr sz="1000" i="1" spc="35" dirty="0">
                <a:latin typeface="Georgia"/>
                <a:cs typeface="Georgia"/>
              </a:rPr>
              <a:t>x</a:t>
            </a:r>
            <a:r>
              <a:rPr sz="1050" i="1" spc="52" baseline="-11904" dirty="0">
                <a:latin typeface="Verdana"/>
                <a:cs typeface="Verdana"/>
              </a:rPr>
              <a:t>k </a:t>
            </a:r>
            <a:r>
              <a:rPr sz="1000" spc="-5" dirty="0">
                <a:latin typeface="LM Roman 10"/>
                <a:cs typeface="LM Roman 10"/>
              </a:rPr>
              <a:t>: </a:t>
            </a:r>
            <a:r>
              <a:rPr sz="1000" i="1" spc="-10" dirty="0">
                <a:latin typeface="Georgia"/>
                <a:cs typeface="Georgia"/>
              </a:rPr>
              <a:t>k </a:t>
            </a:r>
            <a:r>
              <a:rPr sz="1000" i="1" spc="-65" dirty="0">
                <a:latin typeface="DejaVu Sans"/>
                <a:cs typeface="DejaVu Sans"/>
              </a:rPr>
              <a:t>≥ </a:t>
            </a:r>
            <a:r>
              <a:rPr sz="1000" spc="-5" dirty="0">
                <a:latin typeface="LM Roman 10"/>
                <a:cs typeface="LM Roman 10"/>
              </a:rPr>
              <a:t>0</a:t>
            </a:r>
            <a:r>
              <a:rPr sz="1000" spc="-5" dirty="0">
                <a:latin typeface="LM Sans 10"/>
                <a:cs typeface="LM Sans 10"/>
              </a:rPr>
              <a:t>and </a:t>
            </a:r>
            <a:r>
              <a:rPr sz="1000" spc="20" dirty="0">
                <a:latin typeface="LM Sans 10"/>
                <a:cs typeface="LM Sans 10"/>
              </a:rPr>
              <a:t>each</a:t>
            </a:r>
            <a:r>
              <a:rPr sz="1000" i="1" spc="20" dirty="0">
                <a:latin typeface="Georgia"/>
                <a:cs typeface="Georgia"/>
              </a:rPr>
              <a:t>x</a:t>
            </a:r>
            <a:r>
              <a:rPr sz="1050" i="1" spc="30" baseline="-11904" dirty="0">
                <a:latin typeface="Verdana"/>
                <a:cs typeface="Verdana"/>
              </a:rPr>
              <a:t>i </a:t>
            </a:r>
            <a:r>
              <a:rPr sz="1000" i="1" spc="-210" dirty="0">
                <a:latin typeface="DejaVu Sans"/>
                <a:cs typeface="DejaVu Sans"/>
              </a:rPr>
              <a:t>∈</a:t>
            </a:r>
            <a:r>
              <a:rPr sz="1000" i="1" spc="-215" dirty="0">
                <a:latin typeface="DejaVu Sans"/>
                <a:cs typeface="DejaVu Sans"/>
              </a:rPr>
              <a:t> </a:t>
            </a:r>
            <a:r>
              <a:rPr sz="1000" i="1" spc="-35" dirty="0">
                <a:latin typeface="Georgia"/>
                <a:cs typeface="Georgia"/>
              </a:rPr>
              <a:t>A</a:t>
            </a:r>
            <a:r>
              <a:rPr sz="1000" i="1" spc="-35" dirty="0">
                <a:latin typeface="DejaVu Sans"/>
                <a:cs typeface="DejaVu Sans"/>
              </a:rPr>
              <a:t>}</a:t>
            </a:r>
            <a:endParaRPr sz="1000">
              <a:latin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4028466625"/>
      </p:ext>
    </p:extLst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7109" y="211706"/>
            <a:ext cx="24949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Results </a:t>
            </a:r>
            <a:r>
              <a:rPr spc="20" dirty="0"/>
              <a:t>about </a:t>
            </a:r>
            <a:r>
              <a:rPr spc="5" dirty="0"/>
              <a:t>Regular</a:t>
            </a:r>
            <a:r>
              <a:rPr spc="-25" dirty="0"/>
              <a:t> </a:t>
            </a:r>
            <a:r>
              <a:rPr spc="15" dirty="0"/>
              <a:t>Languages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47294" y="1274591"/>
            <a:ext cx="2709545" cy="85407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200" spc="-15" dirty="0">
                <a:latin typeface="LM Sans 12"/>
                <a:cs typeface="LM Sans 12"/>
              </a:rPr>
              <a:t>Theorem</a:t>
            </a:r>
            <a:r>
              <a:rPr sz="1200" spc="-10" dirty="0">
                <a:latin typeface="LM Sans 12"/>
                <a:cs typeface="LM Sans 12"/>
              </a:rPr>
              <a:t> </a:t>
            </a:r>
            <a:r>
              <a:rPr sz="1200" spc="-5" dirty="0">
                <a:latin typeface="LM Sans 12"/>
                <a:cs typeface="LM Sans 12"/>
              </a:rPr>
              <a:t>1</a:t>
            </a:r>
            <a:endParaRPr sz="1200" dirty="0">
              <a:latin typeface="LM Sans 12"/>
              <a:cs typeface="LM Sans 12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100" i="1" spc="-10" dirty="0">
                <a:latin typeface="LM Sans 10"/>
                <a:cs typeface="LM Sans 10"/>
              </a:rPr>
              <a:t>The </a:t>
            </a:r>
            <a:r>
              <a:rPr sz="1100" i="1" spc="-5" dirty="0">
                <a:latin typeface="LM Sans 10"/>
                <a:cs typeface="LM Sans 10"/>
              </a:rPr>
              <a:t>class of </a:t>
            </a:r>
            <a:r>
              <a:rPr sz="1100" i="1" spc="-15" dirty="0">
                <a:latin typeface="LM Sans 10"/>
                <a:cs typeface="LM Sans 10"/>
              </a:rPr>
              <a:t>regular </a:t>
            </a:r>
            <a:r>
              <a:rPr sz="1100" i="1" spc="-10" dirty="0">
                <a:latin typeface="LM Sans 10"/>
                <a:cs typeface="LM Sans 10"/>
              </a:rPr>
              <a:t>languages is </a:t>
            </a:r>
            <a:r>
              <a:rPr sz="1100" i="1" spc="-5" dirty="0">
                <a:latin typeface="LM Sans 10"/>
                <a:cs typeface="LM Sans 10"/>
              </a:rPr>
              <a:t>closed</a:t>
            </a:r>
            <a:r>
              <a:rPr sz="1100" i="1" spc="-10" dirty="0">
                <a:latin typeface="LM Sans 10"/>
                <a:cs typeface="LM Sans 10"/>
              </a:rPr>
              <a:t> under:</a:t>
            </a:r>
            <a:endParaRPr sz="1100" dirty="0">
              <a:latin typeface="LM Sans 10"/>
              <a:cs typeface="LM Sans 10"/>
            </a:endParaRPr>
          </a:p>
          <a:p>
            <a:pPr marL="28956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M Sans 10"/>
              <a:buAutoNum type="arabicPeriod"/>
              <a:tabLst>
                <a:tab pos="290195" algn="l"/>
              </a:tabLst>
            </a:pPr>
            <a:r>
              <a:rPr sz="1100" i="1" spc="-5" dirty="0">
                <a:latin typeface="LM Sans 10"/>
                <a:cs typeface="LM Sans 10"/>
              </a:rPr>
              <a:t>the </a:t>
            </a:r>
            <a:r>
              <a:rPr sz="1100" i="1" spc="-10" dirty="0">
                <a:latin typeface="LM Sans 10"/>
                <a:cs typeface="LM Sans 10"/>
              </a:rPr>
              <a:t>union </a:t>
            </a:r>
            <a:r>
              <a:rPr sz="1100" i="1" spc="-5" dirty="0">
                <a:latin typeface="LM Sans 10"/>
                <a:cs typeface="LM Sans 10"/>
              </a:rPr>
              <a:t>operation</a:t>
            </a:r>
            <a:endParaRPr sz="1100" dirty="0">
              <a:latin typeface="LM Sans 10"/>
              <a:cs typeface="LM Sans 10"/>
            </a:endParaRPr>
          </a:p>
          <a:p>
            <a:pPr marL="289560" indent="-177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M Sans 10"/>
              <a:buAutoNum type="arabicPeriod"/>
              <a:tabLst>
                <a:tab pos="290195" algn="l"/>
              </a:tabLst>
            </a:pPr>
            <a:r>
              <a:rPr sz="1100" i="1" spc="-5" dirty="0">
                <a:latin typeface="LM Sans 10"/>
                <a:cs typeface="LM Sans 10"/>
              </a:rPr>
              <a:t>the concatenation</a:t>
            </a:r>
            <a:r>
              <a:rPr sz="1100" i="1" spc="-10" dirty="0">
                <a:latin typeface="LM Sans 10"/>
                <a:cs typeface="LM Sans 10"/>
              </a:rPr>
              <a:t> </a:t>
            </a:r>
            <a:r>
              <a:rPr sz="1100" i="1" spc="-5" dirty="0">
                <a:latin typeface="LM Sans 10"/>
                <a:cs typeface="LM Sans 10"/>
              </a:rPr>
              <a:t>operation</a:t>
            </a:r>
            <a:endParaRPr sz="1100" dirty="0">
              <a:latin typeface="LM Sans 10"/>
              <a:cs typeface="LM Sans 10"/>
            </a:endParaRPr>
          </a:p>
        </p:txBody>
      </p:sp>
    </p:spTree>
    <p:extLst>
      <p:ext uri="{BB962C8B-B14F-4D97-AF65-F5344CB8AC3E}">
        <p14:creationId xmlns:p14="http://schemas.microsoft.com/office/powerpoint/2010/main" val="4226934714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</TotalTime>
  <Words>1515</Words>
  <Application>Microsoft Office PowerPoint</Application>
  <PresentationFormat>Custom</PresentationFormat>
  <Paragraphs>236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50" baseType="lpstr">
      <vt:lpstr>Arial</vt:lpstr>
      <vt:lpstr>Calibri</vt:lpstr>
      <vt:lpstr>DejaVu Sans</vt:lpstr>
      <vt:lpstr>DejaVu Sans Condensed</vt:lpstr>
      <vt:lpstr>Georgia</vt:lpstr>
      <vt:lpstr>Latin Modern Math</vt:lpstr>
      <vt:lpstr>LM Roman 10</vt:lpstr>
      <vt:lpstr>LM Roman 7</vt:lpstr>
      <vt:lpstr>LM Roman 8</vt:lpstr>
      <vt:lpstr>LM Sans 10</vt:lpstr>
      <vt:lpstr>LM Sans 12</vt:lpstr>
      <vt:lpstr>Tahoma</vt:lpstr>
      <vt:lpstr>Times New Roman</vt:lpstr>
      <vt:lpstr>Trebuchet MS</vt:lpstr>
      <vt:lpstr>Verdana</vt:lpstr>
      <vt:lpstr>Office Theme</vt:lpstr>
      <vt:lpstr>         Theory of Automata </vt:lpstr>
      <vt:lpstr>Introduction of Instructor</vt:lpstr>
      <vt:lpstr>Value of the course</vt:lpstr>
      <vt:lpstr>Introduction</vt:lpstr>
      <vt:lpstr>Introduction</vt:lpstr>
      <vt:lpstr>Introduction</vt:lpstr>
      <vt:lpstr>Introduction: Computability Theory</vt:lpstr>
      <vt:lpstr>PowerPoint Presentation</vt:lpstr>
      <vt:lpstr>Introduction: Computability Theory</vt:lpstr>
      <vt:lpstr>Introduction: Complexity Theory</vt:lpstr>
      <vt:lpstr>Introduction: Complexity Theory</vt:lpstr>
      <vt:lpstr>Introduction: Complexity Theory</vt:lpstr>
      <vt:lpstr>Introduction: Complexity Theory</vt:lpstr>
      <vt:lpstr>Computational Models</vt:lpstr>
      <vt:lpstr>Finite Automata</vt:lpstr>
      <vt:lpstr>PowerPoint Presentation</vt:lpstr>
      <vt:lpstr>Finite Automata</vt:lpstr>
      <vt:lpstr>Finite Automata</vt:lpstr>
      <vt:lpstr>Finite Automata</vt:lpstr>
      <vt:lpstr>Finite Automata</vt:lpstr>
      <vt:lpstr>Languages of Finite Automata</vt:lpstr>
      <vt:lpstr>Basic Notions: Strings and Languages</vt:lpstr>
      <vt:lpstr>Basic Notions: Strings and Languages</vt:lpstr>
      <vt:lpstr>Basic Notions: Strings and Languages</vt:lpstr>
      <vt:lpstr>Basic Notions: Strings and Languages</vt:lpstr>
      <vt:lpstr>Examples of Languages</vt:lpstr>
      <vt:lpstr>PowerPoint Presentation</vt:lpstr>
      <vt:lpstr>Example M2</vt:lpstr>
      <vt:lpstr>PowerPoint Presentation</vt:lpstr>
      <vt:lpstr>PowerPoint Presentation</vt:lpstr>
      <vt:lpstr>PowerPoint Presentation</vt:lpstr>
      <vt:lpstr>PowerPoint Presentation</vt:lpstr>
      <vt:lpstr>Regular Languages</vt:lpstr>
      <vt:lpstr>Results about Regular Languages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212: Nature of Computation</dc:title>
  <dc:creator>PC</dc:creator>
  <cp:lastModifiedBy>asma larik</cp:lastModifiedBy>
  <cp:revision>14</cp:revision>
  <dcterms:created xsi:type="dcterms:W3CDTF">2020-01-13T06:15:46Z</dcterms:created>
  <dcterms:modified xsi:type="dcterms:W3CDTF">2024-08-21T07:59:02Z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2018-01-19T00:00:00Z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2020-01-13T00:00:00Z</vt:filetime>
  </property>
</Properties>
</file>