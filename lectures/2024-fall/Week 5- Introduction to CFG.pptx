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1" r:id="rId19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20211-175C-43E4-85B6-7C404D399A9A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FC4F0-8591-40A9-B4DD-2B7045A75B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12153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737233-963E-4EB0-B4E6-0844CB64984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63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737233-963E-4EB0-B4E6-0844CB64984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4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C2D7-1412-4B48-A313-4B09F548E22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0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1351" y="211465"/>
            <a:ext cx="2387396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39212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5959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37397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299713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36544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2394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134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8969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664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0442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664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359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4608004" cy="449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6042" y="211465"/>
            <a:ext cx="229801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8881" y="881708"/>
            <a:ext cx="3912336" cy="193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2466" y="211465"/>
            <a:ext cx="19234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Context-Free</a:t>
            </a:r>
            <a:r>
              <a:rPr spc="55" dirty="0"/>
              <a:t> </a:t>
            </a:r>
            <a:r>
              <a:rPr spc="70" dirty="0"/>
              <a:t>Grammars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32242"/>
            <a:ext cx="3652520" cy="27381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4780" indent="-13271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know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which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regular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dirty="0">
                <a:latin typeface="Georgia"/>
                <a:cs typeface="Georgia"/>
              </a:rPr>
              <a:t>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other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words,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we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can’t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have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finite</a:t>
            </a:r>
            <a:r>
              <a:rPr sz="1100" b="1" spc="13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automata</a:t>
            </a:r>
            <a:r>
              <a:rPr sz="1100" b="1" spc="1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endParaRPr sz="1100">
              <a:latin typeface="Georgia"/>
              <a:cs typeface="Georgia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1100" b="1" spc="-50" dirty="0">
                <a:latin typeface="Georgia"/>
                <a:cs typeface="Georgia"/>
              </a:rPr>
              <a:t>regular</a:t>
            </a:r>
            <a:r>
              <a:rPr sz="1100" b="1" spc="125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expressions</a:t>
            </a:r>
            <a:r>
              <a:rPr sz="1100" b="1" spc="7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them</a:t>
            </a:r>
            <a:endParaRPr sz="1100">
              <a:latin typeface="Georgia"/>
              <a:cs typeface="Georgia"/>
            </a:endParaRPr>
          </a:p>
          <a:p>
            <a:pPr marL="144780" marR="320675" indent="-13271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study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more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powerful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method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describing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context-free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grammars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(CFG)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spc="50" dirty="0">
                <a:latin typeface="Georgia"/>
                <a:cs typeface="Georgia"/>
              </a:rPr>
              <a:t>CFG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were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first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used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study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natural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languages</a:t>
            </a:r>
            <a:endParaRPr sz="1100">
              <a:latin typeface="Georgia"/>
              <a:cs typeface="Georgia"/>
            </a:endParaRPr>
          </a:p>
          <a:p>
            <a:pPr marL="144780" marR="212725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spc="-25" dirty="0">
                <a:latin typeface="Georgia"/>
                <a:cs typeface="Georgia"/>
              </a:rPr>
              <a:t>Most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compilers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use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CFG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describe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syntax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corresponding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programming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languages</a:t>
            </a:r>
            <a:endParaRPr sz="1100">
              <a:latin typeface="Georgia"/>
              <a:cs typeface="Georgia"/>
            </a:endParaRPr>
          </a:p>
          <a:p>
            <a:pPr marL="144780" marR="339090" indent="-13271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spc="-15" dirty="0">
                <a:latin typeface="Georgia"/>
                <a:cs typeface="Georgia"/>
              </a:rPr>
              <a:t>These </a:t>
            </a:r>
            <a:r>
              <a:rPr sz="1100" spc="-35" dirty="0">
                <a:latin typeface="Georgia"/>
                <a:cs typeface="Georgia"/>
              </a:rPr>
              <a:t>compilers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parse</a:t>
            </a:r>
            <a:r>
              <a:rPr sz="1100" b="1" spc="-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35" dirty="0">
                <a:latin typeface="Georgia"/>
                <a:cs typeface="Georgia"/>
              </a:rPr>
              <a:t>program</a:t>
            </a:r>
            <a:r>
              <a:rPr sz="1100" spc="-30" dirty="0">
                <a:latin typeface="Georgia"/>
                <a:cs typeface="Georgia"/>
              </a:rPr>
              <a:t> and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extract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meaning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it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spc="5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collection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associated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with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CFG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</a:t>
            </a:r>
            <a:endParaRPr sz="1100">
              <a:latin typeface="Georgia"/>
              <a:cs typeface="Georgia"/>
            </a:endParaRPr>
          </a:p>
          <a:p>
            <a:pPr marL="144780">
              <a:lnSpc>
                <a:spcPct val="100000"/>
              </a:lnSpc>
              <a:spcBef>
                <a:spcPts val="30"/>
              </a:spcBef>
            </a:pPr>
            <a:r>
              <a:rPr sz="1100" b="1" spc="-30" dirty="0">
                <a:latin typeface="Georgia"/>
                <a:cs typeface="Georgia"/>
              </a:rPr>
              <a:t>context-free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languages</a:t>
            </a:r>
            <a:r>
              <a:rPr sz="1100" b="1" spc="60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(CFL)</a:t>
            </a:r>
            <a:endParaRPr sz="1100">
              <a:latin typeface="Georgia"/>
              <a:cs typeface="Georgia"/>
            </a:endParaRPr>
          </a:p>
          <a:p>
            <a:pPr marL="144780" marR="178435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will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see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corresponding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recognize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CFL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pushdown</a:t>
            </a:r>
            <a:r>
              <a:rPr sz="1100" b="1" spc="13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automata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2466" y="211465"/>
            <a:ext cx="19234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Context-Free</a:t>
            </a:r>
            <a:r>
              <a:rPr spc="55" dirty="0"/>
              <a:t> </a:t>
            </a:r>
            <a:r>
              <a:rPr spc="70" dirty="0"/>
              <a:t>Grammars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658" y="755178"/>
            <a:ext cx="3773170" cy="2246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0979" indent="-13271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21615" algn="l"/>
              </a:tabLst>
            </a:pPr>
            <a:r>
              <a:rPr sz="1100" spc="-25" dirty="0">
                <a:latin typeface="Georgia"/>
                <a:cs typeface="Georgia"/>
              </a:rPr>
              <a:t>Consider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following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grammar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Calibri"/>
                <a:cs typeface="Calibri"/>
              </a:rPr>
              <a:t>G</a:t>
            </a:r>
            <a:r>
              <a:rPr sz="1200" spc="97" baseline="-10416" dirty="0">
                <a:latin typeface="Palatino Linotype"/>
                <a:cs typeface="Palatino Linotype"/>
              </a:rPr>
              <a:t>1</a:t>
            </a:r>
            <a:r>
              <a:rPr sz="1100" spc="6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1661795">
              <a:lnSpc>
                <a:spcPct val="100000"/>
              </a:lnSpc>
              <a:spcBef>
                <a:spcPts val="1130"/>
              </a:spcBef>
            </a:pPr>
            <a:r>
              <a:rPr sz="1100" i="1" spc="180" dirty="0">
                <a:latin typeface="Calibri"/>
                <a:cs typeface="Calibri"/>
              </a:rPr>
              <a:t>A </a:t>
            </a:r>
            <a:r>
              <a:rPr sz="1100" i="1" spc="275" dirty="0">
                <a:latin typeface="Calibri"/>
                <a:cs typeface="Calibri"/>
              </a:rPr>
              <a:t> </a:t>
            </a:r>
            <a:r>
              <a:rPr sz="1100" spc="165" dirty="0">
                <a:latin typeface="Cambria"/>
                <a:cs typeface="Cambria"/>
              </a:rPr>
              <a:t>→ </a:t>
            </a:r>
            <a:r>
              <a:rPr sz="1100" spc="310" dirty="0">
                <a:latin typeface="Cambria"/>
                <a:cs typeface="Cambria"/>
              </a:rPr>
              <a:t> </a:t>
            </a:r>
            <a:r>
              <a:rPr sz="1100" spc="40" dirty="0">
                <a:latin typeface="Georgia"/>
                <a:cs typeface="Georgia"/>
              </a:rPr>
              <a:t>0</a:t>
            </a:r>
            <a:r>
              <a:rPr sz="1100" i="1" spc="40" dirty="0">
                <a:latin typeface="Calibri"/>
                <a:cs typeface="Calibri"/>
              </a:rPr>
              <a:t>A</a:t>
            </a:r>
            <a:r>
              <a:rPr sz="1100" spc="4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661795">
              <a:lnSpc>
                <a:spcPct val="100000"/>
              </a:lnSpc>
              <a:spcBef>
                <a:spcPts val="335"/>
              </a:spcBef>
            </a:pPr>
            <a:r>
              <a:rPr sz="1100" i="1" spc="180" dirty="0">
                <a:latin typeface="Calibri"/>
                <a:cs typeface="Calibri"/>
              </a:rPr>
              <a:t>A </a:t>
            </a:r>
            <a:r>
              <a:rPr sz="1100" i="1" spc="270" dirty="0">
                <a:latin typeface="Calibri"/>
                <a:cs typeface="Calibri"/>
              </a:rPr>
              <a:t> </a:t>
            </a:r>
            <a:r>
              <a:rPr sz="1100" spc="165" dirty="0">
                <a:latin typeface="Cambria"/>
                <a:cs typeface="Cambria"/>
              </a:rPr>
              <a:t>→ </a:t>
            </a:r>
            <a:r>
              <a:rPr sz="1100" spc="300" dirty="0">
                <a:latin typeface="Cambria"/>
                <a:cs typeface="Cambr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endParaRPr sz="1100">
              <a:latin typeface="Calibri"/>
              <a:cs typeface="Calibri"/>
            </a:endParaRPr>
          </a:p>
          <a:p>
            <a:pPr marL="1653539">
              <a:lnSpc>
                <a:spcPct val="100000"/>
              </a:lnSpc>
              <a:spcBef>
                <a:spcPts val="334"/>
              </a:spcBef>
              <a:tabLst>
                <a:tab pos="1892300" algn="l"/>
              </a:tabLst>
            </a:pPr>
            <a:r>
              <a:rPr sz="1100" i="1" spc="225" dirty="0">
                <a:latin typeface="Calibri"/>
                <a:cs typeface="Calibri"/>
              </a:rPr>
              <a:t>B	</a:t>
            </a:r>
            <a:r>
              <a:rPr sz="1100" spc="165" dirty="0">
                <a:latin typeface="Cambria"/>
                <a:cs typeface="Cambria"/>
              </a:rPr>
              <a:t>→ </a:t>
            </a:r>
            <a:r>
              <a:rPr sz="1100" spc="250" dirty="0">
                <a:latin typeface="Cambria"/>
                <a:cs typeface="Cambria"/>
              </a:rPr>
              <a:t> </a:t>
            </a:r>
            <a:r>
              <a:rPr sz="1100" spc="200" dirty="0">
                <a:latin typeface="Georgia"/>
                <a:cs typeface="Georgia"/>
              </a:rPr>
              <a:t>#</a:t>
            </a:r>
            <a:endParaRPr sz="1100">
              <a:latin typeface="Georgia"/>
              <a:cs typeface="Georgia"/>
            </a:endParaRPr>
          </a:p>
          <a:p>
            <a:pPr marL="220979" indent="-133350">
              <a:lnSpc>
                <a:spcPct val="100000"/>
              </a:lnSpc>
              <a:spcBef>
                <a:spcPts val="113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21615" algn="l"/>
              </a:tabLst>
            </a:pPr>
            <a:r>
              <a:rPr sz="1100" dirty="0">
                <a:latin typeface="Georgia"/>
                <a:cs typeface="Georgia"/>
              </a:rPr>
              <a:t>This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collection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  </a:t>
            </a:r>
            <a:r>
              <a:rPr sz="1100" b="1" spc="-35" dirty="0">
                <a:latin typeface="Georgia"/>
                <a:cs typeface="Georgia"/>
              </a:rPr>
              <a:t>substitution</a:t>
            </a:r>
            <a:r>
              <a:rPr sz="1100" b="1" spc="145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rules</a:t>
            </a:r>
            <a:r>
              <a:rPr sz="1100" b="1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productions</a:t>
            </a:r>
            <a:endParaRPr sz="1100">
              <a:latin typeface="Georgia"/>
              <a:cs typeface="Georgia"/>
            </a:endParaRPr>
          </a:p>
          <a:p>
            <a:pPr marL="220979" marR="27051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21615" algn="l"/>
              </a:tabLst>
            </a:pPr>
            <a:r>
              <a:rPr sz="1100" spc="5" dirty="0">
                <a:latin typeface="Georgia"/>
                <a:cs typeface="Georgia"/>
              </a:rPr>
              <a:t>Capital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letters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represent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variables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while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small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letters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represent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terminals</a:t>
            </a:r>
            <a:endParaRPr sz="1100">
              <a:latin typeface="Georgia"/>
              <a:cs typeface="Georgia"/>
            </a:endParaRPr>
          </a:p>
          <a:p>
            <a:pPr marL="220979" indent="-13335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21615" algn="l"/>
              </a:tabLst>
            </a:pPr>
            <a:r>
              <a:rPr sz="1100" spc="-40" dirty="0">
                <a:latin typeface="Georgia"/>
                <a:cs typeface="Georgia"/>
              </a:rPr>
              <a:t>In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i="1" spc="80" dirty="0">
                <a:latin typeface="Calibri"/>
                <a:cs typeface="Calibri"/>
              </a:rPr>
              <a:t>G</a:t>
            </a:r>
            <a:r>
              <a:rPr sz="1200" spc="120" baseline="-10416" dirty="0">
                <a:latin typeface="Palatino Linotype"/>
                <a:cs typeface="Palatino Linotype"/>
              </a:rPr>
              <a:t>1</a:t>
            </a:r>
            <a:r>
              <a:rPr sz="1100" spc="80" dirty="0">
                <a:latin typeface="Georgia"/>
                <a:cs typeface="Georgia"/>
              </a:rPr>
              <a:t>,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start</a:t>
            </a:r>
            <a:r>
              <a:rPr sz="1100" b="1" spc="12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variable</a:t>
            </a:r>
            <a:endParaRPr sz="1100">
              <a:latin typeface="Georgia"/>
              <a:cs typeface="Georgia"/>
            </a:endParaRPr>
          </a:p>
          <a:p>
            <a:pPr marL="220979" indent="-13335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21615" algn="l"/>
              </a:tabLst>
            </a:pPr>
            <a:r>
              <a:rPr sz="1100" spc="-65" dirty="0">
                <a:latin typeface="Georgia"/>
                <a:cs typeface="Georgia"/>
              </a:rPr>
              <a:t>0,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35" dirty="0">
                <a:latin typeface="Georgia"/>
                <a:cs typeface="Georgia"/>
              </a:rPr>
              <a:t>1,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200" dirty="0">
                <a:latin typeface="Georgia"/>
                <a:cs typeface="Georgia"/>
              </a:rPr>
              <a:t>#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terminals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(alphabet)</a:t>
            </a:r>
            <a:endParaRPr sz="1100">
              <a:latin typeface="Georgia"/>
              <a:cs typeface="Georgia"/>
            </a:endParaRPr>
          </a:p>
          <a:p>
            <a:pPr marL="220979" indent="-13335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21615" algn="l"/>
              </a:tabLst>
            </a:pPr>
            <a:r>
              <a:rPr sz="1100" i="1" spc="90" dirty="0">
                <a:latin typeface="Calibri"/>
                <a:cs typeface="Calibri"/>
              </a:rPr>
              <a:t>G</a:t>
            </a:r>
            <a:r>
              <a:rPr sz="1200" spc="135" baseline="-10416" dirty="0">
                <a:latin typeface="Palatino Linotype"/>
                <a:cs typeface="Palatino Linotype"/>
              </a:rPr>
              <a:t>1</a:t>
            </a:r>
            <a:r>
              <a:rPr sz="1200" spc="315" baseline="-10416" dirty="0">
                <a:latin typeface="Palatino Linotype"/>
                <a:cs typeface="Palatino Linotype"/>
              </a:rPr>
              <a:t> </a:t>
            </a:r>
            <a:r>
              <a:rPr sz="1100" spc="-30" dirty="0">
                <a:latin typeface="Georgia"/>
                <a:cs typeface="Georgia"/>
              </a:rPr>
              <a:t>generates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000#111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458" y="211465"/>
            <a:ext cx="2867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Context-Free</a:t>
            </a:r>
            <a:r>
              <a:rPr spc="95" dirty="0"/>
              <a:t> </a:t>
            </a:r>
            <a:r>
              <a:rPr spc="65" dirty="0"/>
              <a:t>Grammars:</a:t>
            </a:r>
            <a:r>
              <a:rPr spc="250" dirty="0"/>
              <a:t> </a:t>
            </a:r>
            <a:r>
              <a:rPr spc="35" dirty="0"/>
              <a:t>Derivation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431673" y="1194150"/>
            <a:ext cx="2021839" cy="1252220"/>
          </a:xfrm>
          <a:custGeom>
            <a:avLst/>
            <a:gdLst/>
            <a:ahLst/>
            <a:cxnLst/>
            <a:rect l="l" t="t" r="r" b="b"/>
            <a:pathLst>
              <a:path w="2021839" h="1252220">
                <a:moveTo>
                  <a:pt x="938859" y="0"/>
                </a:moveTo>
                <a:lnTo>
                  <a:pt x="0" y="1251642"/>
                </a:lnTo>
              </a:path>
              <a:path w="2021839" h="1252220">
                <a:moveTo>
                  <a:pt x="946873" y="360004"/>
                </a:moveTo>
                <a:lnTo>
                  <a:pt x="352348" y="1251642"/>
                </a:lnTo>
              </a:path>
              <a:path w="2021839" h="1252220">
                <a:moveTo>
                  <a:pt x="962844" y="720008"/>
                </a:moveTo>
                <a:lnTo>
                  <a:pt x="697000" y="1251642"/>
                </a:lnTo>
              </a:path>
              <a:path w="2021839" h="1252220">
                <a:moveTo>
                  <a:pt x="1082873" y="0"/>
                </a:moveTo>
                <a:lnTo>
                  <a:pt x="2021733" y="1251642"/>
                </a:lnTo>
              </a:path>
              <a:path w="2021839" h="1252220">
                <a:moveTo>
                  <a:pt x="1074860" y="360004"/>
                </a:moveTo>
                <a:lnTo>
                  <a:pt x="1669384" y="1251642"/>
                </a:lnTo>
              </a:path>
              <a:path w="2021839" h="1252220">
                <a:moveTo>
                  <a:pt x="1058888" y="720008"/>
                </a:moveTo>
                <a:lnTo>
                  <a:pt x="1324732" y="1251642"/>
                </a:lnTo>
              </a:path>
              <a:path w="2021839" h="1252220">
                <a:moveTo>
                  <a:pt x="1010866" y="720008"/>
                </a:moveTo>
                <a:lnTo>
                  <a:pt x="1010866" y="887924"/>
                </a:lnTo>
              </a:path>
              <a:path w="2021839" h="1252220">
                <a:moveTo>
                  <a:pt x="1010866" y="1080013"/>
                </a:moveTo>
                <a:lnTo>
                  <a:pt x="1010866" y="1234075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42540" y="1194150"/>
            <a:ext cx="0" cy="168275"/>
          </a:xfrm>
          <a:custGeom>
            <a:avLst/>
            <a:gdLst/>
            <a:ahLst/>
            <a:cxnLst/>
            <a:rect l="l" t="t" r="r" b="b"/>
            <a:pathLst>
              <a:path h="168275">
                <a:moveTo>
                  <a:pt x="0" y="0"/>
                </a:moveTo>
                <a:lnTo>
                  <a:pt x="0" y="167915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42540" y="1554154"/>
            <a:ext cx="0" cy="168275"/>
          </a:xfrm>
          <a:custGeom>
            <a:avLst/>
            <a:gdLst/>
            <a:ahLst/>
            <a:cxnLst/>
            <a:rect l="l" t="t" r="r" b="b"/>
            <a:pathLst>
              <a:path h="168275">
                <a:moveTo>
                  <a:pt x="0" y="0"/>
                </a:moveTo>
                <a:lnTo>
                  <a:pt x="0" y="167915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3758" y="521993"/>
            <a:ext cx="3794760" cy="27565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2880" indent="-13271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83515" algn="l"/>
              </a:tabLst>
            </a:pP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spc="135" dirty="0">
                <a:latin typeface="Cambria"/>
                <a:cs typeface="Cambria"/>
              </a:rPr>
              <a:t>⇒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20" dirty="0">
                <a:latin typeface="Georgia"/>
                <a:cs typeface="Georgia"/>
              </a:rPr>
              <a:t>0</a:t>
            </a:r>
            <a:r>
              <a:rPr sz="1100" i="1" spc="20" dirty="0">
                <a:latin typeface="Calibri"/>
                <a:cs typeface="Calibri"/>
              </a:rPr>
              <a:t>Aa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spc="135" dirty="0">
                <a:latin typeface="Cambria"/>
                <a:cs typeface="Cambria"/>
              </a:rPr>
              <a:t>⇒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10" dirty="0">
                <a:latin typeface="Georgia"/>
                <a:cs typeface="Georgia"/>
              </a:rPr>
              <a:t>00</a:t>
            </a:r>
            <a:r>
              <a:rPr sz="1100" i="1" spc="10" dirty="0">
                <a:latin typeface="Calibri"/>
                <a:cs typeface="Calibri"/>
              </a:rPr>
              <a:t>A</a:t>
            </a:r>
            <a:r>
              <a:rPr sz="1100" spc="10" dirty="0">
                <a:latin typeface="Georgia"/>
                <a:cs typeface="Georgia"/>
              </a:rPr>
              <a:t>11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5" dirty="0">
                <a:latin typeface="Cambria"/>
                <a:cs typeface="Cambria"/>
              </a:rPr>
              <a:t>⇒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15" dirty="0">
                <a:latin typeface="Georgia"/>
                <a:cs typeface="Georgia"/>
              </a:rPr>
              <a:t>000</a:t>
            </a:r>
            <a:r>
              <a:rPr sz="1100" i="1" spc="15" dirty="0">
                <a:latin typeface="Calibri"/>
                <a:cs typeface="Calibri"/>
              </a:rPr>
              <a:t>B</a:t>
            </a:r>
            <a:r>
              <a:rPr sz="1100" spc="15" dirty="0">
                <a:latin typeface="Georgia"/>
                <a:cs typeface="Georgia"/>
              </a:rPr>
              <a:t>111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5" dirty="0">
                <a:latin typeface="Cambria"/>
                <a:cs typeface="Cambria"/>
              </a:rPr>
              <a:t>⇒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dirty="0">
                <a:latin typeface="Georgia"/>
                <a:cs typeface="Georgia"/>
              </a:rPr>
              <a:t>000#111</a:t>
            </a:r>
            <a:endParaRPr sz="1100">
              <a:latin typeface="Georgia"/>
              <a:cs typeface="Georgia"/>
            </a:endParaRPr>
          </a:p>
          <a:p>
            <a:pPr marL="182880" indent="-13335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83515" algn="l"/>
              </a:tabLst>
            </a:pPr>
            <a:r>
              <a:rPr sz="1100" spc="-35" dirty="0">
                <a:latin typeface="Georgia"/>
                <a:cs typeface="Georgia"/>
              </a:rPr>
              <a:t>Following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parse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tree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corresponding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derivation</a:t>
            </a:r>
            <a:endParaRPr sz="1100">
              <a:latin typeface="Georgia"/>
              <a:cs typeface="Georgia"/>
            </a:endParaRPr>
          </a:p>
          <a:p>
            <a:pPr marL="182880" algn="ctr">
              <a:lnSpc>
                <a:spcPct val="100000"/>
              </a:lnSpc>
              <a:spcBef>
                <a:spcPts val="400"/>
              </a:spcBef>
            </a:pPr>
            <a:r>
              <a:rPr sz="1100" i="1" spc="18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  <a:p>
            <a:pPr marL="1932305" marR="1745614" indent="3810" algn="just">
              <a:lnSpc>
                <a:spcPct val="214699"/>
              </a:lnSpc>
            </a:pPr>
            <a:r>
              <a:rPr sz="1100" i="1" spc="105" dirty="0">
                <a:latin typeface="Calibri"/>
                <a:cs typeface="Calibri"/>
              </a:rPr>
              <a:t>A  A  </a:t>
            </a:r>
            <a:r>
              <a:rPr sz="1100" i="1" spc="225" dirty="0">
                <a:latin typeface="Calibri"/>
                <a:cs typeface="Calibri"/>
              </a:rPr>
              <a:t>B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Calibri"/>
              <a:cs typeface="Calibri"/>
            </a:endParaRPr>
          </a:p>
          <a:p>
            <a:pPr marL="182880" algn="ctr">
              <a:lnSpc>
                <a:spcPct val="100000"/>
              </a:lnSpc>
              <a:tabLst>
                <a:tab pos="542925" algn="l"/>
                <a:tab pos="902969" algn="l"/>
                <a:tab pos="1239520" algn="l"/>
                <a:tab pos="1623060" algn="l"/>
                <a:tab pos="1982470" algn="l"/>
                <a:tab pos="2342515" algn="l"/>
              </a:tabLst>
            </a:pPr>
            <a:r>
              <a:rPr sz="1100" spc="-130" dirty="0">
                <a:latin typeface="Georgia"/>
                <a:cs typeface="Georgia"/>
              </a:rPr>
              <a:t>0	0	0	</a:t>
            </a:r>
            <a:r>
              <a:rPr sz="1650" spc="300" baseline="2525" dirty="0">
                <a:latin typeface="Georgia"/>
                <a:cs typeface="Georgia"/>
              </a:rPr>
              <a:t>#	</a:t>
            </a:r>
            <a:r>
              <a:rPr sz="1100" spc="70" dirty="0">
                <a:latin typeface="Georgia"/>
                <a:cs typeface="Georgia"/>
              </a:rPr>
              <a:t>1	1	1</a:t>
            </a:r>
            <a:endParaRPr sz="1100">
              <a:latin typeface="Georgia"/>
              <a:cs typeface="Georgia"/>
            </a:endParaRPr>
          </a:p>
          <a:p>
            <a:pPr marL="182880" marR="77470" indent="-132715">
              <a:lnSpc>
                <a:spcPct val="102600"/>
              </a:lnSpc>
              <a:spcBef>
                <a:spcPts val="80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83515" algn="l"/>
              </a:tabLst>
            </a:pPr>
            <a:r>
              <a:rPr sz="1100" spc="15" dirty="0">
                <a:latin typeface="Georgia"/>
                <a:cs typeface="Georgia"/>
              </a:rPr>
              <a:t>All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strings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way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make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language</a:t>
            </a:r>
            <a:r>
              <a:rPr sz="1100" b="1" spc="140" dirty="0">
                <a:latin typeface="Georgia"/>
                <a:cs typeface="Georgia"/>
              </a:rPr>
              <a:t> </a:t>
            </a:r>
            <a:r>
              <a:rPr sz="1100" b="1" spc="-65" dirty="0">
                <a:latin typeface="Georgia"/>
                <a:cs typeface="Georgia"/>
              </a:rPr>
              <a:t>of</a:t>
            </a:r>
            <a:r>
              <a:rPr sz="1100" b="1" spc="14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the </a:t>
            </a:r>
            <a:r>
              <a:rPr sz="1100" b="1" spc="-265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grammar</a:t>
            </a:r>
            <a:endParaRPr sz="1100">
              <a:latin typeface="Georgia"/>
              <a:cs typeface="Georgia"/>
            </a:endParaRPr>
          </a:p>
          <a:p>
            <a:pPr marL="1828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83515" algn="l"/>
              </a:tabLst>
            </a:pPr>
            <a:r>
              <a:rPr sz="1100" i="1" spc="105" dirty="0">
                <a:latin typeface="Calibri"/>
                <a:cs typeface="Calibri"/>
              </a:rPr>
              <a:t>L</a:t>
            </a:r>
            <a:r>
              <a:rPr sz="1100" spc="105" dirty="0">
                <a:latin typeface="Georgia"/>
                <a:cs typeface="Georgia"/>
              </a:rPr>
              <a:t>(</a:t>
            </a:r>
            <a:r>
              <a:rPr sz="1100" i="1" spc="105" dirty="0">
                <a:latin typeface="Calibri"/>
                <a:cs typeface="Calibri"/>
              </a:rPr>
              <a:t>G</a:t>
            </a:r>
            <a:r>
              <a:rPr sz="1200" spc="157" baseline="-10416" dirty="0">
                <a:latin typeface="Palatino Linotype"/>
                <a:cs typeface="Palatino Linotype"/>
              </a:rPr>
              <a:t>1</a:t>
            </a:r>
            <a:r>
              <a:rPr sz="1100" spc="105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50" dirty="0">
                <a:latin typeface="Cambria"/>
                <a:cs typeface="Cambria"/>
              </a:rPr>
              <a:t>{</a:t>
            </a:r>
            <a:r>
              <a:rPr sz="1100" spc="50" dirty="0">
                <a:latin typeface="Georgia"/>
                <a:cs typeface="Georgia"/>
              </a:rPr>
              <a:t>0</a:t>
            </a:r>
            <a:r>
              <a:rPr sz="1200" i="1" spc="75" baseline="27777" dirty="0">
                <a:latin typeface="Verdana"/>
                <a:cs typeface="Verdana"/>
              </a:rPr>
              <a:t>n</a:t>
            </a:r>
            <a:r>
              <a:rPr sz="1100" spc="50" dirty="0">
                <a:latin typeface="Georgia"/>
                <a:cs typeface="Georgia"/>
              </a:rPr>
              <a:t>#1</a:t>
            </a:r>
            <a:r>
              <a:rPr sz="1200" i="1" spc="75" baseline="27777" dirty="0">
                <a:latin typeface="Verdana"/>
                <a:cs typeface="Verdana"/>
              </a:rPr>
              <a:t>n</a:t>
            </a:r>
            <a:r>
              <a:rPr sz="1200" i="1" spc="89" baseline="27777" dirty="0">
                <a:latin typeface="Verdana"/>
                <a:cs typeface="Verdan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spc="85" dirty="0">
                <a:latin typeface="Calibri"/>
                <a:cs typeface="Calibri"/>
              </a:rPr>
              <a:t>n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spc="235" dirty="0">
                <a:latin typeface="Cambria"/>
                <a:cs typeface="Cambria"/>
              </a:rPr>
              <a:t>≥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spc="-1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645" y="211465"/>
            <a:ext cx="18529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Context-Free </a:t>
            </a:r>
            <a:r>
              <a:rPr spc="80" dirty="0"/>
              <a:t>Grammar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3" y="716952"/>
            <a:ext cx="4040504" cy="1289050"/>
            <a:chOff x="309193" y="716952"/>
            <a:chExt cx="4040504" cy="1289050"/>
          </a:xfrm>
        </p:grpSpPr>
        <p:sp>
          <p:nvSpPr>
            <p:cNvPr id="4" name="object 4"/>
            <p:cNvSpPr/>
            <p:nvPr/>
          </p:nvSpPr>
          <p:spPr>
            <a:xfrm>
              <a:off x="309193" y="716952"/>
              <a:ext cx="3989704" cy="187325"/>
            </a:xfrm>
            <a:custGeom>
              <a:avLst/>
              <a:gdLst/>
              <a:ahLst/>
              <a:cxnLst/>
              <a:rect l="l" t="t" r="r" b="b"/>
              <a:pathLst>
                <a:path w="3989704" h="187325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78"/>
                  </a:lnTo>
                  <a:lnTo>
                    <a:pt x="3989652" y="18697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891286"/>
              <a:ext cx="3989651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903958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1891258"/>
              <a:ext cx="3938802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846" y="761199"/>
              <a:ext cx="50751" cy="11427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9193" y="935559"/>
              <a:ext cx="3989704" cy="1019810"/>
            </a:xfrm>
            <a:custGeom>
              <a:avLst/>
              <a:gdLst/>
              <a:ahLst/>
              <a:cxnLst/>
              <a:rect l="l" t="t" r="r" b="b"/>
              <a:pathLst>
                <a:path w="3989704" h="1019810">
                  <a:moveTo>
                    <a:pt x="3989652" y="0"/>
                  </a:moveTo>
                  <a:lnTo>
                    <a:pt x="0" y="0"/>
                  </a:lnTo>
                  <a:lnTo>
                    <a:pt x="0" y="968399"/>
                  </a:lnTo>
                  <a:lnTo>
                    <a:pt x="4008" y="988124"/>
                  </a:lnTo>
                  <a:lnTo>
                    <a:pt x="14922" y="1004277"/>
                  </a:lnTo>
                  <a:lnTo>
                    <a:pt x="31075" y="1015191"/>
                  </a:lnTo>
                  <a:lnTo>
                    <a:pt x="50800" y="1019200"/>
                  </a:lnTo>
                  <a:lnTo>
                    <a:pt x="3938852" y="1019200"/>
                  </a:lnTo>
                  <a:lnTo>
                    <a:pt x="3958576" y="1015191"/>
                  </a:lnTo>
                  <a:lnTo>
                    <a:pt x="3974729" y="1004277"/>
                  </a:lnTo>
                  <a:lnTo>
                    <a:pt x="3985644" y="988124"/>
                  </a:lnTo>
                  <a:lnTo>
                    <a:pt x="3989652" y="96839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846" y="799286"/>
              <a:ext cx="0" cy="1123950"/>
            </a:xfrm>
            <a:custGeom>
              <a:avLst/>
              <a:gdLst/>
              <a:ahLst/>
              <a:cxnLst/>
              <a:rect l="l" t="t" r="r" b="b"/>
              <a:pathLst>
                <a:path h="1123950">
                  <a:moveTo>
                    <a:pt x="0" y="11237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6" y="7865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7738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7611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4594" y="655427"/>
            <a:ext cx="3930650" cy="240284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sz="1200" spc="20" dirty="0">
                <a:latin typeface="Times New Roman"/>
                <a:cs typeface="Times New Roman"/>
              </a:rPr>
              <a:t>Context-Free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Grammar</a:t>
            </a:r>
            <a:endParaRPr sz="12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275"/>
              </a:spcBef>
            </a:pPr>
            <a:r>
              <a:rPr sz="1100" spc="8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co</a:t>
            </a:r>
            <a:r>
              <a:rPr sz="1100" b="1" spc="-95" dirty="0">
                <a:latin typeface="Georgia"/>
                <a:cs typeface="Georgia"/>
              </a:rPr>
              <a:t>n</a:t>
            </a:r>
            <a:r>
              <a:rPr sz="1100" b="1" spc="-20" dirty="0">
                <a:latin typeface="Georgia"/>
                <a:cs typeface="Georgia"/>
              </a:rPr>
              <a:t>text-free</a:t>
            </a:r>
            <a:r>
              <a:rPr sz="1100" b="1" spc="135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grammar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</a:t>
            </a:r>
            <a:r>
              <a:rPr sz="1100" spc="-40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80" dirty="0">
                <a:latin typeface="Georgia"/>
                <a:cs typeface="Georgia"/>
              </a:rPr>
              <a:t>4</a:t>
            </a:r>
            <a:r>
              <a:rPr sz="1100" spc="-20" dirty="0">
                <a:latin typeface="Georgia"/>
                <a:cs typeface="Georgia"/>
              </a:rPr>
              <a:t>-tuple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70" dirty="0">
                <a:latin typeface="Calibri"/>
                <a:cs typeface="Calibri"/>
              </a:rPr>
              <a:t>V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120" dirty="0">
                <a:latin typeface="Georgia"/>
                <a:cs typeface="Georgia"/>
              </a:rPr>
              <a:t>Σ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S</a:t>
            </a:r>
            <a:r>
              <a:rPr sz="1100" spc="5" dirty="0">
                <a:latin typeface="Georgia"/>
                <a:cs typeface="Georgia"/>
              </a:rPr>
              <a:t>),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where</a:t>
            </a:r>
            <a:endParaRPr sz="1100" dirty="0">
              <a:latin typeface="Georgia"/>
              <a:cs typeface="Georgia"/>
            </a:endParaRPr>
          </a:p>
          <a:p>
            <a:pPr marL="3022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Georgia"/>
              <a:buAutoNum type="arabicPeriod"/>
              <a:tabLst>
                <a:tab pos="302895" algn="l"/>
              </a:tabLst>
            </a:pPr>
            <a:r>
              <a:rPr sz="1100" i="1" spc="10" dirty="0">
                <a:latin typeface="Calibri"/>
                <a:cs typeface="Calibri"/>
              </a:rPr>
              <a:t>V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set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75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variables</a:t>
            </a:r>
            <a:endParaRPr sz="1100" dirty="0">
              <a:latin typeface="Georgia"/>
              <a:cs typeface="Georgia"/>
            </a:endParaRPr>
          </a:p>
          <a:p>
            <a:pPr marL="3022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302895" algn="l"/>
              </a:tabLst>
            </a:pPr>
            <a:r>
              <a:rPr sz="1100" spc="120" dirty="0">
                <a:latin typeface="Georgia"/>
                <a:cs typeface="Georgia"/>
              </a:rPr>
              <a:t>Σ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set,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disjoint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10" dirty="0">
                <a:latin typeface="Calibri"/>
                <a:cs typeface="Calibri"/>
              </a:rPr>
              <a:t>V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5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8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terminals</a:t>
            </a:r>
            <a:endParaRPr sz="1100" dirty="0">
              <a:latin typeface="Georgia"/>
              <a:cs typeface="Georgia"/>
            </a:endParaRPr>
          </a:p>
          <a:p>
            <a:pPr marL="3022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Georgia"/>
              <a:buAutoNum type="arabicPeriod"/>
              <a:tabLst>
                <a:tab pos="302895" algn="l"/>
              </a:tabLst>
            </a:pPr>
            <a:r>
              <a:rPr sz="1100" i="1" spc="229" dirty="0">
                <a:latin typeface="Calibri"/>
                <a:cs typeface="Calibri"/>
              </a:rPr>
              <a:t>R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set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75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rules</a:t>
            </a:r>
            <a:endParaRPr sz="1100" dirty="0">
              <a:latin typeface="Georgia"/>
              <a:cs typeface="Georgia"/>
            </a:endParaRPr>
          </a:p>
          <a:p>
            <a:pPr marL="3022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Georgia"/>
              <a:buAutoNum type="arabicPeriod"/>
              <a:tabLst>
                <a:tab pos="302895" algn="l"/>
              </a:tabLst>
            </a:pP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spc="40" dirty="0">
                <a:latin typeface="Cambria"/>
                <a:cs typeface="Cambria"/>
              </a:rPr>
              <a:t>∈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i="1" spc="10" dirty="0">
                <a:latin typeface="Calibri"/>
                <a:cs typeface="Calibri"/>
              </a:rPr>
              <a:t>V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start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variable.</a:t>
            </a:r>
            <a:endParaRPr sz="1100" dirty="0">
              <a:latin typeface="Georgia"/>
              <a:cs typeface="Georgia"/>
            </a:endParaRPr>
          </a:p>
          <a:p>
            <a:pPr marL="302260" marR="17780" indent="-132715">
              <a:lnSpc>
                <a:spcPct val="102600"/>
              </a:lnSpc>
              <a:spcBef>
                <a:spcPts val="139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302895" algn="l"/>
              </a:tabLst>
            </a:pPr>
            <a:r>
              <a:rPr sz="1100" spc="-30" dirty="0">
                <a:latin typeface="Georgia"/>
                <a:cs typeface="Georgia"/>
              </a:rPr>
              <a:t>If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40" dirty="0">
                <a:latin typeface="Calibri"/>
                <a:cs typeface="Calibri"/>
              </a:rPr>
              <a:t>u,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spc="40" dirty="0">
                <a:latin typeface="Calibri"/>
                <a:cs typeface="Calibri"/>
              </a:rPr>
              <a:t>v</a:t>
            </a:r>
            <a:r>
              <a:rPr sz="1100" spc="40" dirty="0">
                <a:latin typeface="Georgia"/>
                <a:cs typeface="Georgia"/>
              </a:rPr>
              <a:t>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150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strings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variables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terminals,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 </a:t>
            </a:r>
            <a:r>
              <a:rPr sz="1100" i="1" spc="-229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35" dirty="0">
                <a:latin typeface="Georgia"/>
                <a:cs typeface="Georgia"/>
              </a:rPr>
              <a:t>rule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grammar,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we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say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90" dirty="0">
                <a:latin typeface="Calibri"/>
                <a:cs typeface="Calibri"/>
              </a:rPr>
              <a:t>uAv </a:t>
            </a:r>
            <a:r>
              <a:rPr sz="1100" b="1" spc="-35" dirty="0">
                <a:latin typeface="Georgia"/>
                <a:cs typeface="Georgia"/>
              </a:rPr>
              <a:t>yields</a:t>
            </a:r>
            <a:r>
              <a:rPr sz="1100" b="1" spc="204" dirty="0">
                <a:latin typeface="Georgia"/>
                <a:cs typeface="Georgia"/>
              </a:rPr>
              <a:t> </a:t>
            </a:r>
            <a:r>
              <a:rPr sz="1100" i="1" spc="35" dirty="0" err="1">
                <a:latin typeface="Calibri"/>
                <a:cs typeface="Calibri"/>
              </a:rPr>
              <a:t>uw</a:t>
            </a:r>
            <a:r>
              <a:rPr lang="en-US" sz="1100" i="1" spc="35" dirty="0" err="1">
                <a:latin typeface="Calibri"/>
                <a:cs typeface="Calibri"/>
              </a:rPr>
              <a:t>v</a:t>
            </a:r>
            <a:r>
              <a:rPr sz="1100" spc="35" dirty="0">
                <a:latin typeface="Georgia"/>
                <a:cs typeface="Georgia"/>
              </a:rPr>
              <a:t>, </a:t>
            </a:r>
            <a:r>
              <a:rPr sz="1100" spc="-10" dirty="0">
                <a:latin typeface="Georgia"/>
                <a:cs typeface="Georgia"/>
              </a:rPr>
              <a:t>written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i="1" spc="90" dirty="0">
                <a:latin typeface="Calibri"/>
                <a:cs typeface="Calibri"/>
              </a:rPr>
              <a:t>uAv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spc="135" dirty="0">
                <a:latin typeface="Cambria"/>
                <a:cs typeface="Cambria"/>
              </a:rPr>
              <a:t>⇒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i="1" spc="40" dirty="0" err="1">
                <a:latin typeface="Calibri"/>
                <a:cs typeface="Calibri"/>
              </a:rPr>
              <a:t>uw</a:t>
            </a:r>
            <a:r>
              <a:rPr lang="en-US" sz="1100" i="1" spc="40" dirty="0" err="1">
                <a:latin typeface="Calibri"/>
                <a:cs typeface="Calibri"/>
              </a:rPr>
              <a:t>v</a:t>
            </a:r>
            <a:endParaRPr sz="1100" dirty="0">
              <a:latin typeface="Calibri"/>
              <a:cs typeface="Calibri"/>
            </a:endParaRPr>
          </a:p>
          <a:p>
            <a:pPr marL="302260" indent="-13335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302895" algn="l"/>
              </a:tabLst>
            </a:pPr>
            <a:r>
              <a:rPr sz="1100" dirty="0">
                <a:latin typeface="Georgia"/>
                <a:cs typeface="Georgia"/>
              </a:rPr>
              <a:t>Or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i="1" spc="55" dirty="0">
                <a:latin typeface="Calibri"/>
                <a:cs typeface="Calibri"/>
              </a:rPr>
              <a:t>u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derives</a:t>
            </a:r>
            <a:r>
              <a:rPr sz="1100" b="1" spc="75" dirty="0">
                <a:latin typeface="Georgia"/>
                <a:cs typeface="Georgia"/>
              </a:rPr>
              <a:t> </a:t>
            </a:r>
            <a:r>
              <a:rPr sz="1100" i="1" spc="40" dirty="0">
                <a:latin typeface="Calibri"/>
                <a:cs typeface="Calibri"/>
              </a:rPr>
              <a:t>v</a:t>
            </a:r>
            <a:r>
              <a:rPr sz="1100" spc="40" dirty="0">
                <a:latin typeface="Georgia"/>
                <a:cs typeface="Georgia"/>
              </a:rPr>
              <a:t>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written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55" dirty="0">
                <a:latin typeface="Calibri"/>
                <a:cs typeface="Calibri"/>
              </a:rPr>
              <a:t>u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spc="-420" dirty="0">
                <a:latin typeface="Cambria"/>
                <a:cs typeface="Cambria"/>
              </a:rPr>
              <a:t>⇒</a:t>
            </a:r>
            <a:r>
              <a:rPr sz="1200" spc="-630" baseline="41666" dirty="0">
                <a:latin typeface="Lucida Sans Unicode"/>
                <a:cs typeface="Lucida Sans Unicode"/>
              </a:rPr>
              <a:t>∗</a:t>
            </a:r>
            <a:r>
              <a:rPr sz="1200" spc="555" baseline="41666" dirty="0">
                <a:latin typeface="Lucida Sans Unicode"/>
                <a:cs typeface="Lucida Sans Unicode"/>
              </a:rPr>
              <a:t> </a:t>
            </a:r>
            <a:r>
              <a:rPr sz="1100" i="1" spc="35" dirty="0">
                <a:latin typeface="Calibri"/>
                <a:cs typeface="Calibri"/>
              </a:rPr>
              <a:t>v</a:t>
            </a:r>
            <a:endParaRPr sz="1100" dirty="0">
              <a:latin typeface="Calibri"/>
              <a:cs typeface="Calibri"/>
            </a:endParaRPr>
          </a:p>
          <a:p>
            <a:pPr marL="302260" indent="-13335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302895" algn="l"/>
              </a:tabLst>
            </a:pPr>
            <a:r>
              <a:rPr sz="1100" i="1" spc="110" dirty="0">
                <a:latin typeface="Calibri"/>
                <a:cs typeface="Calibri"/>
              </a:rPr>
              <a:t>L</a:t>
            </a:r>
            <a:r>
              <a:rPr sz="1100" spc="110" dirty="0">
                <a:latin typeface="Georgia"/>
                <a:cs typeface="Georgia"/>
              </a:rPr>
              <a:t>(</a:t>
            </a:r>
            <a:r>
              <a:rPr sz="1100" i="1" spc="110" dirty="0">
                <a:latin typeface="Calibri"/>
                <a:cs typeface="Calibri"/>
              </a:rPr>
              <a:t>G</a:t>
            </a:r>
            <a:r>
              <a:rPr sz="1100" spc="11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55" dirty="0">
                <a:latin typeface="Cambria"/>
                <a:cs typeface="Cambria"/>
              </a:rPr>
              <a:t>{</a:t>
            </a:r>
            <a:r>
              <a:rPr sz="1100" i="1" spc="55" dirty="0">
                <a:latin typeface="Calibri"/>
                <a:cs typeface="Calibri"/>
              </a:rPr>
              <a:t>w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spc="40" dirty="0">
                <a:latin typeface="Cambria"/>
                <a:cs typeface="Cambria"/>
              </a:rPr>
              <a:t>∈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Σ</a:t>
            </a:r>
            <a:r>
              <a:rPr sz="1200" spc="-67" baseline="27777" dirty="0">
                <a:latin typeface="Lucida Sans Unicode"/>
                <a:cs typeface="Lucida Sans Unicode"/>
              </a:rPr>
              <a:t>∗</a:t>
            </a:r>
            <a:r>
              <a:rPr sz="1200" spc="142" baseline="27777" dirty="0">
                <a:latin typeface="Lucida Sans Unicode"/>
                <a:cs typeface="Lucida Sans Unicode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420" dirty="0">
                <a:latin typeface="Cambria"/>
                <a:cs typeface="Cambria"/>
              </a:rPr>
              <a:t>⇒</a:t>
            </a:r>
            <a:r>
              <a:rPr sz="1200" spc="-630" baseline="41666" dirty="0">
                <a:latin typeface="Lucida Sans Unicode"/>
                <a:cs typeface="Lucida Sans Unicode"/>
              </a:rPr>
              <a:t>∗</a:t>
            </a:r>
            <a:r>
              <a:rPr sz="1200" spc="555" baseline="41666" dirty="0">
                <a:latin typeface="Lucida Sans Unicode"/>
                <a:cs typeface="Lucida Sans Unicode"/>
              </a:rPr>
              <a:t> </a:t>
            </a:r>
            <a:r>
              <a:rPr sz="1100" i="1" spc="65" dirty="0">
                <a:latin typeface="Calibri"/>
                <a:cs typeface="Calibri"/>
              </a:rPr>
              <a:t>w</a:t>
            </a:r>
            <a:r>
              <a:rPr sz="1100" spc="65" dirty="0">
                <a:latin typeface="Cambria"/>
                <a:cs typeface="Cambria"/>
              </a:rPr>
              <a:t>}</a:t>
            </a:r>
            <a:endParaRPr sz="1100" dirty="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858" y="211465"/>
            <a:ext cx="2665730" cy="882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Examples</a:t>
            </a:r>
            <a:endParaRPr sz="1400">
              <a:latin typeface="Times New Roman"/>
              <a:cs typeface="Times New Roman"/>
            </a:endParaRPr>
          </a:p>
          <a:p>
            <a:pPr marL="144780" indent="-132715">
              <a:lnSpc>
                <a:spcPct val="100000"/>
              </a:lnSpc>
              <a:spcBef>
                <a:spcPts val="125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14" dirty="0">
                <a:latin typeface="Cambria"/>
                <a:cs typeface="Cambria"/>
              </a:rPr>
              <a:t>{{</a:t>
            </a:r>
            <a:r>
              <a:rPr sz="1100" i="1" spc="229" dirty="0">
                <a:latin typeface="Calibri"/>
                <a:cs typeface="Calibri"/>
              </a:rPr>
              <a:t>S</a:t>
            </a:r>
            <a:r>
              <a:rPr sz="1100" spc="110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110" dirty="0">
                <a:latin typeface="Cambria"/>
                <a:cs typeface="Cambria"/>
              </a:rPr>
              <a:t>{</a:t>
            </a:r>
            <a:r>
              <a:rPr sz="1100" i="1" spc="20" dirty="0">
                <a:latin typeface="Calibri"/>
                <a:cs typeface="Calibri"/>
              </a:rPr>
              <a:t>a</a:t>
            </a:r>
            <a:r>
              <a:rPr sz="1100" i="1" spc="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100" dirty="0">
                <a:latin typeface="Calibri"/>
                <a:cs typeface="Calibri"/>
              </a:rPr>
              <a:t>b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S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-125" dirty="0">
                <a:latin typeface="Cambria"/>
                <a:cs typeface="Cambr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rule</a:t>
            </a:r>
            <a:r>
              <a:rPr sz="1100" spc="-35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  <a:p>
            <a:pPr marL="1412240">
              <a:lnSpc>
                <a:spcPct val="100000"/>
              </a:lnSpc>
              <a:spcBef>
                <a:spcPts val="1130"/>
              </a:spcBef>
            </a:pP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i="1" spc="45" dirty="0">
                <a:latin typeface="Calibri"/>
                <a:cs typeface="Calibri"/>
              </a:rPr>
              <a:t>aSb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i="1" spc="200" dirty="0">
                <a:latin typeface="Calibri"/>
                <a:cs typeface="Calibri"/>
              </a:rPr>
              <a:t>SS</a:t>
            </a:r>
            <a:r>
              <a:rPr sz="1100" i="1" spc="160" dirty="0">
                <a:latin typeface="Calibri"/>
                <a:cs typeface="Calibri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ϵ.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5426" y="211465"/>
            <a:ext cx="7778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90142"/>
            <a:ext cx="3420745" cy="1755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4780" indent="-13271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14" dirty="0">
                <a:latin typeface="Cambria"/>
                <a:cs typeface="Cambria"/>
              </a:rPr>
              <a:t>{{</a:t>
            </a:r>
            <a:r>
              <a:rPr sz="1100" i="1" spc="229" dirty="0">
                <a:latin typeface="Calibri"/>
                <a:cs typeface="Calibri"/>
              </a:rPr>
              <a:t>S</a:t>
            </a:r>
            <a:r>
              <a:rPr sz="1100" spc="110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110" dirty="0">
                <a:latin typeface="Cambria"/>
                <a:cs typeface="Cambria"/>
              </a:rPr>
              <a:t>{</a:t>
            </a:r>
            <a:r>
              <a:rPr sz="1100" i="1" spc="20" dirty="0">
                <a:latin typeface="Calibri"/>
                <a:cs typeface="Calibri"/>
              </a:rPr>
              <a:t>a</a:t>
            </a:r>
            <a:r>
              <a:rPr sz="1100" i="1" spc="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100" dirty="0">
                <a:latin typeface="Calibri"/>
                <a:cs typeface="Calibri"/>
              </a:rPr>
              <a:t>b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S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-125" dirty="0">
                <a:latin typeface="Cambria"/>
                <a:cs typeface="Cambr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rule</a:t>
            </a:r>
            <a:r>
              <a:rPr sz="1100" spc="-35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  <a:p>
            <a:pPr marL="1412240">
              <a:lnSpc>
                <a:spcPct val="100000"/>
              </a:lnSpc>
              <a:spcBef>
                <a:spcPts val="1130"/>
              </a:spcBef>
            </a:pP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i="1" spc="45" dirty="0">
                <a:latin typeface="Calibri"/>
                <a:cs typeface="Calibri"/>
              </a:rPr>
              <a:t>aSb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i="1" spc="200" dirty="0">
                <a:latin typeface="Calibri"/>
                <a:cs typeface="Calibri"/>
              </a:rPr>
              <a:t>SS</a:t>
            </a:r>
            <a:r>
              <a:rPr sz="1100" i="1" spc="155" dirty="0">
                <a:latin typeface="Calibri"/>
                <a:cs typeface="Calibri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ϵ.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Calibri"/>
              <a:cs typeface="Calibri"/>
            </a:endParaRPr>
          </a:p>
          <a:p>
            <a:pPr marL="144780" indent="-132715">
              <a:lnSpc>
                <a:spcPct val="100000"/>
              </a:lnSpc>
              <a:spcBef>
                <a:spcPts val="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10" dirty="0">
                <a:latin typeface="Cambria"/>
                <a:cs typeface="Cambria"/>
              </a:rPr>
              <a:t>{</a:t>
            </a:r>
            <a:r>
              <a:rPr sz="1100" i="1" spc="70" dirty="0">
                <a:latin typeface="Calibri"/>
                <a:cs typeface="Calibri"/>
              </a:rPr>
              <a:t>V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120" dirty="0">
                <a:latin typeface="Georgia"/>
                <a:cs typeface="Georgia"/>
              </a:rPr>
              <a:t>Σ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65" dirty="0">
                <a:latin typeface="Cambria"/>
                <a:cs typeface="Cambria"/>
              </a:rPr>
              <a:t>⟩</a:t>
            </a:r>
            <a:r>
              <a:rPr sz="1100" spc="75" dirty="0">
                <a:latin typeface="Cambria"/>
                <a:cs typeface="Cambria"/>
              </a:rPr>
              <a:t>}</a:t>
            </a:r>
            <a:r>
              <a:rPr sz="1100" spc="5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</a:t>
            </a:r>
            <a:r>
              <a:rPr sz="1100" spc="-15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rule</a:t>
            </a:r>
            <a:r>
              <a:rPr sz="1100" spc="-35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endParaRPr sz="1100">
              <a:latin typeface="Georgia"/>
              <a:cs typeface="Georgia"/>
            </a:endParaRPr>
          </a:p>
          <a:p>
            <a:pPr marL="649605">
              <a:lnSpc>
                <a:spcPct val="100000"/>
              </a:lnSpc>
              <a:spcBef>
                <a:spcPts val="1130"/>
              </a:spcBef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140" dirty="0">
                <a:latin typeface="Georgia"/>
                <a:cs typeface="Georgia"/>
              </a:rPr>
              <a:t>+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229" dirty="0">
                <a:latin typeface="SimSun"/>
                <a:cs typeface="SimSun"/>
              </a:rPr>
              <a:t>ter</a:t>
            </a:r>
            <a:r>
              <a:rPr sz="1100" cap="small" spc="225" dirty="0">
                <a:latin typeface="SimSun"/>
                <a:cs typeface="SimSun"/>
              </a:rPr>
              <a:t>m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-12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229" dirty="0">
                <a:latin typeface="SimSun"/>
                <a:cs typeface="SimSun"/>
              </a:rPr>
              <a:t>ter</a:t>
            </a:r>
            <a:r>
              <a:rPr sz="1100" cap="small" spc="225" dirty="0">
                <a:latin typeface="SimSun"/>
                <a:cs typeface="SimSun"/>
              </a:rPr>
              <a:t>m</a:t>
            </a:r>
            <a:r>
              <a:rPr sz="1100" spc="25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  <a:p>
            <a:pPr marL="629285">
              <a:lnSpc>
                <a:spcPct val="100000"/>
              </a:lnSpc>
              <a:spcBef>
                <a:spcPts val="334"/>
              </a:spcBef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229" dirty="0">
                <a:latin typeface="SimSun"/>
                <a:cs typeface="SimSun"/>
              </a:rPr>
              <a:t>ter</a:t>
            </a:r>
            <a:r>
              <a:rPr sz="1100" cap="small" spc="225" dirty="0">
                <a:latin typeface="SimSun"/>
                <a:cs typeface="SimSun"/>
              </a:rPr>
              <a:t>m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229" dirty="0">
                <a:latin typeface="SimSun"/>
                <a:cs typeface="SimSun"/>
              </a:rPr>
              <a:t>ter</a:t>
            </a:r>
            <a:r>
              <a:rPr sz="1100" cap="small" spc="225" dirty="0">
                <a:latin typeface="SimSun"/>
                <a:cs typeface="SimSun"/>
              </a:rPr>
              <a:t>m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spc="235" dirty="0">
                <a:latin typeface="Cambria"/>
                <a:cs typeface="Cambria"/>
              </a:rPr>
              <a:t>×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spc="25" dirty="0">
                <a:latin typeface="Cambria"/>
                <a:cs typeface="Cambria"/>
              </a:rPr>
              <a:t>⟨</a:t>
            </a:r>
            <a:r>
              <a:rPr sz="1100" cap="small" spc="30" dirty="0">
                <a:latin typeface="SimSun"/>
                <a:cs typeface="SimSun"/>
              </a:rPr>
              <a:t>f</a:t>
            </a:r>
            <a:r>
              <a:rPr sz="1100" cap="small" spc="190" dirty="0">
                <a:latin typeface="SimSun"/>
                <a:cs typeface="SimSun"/>
              </a:rPr>
              <a:t>a</a:t>
            </a:r>
            <a:r>
              <a:rPr sz="1100" cap="small" spc="210" dirty="0">
                <a:latin typeface="SimSun"/>
                <a:cs typeface="SimSun"/>
              </a:rPr>
              <a:t>cto</a:t>
            </a:r>
            <a:r>
              <a:rPr sz="1100" cap="small" spc="225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-12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30" dirty="0">
                <a:latin typeface="SimSun"/>
                <a:cs typeface="SimSun"/>
              </a:rPr>
              <a:t>f</a:t>
            </a:r>
            <a:r>
              <a:rPr sz="1100" cap="small" spc="190" dirty="0">
                <a:latin typeface="SimSun"/>
                <a:cs typeface="SimSun"/>
              </a:rPr>
              <a:t>a</a:t>
            </a:r>
            <a:r>
              <a:rPr sz="1100" cap="small" spc="210" dirty="0">
                <a:latin typeface="SimSun"/>
                <a:cs typeface="SimSun"/>
              </a:rPr>
              <a:t>cto</a:t>
            </a:r>
            <a:r>
              <a:rPr sz="1100" cap="small" spc="225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  <a:p>
            <a:pPr marL="493395">
              <a:lnSpc>
                <a:spcPct val="100000"/>
              </a:lnSpc>
              <a:spcBef>
                <a:spcPts val="330"/>
              </a:spcBef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30" dirty="0">
                <a:latin typeface="SimSun"/>
                <a:cs typeface="SimSun"/>
              </a:rPr>
              <a:t>f</a:t>
            </a:r>
            <a:r>
              <a:rPr sz="1100" cap="small" spc="190" dirty="0">
                <a:latin typeface="SimSun"/>
                <a:cs typeface="SimSun"/>
              </a:rPr>
              <a:t>a</a:t>
            </a:r>
            <a:r>
              <a:rPr sz="1100" cap="small" spc="210" dirty="0">
                <a:latin typeface="SimSun"/>
                <a:cs typeface="SimSun"/>
              </a:rPr>
              <a:t>cto</a:t>
            </a:r>
            <a:r>
              <a:rPr sz="1100" cap="small" spc="225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0" dirty="0">
                <a:latin typeface="Cambria"/>
                <a:cs typeface="Cambria"/>
              </a:rPr>
              <a:t>⟩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-125" dirty="0">
                <a:latin typeface="Cambria"/>
                <a:cs typeface="Cambria"/>
              </a:rPr>
              <a:t> </a:t>
            </a:r>
            <a:r>
              <a:rPr sz="1100" i="1" spc="1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5426" y="211465"/>
            <a:ext cx="7778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90142"/>
            <a:ext cx="3769360" cy="2588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4780" indent="-13271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14" dirty="0">
                <a:latin typeface="Cambria"/>
                <a:cs typeface="Cambria"/>
              </a:rPr>
              <a:t>{{</a:t>
            </a:r>
            <a:r>
              <a:rPr sz="1100" i="1" spc="229" dirty="0">
                <a:latin typeface="Calibri"/>
                <a:cs typeface="Calibri"/>
              </a:rPr>
              <a:t>S</a:t>
            </a:r>
            <a:r>
              <a:rPr sz="1100" spc="110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110" dirty="0">
                <a:latin typeface="Cambria"/>
                <a:cs typeface="Cambria"/>
              </a:rPr>
              <a:t>{</a:t>
            </a:r>
            <a:r>
              <a:rPr sz="1100" i="1" spc="20" dirty="0">
                <a:latin typeface="Calibri"/>
                <a:cs typeface="Calibri"/>
              </a:rPr>
              <a:t>a</a:t>
            </a:r>
            <a:r>
              <a:rPr sz="1100" i="1" spc="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100" dirty="0">
                <a:latin typeface="Calibri"/>
                <a:cs typeface="Calibri"/>
              </a:rPr>
              <a:t>b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S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-125" dirty="0">
                <a:latin typeface="Cambria"/>
                <a:cs typeface="Cambr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rule</a:t>
            </a:r>
            <a:r>
              <a:rPr sz="1100" spc="-35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  <a:p>
            <a:pPr marL="132080" algn="ctr">
              <a:lnSpc>
                <a:spcPct val="100000"/>
              </a:lnSpc>
              <a:spcBef>
                <a:spcPts val="1130"/>
              </a:spcBef>
            </a:pP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i="1" spc="45" dirty="0">
                <a:latin typeface="Calibri"/>
                <a:cs typeface="Calibri"/>
              </a:rPr>
              <a:t>aSb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i="1" spc="200" dirty="0">
                <a:latin typeface="Calibri"/>
                <a:cs typeface="Calibri"/>
              </a:rPr>
              <a:t>SS</a:t>
            </a:r>
            <a:r>
              <a:rPr sz="1100" i="1" spc="155" dirty="0">
                <a:latin typeface="Calibri"/>
                <a:cs typeface="Calibri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ϵ.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Calibri"/>
              <a:cs typeface="Calibri"/>
            </a:endParaRPr>
          </a:p>
          <a:p>
            <a:pPr marL="144780" indent="-132715">
              <a:lnSpc>
                <a:spcPct val="100000"/>
              </a:lnSpc>
              <a:spcBef>
                <a:spcPts val="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10" dirty="0">
                <a:latin typeface="Cambria"/>
                <a:cs typeface="Cambria"/>
              </a:rPr>
              <a:t>{</a:t>
            </a:r>
            <a:r>
              <a:rPr sz="1100" i="1" spc="70" dirty="0">
                <a:latin typeface="Calibri"/>
                <a:cs typeface="Calibri"/>
              </a:rPr>
              <a:t>V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120" dirty="0">
                <a:latin typeface="Georgia"/>
                <a:cs typeface="Georgia"/>
              </a:rPr>
              <a:t>Σ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65" dirty="0">
                <a:latin typeface="Cambria"/>
                <a:cs typeface="Cambria"/>
              </a:rPr>
              <a:t>⟩</a:t>
            </a:r>
            <a:r>
              <a:rPr sz="1100" spc="75" dirty="0">
                <a:latin typeface="Cambria"/>
                <a:cs typeface="Cambria"/>
              </a:rPr>
              <a:t>}</a:t>
            </a:r>
            <a:r>
              <a:rPr sz="1100" spc="5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</a:t>
            </a:r>
            <a:r>
              <a:rPr sz="1100" spc="-15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rule</a:t>
            </a:r>
            <a:r>
              <a:rPr sz="1100" spc="-35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endParaRPr sz="1100">
              <a:latin typeface="Georgia"/>
              <a:cs typeface="Georgia"/>
            </a:endParaRPr>
          </a:p>
          <a:p>
            <a:pPr marL="649605">
              <a:lnSpc>
                <a:spcPct val="100000"/>
              </a:lnSpc>
              <a:spcBef>
                <a:spcPts val="1130"/>
              </a:spcBef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140" dirty="0">
                <a:latin typeface="Georgia"/>
                <a:cs typeface="Georgia"/>
              </a:rPr>
              <a:t>+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229" dirty="0">
                <a:latin typeface="SimSun"/>
                <a:cs typeface="SimSun"/>
              </a:rPr>
              <a:t>ter</a:t>
            </a:r>
            <a:r>
              <a:rPr sz="1100" cap="small" spc="225" dirty="0">
                <a:latin typeface="SimSun"/>
                <a:cs typeface="SimSun"/>
              </a:rPr>
              <a:t>m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-12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229" dirty="0">
                <a:latin typeface="SimSun"/>
                <a:cs typeface="SimSun"/>
              </a:rPr>
              <a:t>ter</a:t>
            </a:r>
            <a:r>
              <a:rPr sz="1100" cap="small" spc="225" dirty="0">
                <a:latin typeface="SimSun"/>
                <a:cs typeface="SimSun"/>
              </a:rPr>
              <a:t>m</a:t>
            </a:r>
            <a:r>
              <a:rPr sz="1100" spc="25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  <a:p>
            <a:pPr marL="629285">
              <a:lnSpc>
                <a:spcPct val="100000"/>
              </a:lnSpc>
              <a:spcBef>
                <a:spcPts val="334"/>
              </a:spcBef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229" dirty="0">
                <a:latin typeface="SimSun"/>
                <a:cs typeface="SimSun"/>
              </a:rPr>
              <a:t>ter</a:t>
            </a:r>
            <a:r>
              <a:rPr sz="1100" cap="small" spc="225" dirty="0">
                <a:latin typeface="SimSun"/>
                <a:cs typeface="SimSun"/>
              </a:rPr>
              <a:t>m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229" dirty="0">
                <a:latin typeface="SimSun"/>
                <a:cs typeface="SimSun"/>
              </a:rPr>
              <a:t>ter</a:t>
            </a:r>
            <a:r>
              <a:rPr sz="1100" cap="small" spc="225" dirty="0">
                <a:latin typeface="SimSun"/>
                <a:cs typeface="SimSun"/>
              </a:rPr>
              <a:t>m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spc="235" dirty="0">
                <a:latin typeface="Cambria"/>
                <a:cs typeface="Cambria"/>
              </a:rPr>
              <a:t>×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spc="25" dirty="0">
                <a:latin typeface="Cambria"/>
                <a:cs typeface="Cambria"/>
              </a:rPr>
              <a:t>⟨</a:t>
            </a:r>
            <a:r>
              <a:rPr sz="1100" cap="small" spc="30" dirty="0">
                <a:latin typeface="SimSun"/>
                <a:cs typeface="SimSun"/>
              </a:rPr>
              <a:t>f</a:t>
            </a:r>
            <a:r>
              <a:rPr sz="1100" cap="small" spc="190" dirty="0">
                <a:latin typeface="SimSun"/>
                <a:cs typeface="SimSun"/>
              </a:rPr>
              <a:t>a</a:t>
            </a:r>
            <a:r>
              <a:rPr sz="1100" cap="small" spc="210" dirty="0">
                <a:latin typeface="SimSun"/>
                <a:cs typeface="SimSun"/>
              </a:rPr>
              <a:t>cto</a:t>
            </a:r>
            <a:r>
              <a:rPr sz="1100" cap="small" spc="225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-12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30" dirty="0">
                <a:latin typeface="SimSun"/>
                <a:cs typeface="SimSun"/>
              </a:rPr>
              <a:t>f</a:t>
            </a:r>
            <a:r>
              <a:rPr sz="1100" cap="small" spc="190" dirty="0">
                <a:latin typeface="SimSun"/>
                <a:cs typeface="SimSun"/>
              </a:rPr>
              <a:t>a</a:t>
            </a:r>
            <a:r>
              <a:rPr sz="1100" cap="small" spc="210" dirty="0">
                <a:latin typeface="SimSun"/>
                <a:cs typeface="SimSun"/>
              </a:rPr>
              <a:t>cto</a:t>
            </a:r>
            <a:r>
              <a:rPr sz="1100" cap="small" spc="225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  <a:p>
            <a:pPr marL="493395">
              <a:lnSpc>
                <a:spcPct val="100000"/>
              </a:lnSpc>
              <a:spcBef>
                <a:spcPts val="330"/>
              </a:spcBef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30" dirty="0">
                <a:latin typeface="SimSun"/>
                <a:cs typeface="SimSun"/>
              </a:rPr>
              <a:t>f</a:t>
            </a:r>
            <a:r>
              <a:rPr sz="1100" cap="small" spc="190" dirty="0">
                <a:latin typeface="SimSun"/>
                <a:cs typeface="SimSun"/>
              </a:rPr>
              <a:t>a</a:t>
            </a:r>
            <a:r>
              <a:rPr sz="1100" cap="small" spc="210" dirty="0">
                <a:latin typeface="SimSun"/>
                <a:cs typeface="SimSun"/>
              </a:rPr>
              <a:t>cto</a:t>
            </a:r>
            <a:r>
              <a:rPr sz="1100" cap="small" spc="225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dirty="0">
                <a:latin typeface="Cambria"/>
                <a:cs typeface="Cambria"/>
              </a:rPr>
              <a:t>  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0" dirty="0">
                <a:latin typeface="Cambria"/>
                <a:cs typeface="Cambria"/>
              </a:rPr>
              <a:t>⟩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spc="-125" dirty="0">
                <a:latin typeface="Cambria"/>
                <a:cs typeface="Cambria"/>
              </a:rPr>
              <a:t> </a:t>
            </a:r>
            <a:r>
              <a:rPr sz="1100" i="1" spc="1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Calibri"/>
              <a:cs typeface="Calibri"/>
            </a:endParaRPr>
          </a:p>
          <a:p>
            <a:pPr marL="144780" indent="-132715">
              <a:lnSpc>
                <a:spcPct val="100000"/>
              </a:lnSpc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spc="-45" dirty="0">
                <a:latin typeface="Georgia"/>
                <a:cs typeface="Georgia"/>
              </a:rPr>
              <a:t>Now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contrast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with</a:t>
            </a:r>
            <a:endParaRPr sz="1100">
              <a:latin typeface="Georgia"/>
              <a:cs typeface="Georgia"/>
            </a:endParaRPr>
          </a:p>
          <a:p>
            <a:pPr marL="132080" algn="ctr">
              <a:lnSpc>
                <a:spcPct val="100000"/>
              </a:lnSpc>
              <a:spcBef>
                <a:spcPts val="1130"/>
              </a:spcBef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-135" dirty="0">
                <a:latin typeface="Cambria"/>
                <a:cs typeface="Cambria"/>
              </a:rPr>
              <a:t> </a:t>
            </a:r>
            <a:r>
              <a:rPr sz="1100" spc="250" dirty="0">
                <a:latin typeface="Georgia"/>
                <a:cs typeface="Georgia"/>
              </a:rPr>
              <a:t>+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-135" dirty="0">
                <a:latin typeface="Cambria"/>
                <a:cs typeface="Cambria"/>
              </a:rPr>
              <a:t> </a:t>
            </a:r>
            <a:r>
              <a:rPr sz="1100" spc="345" dirty="0">
                <a:latin typeface="Cambria"/>
                <a:cs typeface="Cambria"/>
              </a:rPr>
              <a:t>×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0" dirty="0">
                <a:latin typeface="Cambria"/>
                <a:cs typeface="Cambria"/>
              </a:rPr>
              <a:t>⟩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a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0641" y="211465"/>
            <a:ext cx="13468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Designing</a:t>
            </a:r>
            <a:r>
              <a:rPr spc="40" dirty="0"/>
              <a:t> CFG’s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658" y="481378"/>
            <a:ext cx="3786504" cy="115062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20979" indent="-132715">
              <a:lnSpc>
                <a:spcPct val="100000"/>
              </a:lnSpc>
              <a:spcBef>
                <a:spcPts val="31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21615" algn="l"/>
              </a:tabLst>
            </a:pP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no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general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algorithm,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few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tricks</a:t>
            </a:r>
            <a:endParaRPr sz="1100">
              <a:latin typeface="Georgia"/>
              <a:cs typeface="Georgia"/>
            </a:endParaRPr>
          </a:p>
          <a:p>
            <a:pPr marL="220979" indent="-132715">
              <a:lnSpc>
                <a:spcPct val="100000"/>
              </a:lnSpc>
              <a:spcBef>
                <a:spcPts val="22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21615" algn="l"/>
              </a:tabLst>
            </a:pPr>
            <a:r>
              <a:rPr sz="1100" spc="-35" dirty="0">
                <a:latin typeface="Georgia"/>
                <a:cs typeface="Georgia"/>
              </a:rPr>
              <a:t>Union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two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more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CFG’s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CFG</a:t>
            </a:r>
            <a:endParaRPr sz="1100">
              <a:latin typeface="Georgia"/>
              <a:cs typeface="Georgia"/>
            </a:endParaRPr>
          </a:p>
          <a:p>
            <a:pPr marL="220979" marR="81280" indent="-132715">
              <a:lnSpc>
                <a:spcPct val="102600"/>
              </a:lnSpc>
              <a:spcBef>
                <a:spcPts val="18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21615" algn="l"/>
              </a:tabLst>
            </a:pPr>
            <a:r>
              <a:rPr sz="1100" spc="5" dirty="0">
                <a:latin typeface="Georgia"/>
                <a:cs typeface="Georgia"/>
              </a:rPr>
              <a:t>Let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200" spc="104" baseline="-10416" dirty="0">
                <a:latin typeface="Palatino Linotype"/>
                <a:cs typeface="Palatino Linotype"/>
              </a:rPr>
              <a:t>1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65" dirty="0">
                <a:latin typeface="Calibri"/>
                <a:cs typeface="Calibri"/>
              </a:rPr>
              <a:t>S</a:t>
            </a:r>
            <a:r>
              <a:rPr sz="1200" spc="104" baseline="-10416" dirty="0">
                <a:latin typeface="Palatino Linotype"/>
                <a:cs typeface="Palatino Linotype"/>
              </a:rPr>
              <a:t>2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200" i="1" spc="-44" baseline="-13888" dirty="0">
                <a:latin typeface="Verdana"/>
                <a:cs typeface="Verdana"/>
              </a:rPr>
              <a:t>k</a:t>
            </a:r>
            <a:r>
              <a:rPr sz="1200" i="1" baseline="-13888" dirty="0">
                <a:latin typeface="Verdana"/>
                <a:cs typeface="Verdana"/>
              </a:rPr>
              <a:t> </a:t>
            </a:r>
            <a:r>
              <a:rPr sz="1200" i="1" spc="-195" baseline="-13888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b</a:t>
            </a:r>
            <a:r>
              <a:rPr sz="1100" spc="-50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</a:t>
            </a:r>
            <a:r>
              <a:rPr sz="1100" spc="-55" dirty="0">
                <a:latin typeface="Georgia"/>
                <a:cs typeface="Georgia"/>
              </a:rPr>
              <a:t>w</a:t>
            </a:r>
            <a:r>
              <a:rPr sz="1100" spc="-50" dirty="0">
                <a:latin typeface="Georgia"/>
                <a:cs typeface="Georgia"/>
              </a:rPr>
              <a:t>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Calibri"/>
                <a:cs typeface="Calibri"/>
              </a:rPr>
              <a:t>k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00" dirty="0">
                <a:latin typeface="Calibri"/>
                <a:cs typeface="Calibri"/>
              </a:rPr>
              <a:t> </a:t>
            </a:r>
            <a:r>
              <a:rPr sz="1100" spc="-40" dirty="0">
                <a:latin typeface="Georgia"/>
                <a:cs typeface="Georgia"/>
              </a:rPr>
              <a:t>differe</a:t>
            </a:r>
            <a:r>
              <a:rPr sz="1100" spc="-85" dirty="0">
                <a:latin typeface="Georgia"/>
                <a:cs typeface="Georgia"/>
              </a:rPr>
              <a:t>n</a:t>
            </a:r>
            <a:r>
              <a:rPr sz="1100" spc="40" dirty="0">
                <a:latin typeface="Georgia"/>
                <a:cs typeface="Georgia"/>
              </a:rPr>
              <a:t>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65" dirty="0">
                <a:latin typeface="Georgia"/>
                <a:cs typeface="Georgia"/>
              </a:rPr>
              <a:t>C</a:t>
            </a:r>
            <a:r>
              <a:rPr sz="1100" spc="30" dirty="0">
                <a:latin typeface="Georgia"/>
                <a:cs typeface="Georgia"/>
              </a:rPr>
              <a:t>F</a:t>
            </a:r>
            <a:r>
              <a:rPr sz="1100" spc="15" dirty="0">
                <a:latin typeface="Georgia"/>
                <a:cs typeface="Georgia"/>
              </a:rPr>
              <a:t>G’</a:t>
            </a:r>
            <a:r>
              <a:rPr sz="1100" spc="20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with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200" i="1" spc="97" baseline="-10416" dirty="0">
                <a:latin typeface="Verdana"/>
                <a:cs typeface="Verdana"/>
              </a:rPr>
              <a:t>i</a:t>
            </a:r>
            <a:r>
              <a:rPr sz="1200" i="1" spc="195" baseline="-10416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b</a:t>
            </a:r>
            <a:r>
              <a:rPr sz="1100" spc="-30" dirty="0">
                <a:latin typeface="Georgia"/>
                <a:cs typeface="Georgia"/>
              </a:rPr>
              <a:t>eing 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start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variable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CFG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  <a:p>
            <a:pPr marL="220979" marR="200660" indent="-132715">
              <a:lnSpc>
                <a:spcPct val="102600"/>
              </a:lnSpc>
              <a:spcBef>
                <a:spcPts val="18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21615" algn="l"/>
              </a:tabLst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merge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grammars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one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merging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rules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making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rule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i="1" spc="95" dirty="0">
                <a:latin typeface="Calibri"/>
                <a:cs typeface="Calibri"/>
              </a:rPr>
              <a:t>S</a:t>
            </a:r>
            <a:r>
              <a:rPr sz="1200" spc="142" baseline="-10416" dirty="0">
                <a:latin typeface="Palatino Linotype"/>
                <a:cs typeface="Palatino Linotype"/>
              </a:rPr>
              <a:t>1</a:t>
            </a:r>
            <a:r>
              <a:rPr sz="1200" spc="315" baseline="-10416" dirty="0">
                <a:latin typeface="Palatino Linotype"/>
                <a:cs typeface="Palatino Linotype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i="1" spc="95" dirty="0">
                <a:latin typeface="Calibri"/>
                <a:cs typeface="Calibri"/>
              </a:rPr>
              <a:t>S</a:t>
            </a:r>
            <a:r>
              <a:rPr sz="1200" spc="142" baseline="-10416" dirty="0">
                <a:latin typeface="Palatino Linotype"/>
                <a:cs typeface="Palatino Linotype"/>
              </a:rPr>
              <a:t>2</a:t>
            </a:r>
            <a:r>
              <a:rPr sz="1200" spc="315" baseline="-10416" dirty="0">
                <a:latin typeface="Palatino Linotype"/>
                <a:cs typeface="Palatino Linotype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·</a:t>
            </a:r>
            <a:r>
              <a:rPr sz="1100" spc="-6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·</a:t>
            </a:r>
            <a:r>
              <a:rPr sz="1100" spc="-6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·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i="1" spc="70" dirty="0">
                <a:latin typeface="Calibri"/>
                <a:cs typeface="Calibri"/>
              </a:rPr>
              <a:t>S</a:t>
            </a:r>
            <a:r>
              <a:rPr sz="1200" i="1" spc="104" baseline="-13888" dirty="0">
                <a:latin typeface="Verdana"/>
                <a:cs typeface="Verdana"/>
              </a:rPr>
              <a:t>k</a:t>
            </a:r>
            <a:endParaRPr sz="1200" baseline="-13888">
              <a:latin typeface="Verdana"/>
              <a:cs typeface="Verdan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0641" y="211465"/>
            <a:ext cx="13468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Designing</a:t>
            </a:r>
            <a:r>
              <a:rPr spc="40" dirty="0"/>
              <a:t> CFG’s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4858" y="481378"/>
            <a:ext cx="3912870" cy="28206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71780" indent="-132715">
              <a:lnSpc>
                <a:spcPct val="100000"/>
              </a:lnSpc>
              <a:spcBef>
                <a:spcPts val="31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72415" algn="l"/>
              </a:tabLst>
            </a:pP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no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general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algorithm,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few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tricks</a:t>
            </a:r>
            <a:endParaRPr sz="1100">
              <a:latin typeface="Georgia"/>
              <a:cs typeface="Georgia"/>
            </a:endParaRPr>
          </a:p>
          <a:p>
            <a:pPr marL="271780" indent="-132715">
              <a:lnSpc>
                <a:spcPct val="100000"/>
              </a:lnSpc>
              <a:spcBef>
                <a:spcPts val="22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72415" algn="l"/>
              </a:tabLst>
            </a:pPr>
            <a:r>
              <a:rPr sz="1100" spc="-35" dirty="0">
                <a:latin typeface="Georgia"/>
                <a:cs typeface="Georgia"/>
              </a:rPr>
              <a:t>Union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two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more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CFG’s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CFG</a:t>
            </a:r>
            <a:endParaRPr sz="1100">
              <a:latin typeface="Georgia"/>
              <a:cs typeface="Georgia"/>
            </a:endParaRPr>
          </a:p>
          <a:p>
            <a:pPr marL="271780" marR="156845" indent="-132715">
              <a:lnSpc>
                <a:spcPct val="102600"/>
              </a:lnSpc>
              <a:spcBef>
                <a:spcPts val="18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72415" algn="l"/>
              </a:tabLst>
            </a:pPr>
            <a:r>
              <a:rPr sz="1100" spc="5" dirty="0">
                <a:latin typeface="Georgia"/>
                <a:cs typeface="Georgia"/>
              </a:rPr>
              <a:t>Let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200" spc="104" baseline="-10416" dirty="0">
                <a:latin typeface="Palatino Linotype"/>
                <a:cs typeface="Palatino Linotype"/>
              </a:rPr>
              <a:t>1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65" dirty="0">
                <a:latin typeface="Calibri"/>
                <a:cs typeface="Calibri"/>
              </a:rPr>
              <a:t>S</a:t>
            </a:r>
            <a:r>
              <a:rPr sz="1200" spc="104" baseline="-10416" dirty="0">
                <a:latin typeface="Palatino Linotype"/>
                <a:cs typeface="Palatino Linotype"/>
              </a:rPr>
              <a:t>2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200" i="1" spc="-44" baseline="-13888" dirty="0">
                <a:latin typeface="Verdana"/>
                <a:cs typeface="Verdana"/>
              </a:rPr>
              <a:t>k</a:t>
            </a:r>
            <a:r>
              <a:rPr sz="1200" i="1" baseline="-13888" dirty="0">
                <a:latin typeface="Verdana"/>
                <a:cs typeface="Verdana"/>
              </a:rPr>
              <a:t> </a:t>
            </a:r>
            <a:r>
              <a:rPr sz="1200" i="1" spc="-195" baseline="-13888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b</a:t>
            </a:r>
            <a:r>
              <a:rPr sz="1100" spc="-50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</a:t>
            </a:r>
            <a:r>
              <a:rPr sz="1100" spc="-55" dirty="0">
                <a:latin typeface="Georgia"/>
                <a:cs typeface="Georgia"/>
              </a:rPr>
              <a:t>w</a:t>
            </a:r>
            <a:r>
              <a:rPr sz="1100" spc="-50" dirty="0">
                <a:latin typeface="Georgia"/>
                <a:cs typeface="Georgia"/>
              </a:rPr>
              <a:t>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Calibri"/>
                <a:cs typeface="Calibri"/>
              </a:rPr>
              <a:t>k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00" dirty="0">
                <a:latin typeface="Calibri"/>
                <a:cs typeface="Calibri"/>
              </a:rPr>
              <a:t> </a:t>
            </a:r>
            <a:r>
              <a:rPr sz="1100" spc="-40" dirty="0">
                <a:latin typeface="Georgia"/>
                <a:cs typeface="Georgia"/>
              </a:rPr>
              <a:t>differe</a:t>
            </a:r>
            <a:r>
              <a:rPr sz="1100" spc="-85" dirty="0">
                <a:latin typeface="Georgia"/>
                <a:cs typeface="Georgia"/>
              </a:rPr>
              <a:t>n</a:t>
            </a:r>
            <a:r>
              <a:rPr sz="1100" spc="40" dirty="0">
                <a:latin typeface="Georgia"/>
                <a:cs typeface="Georgia"/>
              </a:rPr>
              <a:t>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65" dirty="0">
                <a:latin typeface="Georgia"/>
                <a:cs typeface="Georgia"/>
              </a:rPr>
              <a:t>C</a:t>
            </a:r>
            <a:r>
              <a:rPr sz="1100" spc="30" dirty="0">
                <a:latin typeface="Georgia"/>
                <a:cs typeface="Georgia"/>
              </a:rPr>
              <a:t>F</a:t>
            </a:r>
            <a:r>
              <a:rPr sz="1100" spc="15" dirty="0">
                <a:latin typeface="Georgia"/>
                <a:cs typeface="Georgia"/>
              </a:rPr>
              <a:t>G’</a:t>
            </a:r>
            <a:r>
              <a:rPr sz="1100" spc="20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with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200" i="1" spc="97" baseline="-10416" dirty="0">
                <a:latin typeface="Verdana"/>
                <a:cs typeface="Verdana"/>
              </a:rPr>
              <a:t>i</a:t>
            </a:r>
            <a:r>
              <a:rPr sz="1200" i="1" spc="195" baseline="-10416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b</a:t>
            </a:r>
            <a:r>
              <a:rPr sz="1100" spc="-30" dirty="0">
                <a:latin typeface="Georgia"/>
                <a:cs typeface="Georgia"/>
              </a:rPr>
              <a:t>eing 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start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variable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CFG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  <a:p>
            <a:pPr marL="271780" marR="276225" indent="-132715">
              <a:lnSpc>
                <a:spcPct val="102600"/>
              </a:lnSpc>
              <a:spcBef>
                <a:spcPts val="18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72415" algn="l"/>
              </a:tabLst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merge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grammars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one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merging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rules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making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rule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70" dirty="0">
                <a:latin typeface="Calibri"/>
                <a:cs typeface="Calibri"/>
              </a:rPr>
              <a:t>S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i="1" spc="95" dirty="0">
                <a:latin typeface="Calibri"/>
                <a:cs typeface="Calibri"/>
              </a:rPr>
              <a:t>S</a:t>
            </a:r>
            <a:r>
              <a:rPr sz="1200" spc="142" baseline="-10416" dirty="0">
                <a:latin typeface="Palatino Linotype"/>
                <a:cs typeface="Palatino Linotype"/>
              </a:rPr>
              <a:t>1</a:t>
            </a:r>
            <a:r>
              <a:rPr sz="1200" spc="315" baseline="-10416" dirty="0">
                <a:latin typeface="Palatino Linotype"/>
                <a:cs typeface="Palatino Linotype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i="1" spc="95" dirty="0">
                <a:latin typeface="Calibri"/>
                <a:cs typeface="Calibri"/>
              </a:rPr>
              <a:t>S</a:t>
            </a:r>
            <a:r>
              <a:rPr sz="1200" spc="142" baseline="-10416" dirty="0">
                <a:latin typeface="Palatino Linotype"/>
                <a:cs typeface="Palatino Linotype"/>
              </a:rPr>
              <a:t>2</a:t>
            </a:r>
            <a:r>
              <a:rPr sz="1200" spc="315" baseline="-10416" dirty="0">
                <a:latin typeface="Palatino Linotype"/>
                <a:cs typeface="Palatino Linotype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·</a:t>
            </a:r>
            <a:r>
              <a:rPr sz="1100" spc="-6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·</a:t>
            </a:r>
            <a:r>
              <a:rPr sz="1100" spc="-6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·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i="1" spc="70" dirty="0">
                <a:latin typeface="Calibri"/>
                <a:cs typeface="Calibri"/>
              </a:rPr>
              <a:t>S</a:t>
            </a:r>
            <a:r>
              <a:rPr sz="1200" i="1" spc="104" baseline="-13888" dirty="0">
                <a:latin typeface="Verdana"/>
                <a:cs typeface="Verdana"/>
              </a:rPr>
              <a:t>k</a:t>
            </a:r>
            <a:endParaRPr sz="1200" baseline="-13888">
              <a:latin typeface="Verdana"/>
              <a:cs typeface="Verdana"/>
            </a:endParaRPr>
          </a:p>
          <a:p>
            <a:pPr marL="271780" indent="-133350">
              <a:lnSpc>
                <a:spcPct val="100000"/>
              </a:lnSpc>
              <a:spcBef>
                <a:spcPts val="21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72415" algn="l"/>
              </a:tabLst>
            </a:pPr>
            <a:r>
              <a:rPr sz="1100" spc="5" dirty="0">
                <a:latin typeface="Georgia"/>
                <a:cs typeface="Georgia"/>
              </a:rPr>
              <a:t>Let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45" dirty="0">
                <a:latin typeface="Cambria"/>
                <a:cs typeface="Cambria"/>
              </a:rPr>
              <a:t>{</a:t>
            </a:r>
            <a:r>
              <a:rPr sz="1100" spc="45" dirty="0">
                <a:latin typeface="Georgia"/>
                <a:cs typeface="Georgia"/>
              </a:rPr>
              <a:t>0</a:t>
            </a:r>
            <a:r>
              <a:rPr sz="1200" i="1" spc="67" baseline="27777" dirty="0">
                <a:latin typeface="Verdana"/>
                <a:cs typeface="Verdana"/>
              </a:rPr>
              <a:t>n</a:t>
            </a:r>
            <a:r>
              <a:rPr sz="1100" spc="45" dirty="0">
                <a:latin typeface="Georgia"/>
                <a:cs typeface="Georgia"/>
              </a:rPr>
              <a:t>1</a:t>
            </a:r>
            <a:r>
              <a:rPr sz="1200" spc="67" baseline="27777" dirty="0">
                <a:latin typeface="Palatino Linotype"/>
                <a:cs typeface="Palatino Linotype"/>
              </a:rPr>
              <a:t>:</a:t>
            </a:r>
            <a:r>
              <a:rPr sz="1100" i="1" spc="45" dirty="0">
                <a:latin typeface="Calibri"/>
                <a:cs typeface="Calibri"/>
              </a:rPr>
              <a:t>n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235" dirty="0">
                <a:latin typeface="Cambria"/>
                <a:cs typeface="Cambria"/>
              </a:rPr>
              <a:t>≥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spc="-10" dirty="0">
                <a:latin typeface="Cambria"/>
                <a:cs typeface="Cambria"/>
              </a:rPr>
              <a:t>}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∪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{</a:t>
            </a:r>
            <a:r>
              <a:rPr sz="1100" spc="20" dirty="0">
                <a:latin typeface="Georgia"/>
                <a:cs typeface="Georgia"/>
              </a:rPr>
              <a:t>1</a:t>
            </a:r>
            <a:r>
              <a:rPr sz="1200" i="1" spc="30" baseline="27777" dirty="0">
                <a:latin typeface="Verdana"/>
                <a:cs typeface="Verdana"/>
              </a:rPr>
              <a:t>n</a:t>
            </a:r>
            <a:r>
              <a:rPr sz="1100" spc="20" dirty="0">
                <a:latin typeface="Georgia"/>
                <a:cs typeface="Georgia"/>
              </a:rPr>
              <a:t>0</a:t>
            </a:r>
            <a:r>
              <a:rPr sz="1200" i="1" spc="30" baseline="27777" dirty="0">
                <a:latin typeface="Verdana"/>
                <a:cs typeface="Verdana"/>
              </a:rPr>
              <a:t>n</a:t>
            </a:r>
            <a:r>
              <a:rPr sz="1200" i="1" spc="104" baseline="27777" dirty="0">
                <a:latin typeface="Verdana"/>
                <a:cs typeface="Verdan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85" dirty="0">
                <a:latin typeface="Calibri"/>
                <a:cs typeface="Calibri"/>
              </a:rPr>
              <a:t>n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235" dirty="0">
                <a:latin typeface="Cambria"/>
                <a:cs typeface="Cambria"/>
              </a:rPr>
              <a:t>≥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spc="-10" dirty="0">
                <a:latin typeface="Cambria"/>
                <a:cs typeface="Cambria"/>
              </a:rPr>
              <a:t>}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spc="-25" dirty="0">
                <a:latin typeface="Georgia"/>
                <a:cs typeface="Georgia"/>
              </a:rPr>
              <a:t>then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we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have:</a:t>
            </a:r>
            <a:endParaRPr sz="1100">
              <a:latin typeface="Georgia"/>
              <a:cs typeface="Georgia"/>
            </a:endParaRPr>
          </a:p>
          <a:p>
            <a:pPr marL="1573530" marR="1322705" algn="ctr">
              <a:lnSpc>
                <a:spcPct val="125299"/>
              </a:lnSpc>
              <a:spcBef>
                <a:spcPts val="565"/>
              </a:spcBef>
              <a:tabLst>
                <a:tab pos="1845310" algn="l"/>
              </a:tabLst>
            </a:pPr>
            <a:r>
              <a:rPr sz="1100" i="1" spc="95" dirty="0">
                <a:latin typeface="Calibri"/>
                <a:cs typeface="Calibri"/>
              </a:rPr>
              <a:t>S</a:t>
            </a:r>
            <a:r>
              <a:rPr sz="1200" spc="142" baseline="-10416" dirty="0">
                <a:latin typeface="Palatino Linotype"/>
                <a:cs typeface="Palatino Linotype"/>
              </a:rPr>
              <a:t>1	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295" dirty="0">
                <a:latin typeface="Cambria"/>
                <a:cs typeface="Cambria"/>
              </a:rPr>
              <a:t> </a:t>
            </a:r>
            <a:r>
              <a:rPr sz="1100" spc="45" dirty="0">
                <a:latin typeface="Georgia"/>
                <a:cs typeface="Georgia"/>
              </a:rPr>
              <a:t>0</a:t>
            </a:r>
            <a:r>
              <a:rPr sz="1100" i="1" spc="45" dirty="0">
                <a:latin typeface="Calibri"/>
                <a:cs typeface="Calibri"/>
              </a:rPr>
              <a:t>S</a:t>
            </a:r>
            <a:r>
              <a:rPr sz="1200" spc="67" baseline="-10416" dirty="0">
                <a:latin typeface="Palatino Linotype"/>
                <a:cs typeface="Palatino Linotype"/>
              </a:rPr>
              <a:t>1</a:t>
            </a:r>
            <a:r>
              <a:rPr sz="1100" spc="45" dirty="0">
                <a:latin typeface="Georgia"/>
                <a:cs typeface="Georgia"/>
              </a:rPr>
              <a:t>1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i="1" spc="-35" dirty="0">
                <a:latin typeface="Calibri"/>
                <a:cs typeface="Calibri"/>
              </a:rPr>
              <a:t>ϵ </a:t>
            </a:r>
            <a:r>
              <a:rPr sz="1100" i="1" spc="-235" dirty="0">
                <a:latin typeface="Calibri"/>
                <a:cs typeface="Calibri"/>
              </a:rPr>
              <a:t> </a:t>
            </a:r>
            <a:r>
              <a:rPr sz="1100" i="1" spc="95" dirty="0">
                <a:latin typeface="Calibri"/>
                <a:cs typeface="Calibri"/>
              </a:rPr>
              <a:t>S</a:t>
            </a:r>
            <a:r>
              <a:rPr sz="1200" spc="142" baseline="-10416" dirty="0">
                <a:latin typeface="Palatino Linotype"/>
                <a:cs typeface="Palatino Linotype"/>
              </a:rPr>
              <a:t>2	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295" dirty="0">
                <a:latin typeface="Cambria"/>
                <a:cs typeface="Cambria"/>
              </a:rPr>
              <a:t> </a:t>
            </a:r>
            <a:r>
              <a:rPr sz="1100" spc="45" dirty="0">
                <a:latin typeface="Georgia"/>
                <a:cs typeface="Georgia"/>
              </a:rPr>
              <a:t>1</a:t>
            </a:r>
            <a:r>
              <a:rPr sz="1100" i="1" spc="45" dirty="0">
                <a:latin typeface="Calibri"/>
                <a:cs typeface="Calibri"/>
              </a:rPr>
              <a:t>S</a:t>
            </a:r>
            <a:r>
              <a:rPr sz="1200" spc="67" baseline="-10416" dirty="0">
                <a:latin typeface="Palatino Linotype"/>
                <a:cs typeface="Palatino Linotype"/>
              </a:rPr>
              <a:t>2</a:t>
            </a:r>
            <a:r>
              <a:rPr sz="1100" spc="45" dirty="0">
                <a:latin typeface="Georgia"/>
                <a:cs typeface="Georgia"/>
              </a:rPr>
              <a:t>0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i="1" spc="-35" dirty="0">
                <a:latin typeface="Calibri"/>
                <a:cs typeface="Calibri"/>
              </a:rPr>
              <a:t>ϵ</a:t>
            </a:r>
            <a:endParaRPr sz="1100">
              <a:latin typeface="Calibri"/>
              <a:cs typeface="Calibri"/>
            </a:endParaRPr>
          </a:p>
          <a:p>
            <a:pPr marL="195580" algn="ctr">
              <a:lnSpc>
                <a:spcPct val="100000"/>
              </a:lnSpc>
              <a:spcBef>
                <a:spcPts val="894"/>
              </a:spcBef>
            </a:pPr>
            <a:r>
              <a:rPr sz="1100" spc="-20" dirty="0">
                <a:latin typeface="Georgia"/>
                <a:cs typeface="Georgia"/>
              </a:rPr>
              <a:t>respectively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two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subsets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Calibri"/>
                <a:cs typeface="Calibri"/>
              </a:rPr>
              <a:t>L</a:t>
            </a:r>
            <a:r>
              <a:rPr sz="1100" spc="140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we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CFG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endParaRPr sz="1100">
              <a:latin typeface="Georgia"/>
              <a:cs typeface="Georgia"/>
            </a:endParaRPr>
          </a:p>
          <a:p>
            <a:pPr marL="238760" algn="ctr">
              <a:lnSpc>
                <a:spcPct val="100000"/>
              </a:lnSpc>
              <a:spcBef>
                <a:spcPts val="900"/>
              </a:spcBef>
              <a:tabLst>
                <a:tab pos="458470" algn="l"/>
              </a:tabLst>
            </a:pPr>
            <a:r>
              <a:rPr sz="1100" i="1" spc="170" dirty="0">
                <a:latin typeface="Calibri"/>
                <a:cs typeface="Calibri"/>
              </a:rPr>
              <a:t>S	</a:t>
            </a:r>
            <a:r>
              <a:rPr sz="1100" spc="165" dirty="0">
                <a:latin typeface="Cambria"/>
                <a:cs typeface="Cambria"/>
              </a:rPr>
              <a:t>→ </a:t>
            </a:r>
            <a:r>
              <a:rPr sz="1100" spc="300" dirty="0">
                <a:latin typeface="Cambria"/>
                <a:cs typeface="Cambria"/>
              </a:rPr>
              <a:t> </a:t>
            </a:r>
            <a:r>
              <a:rPr sz="1100" i="1" spc="95" dirty="0">
                <a:latin typeface="Calibri"/>
                <a:cs typeface="Calibri"/>
              </a:rPr>
              <a:t>S</a:t>
            </a:r>
            <a:r>
              <a:rPr sz="1200" spc="142" baseline="-10416" dirty="0">
                <a:latin typeface="Palatino Linotype"/>
                <a:cs typeface="Palatino Linotype"/>
              </a:rPr>
              <a:t>1</a:t>
            </a:r>
            <a:r>
              <a:rPr sz="1200" spc="292" baseline="-10416" dirty="0">
                <a:latin typeface="Palatino Linotype"/>
                <a:cs typeface="Palatino Linotype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i="1" spc="95" dirty="0">
                <a:latin typeface="Calibri"/>
                <a:cs typeface="Calibri"/>
              </a:rPr>
              <a:t>S</a:t>
            </a:r>
            <a:r>
              <a:rPr sz="1200" spc="142" baseline="-10416" dirty="0">
                <a:latin typeface="Palatino Linotype"/>
                <a:cs typeface="Palatino Linotype"/>
              </a:rPr>
              <a:t>2</a:t>
            </a:r>
            <a:endParaRPr sz="1200" baseline="-10416">
              <a:latin typeface="Palatino Linotype"/>
              <a:cs typeface="Palatino Linotype"/>
            </a:endParaRPr>
          </a:p>
          <a:p>
            <a:pPr marL="1573530" marR="1322705" algn="ctr">
              <a:lnSpc>
                <a:spcPct val="125299"/>
              </a:lnSpc>
              <a:tabLst>
                <a:tab pos="1845310" algn="l"/>
              </a:tabLst>
            </a:pPr>
            <a:r>
              <a:rPr sz="1100" i="1" spc="95" dirty="0">
                <a:latin typeface="Calibri"/>
                <a:cs typeface="Calibri"/>
              </a:rPr>
              <a:t>S</a:t>
            </a:r>
            <a:r>
              <a:rPr sz="1200" spc="142" baseline="-10416" dirty="0">
                <a:latin typeface="Palatino Linotype"/>
                <a:cs typeface="Palatino Linotype"/>
              </a:rPr>
              <a:t>1	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295" dirty="0">
                <a:latin typeface="Cambria"/>
                <a:cs typeface="Cambria"/>
              </a:rPr>
              <a:t> </a:t>
            </a:r>
            <a:r>
              <a:rPr sz="1100" spc="45" dirty="0">
                <a:latin typeface="Georgia"/>
                <a:cs typeface="Georgia"/>
              </a:rPr>
              <a:t>0</a:t>
            </a:r>
            <a:r>
              <a:rPr sz="1100" i="1" spc="45" dirty="0">
                <a:latin typeface="Calibri"/>
                <a:cs typeface="Calibri"/>
              </a:rPr>
              <a:t>S</a:t>
            </a:r>
            <a:r>
              <a:rPr sz="1200" spc="67" baseline="-10416" dirty="0">
                <a:latin typeface="Palatino Linotype"/>
                <a:cs typeface="Palatino Linotype"/>
              </a:rPr>
              <a:t>1</a:t>
            </a:r>
            <a:r>
              <a:rPr sz="1100" spc="45" dirty="0">
                <a:latin typeface="Georgia"/>
                <a:cs typeface="Georgia"/>
              </a:rPr>
              <a:t>1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i="1" spc="-35" dirty="0">
                <a:latin typeface="Calibri"/>
                <a:cs typeface="Calibri"/>
              </a:rPr>
              <a:t>ϵ </a:t>
            </a:r>
            <a:r>
              <a:rPr sz="1100" i="1" spc="-235" dirty="0">
                <a:latin typeface="Calibri"/>
                <a:cs typeface="Calibri"/>
              </a:rPr>
              <a:t> </a:t>
            </a:r>
            <a:r>
              <a:rPr sz="1100" i="1" spc="95" dirty="0">
                <a:latin typeface="Calibri"/>
                <a:cs typeface="Calibri"/>
              </a:rPr>
              <a:t>S</a:t>
            </a:r>
            <a:r>
              <a:rPr sz="1200" spc="142" baseline="-10416" dirty="0">
                <a:latin typeface="Palatino Linotype"/>
                <a:cs typeface="Palatino Linotype"/>
              </a:rPr>
              <a:t>2	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295" dirty="0">
                <a:latin typeface="Cambria"/>
                <a:cs typeface="Cambria"/>
              </a:rPr>
              <a:t> </a:t>
            </a:r>
            <a:r>
              <a:rPr sz="1100" spc="45" dirty="0">
                <a:latin typeface="Georgia"/>
                <a:cs typeface="Georgia"/>
              </a:rPr>
              <a:t>1</a:t>
            </a:r>
            <a:r>
              <a:rPr sz="1100" i="1" spc="45" dirty="0">
                <a:latin typeface="Calibri"/>
                <a:cs typeface="Calibri"/>
              </a:rPr>
              <a:t>S</a:t>
            </a:r>
            <a:r>
              <a:rPr sz="1200" spc="67" baseline="-10416" dirty="0">
                <a:latin typeface="Palatino Linotype"/>
                <a:cs typeface="Palatino Linotype"/>
              </a:rPr>
              <a:t>2</a:t>
            </a:r>
            <a:r>
              <a:rPr sz="1100" spc="45" dirty="0">
                <a:latin typeface="Georgia"/>
                <a:cs typeface="Georgia"/>
              </a:rPr>
              <a:t>0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45" dirty="0">
                <a:latin typeface="Cambria"/>
                <a:cs typeface="Cambria"/>
              </a:rPr>
              <a:t>|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i="1" spc="-35" dirty="0">
                <a:latin typeface="Calibri"/>
                <a:cs typeface="Calibri"/>
              </a:rPr>
              <a:t>ϵ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0641" y="211465"/>
            <a:ext cx="13468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Designing</a:t>
            </a:r>
            <a:r>
              <a:rPr spc="40" dirty="0"/>
              <a:t> CFG’s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1058" y="1125344"/>
            <a:ext cx="3870960" cy="12477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95580" indent="-13271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96215" algn="l"/>
              </a:tabLst>
            </a:pPr>
            <a:r>
              <a:rPr sz="1100" spc="-10" dirty="0">
                <a:latin typeface="Georgia"/>
                <a:cs typeface="Georgia"/>
              </a:rPr>
              <a:t>Constructing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CFG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regular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easy</a:t>
            </a:r>
            <a:endParaRPr sz="1100">
              <a:latin typeface="Georgia"/>
              <a:cs typeface="Georgia"/>
            </a:endParaRPr>
          </a:p>
          <a:p>
            <a:pPr marL="195580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96215" algn="l"/>
              </a:tabLst>
            </a:pPr>
            <a:r>
              <a:rPr sz="1100" spc="5" dirty="0">
                <a:latin typeface="Georgia"/>
                <a:cs typeface="Georgia"/>
              </a:rPr>
              <a:t>Let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15" dirty="0">
                <a:latin typeface="Georgia"/>
                <a:cs typeface="Georgia"/>
              </a:rPr>
              <a:t>be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regular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23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DFA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endParaRPr sz="1100">
              <a:latin typeface="Calibri"/>
              <a:cs typeface="Calibri"/>
            </a:endParaRPr>
          </a:p>
          <a:p>
            <a:pPr marL="195580" indent="-13271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96215" algn="l"/>
              </a:tabLst>
            </a:pPr>
            <a:r>
              <a:rPr sz="1100" spc="-35" dirty="0">
                <a:latin typeface="Georgia"/>
                <a:cs typeface="Georgia"/>
              </a:rPr>
              <a:t>Make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variable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145" dirty="0">
                <a:latin typeface="Calibri"/>
                <a:cs typeface="Calibri"/>
              </a:rPr>
              <a:t>R</a:t>
            </a:r>
            <a:r>
              <a:rPr sz="1200" i="1" spc="217" baseline="-10416" dirty="0">
                <a:latin typeface="Verdana"/>
                <a:cs typeface="Verdana"/>
              </a:rPr>
              <a:t>i</a:t>
            </a:r>
            <a:r>
              <a:rPr sz="1200" i="1" spc="195" baseline="-10416" dirty="0">
                <a:latin typeface="Verdana"/>
                <a:cs typeface="Verdan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each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state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-5" dirty="0">
                <a:latin typeface="Calibri"/>
                <a:cs typeface="Calibri"/>
              </a:rPr>
              <a:t>q</a:t>
            </a:r>
            <a:r>
              <a:rPr sz="1200" i="1" spc="-7" baseline="-10416" dirty="0">
                <a:latin typeface="Verdana"/>
                <a:cs typeface="Verdana"/>
              </a:rPr>
              <a:t>i</a:t>
            </a:r>
            <a:r>
              <a:rPr sz="1200" i="1" spc="195" baseline="-10416" dirty="0">
                <a:latin typeface="Verdana"/>
                <a:cs typeface="Verdan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endParaRPr sz="1100">
              <a:latin typeface="Calibri"/>
              <a:cs typeface="Calibri"/>
            </a:endParaRPr>
          </a:p>
          <a:p>
            <a:pPr marL="1955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96215" algn="l"/>
              </a:tabLst>
            </a:pPr>
            <a:r>
              <a:rPr sz="1100" spc="-5" dirty="0">
                <a:latin typeface="Georgia"/>
                <a:cs typeface="Georgia"/>
              </a:rPr>
              <a:t>Add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rule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45" dirty="0">
                <a:latin typeface="Calibri"/>
                <a:cs typeface="Calibri"/>
              </a:rPr>
              <a:t>R</a:t>
            </a:r>
            <a:r>
              <a:rPr sz="1200" i="1" spc="217" baseline="-10416" dirty="0">
                <a:latin typeface="Verdana"/>
                <a:cs typeface="Verdana"/>
              </a:rPr>
              <a:t>i</a:t>
            </a:r>
            <a:r>
              <a:rPr sz="1200" i="1" spc="104" baseline="-10416" dirty="0">
                <a:latin typeface="Verdana"/>
                <a:cs typeface="Verdana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i="1" spc="100" dirty="0">
                <a:latin typeface="Calibri"/>
                <a:cs typeface="Calibri"/>
              </a:rPr>
              <a:t>aR</a:t>
            </a:r>
            <a:r>
              <a:rPr sz="1200" i="1" spc="150" baseline="-10416" dirty="0">
                <a:latin typeface="Verdana"/>
                <a:cs typeface="Verdana"/>
              </a:rPr>
              <a:t>j</a:t>
            </a:r>
            <a:r>
              <a:rPr sz="1200" i="1" spc="262" baseline="-10416" dirty="0">
                <a:latin typeface="Verdana"/>
                <a:cs typeface="Verdan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CFG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dirty="0">
                <a:latin typeface="Calibri"/>
                <a:cs typeface="Calibri"/>
              </a:rPr>
              <a:t>δ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i="1" dirty="0">
                <a:latin typeface="Calibri"/>
                <a:cs typeface="Calibri"/>
              </a:rPr>
              <a:t>q</a:t>
            </a:r>
            <a:r>
              <a:rPr sz="1200" i="1" baseline="-10416" dirty="0">
                <a:latin typeface="Verdana"/>
                <a:cs typeface="Verdana"/>
              </a:rPr>
              <a:t>i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5" dirty="0">
                <a:latin typeface="Calibri"/>
                <a:cs typeface="Calibri"/>
              </a:rPr>
              <a:t>a</a:t>
            </a:r>
            <a:r>
              <a:rPr sz="1100" spc="5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q</a:t>
            </a:r>
            <a:r>
              <a:rPr sz="1200" i="1" spc="-15" baseline="-10416" dirty="0">
                <a:latin typeface="Verdana"/>
                <a:cs typeface="Verdana"/>
              </a:rPr>
              <a:t>j</a:t>
            </a:r>
            <a:endParaRPr sz="1200" baseline="-10416">
              <a:latin typeface="Verdana"/>
              <a:cs typeface="Verdana"/>
            </a:endParaRPr>
          </a:p>
          <a:p>
            <a:pPr marL="195580" marR="5588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96215" algn="l"/>
              </a:tabLst>
            </a:pPr>
            <a:r>
              <a:rPr sz="1100" spc="-35" dirty="0">
                <a:latin typeface="Georgia"/>
                <a:cs typeface="Georgia"/>
              </a:rPr>
              <a:t>Make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25" dirty="0">
                <a:latin typeface="Calibri"/>
                <a:cs typeface="Calibri"/>
              </a:rPr>
              <a:t>R</a:t>
            </a:r>
            <a:r>
              <a:rPr sz="1200" spc="187" baseline="-10416" dirty="0">
                <a:latin typeface="Palatino Linotype"/>
                <a:cs typeface="Palatino Linotype"/>
              </a:rPr>
              <a:t>0</a:t>
            </a:r>
            <a:r>
              <a:rPr sz="1200" spc="315" baseline="-10416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start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variable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grammar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i="1" spc="-20" dirty="0">
                <a:latin typeface="Calibri"/>
                <a:cs typeface="Calibri"/>
              </a:rPr>
              <a:t>q</a:t>
            </a:r>
            <a:r>
              <a:rPr sz="1200" spc="-30" baseline="-10416" dirty="0">
                <a:latin typeface="Palatino Linotype"/>
                <a:cs typeface="Palatino Linotype"/>
              </a:rPr>
              <a:t>0</a:t>
            </a:r>
            <a:r>
              <a:rPr sz="1200" spc="52" baseline="-10416" dirty="0">
                <a:latin typeface="Palatino Linotype"/>
                <a:cs typeface="Palatino Linotype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initial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state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-130" dirty="0">
                <a:latin typeface="Calibri"/>
                <a:cs typeface="Calibri"/>
              </a:rPr>
              <a:t> </a:t>
            </a:r>
            <a:r>
              <a:rPr sz="1100" spc="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0641" y="211465"/>
            <a:ext cx="13468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Designing</a:t>
            </a:r>
            <a:r>
              <a:rPr spc="40" dirty="0"/>
              <a:t> CFG’s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6458" y="1189061"/>
            <a:ext cx="3549015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180" indent="-13271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70815" algn="l"/>
              </a:tabLst>
            </a:pPr>
            <a:r>
              <a:rPr sz="1100" spc="-5" dirty="0">
                <a:latin typeface="Georgia"/>
                <a:cs typeface="Georgia"/>
              </a:rPr>
              <a:t>Certain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CFG’s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have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substrings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linked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together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such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endParaRPr sz="1100">
              <a:latin typeface="Georgia"/>
              <a:cs typeface="Georgia"/>
            </a:endParaRPr>
          </a:p>
          <a:p>
            <a:pPr marL="403225" algn="ctr">
              <a:lnSpc>
                <a:spcPct val="100000"/>
              </a:lnSpc>
              <a:spcBef>
                <a:spcPts val="1130"/>
              </a:spcBef>
            </a:pPr>
            <a:r>
              <a:rPr sz="1100" spc="20" dirty="0">
                <a:latin typeface="Cambria"/>
                <a:cs typeface="Cambria"/>
              </a:rPr>
              <a:t>{</a:t>
            </a:r>
            <a:r>
              <a:rPr sz="1100" spc="20" dirty="0">
                <a:latin typeface="Georgia"/>
                <a:cs typeface="Georgia"/>
              </a:rPr>
              <a:t>0</a:t>
            </a:r>
            <a:r>
              <a:rPr sz="1200" i="1" spc="30" baseline="31250" dirty="0">
                <a:latin typeface="Verdana"/>
                <a:cs typeface="Verdana"/>
              </a:rPr>
              <a:t>n</a:t>
            </a:r>
            <a:r>
              <a:rPr sz="1100" spc="20" dirty="0">
                <a:latin typeface="Georgia"/>
                <a:cs typeface="Georgia"/>
              </a:rPr>
              <a:t>1</a:t>
            </a:r>
            <a:r>
              <a:rPr sz="1200" i="1" spc="30" baseline="31250" dirty="0">
                <a:latin typeface="Verdana"/>
                <a:cs typeface="Verdana"/>
              </a:rPr>
              <a:t>n</a:t>
            </a:r>
            <a:r>
              <a:rPr sz="1200" i="1" spc="82" baseline="31250" dirty="0">
                <a:latin typeface="Verdana"/>
                <a:cs typeface="Verdan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i="1" spc="85" dirty="0">
                <a:latin typeface="Calibri"/>
                <a:cs typeface="Calibri"/>
              </a:rPr>
              <a:t>n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spc="235" dirty="0">
                <a:latin typeface="Cambria"/>
                <a:cs typeface="Cambria"/>
              </a:rPr>
              <a:t>≥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spc="-1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  <a:p>
            <a:pPr marL="170180" indent="-132715">
              <a:lnSpc>
                <a:spcPct val="100000"/>
              </a:lnSpc>
              <a:spcBef>
                <a:spcPts val="113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70815" algn="l"/>
              </a:tabLst>
            </a:pPr>
            <a:r>
              <a:rPr sz="1100" spc="-15" dirty="0">
                <a:latin typeface="Georgia"/>
                <a:cs typeface="Georgia"/>
              </a:rPr>
              <a:t>These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cases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be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handled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using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rule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form</a:t>
            </a:r>
            <a:endParaRPr sz="1100">
              <a:latin typeface="Georgia"/>
              <a:cs typeface="Georgia"/>
            </a:endParaRPr>
          </a:p>
          <a:p>
            <a:pPr marL="398145" algn="ctr">
              <a:lnSpc>
                <a:spcPct val="100000"/>
              </a:lnSpc>
              <a:spcBef>
                <a:spcPts val="1130"/>
              </a:spcBef>
            </a:pPr>
            <a:r>
              <a:rPr sz="1100" i="1" spc="229" dirty="0">
                <a:latin typeface="Calibri"/>
                <a:cs typeface="Calibri"/>
              </a:rPr>
              <a:t>R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spc="165" dirty="0">
                <a:latin typeface="Cambria"/>
                <a:cs typeface="Cambria"/>
              </a:rPr>
              <a:t>→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i="1" spc="110" dirty="0">
                <a:latin typeface="Calibri"/>
                <a:cs typeface="Calibri"/>
              </a:rPr>
              <a:t>uRv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0019" y="211465"/>
            <a:ext cx="848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</a:t>
            </a:r>
            <a:r>
              <a:rPr spc="20" dirty="0"/>
              <a:t>m</a:t>
            </a:r>
            <a:r>
              <a:rPr spc="55" dirty="0"/>
              <a:t>bigui</a:t>
            </a:r>
            <a:r>
              <a:rPr spc="-5" dirty="0"/>
              <a:t>t</a:t>
            </a:r>
            <a:r>
              <a:rPr spc="40" dirty="0"/>
              <a:t>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2864" rIns="0" bIns="0" rtlCol="0">
            <a:spAutoFit/>
          </a:bodyPr>
          <a:lstStyle/>
          <a:p>
            <a:pPr marL="287655" marR="61594" indent="-13271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88290" algn="l"/>
              </a:tabLst>
            </a:pPr>
            <a:r>
              <a:rPr sz="1100" spc="-30" dirty="0"/>
              <a:t>If</a:t>
            </a:r>
            <a:r>
              <a:rPr sz="1100" spc="95" dirty="0"/>
              <a:t> </a:t>
            </a:r>
            <a:r>
              <a:rPr sz="1100" spc="-10" dirty="0"/>
              <a:t>a</a:t>
            </a:r>
            <a:r>
              <a:rPr sz="1100" spc="100" dirty="0"/>
              <a:t> </a:t>
            </a:r>
            <a:r>
              <a:rPr sz="1100" spc="-30" dirty="0"/>
              <a:t>grammar</a:t>
            </a:r>
            <a:r>
              <a:rPr sz="1100" spc="95" dirty="0"/>
              <a:t> </a:t>
            </a:r>
            <a:r>
              <a:rPr sz="1100" spc="-30" dirty="0"/>
              <a:t>generates</a:t>
            </a:r>
            <a:r>
              <a:rPr sz="1100" spc="100" dirty="0"/>
              <a:t> </a:t>
            </a:r>
            <a:r>
              <a:rPr sz="1100" spc="-20" dirty="0"/>
              <a:t>the</a:t>
            </a:r>
            <a:r>
              <a:rPr sz="1100" spc="100" dirty="0"/>
              <a:t> </a:t>
            </a:r>
            <a:r>
              <a:rPr sz="1100" spc="-45" dirty="0"/>
              <a:t>same</a:t>
            </a:r>
            <a:r>
              <a:rPr sz="1100" spc="95" dirty="0"/>
              <a:t> </a:t>
            </a:r>
            <a:r>
              <a:rPr sz="1100" spc="-20" dirty="0"/>
              <a:t>string</a:t>
            </a:r>
            <a:r>
              <a:rPr sz="1100" spc="100" dirty="0"/>
              <a:t> </a:t>
            </a:r>
            <a:r>
              <a:rPr sz="1100" spc="-35" dirty="0"/>
              <a:t>in</a:t>
            </a:r>
            <a:r>
              <a:rPr sz="1100" spc="100" dirty="0"/>
              <a:t> </a:t>
            </a:r>
            <a:r>
              <a:rPr sz="1100" spc="-30" dirty="0"/>
              <a:t>several</a:t>
            </a:r>
            <a:r>
              <a:rPr sz="1100" spc="95" dirty="0"/>
              <a:t> </a:t>
            </a:r>
            <a:r>
              <a:rPr sz="1100" spc="-35" dirty="0"/>
              <a:t>different </a:t>
            </a:r>
            <a:r>
              <a:rPr sz="1100" spc="-250" dirty="0"/>
              <a:t> </a:t>
            </a:r>
            <a:r>
              <a:rPr sz="1100" spc="-25" dirty="0"/>
              <a:t>ways, </a:t>
            </a:r>
            <a:r>
              <a:rPr sz="1100" spc="-55" dirty="0"/>
              <a:t>we</a:t>
            </a:r>
            <a:r>
              <a:rPr sz="1100" spc="-50" dirty="0"/>
              <a:t> </a:t>
            </a:r>
            <a:r>
              <a:rPr sz="1100" spc="-20" dirty="0"/>
              <a:t>say </a:t>
            </a:r>
            <a:r>
              <a:rPr sz="1100" spc="5" dirty="0"/>
              <a:t>that </a:t>
            </a:r>
            <a:r>
              <a:rPr sz="1100" spc="-20" dirty="0"/>
              <a:t>string </a:t>
            </a:r>
            <a:r>
              <a:rPr sz="1100" spc="-35" dirty="0"/>
              <a:t>is</a:t>
            </a:r>
            <a:r>
              <a:rPr sz="1100" spc="-30" dirty="0"/>
              <a:t> </a:t>
            </a:r>
            <a:r>
              <a:rPr sz="1100" spc="-35" dirty="0"/>
              <a:t>derived</a:t>
            </a:r>
            <a:r>
              <a:rPr sz="1100" spc="-30" dirty="0"/>
              <a:t> </a:t>
            </a:r>
            <a:r>
              <a:rPr sz="1100" b="1" spc="-45" dirty="0">
                <a:latin typeface="Georgia"/>
                <a:cs typeface="Georgia"/>
              </a:rPr>
              <a:t>ambiguously</a:t>
            </a:r>
            <a:r>
              <a:rPr sz="1100" b="1" spc="-40" dirty="0">
                <a:latin typeface="Georgia"/>
                <a:cs typeface="Georgia"/>
              </a:rPr>
              <a:t> </a:t>
            </a:r>
            <a:r>
              <a:rPr sz="1100" spc="-35" dirty="0"/>
              <a:t>in</a:t>
            </a:r>
            <a:r>
              <a:rPr sz="1100" spc="-30" dirty="0"/>
              <a:t> </a:t>
            </a:r>
            <a:r>
              <a:rPr sz="1100" spc="5" dirty="0"/>
              <a:t>that </a:t>
            </a:r>
            <a:r>
              <a:rPr sz="1100" spc="10" dirty="0"/>
              <a:t> </a:t>
            </a:r>
            <a:r>
              <a:rPr sz="1100" spc="-30" dirty="0"/>
              <a:t>grammar</a:t>
            </a:r>
            <a:endParaRPr sz="1100">
              <a:latin typeface="Georgia"/>
              <a:cs typeface="Georgia"/>
            </a:endParaRPr>
          </a:p>
          <a:p>
            <a:pPr marL="287655" marR="21971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88290" algn="l"/>
              </a:tabLst>
            </a:pPr>
            <a:r>
              <a:rPr sz="1100" spc="-30" dirty="0"/>
              <a:t>If</a:t>
            </a:r>
            <a:r>
              <a:rPr sz="1100" spc="95" dirty="0"/>
              <a:t> </a:t>
            </a:r>
            <a:r>
              <a:rPr sz="1100" spc="-10" dirty="0"/>
              <a:t>a</a:t>
            </a:r>
            <a:r>
              <a:rPr sz="1100" spc="95" dirty="0"/>
              <a:t> </a:t>
            </a:r>
            <a:r>
              <a:rPr sz="1100" spc="-30" dirty="0"/>
              <a:t>grammar</a:t>
            </a:r>
            <a:r>
              <a:rPr sz="1100" spc="100" dirty="0"/>
              <a:t> </a:t>
            </a:r>
            <a:r>
              <a:rPr sz="1100" spc="-30" dirty="0"/>
              <a:t>generates</a:t>
            </a:r>
            <a:r>
              <a:rPr sz="1100" spc="95" dirty="0"/>
              <a:t> </a:t>
            </a:r>
            <a:r>
              <a:rPr sz="1100" spc="-55" dirty="0"/>
              <a:t>some</a:t>
            </a:r>
            <a:r>
              <a:rPr sz="1100" spc="100" dirty="0"/>
              <a:t> </a:t>
            </a:r>
            <a:r>
              <a:rPr sz="1100" spc="-20" dirty="0"/>
              <a:t>string</a:t>
            </a:r>
            <a:r>
              <a:rPr sz="1100" spc="95" dirty="0"/>
              <a:t> </a:t>
            </a:r>
            <a:r>
              <a:rPr sz="1100" spc="-30" dirty="0"/>
              <a:t>ambiguously</a:t>
            </a:r>
            <a:r>
              <a:rPr sz="1100" spc="100" dirty="0"/>
              <a:t> </a:t>
            </a:r>
            <a:r>
              <a:rPr sz="1100" spc="-55" dirty="0"/>
              <a:t>we</a:t>
            </a:r>
            <a:r>
              <a:rPr sz="1100" spc="95" dirty="0"/>
              <a:t> </a:t>
            </a:r>
            <a:r>
              <a:rPr sz="1100" spc="-20" dirty="0"/>
              <a:t>say </a:t>
            </a:r>
            <a:r>
              <a:rPr sz="1100" spc="-250" dirty="0"/>
              <a:t> </a:t>
            </a:r>
            <a:r>
              <a:rPr sz="1100" spc="5" dirty="0"/>
              <a:t>that</a:t>
            </a:r>
            <a:r>
              <a:rPr sz="1100" spc="90" dirty="0"/>
              <a:t> </a:t>
            </a:r>
            <a:r>
              <a:rPr sz="1100" spc="-20" dirty="0"/>
              <a:t>the</a:t>
            </a:r>
            <a:r>
              <a:rPr sz="1100" spc="95" dirty="0"/>
              <a:t> </a:t>
            </a:r>
            <a:r>
              <a:rPr sz="1100" spc="-30" dirty="0"/>
              <a:t>grammar</a:t>
            </a:r>
            <a:r>
              <a:rPr sz="1100" spc="95" dirty="0"/>
              <a:t> </a:t>
            </a:r>
            <a:r>
              <a:rPr sz="1100" spc="-35" dirty="0"/>
              <a:t>is</a:t>
            </a:r>
            <a:r>
              <a:rPr sz="1100" spc="95" dirty="0"/>
              <a:t> </a:t>
            </a:r>
            <a:r>
              <a:rPr sz="1100" b="1" spc="-50" dirty="0">
                <a:latin typeface="Georgia"/>
                <a:cs typeface="Georgia"/>
              </a:rPr>
              <a:t>ambiguous</a:t>
            </a:r>
            <a:r>
              <a:rPr sz="1100" spc="-50" dirty="0"/>
              <a:t>,</a:t>
            </a:r>
            <a:r>
              <a:rPr sz="1100" spc="95" dirty="0"/>
              <a:t> </a:t>
            </a:r>
            <a:r>
              <a:rPr sz="1100" spc="-10" dirty="0"/>
              <a:t>e.g.,</a:t>
            </a:r>
            <a:endParaRPr sz="1100">
              <a:latin typeface="Georgia"/>
              <a:cs typeface="Georgia"/>
            </a:endParaRPr>
          </a:p>
          <a:p>
            <a:pPr marL="287655">
              <a:lnSpc>
                <a:spcPct val="100000"/>
              </a:lnSpc>
              <a:spcBef>
                <a:spcPts val="1130"/>
              </a:spcBef>
            </a:pPr>
            <a:r>
              <a:rPr spc="20" dirty="0">
                <a:latin typeface="Cambria"/>
                <a:cs typeface="Cambria"/>
              </a:rPr>
              <a:t>⟨</a:t>
            </a:r>
            <a:r>
              <a:rPr cap="small" spc="180" dirty="0">
                <a:latin typeface="SimSun"/>
                <a:cs typeface="SimSun"/>
              </a:rPr>
              <a:t>exp</a:t>
            </a:r>
            <a:r>
              <a:rPr cap="small" spc="204" dirty="0">
                <a:latin typeface="SimSun"/>
                <a:cs typeface="SimSun"/>
              </a:rPr>
              <a:t>r</a:t>
            </a:r>
            <a:r>
              <a:rPr spc="25" dirty="0">
                <a:latin typeface="Cambria"/>
                <a:cs typeface="Cambria"/>
              </a:rPr>
              <a:t>⟩</a:t>
            </a:r>
            <a:r>
              <a:rPr spc="60" dirty="0">
                <a:latin typeface="Cambria"/>
                <a:cs typeface="Cambria"/>
              </a:rPr>
              <a:t> </a:t>
            </a:r>
            <a:r>
              <a:rPr spc="165" dirty="0">
                <a:latin typeface="Cambria"/>
                <a:cs typeface="Cambria"/>
              </a:rPr>
              <a:t>→</a:t>
            </a:r>
            <a:r>
              <a:rPr spc="60" dirty="0">
                <a:latin typeface="Cambria"/>
                <a:cs typeface="Cambria"/>
              </a:rPr>
              <a:t> </a:t>
            </a:r>
            <a:r>
              <a:rPr spc="20" dirty="0">
                <a:latin typeface="Cambria"/>
                <a:cs typeface="Cambria"/>
              </a:rPr>
              <a:t>⟨</a:t>
            </a:r>
            <a:r>
              <a:rPr cap="small" spc="180" dirty="0">
                <a:latin typeface="SimSun"/>
                <a:cs typeface="SimSun"/>
              </a:rPr>
              <a:t>exp</a:t>
            </a:r>
            <a:r>
              <a:rPr cap="small" spc="204" dirty="0">
                <a:latin typeface="SimSun"/>
                <a:cs typeface="SimSun"/>
              </a:rPr>
              <a:t>r</a:t>
            </a:r>
            <a:r>
              <a:rPr spc="25" dirty="0">
                <a:latin typeface="Cambria"/>
                <a:cs typeface="Cambria"/>
              </a:rPr>
              <a:t>⟩</a:t>
            </a:r>
            <a:r>
              <a:rPr spc="-135" dirty="0">
                <a:latin typeface="Cambria"/>
                <a:cs typeface="Cambria"/>
              </a:rPr>
              <a:t> </a:t>
            </a:r>
            <a:r>
              <a:rPr spc="250" dirty="0"/>
              <a:t>+</a:t>
            </a:r>
            <a:r>
              <a:rPr spc="20" dirty="0">
                <a:latin typeface="Cambria"/>
                <a:cs typeface="Cambria"/>
              </a:rPr>
              <a:t>⟨</a:t>
            </a:r>
            <a:r>
              <a:rPr cap="small" spc="180" dirty="0">
                <a:latin typeface="SimSun"/>
                <a:cs typeface="SimSun"/>
              </a:rPr>
              <a:t>exp</a:t>
            </a:r>
            <a:r>
              <a:rPr cap="small" spc="204" dirty="0">
                <a:latin typeface="SimSun"/>
                <a:cs typeface="SimSun"/>
              </a:rPr>
              <a:t>r</a:t>
            </a:r>
            <a:r>
              <a:rPr spc="25" dirty="0">
                <a:latin typeface="Cambria"/>
                <a:cs typeface="Cambria"/>
              </a:rPr>
              <a:t>⟩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spc="-45" dirty="0">
                <a:latin typeface="Cambria"/>
                <a:cs typeface="Cambria"/>
              </a:rPr>
              <a:t>|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spc="25" dirty="0">
                <a:latin typeface="Cambria"/>
                <a:cs typeface="Cambria"/>
              </a:rPr>
              <a:t>⟨</a:t>
            </a:r>
            <a:r>
              <a:rPr cap="small" spc="180" dirty="0">
                <a:latin typeface="SimSun"/>
                <a:cs typeface="SimSun"/>
              </a:rPr>
              <a:t>exp</a:t>
            </a:r>
            <a:r>
              <a:rPr cap="small" spc="204" dirty="0">
                <a:latin typeface="SimSun"/>
                <a:cs typeface="SimSun"/>
              </a:rPr>
              <a:t>r</a:t>
            </a:r>
            <a:r>
              <a:rPr spc="25" dirty="0">
                <a:latin typeface="Cambria"/>
                <a:cs typeface="Cambria"/>
              </a:rPr>
              <a:t>⟩</a:t>
            </a:r>
            <a:r>
              <a:rPr spc="-135" dirty="0">
                <a:latin typeface="Cambria"/>
                <a:cs typeface="Cambria"/>
              </a:rPr>
              <a:t> </a:t>
            </a:r>
            <a:r>
              <a:rPr spc="345" dirty="0">
                <a:latin typeface="Cambria"/>
                <a:cs typeface="Cambria"/>
              </a:rPr>
              <a:t>×</a:t>
            </a:r>
            <a:r>
              <a:rPr spc="20" dirty="0">
                <a:latin typeface="Cambria"/>
                <a:cs typeface="Cambria"/>
              </a:rPr>
              <a:t>⟨</a:t>
            </a:r>
            <a:r>
              <a:rPr cap="small" spc="180" dirty="0">
                <a:latin typeface="SimSun"/>
                <a:cs typeface="SimSun"/>
              </a:rPr>
              <a:t>exp</a:t>
            </a:r>
            <a:r>
              <a:rPr cap="small" spc="204" dirty="0">
                <a:latin typeface="SimSun"/>
                <a:cs typeface="SimSun"/>
              </a:rPr>
              <a:t>r</a:t>
            </a:r>
            <a:r>
              <a:rPr spc="25" dirty="0">
                <a:latin typeface="Cambria"/>
                <a:cs typeface="Cambria"/>
              </a:rPr>
              <a:t>⟩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spc="-45" dirty="0">
                <a:latin typeface="Cambria"/>
                <a:cs typeface="Cambria"/>
              </a:rPr>
              <a:t>|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spc="5" dirty="0"/>
              <a:t>(</a:t>
            </a:r>
            <a:r>
              <a:rPr spc="20" dirty="0">
                <a:latin typeface="Cambria"/>
                <a:cs typeface="Cambria"/>
              </a:rPr>
              <a:t>⟨</a:t>
            </a:r>
            <a:r>
              <a:rPr cap="small" spc="180" dirty="0">
                <a:latin typeface="SimSun"/>
                <a:cs typeface="SimSun"/>
              </a:rPr>
              <a:t>exp</a:t>
            </a:r>
            <a:r>
              <a:rPr cap="small" spc="204" dirty="0">
                <a:latin typeface="SimSun"/>
                <a:cs typeface="SimSun"/>
              </a:rPr>
              <a:t>r</a:t>
            </a:r>
            <a:r>
              <a:rPr spc="20" dirty="0">
                <a:latin typeface="Cambria"/>
                <a:cs typeface="Cambria"/>
              </a:rPr>
              <a:t>⟩</a:t>
            </a:r>
            <a:r>
              <a:rPr spc="10" dirty="0"/>
              <a:t>)</a:t>
            </a:r>
            <a:r>
              <a:rPr spc="30" dirty="0"/>
              <a:t> </a:t>
            </a:r>
            <a:r>
              <a:rPr spc="-45" dirty="0">
                <a:latin typeface="Cambria"/>
                <a:cs typeface="Cambria"/>
              </a:rPr>
              <a:t>|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i="1" spc="10" dirty="0">
                <a:latin typeface="Calibri"/>
                <a:cs typeface="Calibri"/>
              </a:rPr>
              <a:t>a</a:t>
            </a:r>
          </a:p>
          <a:p>
            <a:pPr marL="287655" indent="-132715">
              <a:lnSpc>
                <a:spcPct val="100000"/>
              </a:lnSpc>
              <a:spcBef>
                <a:spcPts val="113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288290" algn="l"/>
              </a:tabLst>
            </a:pPr>
            <a:r>
              <a:rPr sz="1100" dirty="0"/>
              <a:t>This</a:t>
            </a:r>
            <a:r>
              <a:rPr sz="1100" spc="95" dirty="0"/>
              <a:t> </a:t>
            </a:r>
            <a:r>
              <a:rPr sz="1100" spc="-30" dirty="0"/>
              <a:t>grammar</a:t>
            </a:r>
            <a:r>
              <a:rPr sz="1100" spc="95" dirty="0"/>
              <a:t> </a:t>
            </a:r>
            <a:r>
              <a:rPr sz="1100" spc="-30" dirty="0"/>
              <a:t>generates</a:t>
            </a:r>
            <a:r>
              <a:rPr sz="1100" spc="95" dirty="0"/>
              <a:t> </a:t>
            </a:r>
            <a:r>
              <a:rPr sz="1100" spc="-20" dirty="0"/>
              <a:t>the</a:t>
            </a:r>
            <a:r>
              <a:rPr sz="1100" spc="100" dirty="0"/>
              <a:t> </a:t>
            </a:r>
            <a:r>
              <a:rPr sz="1100" spc="-20" dirty="0"/>
              <a:t>string</a:t>
            </a:r>
            <a:r>
              <a:rPr sz="1100" spc="95" dirty="0"/>
              <a:t> </a:t>
            </a:r>
            <a:r>
              <a:rPr sz="1100" i="1" spc="10" dirty="0">
                <a:latin typeface="Calibri"/>
                <a:cs typeface="Calibri"/>
              </a:rPr>
              <a:t>a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140" dirty="0"/>
              <a:t>+</a:t>
            </a:r>
            <a:r>
              <a:rPr sz="1100" spc="-20" dirty="0"/>
              <a:t> </a:t>
            </a:r>
            <a:r>
              <a:rPr sz="1100" i="1" spc="10" dirty="0">
                <a:latin typeface="Calibri"/>
                <a:cs typeface="Calibri"/>
              </a:rPr>
              <a:t>a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235" dirty="0">
                <a:latin typeface="Cambria"/>
                <a:cs typeface="Cambria"/>
              </a:rPr>
              <a:t>×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i="1" spc="10" dirty="0">
                <a:latin typeface="Calibri"/>
                <a:cs typeface="Calibri"/>
              </a:rPr>
              <a:t>a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0" dirty="0"/>
              <a:t>ambiguously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0019" y="211465"/>
            <a:ext cx="848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</a:t>
            </a:r>
            <a:r>
              <a:rPr spc="20" dirty="0"/>
              <a:t>m</a:t>
            </a:r>
            <a:r>
              <a:rPr spc="55" dirty="0"/>
              <a:t>bigui</a:t>
            </a:r>
            <a:r>
              <a:rPr spc="-5" dirty="0"/>
              <a:t>t</a:t>
            </a:r>
            <a:r>
              <a:rPr spc="40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756347"/>
            <a:ext cx="3668395" cy="533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4780" indent="-13271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145415" algn="l"/>
              </a:tabLst>
            </a:pPr>
            <a:r>
              <a:rPr sz="1100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grammar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generates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0" dirty="0">
                <a:latin typeface="Calibri"/>
                <a:cs typeface="Calibri"/>
              </a:rPr>
              <a:t>a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+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10" dirty="0">
                <a:latin typeface="Calibri"/>
                <a:cs typeface="Calibri"/>
              </a:rPr>
              <a:t>a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235" dirty="0">
                <a:latin typeface="Cambria"/>
                <a:cs typeface="Cambria"/>
              </a:rPr>
              <a:t>×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i="1" spc="10" dirty="0">
                <a:latin typeface="Calibri"/>
                <a:cs typeface="Calibri"/>
              </a:rPr>
              <a:t>a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ambiguously</a:t>
            </a:r>
            <a:endParaRPr sz="1100">
              <a:latin typeface="Georgia"/>
              <a:cs typeface="Georgia"/>
            </a:endParaRPr>
          </a:p>
          <a:p>
            <a:pPr marL="755015">
              <a:lnSpc>
                <a:spcPct val="100000"/>
              </a:lnSpc>
              <a:spcBef>
                <a:spcPts val="1370"/>
              </a:spcBef>
              <a:tabLst>
                <a:tab pos="2435225" algn="l"/>
              </a:tabLst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9038" y="1332444"/>
            <a:ext cx="234315" cy="304165"/>
          </a:xfrm>
          <a:custGeom>
            <a:avLst/>
            <a:gdLst/>
            <a:ahLst/>
            <a:cxnLst/>
            <a:rect l="l" t="t" r="r" b="b"/>
            <a:pathLst>
              <a:path w="234315" h="304164">
                <a:moveTo>
                  <a:pt x="234086" y="0"/>
                </a:moveTo>
                <a:lnTo>
                  <a:pt x="0" y="304044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3397" y="1872451"/>
            <a:ext cx="234315" cy="304165"/>
          </a:xfrm>
          <a:custGeom>
            <a:avLst/>
            <a:gdLst/>
            <a:ahLst/>
            <a:cxnLst/>
            <a:rect l="l" t="t" r="r" b="b"/>
            <a:pathLst>
              <a:path w="234315" h="304164">
                <a:moveTo>
                  <a:pt x="234086" y="0"/>
                </a:moveTo>
                <a:lnTo>
                  <a:pt x="0" y="304043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3311" y="2713048"/>
            <a:ext cx="99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2621" y="2412457"/>
            <a:ext cx="0" cy="343535"/>
          </a:xfrm>
          <a:custGeom>
            <a:avLst/>
            <a:gdLst/>
            <a:ahLst/>
            <a:cxnLst/>
            <a:rect l="l" t="t" r="r" b="b"/>
            <a:pathLst>
              <a:path h="343535">
                <a:moveTo>
                  <a:pt x="0" y="0"/>
                </a:moveTo>
                <a:lnTo>
                  <a:pt x="0" y="343491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8262" y="1872451"/>
            <a:ext cx="0" cy="327660"/>
          </a:xfrm>
          <a:custGeom>
            <a:avLst/>
            <a:gdLst/>
            <a:ahLst/>
            <a:cxnLst/>
            <a:rect l="l" t="t" r="r" b="b"/>
            <a:pathLst>
              <a:path h="327660">
                <a:moveTo>
                  <a:pt x="0" y="0"/>
                </a:moveTo>
                <a:lnTo>
                  <a:pt x="0" y="327181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3288" y="2177858"/>
            <a:ext cx="1290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0550" algn="l"/>
                <a:tab pos="843280" algn="l"/>
              </a:tabLst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140" dirty="0">
                <a:latin typeface="Georgia"/>
                <a:cs typeface="Georgia"/>
              </a:rPr>
              <a:t>+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39041" y="1872451"/>
            <a:ext cx="234315" cy="304165"/>
          </a:xfrm>
          <a:custGeom>
            <a:avLst/>
            <a:gdLst/>
            <a:ahLst/>
            <a:cxnLst/>
            <a:rect l="l" t="t" r="r" b="b"/>
            <a:pathLst>
              <a:path w="234315" h="304164">
                <a:moveTo>
                  <a:pt x="0" y="0"/>
                </a:moveTo>
                <a:lnTo>
                  <a:pt x="234086" y="304043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14589" y="2713048"/>
            <a:ext cx="99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63904" y="2412457"/>
            <a:ext cx="0" cy="343535"/>
          </a:xfrm>
          <a:custGeom>
            <a:avLst/>
            <a:gdLst/>
            <a:ahLst/>
            <a:cxnLst/>
            <a:rect l="l" t="t" r="r" b="b"/>
            <a:pathLst>
              <a:path h="343535">
                <a:moveTo>
                  <a:pt x="0" y="0"/>
                </a:moveTo>
                <a:lnTo>
                  <a:pt x="0" y="343491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63903" y="1332444"/>
            <a:ext cx="0" cy="327660"/>
          </a:xfrm>
          <a:custGeom>
            <a:avLst/>
            <a:gdLst/>
            <a:ahLst/>
            <a:cxnLst/>
            <a:rect l="l" t="t" r="r" b="b"/>
            <a:pathLst>
              <a:path h="327660">
                <a:moveTo>
                  <a:pt x="0" y="0"/>
                </a:moveTo>
                <a:lnTo>
                  <a:pt x="0" y="327135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18921" y="1637854"/>
            <a:ext cx="1290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0550" algn="l"/>
                <a:tab pos="843915" algn="l"/>
              </a:tabLst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35" dirty="0">
                <a:latin typeface="Cambria"/>
                <a:cs typeface="Cambria"/>
              </a:rPr>
              <a:t>×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54682" y="1332444"/>
            <a:ext cx="234315" cy="304165"/>
          </a:xfrm>
          <a:custGeom>
            <a:avLst/>
            <a:gdLst/>
            <a:ahLst/>
            <a:cxnLst/>
            <a:rect l="l" t="t" r="r" b="b"/>
            <a:pathLst>
              <a:path w="234314" h="304164">
                <a:moveTo>
                  <a:pt x="0" y="0"/>
                </a:moveTo>
                <a:lnTo>
                  <a:pt x="234086" y="304044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30222" y="2173045"/>
            <a:ext cx="99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79545" y="1872451"/>
            <a:ext cx="0" cy="343535"/>
          </a:xfrm>
          <a:custGeom>
            <a:avLst/>
            <a:gdLst/>
            <a:ahLst/>
            <a:cxnLst/>
            <a:rect l="l" t="t" r="r" b="b"/>
            <a:pathLst>
              <a:path h="343535">
                <a:moveTo>
                  <a:pt x="0" y="0"/>
                </a:moveTo>
                <a:lnTo>
                  <a:pt x="0" y="343491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19222" y="1332444"/>
            <a:ext cx="234315" cy="304165"/>
          </a:xfrm>
          <a:custGeom>
            <a:avLst/>
            <a:gdLst/>
            <a:ahLst/>
            <a:cxnLst/>
            <a:rect l="l" t="t" r="r" b="b"/>
            <a:pathLst>
              <a:path w="234314" h="304164">
                <a:moveTo>
                  <a:pt x="234086" y="0"/>
                </a:moveTo>
                <a:lnTo>
                  <a:pt x="0" y="304044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79128" y="2173045"/>
            <a:ext cx="99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28447" y="1872451"/>
            <a:ext cx="0" cy="343535"/>
          </a:xfrm>
          <a:custGeom>
            <a:avLst/>
            <a:gdLst/>
            <a:ahLst/>
            <a:cxnLst/>
            <a:rect l="l" t="t" r="r" b="b"/>
            <a:pathLst>
              <a:path h="343535">
                <a:moveTo>
                  <a:pt x="0" y="0"/>
                </a:moveTo>
                <a:lnTo>
                  <a:pt x="0" y="343491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44088" y="1332444"/>
            <a:ext cx="0" cy="327660"/>
          </a:xfrm>
          <a:custGeom>
            <a:avLst/>
            <a:gdLst/>
            <a:ahLst/>
            <a:cxnLst/>
            <a:rect l="l" t="t" r="r" b="b"/>
            <a:pathLst>
              <a:path h="327660">
                <a:moveTo>
                  <a:pt x="0" y="0"/>
                </a:moveTo>
                <a:lnTo>
                  <a:pt x="0" y="327181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499105" y="1637854"/>
            <a:ext cx="1290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0550" algn="l"/>
                <a:tab pos="843280" algn="l"/>
              </a:tabLst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140" dirty="0">
                <a:latin typeface="Georgia"/>
                <a:cs typeface="Georgia"/>
              </a:rPr>
              <a:t>+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34867" y="1332444"/>
            <a:ext cx="234315" cy="304165"/>
          </a:xfrm>
          <a:custGeom>
            <a:avLst/>
            <a:gdLst/>
            <a:ahLst/>
            <a:cxnLst/>
            <a:rect l="l" t="t" r="r" b="b"/>
            <a:pathLst>
              <a:path w="234314" h="304164">
                <a:moveTo>
                  <a:pt x="0" y="0"/>
                </a:moveTo>
                <a:lnTo>
                  <a:pt x="234086" y="304044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34864" y="1872451"/>
            <a:ext cx="234315" cy="304165"/>
          </a:xfrm>
          <a:custGeom>
            <a:avLst/>
            <a:gdLst/>
            <a:ahLst/>
            <a:cxnLst/>
            <a:rect l="l" t="t" r="r" b="b"/>
            <a:pathLst>
              <a:path w="234314" h="304164">
                <a:moveTo>
                  <a:pt x="234086" y="0"/>
                </a:moveTo>
                <a:lnTo>
                  <a:pt x="0" y="304043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094761" y="2713048"/>
            <a:ext cx="99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44088" y="2412457"/>
            <a:ext cx="0" cy="343535"/>
          </a:xfrm>
          <a:custGeom>
            <a:avLst/>
            <a:gdLst/>
            <a:ahLst/>
            <a:cxnLst/>
            <a:rect l="l" t="t" r="r" b="b"/>
            <a:pathLst>
              <a:path h="343535">
                <a:moveTo>
                  <a:pt x="0" y="0"/>
                </a:moveTo>
                <a:lnTo>
                  <a:pt x="0" y="343491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59730" y="1872451"/>
            <a:ext cx="0" cy="327660"/>
          </a:xfrm>
          <a:custGeom>
            <a:avLst/>
            <a:gdLst/>
            <a:ahLst/>
            <a:cxnLst/>
            <a:rect l="l" t="t" r="r" b="b"/>
            <a:pathLst>
              <a:path h="327660">
                <a:moveTo>
                  <a:pt x="0" y="0"/>
                </a:moveTo>
                <a:lnTo>
                  <a:pt x="0" y="327135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914738" y="2177858"/>
            <a:ext cx="1290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0550" algn="l"/>
                <a:tab pos="843280" algn="l"/>
              </a:tabLst>
            </a:pP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35" dirty="0">
                <a:latin typeface="Cambria"/>
                <a:cs typeface="Cambria"/>
              </a:rPr>
              <a:t>×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cap="small" spc="180" dirty="0">
                <a:latin typeface="SimSun"/>
                <a:cs typeface="SimSun"/>
              </a:rPr>
              <a:t>exp</a:t>
            </a:r>
            <a:r>
              <a:rPr sz="1100" cap="small" spc="204" dirty="0">
                <a:latin typeface="SimSun"/>
                <a:cs typeface="SimSun"/>
              </a:rPr>
              <a:t>r</a:t>
            </a:r>
            <a:r>
              <a:rPr sz="1100" spc="25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650509" y="1872451"/>
            <a:ext cx="234315" cy="304165"/>
          </a:xfrm>
          <a:custGeom>
            <a:avLst/>
            <a:gdLst/>
            <a:ahLst/>
            <a:cxnLst/>
            <a:rect l="l" t="t" r="r" b="b"/>
            <a:pathLst>
              <a:path w="234314" h="304164">
                <a:moveTo>
                  <a:pt x="0" y="0"/>
                </a:moveTo>
                <a:lnTo>
                  <a:pt x="234086" y="304043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926039" y="2713048"/>
            <a:ext cx="99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75372" y="2412457"/>
            <a:ext cx="0" cy="343535"/>
          </a:xfrm>
          <a:custGeom>
            <a:avLst/>
            <a:gdLst/>
            <a:ahLst/>
            <a:cxnLst/>
            <a:rect l="l" t="t" r="r" b="b"/>
            <a:pathLst>
              <a:path h="343535">
                <a:moveTo>
                  <a:pt x="0" y="0"/>
                </a:moveTo>
                <a:lnTo>
                  <a:pt x="0" y="343491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0019" y="211465"/>
            <a:ext cx="848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</a:t>
            </a:r>
            <a:r>
              <a:rPr spc="20" dirty="0"/>
              <a:t>m</a:t>
            </a:r>
            <a:r>
              <a:rPr spc="55" dirty="0"/>
              <a:t>bigui</a:t>
            </a:r>
            <a:r>
              <a:rPr spc="-5" dirty="0"/>
              <a:t>t</a:t>
            </a:r>
            <a:r>
              <a:rPr spc="40" dirty="0"/>
              <a:t>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3" y="839558"/>
            <a:ext cx="4040504" cy="817880"/>
            <a:chOff x="309193" y="839558"/>
            <a:chExt cx="4040504" cy="817880"/>
          </a:xfrm>
        </p:grpSpPr>
        <p:sp>
          <p:nvSpPr>
            <p:cNvPr id="4" name="object 4"/>
            <p:cNvSpPr/>
            <p:nvPr/>
          </p:nvSpPr>
          <p:spPr>
            <a:xfrm>
              <a:off x="309193" y="839558"/>
              <a:ext cx="3989704" cy="198120"/>
            </a:xfrm>
            <a:custGeom>
              <a:avLst/>
              <a:gdLst/>
              <a:ahLst/>
              <a:cxnLst/>
              <a:rect l="l" t="t" r="r" b="b"/>
              <a:pathLst>
                <a:path w="3989704" h="198119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7521"/>
                  </a:lnTo>
                  <a:lnTo>
                    <a:pt x="3989652" y="19752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1024420"/>
              <a:ext cx="3989651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555572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1542872"/>
              <a:ext cx="3938802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846" y="883793"/>
              <a:ext cx="50751" cy="6717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9193" y="1068696"/>
              <a:ext cx="3989704" cy="537845"/>
            </a:xfrm>
            <a:custGeom>
              <a:avLst/>
              <a:gdLst/>
              <a:ahLst/>
              <a:cxnLst/>
              <a:rect l="l" t="t" r="r" b="b"/>
              <a:pathLst>
                <a:path w="3989704" h="537844">
                  <a:moveTo>
                    <a:pt x="3989652" y="0"/>
                  </a:moveTo>
                  <a:lnTo>
                    <a:pt x="0" y="0"/>
                  </a:lnTo>
                  <a:lnTo>
                    <a:pt x="0" y="486876"/>
                  </a:lnTo>
                  <a:lnTo>
                    <a:pt x="4008" y="506600"/>
                  </a:lnTo>
                  <a:lnTo>
                    <a:pt x="14922" y="522753"/>
                  </a:lnTo>
                  <a:lnTo>
                    <a:pt x="31075" y="533667"/>
                  </a:lnTo>
                  <a:lnTo>
                    <a:pt x="50800" y="537676"/>
                  </a:lnTo>
                  <a:lnTo>
                    <a:pt x="3938852" y="537676"/>
                  </a:lnTo>
                  <a:lnTo>
                    <a:pt x="3958576" y="533667"/>
                  </a:lnTo>
                  <a:lnTo>
                    <a:pt x="3974729" y="522753"/>
                  </a:lnTo>
                  <a:lnTo>
                    <a:pt x="3985644" y="506600"/>
                  </a:lnTo>
                  <a:lnTo>
                    <a:pt x="3989652" y="48687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846" y="921880"/>
              <a:ext cx="0" cy="652780"/>
            </a:xfrm>
            <a:custGeom>
              <a:avLst/>
              <a:gdLst/>
              <a:ahLst/>
              <a:cxnLst/>
              <a:rect l="l" t="t" r="r" b="b"/>
              <a:pathLst>
                <a:path h="652780">
                  <a:moveTo>
                    <a:pt x="0" y="65274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6" y="9091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8964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8837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7294" y="774193"/>
            <a:ext cx="3912235" cy="8013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20" dirty="0">
                <a:latin typeface="Times New Roman"/>
                <a:cs typeface="Times New Roman"/>
              </a:rPr>
              <a:t>Ambiguity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2600"/>
              </a:lnSpc>
              <a:spcBef>
                <a:spcPts val="270"/>
              </a:spcBef>
            </a:pPr>
            <a:r>
              <a:rPr sz="1100" spc="80" dirty="0">
                <a:latin typeface="Georgia"/>
                <a:cs typeface="Georgia"/>
              </a:rPr>
              <a:t>A </a:t>
            </a:r>
            <a:r>
              <a:rPr sz="1100" spc="-20" dirty="0">
                <a:latin typeface="Georgia"/>
                <a:cs typeface="Georgia"/>
              </a:rPr>
              <a:t>string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derived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ambiguously</a:t>
            </a:r>
            <a:r>
              <a:rPr sz="1100" b="1" spc="1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context-free</a:t>
            </a:r>
            <a:r>
              <a:rPr sz="1100" spc="2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grammar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i="1" spc="160" dirty="0">
                <a:latin typeface="Calibri"/>
                <a:cs typeface="Calibri"/>
              </a:rPr>
              <a:t>G </a:t>
            </a:r>
            <a:r>
              <a:rPr sz="1100" spc="-30" dirty="0">
                <a:latin typeface="Georgia"/>
                <a:cs typeface="Georgia"/>
              </a:rPr>
              <a:t>if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two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more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different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leftmost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derivations.  Grammar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spc="-40" dirty="0">
                <a:latin typeface="Georgia"/>
                <a:cs typeface="Georgia"/>
              </a:rPr>
              <a:t>is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ambiguous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generates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some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ambiguously.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0AB81B-133E-4DC3-A4F9-617949C0C13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156042" y="211465"/>
            <a:ext cx="2298014" cy="215444"/>
          </a:xfrm>
        </p:spPr>
        <p:txBody>
          <a:bodyPr/>
          <a:lstStyle/>
          <a:p>
            <a:pPr eaLnBrk="1" hangingPunct="1"/>
            <a:r>
              <a:rPr lang="en-US" dirty="0"/>
              <a:t>Ambiguity (cont’d)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296591" y="2037715"/>
            <a:ext cx="2672526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r>
              <a:rPr lang="en-US" sz="908"/>
              <a:t> </a:t>
            </a:r>
            <a:r>
              <a:rPr lang="en-US" sz="908">
                <a:sym typeface="Symbol" charset="2"/>
              </a:rPr>
              <a:t> </a:t>
            </a:r>
            <a:r>
              <a:rPr lang="en-US" sz="908" i="1">
                <a:sym typeface="Symbol" charset="2"/>
              </a:rPr>
              <a:t>string</a:t>
            </a:r>
            <a:r>
              <a:rPr lang="en-US" sz="908">
                <a:sym typeface="Symbol" charset="2"/>
              </a:rPr>
              <a:t> </a:t>
            </a:r>
            <a:r>
              <a:rPr lang="en-US" sz="908" b="1">
                <a:sym typeface="Symbol" charset="2"/>
              </a:rPr>
              <a:t>+</a:t>
            </a:r>
            <a:r>
              <a:rPr lang="en-US" sz="908">
                <a:sym typeface="Symbol" charset="2"/>
              </a:rPr>
              <a:t> </a:t>
            </a:r>
            <a:r>
              <a:rPr lang="en-US" sz="908" i="1">
                <a:sym typeface="Symbol" charset="2"/>
              </a:rPr>
              <a:t>string </a:t>
            </a:r>
            <a:r>
              <a:rPr lang="en-US" sz="908">
                <a:sym typeface="Symbol" charset="2"/>
              </a:rPr>
              <a:t>|</a:t>
            </a:r>
            <a:r>
              <a:rPr lang="en-US" sz="908" i="1">
                <a:sym typeface="Symbol" charset="2"/>
              </a:rPr>
              <a:t> string</a:t>
            </a:r>
            <a:r>
              <a:rPr lang="en-US" sz="908">
                <a:sym typeface="Symbol" charset="2"/>
              </a:rPr>
              <a:t> </a:t>
            </a:r>
            <a:r>
              <a:rPr lang="en-US" sz="908" b="1">
                <a:sym typeface="Symbol" charset="2"/>
              </a:rPr>
              <a:t>-</a:t>
            </a:r>
            <a:r>
              <a:rPr lang="en-US" sz="908">
                <a:sym typeface="Symbol" charset="2"/>
              </a:rPr>
              <a:t> </a:t>
            </a:r>
            <a:r>
              <a:rPr lang="en-US" sz="908" i="1">
                <a:sym typeface="Symbol" charset="2"/>
              </a:rPr>
              <a:t>string</a:t>
            </a:r>
            <a:r>
              <a:rPr lang="en-US" sz="908">
                <a:sym typeface="Symbol" charset="2"/>
              </a:rPr>
              <a:t> | </a:t>
            </a:r>
            <a:r>
              <a:rPr lang="en-US" sz="908" b="1">
                <a:sym typeface="Symbol" charset="2"/>
              </a:rPr>
              <a:t>0</a:t>
            </a:r>
            <a:r>
              <a:rPr lang="en-US" sz="908">
                <a:sym typeface="Symbol" charset="2"/>
              </a:rPr>
              <a:t> | </a:t>
            </a:r>
            <a:r>
              <a:rPr lang="en-US" sz="908" b="1">
                <a:sym typeface="Symbol" charset="2"/>
              </a:rPr>
              <a:t>1</a:t>
            </a:r>
            <a:r>
              <a:rPr lang="en-US" sz="908">
                <a:sym typeface="Symbol" charset="2"/>
              </a:rPr>
              <a:t> | … | </a:t>
            </a:r>
            <a:r>
              <a:rPr lang="en-US" sz="908" b="1">
                <a:sym typeface="Symbol" charset="2"/>
              </a:rPr>
              <a:t>9</a:t>
            </a:r>
            <a:endParaRPr lang="en-US" sz="908" i="1">
              <a:sym typeface="Symbol" charset="2"/>
            </a:endParaRP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1296590" y="1423035"/>
            <a:ext cx="239681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G</a:t>
            </a:r>
            <a:r>
              <a:rPr lang="en-US" sz="908"/>
              <a:t> = &lt;{</a:t>
            </a:r>
            <a:r>
              <a:rPr lang="en-US" sz="908" i="1"/>
              <a:t>string</a:t>
            </a:r>
            <a:r>
              <a:rPr lang="en-US" sz="908"/>
              <a:t>}, {</a:t>
            </a:r>
            <a:r>
              <a:rPr lang="en-US" sz="908" b="1"/>
              <a:t>+</a:t>
            </a:r>
            <a:r>
              <a:rPr lang="en-US" sz="908"/>
              <a:t>,</a:t>
            </a:r>
            <a:r>
              <a:rPr lang="en-US" sz="908" b="1"/>
              <a:t>-</a:t>
            </a:r>
            <a:r>
              <a:rPr lang="en-US" sz="908"/>
              <a:t>,</a:t>
            </a:r>
            <a:r>
              <a:rPr lang="en-US" sz="908" b="1"/>
              <a:t>0</a:t>
            </a:r>
            <a:r>
              <a:rPr lang="en-US" sz="908"/>
              <a:t>,</a:t>
            </a:r>
            <a:r>
              <a:rPr lang="en-US" sz="908" b="1"/>
              <a:t>1</a:t>
            </a:r>
            <a:r>
              <a:rPr lang="en-US" sz="908"/>
              <a:t>,</a:t>
            </a:r>
            <a:r>
              <a:rPr lang="en-US" sz="908" b="1"/>
              <a:t>2</a:t>
            </a:r>
            <a:r>
              <a:rPr lang="en-US" sz="908"/>
              <a:t>,</a:t>
            </a:r>
            <a:r>
              <a:rPr lang="en-US" sz="908" b="1"/>
              <a:t>3</a:t>
            </a:r>
            <a:r>
              <a:rPr lang="en-US" sz="908"/>
              <a:t>,</a:t>
            </a:r>
            <a:r>
              <a:rPr lang="en-US" sz="908" b="1"/>
              <a:t>4</a:t>
            </a:r>
            <a:r>
              <a:rPr lang="en-US" sz="908"/>
              <a:t>,</a:t>
            </a:r>
            <a:r>
              <a:rPr lang="en-US" sz="908" b="1"/>
              <a:t>5</a:t>
            </a:r>
            <a:r>
              <a:rPr lang="en-US" sz="908"/>
              <a:t>,</a:t>
            </a:r>
            <a:r>
              <a:rPr lang="en-US" sz="908" b="1"/>
              <a:t>6</a:t>
            </a:r>
            <a:r>
              <a:rPr lang="en-US" sz="908"/>
              <a:t>,</a:t>
            </a:r>
            <a:r>
              <a:rPr lang="en-US" sz="908" b="1"/>
              <a:t>7</a:t>
            </a:r>
            <a:r>
              <a:rPr lang="en-US" sz="908"/>
              <a:t>,</a:t>
            </a:r>
            <a:r>
              <a:rPr lang="en-US" sz="908" b="1"/>
              <a:t>8</a:t>
            </a:r>
            <a:r>
              <a:rPr lang="en-US" sz="908"/>
              <a:t>,</a:t>
            </a:r>
            <a:r>
              <a:rPr lang="en-US" sz="908" b="1"/>
              <a:t>9</a:t>
            </a:r>
            <a:r>
              <a:rPr lang="en-US" sz="908"/>
              <a:t>}, </a:t>
            </a:r>
            <a:r>
              <a:rPr lang="en-US" sz="908" i="1"/>
              <a:t>P</a:t>
            </a:r>
            <a:r>
              <a:rPr lang="en-US" sz="908"/>
              <a:t>, </a:t>
            </a:r>
            <a:r>
              <a:rPr lang="en-US" sz="908" i="1"/>
              <a:t>string</a:t>
            </a:r>
            <a:r>
              <a:rPr lang="en-US" sz="908"/>
              <a:t>&gt;</a:t>
            </a:r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835581" y="1730375"/>
            <a:ext cx="113685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/>
              <a:t>with production </a:t>
            </a:r>
            <a:r>
              <a:rPr lang="en-US" sz="908" i="1"/>
              <a:t>P</a:t>
            </a:r>
            <a:r>
              <a:rPr lang="en-US" sz="908"/>
              <a:t> = </a:t>
            </a:r>
          </a:p>
        </p:txBody>
      </p:sp>
      <p:sp>
        <p:nvSpPr>
          <p:cNvPr id="25607" name="Text Box 6"/>
          <p:cNvSpPr txBox="1">
            <a:spLocks noChangeArrowheads="1"/>
          </p:cNvSpPr>
          <p:nvPr/>
        </p:nvSpPr>
        <p:spPr bwMode="auto">
          <a:xfrm>
            <a:off x="835581" y="1077278"/>
            <a:ext cx="2342308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/>
              <a:t>Consider the following context-free grammar:</a:t>
            </a:r>
          </a:p>
        </p:txBody>
      </p:sp>
      <p:sp>
        <p:nvSpPr>
          <p:cNvPr id="25608" name="Text Box 7"/>
          <p:cNvSpPr txBox="1">
            <a:spLocks noChangeArrowheads="1"/>
          </p:cNvSpPr>
          <p:nvPr/>
        </p:nvSpPr>
        <p:spPr bwMode="auto">
          <a:xfrm>
            <a:off x="835581" y="2306639"/>
            <a:ext cx="3147015" cy="3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/>
              <a:t>This grammar is </a:t>
            </a:r>
            <a:r>
              <a:rPr lang="en-US" sz="908" i="1"/>
              <a:t>ambiguous</a:t>
            </a:r>
            <a:r>
              <a:rPr lang="en-US" sz="908"/>
              <a:t>, because more than one parse tree</a:t>
            </a:r>
            <a:br>
              <a:rPr lang="en-US" sz="908"/>
            </a:br>
            <a:r>
              <a:rPr lang="en-US" sz="908"/>
              <a:t>represents the string </a:t>
            </a:r>
            <a:r>
              <a:rPr lang="en-US" sz="908" b="1"/>
              <a:t>9-5+2</a:t>
            </a:r>
            <a:endParaRPr lang="en-US" sz="908"/>
          </a:p>
        </p:txBody>
      </p:sp>
    </p:spTree>
    <p:extLst>
      <p:ext uri="{BB962C8B-B14F-4D97-AF65-F5344CB8AC3E}">
        <p14:creationId xmlns:p14="http://schemas.microsoft.com/office/powerpoint/2010/main" val="1914897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0AB81B-133E-4DC3-A4F9-617949C0C13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156042" y="211465"/>
            <a:ext cx="2298014" cy="430887"/>
          </a:xfrm>
        </p:spPr>
        <p:txBody>
          <a:bodyPr/>
          <a:lstStyle/>
          <a:p>
            <a:pPr eaLnBrk="1" hangingPunct="1"/>
            <a:r>
              <a:rPr lang="en-US" dirty="0"/>
              <a:t>Two Parse Trees for the same string</a:t>
            </a:r>
          </a:p>
        </p:txBody>
      </p:sp>
      <p:sp>
        <p:nvSpPr>
          <p:cNvPr id="26628" name="Text Box 3"/>
          <p:cNvSpPr txBox="1">
            <a:spLocks noChangeArrowheads="1"/>
          </p:cNvSpPr>
          <p:nvPr/>
        </p:nvSpPr>
        <p:spPr bwMode="auto">
          <a:xfrm>
            <a:off x="1584722" y="1154113"/>
            <a:ext cx="45397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endParaRPr lang="en-US" sz="908"/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1901666" y="1538288"/>
            <a:ext cx="45397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endParaRPr lang="en-US" sz="908"/>
          </a:p>
        </p:txBody>
      </p:sp>
      <p:sp>
        <p:nvSpPr>
          <p:cNvPr id="26630" name="Text Box 5"/>
          <p:cNvSpPr txBox="1">
            <a:spLocks noChangeArrowheads="1"/>
          </p:cNvSpPr>
          <p:nvPr/>
        </p:nvSpPr>
        <p:spPr bwMode="auto">
          <a:xfrm>
            <a:off x="720328" y="2345055"/>
            <a:ext cx="243978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b="1"/>
              <a:t>9</a:t>
            </a:r>
            <a:endParaRPr lang="en-US" sz="908"/>
          </a:p>
        </p:txBody>
      </p:sp>
      <p:sp>
        <p:nvSpPr>
          <p:cNvPr id="26631" name="Text Box 6"/>
          <p:cNvSpPr txBox="1">
            <a:spLocks noChangeArrowheads="1"/>
          </p:cNvSpPr>
          <p:nvPr/>
        </p:nvSpPr>
        <p:spPr bwMode="auto">
          <a:xfrm>
            <a:off x="1066086" y="2345055"/>
            <a:ext cx="219932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b="1"/>
              <a:t>-</a:t>
            </a:r>
            <a:endParaRPr lang="en-US" sz="908"/>
          </a:p>
        </p:txBody>
      </p:sp>
      <p:sp>
        <p:nvSpPr>
          <p:cNvPr id="26632" name="Text Box 7"/>
          <p:cNvSpPr txBox="1">
            <a:spLocks noChangeArrowheads="1"/>
          </p:cNvSpPr>
          <p:nvPr/>
        </p:nvSpPr>
        <p:spPr bwMode="auto">
          <a:xfrm>
            <a:off x="1354217" y="2345055"/>
            <a:ext cx="243978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b="1"/>
              <a:t>5</a:t>
            </a:r>
            <a:endParaRPr lang="en-US" sz="908"/>
          </a:p>
        </p:txBody>
      </p:sp>
      <p:sp>
        <p:nvSpPr>
          <p:cNvPr id="26633" name="Text Box 8"/>
          <p:cNvSpPr txBox="1">
            <a:spLocks noChangeArrowheads="1"/>
          </p:cNvSpPr>
          <p:nvPr/>
        </p:nvSpPr>
        <p:spPr bwMode="auto">
          <a:xfrm>
            <a:off x="1671161" y="2345055"/>
            <a:ext cx="242374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b="1"/>
              <a:t>+</a:t>
            </a:r>
            <a:endParaRPr lang="en-US" sz="908"/>
          </a:p>
        </p:txBody>
      </p:sp>
      <p:sp>
        <p:nvSpPr>
          <p:cNvPr id="26634" name="Text Box 9"/>
          <p:cNvSpPr txBox="1">
            <a:spLocks noChangeArrowheads="1"/>
          </p:cNvSpPr>
          <p:nvPr/>
        </p:nvSpPr>
        <p:spPr bwMode="auto">
          <a:xfrm>
            <a:off x="1988105" y="2345055"/>
            <a:ext cx="243978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b="1"/>
              <a:t>2</a:t>
            </a:r>
            <a:endParaRPr lang="en-US" sz="908"/>
          </a:p>
        </p:txBody>
      </p:sp>
      <p:sp>
        <p:nvSpPr>
          <p:cNvPr id="26635" name="Text Box 10"/>
          <p:cNvSpPr txBox="1">
            <a:spLocks noChangeArrowheads="1"/>
          </p:cNvSpPr>
          <p:nvPr/>
        </p:nvSpPr>
        <p:spPr bwMode="auto">
          <a:xfrm>
            <a:off x="950833" y="1538288"/>
            <a:ext cx="45397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endParaRPr lang="en-US" sz="908"/>
          </a:p>
        </p:txBody>
      </p:sp>
      <p:sp>
        <p:nvSpPr>
          <p:cNvPr id="26636" name="Text Box 11"/>
          <p:cNvSpPr txBox="1">
            <a:spLocks noChangeArrowheads="1"/>
          </p:cNvSpPr>
          <p:nvPr/>
        </p:nvSpPr>
        <p:spPr bwMode="auto">
          <a:xfrm>
            <a:off x="633889" y="1922463"/>
            <a:ext cx="45397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endParaRPr lang="en-US" sz="908"/>
          </a:p>
        </p:txBody>
      </p:sp>
      <p:sp>
        <p:nvSpPr>
          <p:cNvPr id="26637" name="Text Box 12"/>
          <p:cNvSpPr txBox="1">
            <a:spLocks noChangeArrowheads="1"/>
          </p:cNvSpPr>
          <p:nvPr/>
        </p:nvSpPr>
        <p:spPr bwMode="auto">
          <a:xfrm>
            <a:off x="1238964" y="1922463"/>
            <a:ext cx="45397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endParaRPr lang="en-US" sz="908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 flipH="1">
            <a:off x="1181338" y="1346200"/>
            <a:ext cx="489823" cy="2305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 flipH="1">
            <a:off x="835581" y="1730375"/>
            <a:ext cx="259318" cy="2305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1123712" y="173037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>
            <a:off x="1152525" y="1730375"/>
            <a:ext cx="172879" cy="2305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>
            <a:off x="1728788" y="1346200"/>
            <a:ext cx="0" cy="960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>
            <a:off x="1786414" y="1346200"/>
            <a:ext cx="230505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>
            <a:off x="2045732" y="1768793"/>
            <a:ext cx="0" cy="5378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45" name="Line 21"/>
          <p:cNvSpPr>
            <a:spLocks noChangeShapeType="1"/>
          </p:cNvSpPr>
          <p:nvPr/>
        </p:nvSpPr>
        <p:spPr bwMode="auto">
          <a:xfrm>
            <a:off x="777954" y="2114550"/>
            <a:ext cx="0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46" name="Line 23"/>
          <p:cNvSpPr>
            <a:spLocks noChangeShapeType="1"/>
          </p:cNvSpPr>
          <p:nvPr/>
        </p:nvSpPr>
        <p:spPr bwMode="auto">
          <a:xfrm>
            <a:off x="1411843" y="2152968"/>
            <a:ext cx="0" cy="1536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47" name="Text Box 24"/>
          <p:cNvSpPr txBox="1">
            <a:spLocks noChangeArrowheads="1"/>
          </p:cNvSpPr>
          <p:nvPr/>
        </p:nvSpPr>
        <p:spPr bwMode="auto">
          <a:xfrm>
            <a:off x="2766060" y="1154113"/>
            <a:ext cx="45397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endParaRPr lang="en-US" sz="908"/>
          </a:p>
        </p:txBody>
      </p:sp>
      <p:sp>
        <p:nvSpPr>
          <p:cNvPr id="26648" name="Text Box 25"/>
          <p:cNvSpPr txBox="1">
            <a:spLocks noChangeArrowheads="1"/>
          </p:cNvSpPr>
          <p:nvPr/>
        </p:nvSpPr>
        <p:spPr bwMode="auto">
          <a:xfrm>
            <a:off x="3630454" y="1922463"/>
            <a:ext cx="45397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endParaRPr lang="en-US" sz="908"/>
          </a:p>
        </p:txBody>
      </p:sp>
      <p:sp>
        <p:nvSpPr>
          <p:cNvPr id="26649" name="Text Box 26"/>
          <p:cNvSpPr txBox="1">
            <a:spLocks noChangeArrowheads="1"/>
          </p:cNvSpPr>
          <p:nvPr/>
        </p:nvSpPr>
        <p:spPr bwMode="auto">
          <a:xfrm>
            <a:off x="2506742" y="2345055"/>
            <a:ext cx="243978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b="1"/>
              <a:t>9</a:t>
            </a:r>
            <a:endParaRPr lang="en-US" sz="908"/>
          </a:p>
        </p:txBody>
      </p:sp>
      <p:sp>
        <p:nvSpPr>
          <p:cNvPr id="26650" name="Text Box 27"/>
          <p:cNvSpPr txBox="1">
            <a:spLocks noChangeArrowheads="1"/>
          </p:cNvSpPr>
          <p:nvPr/>
        </p:nvSpPr>
        <p:spPr bwMode="auto">
          <a:xfrm>
            <a:off x="2852500" y="2345055"/>
            <a:ext cx="219932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b="1"/>
              <a:t>-</a:t>
            </a:r>
            <a:endParaRPr lang="en-US" sz="908"/>
          </a:p>
        </p:txBody>
      </p:sp>
      <p:sp>
        <p:nvSpPr>
          <p:cNvPr id="26651" name="Text Box 28"/>
          <p:cNvSpPr txBox="1">
            <a:spLocks noChangeArrowheads="1"/>
          </p:cNvSpPr>
          <p:nvPr/>
        </p:nvSpPr>
        <p:spPr bwMode="auto">
          <a:xfrm>
            <a:off x="3140630" y="2345055"/>
            <a:ext cx="243978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b="1"/>
              <a:t>5</a:t>
            </a:r>
            <a:endParaRPr lang="en-US" sz="908"/>
          </a:p>
        </p:txBody>
      </p:sp>
      <p:sp>
        <p:nvSpPr>
          <p:cNvPr id="26652" name="Text Box 29"/>
          <p:cNvSpPr txBox="1">
            <a:spLocks noChangeArrowheads="1"/>
          </p:cNvSpPr>
          <p:nvPr/>
        </p:nvSpPr>
        <p:spPr bwMode="auto">
          <a:xfrm>
            <a:off x="3457575" y="2345055"/>
            <a:ext cx="242374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b="1"/>
              <a:t>+</a:t>
            </a:r>
            <a:endParaRPr lang="en-US" sz="908"/>
          </a:p>
        </p:txBody>
      </p:sp>
      <p:sp>
        <p:nvSpPr>
          <p:cNvPr id="26653" name="Text Box 30"/>
          <p:cNvSpPr txBox="1">
            <a:spLocks noChangeArrowheads="1"/>
          </p:cNvSpPr>
          <p:nvPr/>
        </p:nvSpPr>
        <p:spPr bwMode="auto">
          <a:xfrm>
            <a:off x="3774519" y="2345055"/>
            <a:ext cx="243978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b="1"/>
              <a:t>2</a:t>
            </a:r>
            <a:endParaRPr lang="en-US" sz="908"/>
          </a:p>
        </p:txBody>
      </p:sp>
      <p:sp>
        <p:nvSpPr>
          <p:cNvPr id="26654" name="Text Box 31"/>
          <p:cNvSpPr txBox="1">
            <a:spLocks noChangeArrowheads="1"/>
          </p:cNvSpPr>
          <p:nvPr/>
        </p:nvSpPr>
        <p:spPr bwMode="auto">
          <a:xfrm>
            <a:off x="3342322" y="1538288"/>
            <a:ext cx="45397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endParaRPr lang="en-US" sz="908"/>
          </a:p>
        </p:txBody>
      </p:sp>
      <p:sp>
        <p:nvSpPr>
          <p:cNvPr id="26655" name="Text Box 32"/>
          <p:cNvSpPr txBox="1">
            <a:spLocks noChangeArrowheads="1"/>
          </p:cNvSpPr>
          <p:nvPr/>
        </p:nvSpPr>
        <p:spPr bwMode="auto">
          <a:xfrm>
            <a:off x="2477929" y="1922463"/>
            <a:ext cx="45397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endParaRPr lang="en-US" sz="908"/>
          </a:p>
        </p:txBody>
      </p:sp>
      <p:sp>
        <p:nvSpPr>
          <p:cNvPr id="26656" name="Text Box 33"/>
          <p:cNvSpPr txBox="1">
            <a:spLocks noChangeArrowheads="1"/>
          </p:cNvSpPr>
          <p:nvPr/>
        </p:nvSpPr>
        <p:spPr bwMode="auto">
          <a:xfrm>
            <a:off x="3025378" y="1922463"/>
            <a:ext cx="453970" cy="23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8" i="1"/>
              <a:t>string</a:t>
            </a:r>
            <a:endParaRPr lang="en-US" sz="908"/>
          </a:p>
        </p:txBody>
      </p:sp>
      <p:sp>
        <p:nvSpPr>
          <p:cNvPr id="26657" name="Line 35"/>
          <p:cNvSpPr>
            <a:spLocks noChangeShapeType="1"/>
          </p:cNvSpPr>
          <p:nvPr/>
        </p:nvSpPr>
        <p:spPr bwMode="auto">
          <a:xfrm flipH="1" flipV="1">
            <a:off x="2938939" y="1346200"/>
            <a:ext cx="489823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58" name="Line 36"/>
          <p:cNvSpPr>
            <a:spLocks noChangeShapeType="1"/>
          </p:cNvSpPr>
          <p:nvPr/>
        </p:nvSpPr>
        <p:spPr bwMode="auto">
          <a:xfrm flipH="1">
            <a:off x="2621994" y="1346200"/>
            <a:ext cx="259318" cy="6146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59" name="Line 37"/>
          <p:cNvSpPr>
            <a:spLocks noChangeShapeType="1"/>
          </p:cNvSpPr>
          <p:nvPr/>
        </p:nvSpPr>
        <p:spPr bwMode="auto">
          <a:xfrm>
            <a:off x="2910126" y="1346200"/>
            <a:ext cx="0" cy="960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60" name="Line 38"/>
          <p:cNvSpPr>
            <a:spLocks noChangeShapeType="1"/>
          </p:cNvSpPr>
          <p:nvPr/>
        </p:nvSpPr>
        <p:spPr bwMode="auto">
          <a:xfrm flipH="1">
            <a:off x="3198257" y="1730375"/>
            <a:ext cx="288131" cy="2305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61" name="Line 39"/>
          <p:cNvSpPr>
            <a:spLocks noChangeShapeType="1"/>
          </p:cNvSpPr>
          <p:nvPr/>
        </p:nvSpPr>
        <p:spPr bwMode="auto">
          <a:xfrm>
            <a:off x="3515201" y="173037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62" name="Line 40"/>
          <p:cNvSpPr>
            <a:spLocks noChangeShapeType="1"/>
          </p:cNvSpPr>
          <p:nvPr/>
        </p:nvSpPr>
        <p:spPr bwMode="auto">
          <a:xfrm>
            <a:off x="3544015" y="1730375"/>
            <a:ext cx="288131" cy="2305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63" name="Line 41"/>
          <p:cNvSpPr>
            <a:spLocks noChangeShapeType="1"/>
          </p:cNvSpPr>
          <p:nvPr/>
        </p:nvSpPr>
        <p:spPr bwMode="auto">
          <a:xfrm>
            <a:off x="3832146" y="2114550"/>
            <a:ext cx="0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64" name="Line 42"/>
          <p:cNvSpPr>
            <a:spLocks noChangeShapeType="1"/>
          </p:cNvSpPr>
          <p:nvPr/>
        </p:nvSpPr>
        <p:spPr bwMode="auto">
          <a:xfrm>
            <a:off x="2564368" y="2114550"/>
            <a:ext cx="0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26665" name="Line 44"/>
          <p:cNvSpPr>
            <a:spLocks noChangeShapeType="1"/>
          </p:cNvSpPr>
          <p:nvPr/>
        </p:nvSpPr>
        <p:spPr bwMode="auto">
          <a:xfrm>
            <a:off x="3198257" y="2114550"/>
            <a:ext cx="0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8"/>
          </a:p>
        </p:txBody>
      </p:sp>
    </p:spTree>
    <p:extLst>
      <p:ext uri="{BB962C8B-B14F-4D97-AF65-F5344CB8AC3E}">
        <p14:creationId xmlns:p14="http://schemas.microsoft.com/office/powerpoint/2010/main" val="3634691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6042" y="211465"/>
            <a:ext cx="2298014" cy="215444"/>
          </a:xfrm>
        </p:spPr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Show that the following grammar is ambiguous: (Find out strings and two parse trees)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1)   S</a:t>
            </a:r>
            <a:r>
              <a:rPr lang="en-US" dirty="0">
                <a:sym typeface="Wingdings" pitchFamily="2" charset="2"/>
              </a:rPr>
              <a:t> AB | </a:t>
            </a:r>
            <a:r>
              <a:rPr lang="en-US" dirty="0" err="1">
                <a:sym typeface="Wingdings" pitchFamily="2" charset="2"/>
              </a:rPr>
              <a:t>aaB</a:t>
            </a:r>
            <a:r>
              <a:rPr lang="en-US" dirty="0">
                <a:sym typeface="Wingdings" pitchFamily="2" charset="2"/>
              </a:rPr>
              <a:t>                2) S a | </a:t>
            </a:r>
            <a:r>
              <a:rPr lang="en-US" dirty="0" err="1">
                <a:sym typeface="Wingdings" pitchFamily="2" charset="2"/>
              </a:rPr>
              <a:t>abSb</a:t>
            </a:r>
            <a:r>
              <a:rPr lang="en-US" dirty="0">
                <a:sym typeface="Wingdings" pitchFamily="2" charset="2"/>
              </a:rPr>
              <a:t> |</a:t>
            </a:r>
            <a:r>
              <a:rPr lang="en-US" dirty="0" err="1">
                <a:sym typeface="Wingdings" pitchFamily="2" charset="2"/>
              </a:rPr>
              <a:t>aAb</a:t>
            </a:r>
            <a:endParaRPr lang="en-US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       A a | </a:t>
            </a:r>
            <a:r>
              <a:rPr lang="en-US" dirty="0" err="1">
                <a:sym typeface="Wingdings" pitchFamily="2" charset="2"/>
              </a:rPr>
              <a:t>Aa</a:t>
            </a:r>
            <a:r>
              <a:rPr lang="en-US" dirty="0">
                <a:sym typeface="Wingdings" pitchFamily="2" charset="2"/>
              </a:rPr>
              <a:t>			    A </a:t>
            </a:r>
            <a:r>
              <a:rPr lang="en-US" dirty="0" err="1">
                <a:sym typeface="Wingdings" pitchFamily="2" charset="2"/>
              </a:rPr>
              <a:t>bS</a:t>
            </a:r>
            <a:r>
              <a:rPr lang="en-US" dirty="0">
                <a:sym typeface="Wingdings" pitchFamily="2" charset="2"/>
              </a:rPr>
              <a:t> | </a:t>
            </a:r>
            <a:r>
              <a:rPr lang="en-US" dirty="0" err="1">
                <a:sym typeface="Wingdings" pitchFamily="2" charset="2"/>
              </a:rPr>
              <a:t>aAAb</a:t>
            </a:r>
            <a:endParaRPr lang="en-US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       </a:t>
            </a:r>
            <a:r>
              <a:rPr lang="en-US" dirty="0" err="1">
                <a:sym typeface="Wingdings" pitchFamily="2" charset="2"/>
              </a:rPr>
              <a:t>Bb</a:t>
            </a:r>
            <a:endParaRPr lang="en-US" dirty="0">
              <a:sym typeface="Wingdings" pitchFamily="2" charset="2"/>
            </a:endParaRPr>
          </a:p>
          <a:p>
            <a:pPr>
              <a:buNone/>
            </a:pPr>
            <a:endParaRPr lang="en-US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3)   S </a:t>
            </a:r>
            <a:r>
              <a:rPr lang="en-US" dirty="0" err="1">
                <a:sym typeface="Wingdings" pitchFamily="2" charset="2"/>
              </a:rPr>
              <a:t>aSb</a:t>
            </a:r>
            <a:r>
              <a:rPr lang="en-US" dirty="0">
                <a:sym typeface="Wingdings" pitchFamily="2" charset="2"/>
              </a:rPr>
              <a:t> | SS | </a:t>
            </a:r>
            <a:r>
              <a:rPr lang="el-GR" dirty="0"/>
              <a:t>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547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0019" y="211465"/>
            <a:ext cx="848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</a:t>
            </a:r>
            <a:r>
              <a:rPr spc="20" dirty="0"/>
              <a:t>m</a:t>
            </a:r>
            <a:r>
              <a:rPr spc="55" dirty="0"/>
              <a:t>bigui</a:t>
            </a:r>
            <a:r>
              <a:rPr spc="-5" dirty="0"/>
              <a:t>t</a:t>
            </a:r>
            <a:r>
              <a:rPr spc="40" dirty="0"/>
              <a:t>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3" y="839558"/>
            <a:ext cx="4040504" cy="817880"/>
            <a:chOff x="309193" y="839558"/>
            <a:chExt cx="4040504" cy="817880"/>
          </a:xfrm>
        </p:grpSpPr>
        <p:sp>
          <p:nvSpPr>
            <p:cNvPr id="4" name="object 4"/>
            <p:cNvSpPr/>
            <p:nvPr/>
          </p:nvSpPr>
          <p:spPr>
            <a:xfrm>
              <a:off x="309193" y="839558"/>
              <a:ext cx="3989704" cy="198120"/>
            </a:xfrm>
            <a:custGeom>
              <a:avLst/>
              <a:gdLst/>
              <a:ahLst/>
              <a:cxnLst/>
              <a:rect l="l" t="t" r="r" b="b"/>
              <a:pathLst>
                <a:path w="3989704" h="198119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7521"/>
                  </a:lnTo>
                  <a:lnTo>
                    <a:pt x="3989652" y="19752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1024420"/>
              <a:ext cx="3989651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555572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1542872"/>
              <a:ext cx="3938802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846" y="883793"/>
              <a:ext cx="50751" cy="6717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9193" y="1068696"/>
              <a:ext cx="3989704" cy="537845"/>
            </a:xfrm>
            <a:custGeom>
              <a:avLst/>
              <a:gdLst/>
              <a:ahLst/>
              <a:cxnLst/>
              <a:rect l="l" t="t" r="r" b="b"/>
              <a:pathLst>
                <a:path w="3989704" h="537844">
                  <a:moveTo>
                    <a:pt x="3989652" y="0"/>
                  </a:moveTo>
                  <a:lnTo>
                    <a:pt x="0" y="0"/>
                  </a:lnTo>
                  <a:lnTo>
                    <a:pt x="0" y="486876"/>
                  </a:lnTo>
                  <a:lnTo>
                    <a:pt x="4008" y="506600"/>
                  </a:lnTo>
                  <a:lnTo>
                    <a:pt x="14922" y="522753"/>
                  </a:lnTo>
                  <a:lnTo>
                    <a:pt x="31075" y="533667"/>
                  </a:lnTo>
                  <a:lnTo>
                    <a:pt x="50800" y="537676"/>
                  </a:lnTo>
                  <a:lnTo>
                    <a:pt x="3938852" y="537676"/>
                  </a:lnTo>
                  <a:lnTo>
                    <a:pt x="3958576" y="533667"/>
                  </a:lnTo>
                  <a:lnTo>
                    <a:pt x="3974729" y="522753"/>
                  </a:lnTo>
                  <a:lnTo>
                    <a:pt x="3985644" y="506600"/>
                  </a:lnTo>
                  <a:lnTo>
                    <a:pt x="3989652" y="48687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846" y="921880"/>
              <a:ext cx="0" cy="652780"/>
            </a:xfrm>
            <a:custGeom>
              <a:avLst/>
              <a:gdLst/>
              <a:ahLst/>
              <a:cxnLst/>
              <a:rect l="l" t="t" r="r" b="b"/>
              <a:pathLst>
                <a:path h="652780">
                  <a:moveTo>
                    <a:pt x="0" y="65274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6" y="9091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8964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8837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4594" y="774193"/>
            <a:ext cx="3937635" cy="20370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4"/>
              </a:spcBef>
            </a:pPr>
            <a:r>
              <a:rPr sz="1200" spc="20" dirty="0">
                <a:latin typeface="Times New Roman"/>
                <a:cs typeface="Times New Roman"/>
              </a:rPr>
              <a:t>Ambiguity</a:t>
            </a:r>
            <a:endParaRPr sz="1200">
              <a:latin typeface="Times New Roman"/>
              <a:cs typeface="Times New Roman"/>
            </a:endParaRPr>
          </a:p>
          <a:p>
            <a:pPr marL="25400" marR="17780">
              <a:lnSpc>
                <a:spcPct val="102600"/>
              </a:lnSpc>
              <a:spcBef>
                <a:spcPts val="270"/>
              </a:spcBef>
            </a:pPr>
            <a:r>
              <a:rPr sz="1100" spc="80" dirty="0">
                <a:latin typeface="Georgia"/>
                <a:cs typeface="Georgia"/>
              </a:rPr>
              <a:t>A </a:t>
            </a:r>
            <a:r>
              <a:rPr sz="1100" spc="-20" dirty="0">
                <a:latin typeface="Georgia"/>
                <a:cs typeface="Georgia"/>
              </a:rPr>
              <a:t>string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derived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ambiguously</a:t>
            </a:r>
            <a:r>
              <a:rPr sz="1100" b="1" spc="1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context-free</a:t>
            </a:r>
            <a:r>
              <a:rPr sz="1100" spc="2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grammar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i="1" spc="160" dirty="0">
                <a:latin typeface="Calibri"/>
                <a:cs typeface="Calibri"/>
              </a:rPr>
              <a:t>G </a:t>
            </a:r>
            <a:r>
              <a:rPr sz="1100" spc="-30" dirty="0">
                <a:latin typeface="Georgia"/>
                <a:cs typeface="Georgia"/>
              </a:rPr>
              <a:t>if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two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more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different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leftmost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derivations.  Grammar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spc="-40" dirty="0">
                <a:latin typeface="Georgia"/>
                <a:cs typeface="Georgia"/>
              </a:rPr>
              <a:t>is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ambiguous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generates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some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ambiguously.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Georgia"/>
              <a:cs typeface="Georgia"/>
            </a:endParaRPr>
          </a:p>
          <a:p>
            <a:pPr marL="302260" marR="17780" indent="-132715">
              <a:lnSpc>
                <a:spcPct val="102600"/>
              </a:lnSpc>
              <a:buClr>
                <a:srgbClr val="3333B2"/>
              </a:buClr>
              <a:buSzPct val="90909"/>
              <a:buFont typeface="Cambria"/>
              <a:buChar char="•"/>
              <a:tabLst>
                <a:tab pos="302895" algn="l"/>
              </a:tabLst>
            </a:pPr>
            <a:r>
              <a:rPr sz="1100" spc="-40" dirty="0">
                <a:latin typeface="Georgia"/>
                <a:cs typeface="Georgia"/>
              </a:rPr>
              <a:t>Sometimes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possible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find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unambiguous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alternative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grammar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generates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same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endParaRPr sz="1100">
              <a:latin typeface="Georgia"/>
              <a:cs typeface="Georgia"/>
            </a:endParaRPr>
          </a:p>
          <a:p>
            <a:pPr marL="302260" marR="21971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Cambria"/>
              <a:buChar char="•"/>
              <a:tabLst>
                <a:tab pos="302895" algn="l"/>
              </a:tabLst>
            </a:pPr>
            <a:r>
              <a:rPr sz="1100" spc="-50" dirty="0">
                <a:latin typeface="Georgia"/>
                <a:cs typeface="Georgia"/>
              </a:rPr>
              <a:t>Some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be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only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ambiguous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grammars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inherently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ambiguous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e.g.,</a:t>
            </a:r>
            <a:endParaRPr sz="1100">
              <a:latin typeface="Georgia"/>
              <a:cs typeface="Georgia"/>
            </a:endParaRPr>
          </a:p>
          <a:p>
            <a:pPr marL="278130" algn="ctr">
              <a:lnSpc>
                <a:spcPct val="100000"/>
              </a:lnSpc>
              <a:spcBef>
                <a:spcPts val="1130"/>
              </a:spcBef>
            </a:pPr>
            <a:r>
              <a:rPr sz="1100" spc="40" dirty="0">
                <a:latin typeface="Cambria"/>
                <a:cs typeface="Cambria"/>
              </a:rPr>
              <a:t>{</a:t>
            </a:r>
            <a:r>
              <a:rPr sz="1100" i="1" spc="40" dirty="0">
                <a:latin typeface="Calibri"/>
                <a:cs typeface="Calibri"/>
              </a:rPr>
              <a:t>a</a:t>
            </a:r>
            <a:r>
              <a:rPr sz="1200" i="1" spc="60" baseline="31250" dirty="0">
                <a:latin typeface="Verdana"/>
                <a:cs typeface="Verdana"/>
              </a:rPr>
              <a:t>i</a:t>
            </a:r>
            <a:r>
              <a:rPr sz="1100" i="1" spc="40" dirty="0">
                <a:latin typeface="Calibri"/>
                <a:cs typeface="Calibri"/>
              </a:rPr>
              <a:t>b</a:t>
            </a:r>
            <a:r>
              <a:rPr sz="1200" i="1" spc="60" baseline="31250" dirty="0">
                <a:latin typeface="Verdana"/>
                <a:cs typeface="Verdana"/>
              </a:rPr>
              <a:t>j</a:t>
            </a:r>
            <a:r>
              <a:rPr sz="1100" i="1" spc="40" dirty="0">
                <a:latin typeface="Calibri"/>
                <a:cs typeface="Calibri"/>
              </a:rPr>
              <a:t>c</a:t>
            </a:r>
            <a:r>
              <a:rPr sz="1200" i="1" spc="60" baseline="31250" dirty="0">
                <a:latin typeface="Verdana"/>
                <a:cs typeface="Verdana"/>
              </a:rPr>
              <a:t>k</a:t>
            </a:r>
            <a:r>
              <a:rPr sz="1200" i="1" spc="120" baseline="31250" dirty="0">
                <a:latin typeface="Verdana"/>
                <a:cs typeface="Verdan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i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spc="185" dirty="0">
                <a:latin typeface="Calibri"/>
                <a:cs typeface="Calibri"/>
              </a:rPr>
              <a:t>j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spc="75" dirty="0">
                <a:latin typeface="Cambria"/>
                <a:cs typeface="Cambria"/>
              </a:rPr>
              <a:t>∨</a:t>
            </a:r>
            <a:r>
              <a:rPr sz="1100" spc="-10" dirty="0">
                <a:latin typeface="Cambria"/>
                <a:cs typeface="Cambria"/>
              </a:rPr>
              <a:t> </a:t>
            </a:r>
            <a:r>
              <a:rPr sz="1100" i="1" spc="185" dirty="0">
                <a:latin typeface="Calibri"/>
                <a:cs typeface="Calibri"/>
              </a:rPr>
              <a:t>j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spc="105" dirty="0">
                <a:latin typeface="Calibri"/>
                <a:cs typeface="Calibri"/>
              </a:rPr>
              <a:t>k</a:t>
            </a:r>
            <a:r>
              <a:rPr sz="1100" spc="105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1269</Words>
  <Application>Microsoft Office PowerPoint</Application>
  <PresentationFormat>Custom</PresentationFormat>
  <Paragraphs>156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SimSun</vt:lpstr>
      <vt:lpstr>Aptos</vt:lpstr>
      <vt:lpstr>Calibri</vt:lpstr>
      <vt:lpstr>Cambria</vt:lpstr>
      <vt:lpstr>Georgia</vt:lpstr>
      <vt:lpstr>Lucida Sans Unicode</vt:lpstr>
      <vt:lpstr>Palatino Linotype</vt:lpstr>
      <vt:lpstr>Symbol</vt:lpstr>
      <vt:lpstr>Times New Roman</vt:lpstr>
      <vt:lpstr>Trebuchet MS</vt:lpstr>
      <vt:lpstr>Verdana</vt:lpstr>
      <vt:lpstr>Wingdings</vt:lpstr>
      <vt:lpstr>Office Theme</vt:lpstr>
      <vt:lpstr>Context-Free Grammars</vt:lpstr>
      <vt:lpstr>Context-Free Grammars</vt:lpstr>
      <vt:lpstr>Context-Free Grammars: Derivation</vt:lpstr>
      <vt:lpstr>Context-Free Grammar</vt:lpstr>
      <vt:lpstr>PowerPoint Presentation</vt:lpstr>
      <vt:lpstr>Examples</vt:lpstr>
      <vt:lpstr>Examples</vt:lpstr>
      <vt:lpstr>Designing CFG’s</vt:lpstr>
      <vt:lpstr>Designing CFG’s</vt:lpstr>
      <vt:lpstr>Designing CFG’s</vt:lpstr>
      <vt:lpstr>Designing CFG’s</vt:lpstr>
      <vt:lpstr>Ambiguity</vt:lpstr>
      <vt:lpstr>Ambiguity</vt:lpstr>
      <vt:lpstr>Ambiguity</vt:lpstr>
      <vt:lpstr>Ambiguity (cont’d)</vt:lpstr>
      <vt:lpstr>Two Parse Trees for the same string</vt:lpstr>
      <vt:lpstr>Practice</vt:lpstr>
      <vt:lpstr>Ambiguity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Context-Free Grammars</dc:title>
  <dc:creator>Dell</dc:creator>
  <cp:lastModifiedBy>asma larik</cp:lastModifiedBy>
  <cp:revision>7</cp:revision>
  <dcterms:created xsi:type="dcterms:W3CDTF">2022-09-19T04:32:41Z</dcterms:created>
  <dcterms:modified xsi:type="dcterms:W3CDTF">2024-09-25T05:38:50Z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2022-09-19T00:00:00Z</vt:filetime>
  </property>
</Properties>
</file>