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14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263" y="566377"/>
            <a:ext cx="3457575" cy="1204854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83554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40002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86442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543" y="862785"/>
            <a:ext cx="3976211" cy="1439576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543" y="2315979"/>
            <a:ext cx="3976211" cy="757039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1pPr>
            <a:lvl2pPr marL="17286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2pPr>
            <a:lvl3pPr marL="345735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3pPr>
            <a:lvl4pPr marL="518602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4pPr>
            <a:lvl5pPr marL="691469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5pPr>
            <a:lvl6pPr marL="864337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6pPr>
            <a:lvl7pPr marL="1037204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7pPr>
            <a:lvl8pPr marL="121007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8pPr>
            <a:lvl9pPr marL="1382939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54355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944" y="921265"/>
            <a:ext cx="1959293" cy="21958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3863" y="921265"/>
            <a:ext cx="1959293" cy="21958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413514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45" y="184253"/>
            <a:ext cx="3976211" cy="66891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545" y="848365"/>
            <a:ext cx="1950288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545" y="1264135"/>
            <a:ext cx="1950288" cy="185935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3863" y="848365"/>
            <a:ext cx="1959893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3863" y="1264135"/>
            <a:ext cx="1959893" cy="185935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10197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73261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85516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>
              <a:defRPr sz="1210"/>
            </a:lvl1pPr>
            <a:lvl2pPr>
              <a:defRPr sz="1059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7475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 marL="0" indent="0">
              <a:buNone/>
              <a:defRPr sz="1210"/>
            </a:lvl1pPr>
            <a:lvl2pPr marL="172867" indent="0">
              <a:buNone/>
              <a:defRPr sz="1059"/>
            </a:lvl2pPr>
            <a:lvl3pPr marL="345735" indent="0">
              <a:buNone/>
              <a:defRPr sz="907"/>
            </a:lvl3pPr>
            <a:lvl4pPr marL="518602" indent="0">
              <a:buNone/>
              <a:defRPr sz="756"/>
            </a:lvl4pPr>
            <a:lvl5pPr marL="691469" indent="0">
              <a:buNone/>
              <a:defRPr sz="756"/>
            </a:lvl5pPr>
            <a:lvl6pPr marL="864337" indent="0">
              <a:buNone/>
              <a:defRPr sz="756"/>
            </a:lvl6pPr>
            <a:lvl7pPr marL="1037204" indent="0">
              <a:buNone/>
              <a:defRPr sz="756"/>
            </a:lvl7pPr>
            <a:lvl8pPr marL="1210071" indent="0">
              <a:buNone/>
              <a:defRPr sz="756"/>
            </a:lvl8pPr>
            <a:lvl9pPr marL="1382939" indent="0">
              <a:buNone/>
              <a:defRPr sz="7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35643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66698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184253"/>
            <a:ext cx="994053" cy="293282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944" y="184253"/>
            <a:ext cx="2924532" cy="293282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421115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945" y="184253"/>
            <a:ext cx="3976211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945" y="921265"/>
            <a:ext cx="3976211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944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7096" y="3207603"/>
            <a:ext cx="155590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5883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39265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345735" rtl="0" eaLnBrk="1" latinLnBrk="0" hangingPunct="1">
        <a:lnSpc>
          <a:spcPct val="90000"/>
        </a:lnSpc>
        <a:spcBef>
          <a:spcPct val="0"/>
        </a:spcBef>
        <a:buNone/>
        <a:defRPr sz="16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34" indent="-86434" algn="l" defTabSz="34573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9" kern="1200">
          <a:solidFill>
            <a:schemeClr val="tx1"/>
          </a:solidFill>
          <a:latin typeface="+mn-lt"/>
          <a:ea typeface="+mn-ea"/>
          <a:cs typeface="+mn-cs"/>
        </a:defRPr>
      </a:lvl1pPr>
      <a:lvl2pPr marL="259301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16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5036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77903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950770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12363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96505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69372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6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35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02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46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33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204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071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293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207445"/>
            <a:ext cx="2852420" cy="5415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22800"/>
              </a:lnSpc>
              <a:spcBef>
                <a:spcPts val="90"/>
              </a:spcBef>
            </a:pPr>
            <a:r>
              <a:rPr lang="en-US" sz="1400" b="1" smtClean="0"/>
              <a:t> </a:t>
            </a:r>
            <a:r>
              <a:rPr lang="en-US" sz="1400" b="1" dirty="0" smtClean="0"/>
              <a:t>Week 3: Introduction to Regular </a:t>
            </a:r>
            <a:r>
              <a:rPr lang="en-US" sz="1400" b="1" dirty="0" err="1" smtClean="0"/>
              <a:t>Expresssions</a:t>
            </a:r>
            <a:endParaRPr sz="1400" b="1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76375"/>
            <a:ext cx="263948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Regular</a:t>
            </a:r>
            <a:r>
              <a:rPr spc="-3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788237"/>
            <a:ext cx="3888104" cy="2313737"/>
            <a:chOff x="359994" y="788238"/>
            <a:chExt cx="3888104" cy="1944370"/>
          </a:xfrm>
        </p:grpSpPr>
        <p:sp>
          <p:nvSpPr>
            <p:cNvPr id="4" name="object 4"/>
            <p:cNvSpPr/>
            <p:nvPr/>
          </p:nvSpPr>
          <p:spPr>
            <a:xfrm>
              <a:off x="359994" y="788238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5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986485"/>
              <a:ext cx="3888104" cy="1746250"/>
            </a:xfrm>
            <a:custGeom>
              <a:avLst/>
              <a:gdLst/>
              <a:ahLst/>
              <a:cxnLst/>
              <a:rect l="l" t="t" r="r" b="b"/>
              <a:pathLst>
                <a:path w="3888104" h="1746250">
                  <a:moveTo>
                    <a:pt x="3888003" y="0"/>
                  </a:moveTo>
                  <a:lnTo>
                    <a:pt x="0" y="0"/>
                  </a:lnTo>
                  <a:lnTo>
                    <a:pt x="0" y="1746059"/>
                  </a:lnTo>
                  <a:lnTo>
                    <a:pt x="3888003" y="1746059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5384" y="728241"/>
            <a:ext cx="3410216" cy="2246128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15"/>
              </a:spcBef>
            </a:pPr>
            <a:r>
              <a:rPr sz="1100" b="1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 Expression</a:t>
            </a:r>
            <a:endParaRPr sz="1100" dirty="0">
              <a:latin typeface="LM Sans 10"/>
              <a:cs typeface="LM Sans 10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Say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that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regular expression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</a:t>
            </a:r>
            <a:endParaRPr sz="1100" dirty="0">
              <a:latin typeface="LM Sans 10"/>
              <a:cs typeface="LM Sans 10"/>
            </a:endParaRPr>
          </a:p>
          <a:p>
            <a:pPr marL="281305" indent="-177800">
              <a:lnSpc>
                <a:spcPct val="100000"/>
              </a:lnSpc>
              <a:spcBef>
                <a:spcPts val="1080"/>
              </a:spcBef>
              <a:buFont typeface="LM Sans 10"/>
              <a:buAutoNum type="arabicPeriod"/>
              <a:tabLst>
                <a:tab pos="281940" algn="l"/>
              </a:tabLst>
            </a:pP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some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alphabet</a:t>
            </a:r>
            <a:r>
              <a:rPr sz="1100" spc="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endParaRPr sz="1100" dirty="0">
              <a:latin typeface="LM Sans 10"/>
              <a:cs typeface="LM Sans 10"/>
            </a:endParaRPr>
          </a:p>
          <a:p>
            <a:pPr marL="281305" indent="-177800">
              <a:lnSpc>
                <a:spcPct val="100000"/>
              </a:lnSpc>
              <a:spcBef>
                <a:spcPts val="540"/>
              </a:spcBef>
              <a:buFont typeface="LM Sans 10"/>
              <a:buAutoNum type="arabicPeriod"/>
              <a:tabLst>
                <a:tab pos="281940" algn="l"/>
              </a:tabLst>
            </a:pPr>
            <a:r>
              <a:rPr sz="1100" i="1" spc="5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endParaRPr sz="1100" dirty="0">
              <a:latin typeface="LM Sans 10"/>
              <a:cs typeface="LM Sans 10"/>
            </a:endParaRPr>
          </a:p>
          <a:p>
            <a:pPr marL="104139">
              <a:lnSpc>
                <a:spcPct val="100000"/>
              </a:lnSpc>
              <a:spcBef>
                <a:spcPts val="535"/>
              </a:spcBef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3.</a:t>
            </a:r>
            <a:r>
              <a:rPr sz="1100" spc="17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-2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100" spc="-21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endParaRPr sz="1100" dirty="0">
              <a:latin typeface="LM Sans 10"/>
              <a:cs typeface="LM Sans 10"/>
            </a:endParaRPr>
          </a:p>
          <a:p>
            <a:pPr marL="281305" indent="-177800">
              <a:lnSpc>
                <a:spcPct val="100000"/>
              </a:lnSpc>
              <a:spcBef>
                <a:spcPts val="535"/>
              </a:spcBef>
              <a:buFont typeface="LM Sans 10"/>
              <a:buAutoNum type="arabicPeriod" startAt="4"/>
              <a:tabLst>
                <a:tab pos="281940" algn="l"/>
              </a:tabLst>
            </a:pPr>
            <a:r>
              <a:rPr sz="1100" spc="3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52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3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where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2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are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spc="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expressions,</a:t>
            </a:r>
            <a:endParaRPr sz="1100" dirty="0">
              <a:latin typeface="LM Sans 10"/>
              <a:cs typeface="LM Sans 10"/>
            </a:endParaRPr>
          </a:p>
          <a:p>
            <a:pPr marL="281305" indent="-177800">
              <a:lnSpc>
                <a:spcPct val="100000"/>
              </a:lnSpc>
              <a:spcBef>
                <a:spcPts val="540"/>
              </a:spcBef>
              <a:buFont typeface="LM Sans 10"/>
              <a:buAutoNum type="arabicPeriod" startAt="4"/>
              <a:tabLst>
                <a:tab pos="281940" algn="l"/>
              </a:tabLst>
            </a:pPr>
            <a:r>
              <a:rPr sz="1100" spc="3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i="1" spc="-105" dirty="0">
                <a:solidFill>
                  <a:srgbClr val="22373A"/>
                </a:solidFill>
                <a:latin typeface="DejaVu Sans"/>
                <a:cs typeface="DejaVu Sans"/>
              </a:rPr>
              <a:t>◦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52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3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where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2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are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spc="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expressions,</a:t>
            </a:r>
            <a:endParaRPr sz="1100" dirty="0">
              <a:latin typeface="LM Sans 10"/>
              <a:cs typeface="LM Sans 10"/>
            </a:endParaRPr>
          </a:p>
          <a:p>
            <a:pPr marL="281305" indent="-177800">
              <a:lnSpc>
                <a:spcPct val="100000"/>
              </a:lnSpc>
              <a:spcBef>
                <a:spcPts val="535"/>
              </a:spcBef>
              <a:buFont typeface="LM Sans 10"/>
              <a:buAutoNum type="arabicPeriod" startAt="4"/>
              <a:tabLst>
                <a:tab pos="281940" algn="l"/>
              </a:tabLst>
            </a:pPr>
            <a:r>
              <a:rPr sz="1100" spc="-9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-9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-135" baseline="-20833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200" i="1" spc="-13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-9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9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where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spc="16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expression.</a:t>
            </a:r>
            <a:endParaRPr sz="1100" dirty="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16488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21957" y="809559"/>
            <a:ext cx="2747645" cy="19126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6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spc="-9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-142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-95" dirty="0">
                <a:solidFill>
                  <a:srgbClr val="22373A"/>
                </a:solidFill>
                <a:latin typeface="LM Roman 10"/>
                <a:cs typeface="LM Roman 10"/>
              </a:rPr>
              <a:t>10</a:t>
            </a:r>
            <a:r>
              <a:rPr sz="1200" i="1" spc="-142" baseline="27777" dirty="0">
                <a:solidFill>
                  <a:srgbClr val="22373A"/>
                </a:solidFill>
                <a:latin typeface="DejaVu Sans"/>
                <a:cs typeface="DejaVu Sans"/>
              </a:rPr>
              <a:t>∗ 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0" dirty="0">
                <a:solidFill>
                  <a:srgbClr val="22373A"/>
                </a:solidFill>
                <a:latin typeface="Alfios"/>
                <a:cs typeface="Alfios"/>
              </a:rPr>
              <a:t>w 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contains a single</a:t>
            </a:r>
            <a:r>
              <a:rPr sz="1100" spc="-12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8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i="1" spc="-85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40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spc="-95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200" i="1" spc="-142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-95" dirty="0">
                <a:solidFill>
                  <a:srgbClr val="22373A"/>
                </a:solidFill>
                <a:latin typeface="LM Roman 10"/>
                <a:cs typeface="LM Roman 10"/>
              </a:rPr>
              <a:t>1Σ</a:t>
            </a:r>
            <a:r>
              <a:rPr sz="1200" i="1" spc="-142" baseline="27777" dirty="0">
                <a:solidFill>
                  <a:srgbClr val="22373A"/>
                </a:solidFill>
                <a:latin typeface="DejaVu Sans"/>
                <a:cs typeface="DejaVu Sans"/>
              </a:rPr>
              <a:t>∗ 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0" dirty="0">
                <a:solidFill>
                  <a:srgbClr val="22373A"/>
                </a:solidFill>
                <a:latin typeface="Alfios"/>
                <a:cs typeface="Alfios"/>
              </a:rPr>
              <a:t>w 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has at least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one</a:t>
            </a:r>
            <a:r>
              <a:rPr sz="1100" spc="-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spc="-60" dirty="0">
                <a:solidFill>
                  <a:srgbClr val="22373A"/>
                </a:solidFill>
                <a:latin typeface="LM Roman 10"/>
                <a:cs typeface="LM Roman 10"/>
              </a:rPr>
              <a:t>(ΣΣ)</a:t>
            </a:r>
            <a:r>
              <a:rPr sz="1200" i="1" spc="-89" baseline="27777" dirty="0">
                <a:solidFill>
                  <a:srgbClr val="22373A"/>
                </a:solidFill>
                <a:latin typeface="DejaVu Sans"/>
                <a:cs typeface="DejaVu Sans"/>
              </a:rPr>
              <a:t>∗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string of even</a:t>
            </a:r>
            <a:r>
              <a:rPr sz="1100" spc="-16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M Sans 10"/>
                <a:cs typeface="LM Sans 10"/>
              </a:rPr>
              <a:t>length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40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(0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 </a:t>
            </a:r>
            <a:r>
              <a:rPr sz="1100" i="1" spc="-65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)1</a:t>
            </a:r>
            <a:r>
              <a:rPr sz="1200" i="1" spc="-97" baseline="27777" dirty="0">
                <a:solidFill>
                  <a:srgbClr val="22373A"/>
                </a:solidFill>
                <a:latin typeface="DejaVu Sans"/>
                <a:cs typeface="DejaVu Sans"/>
              </a:rPr>
              <a:t>∗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spc="-90" dirty="0">
                <a:solidFill>
                  <a:srgbClr val="22373A"/>
                </a:solidFill>
                <a:latin typeface="LM Roman 10"/>
                <a:cs typeface="LM Roman 10"/>
              </a:rPr>
              <a:t>01</a:t>
            </a:r>
            <a:r>
              <a:rPr sz="1200" i="1" spc="-135" baseline="27777" dirty="0">
                <a:solidFill>
                  <a:srgbClr val="22373A"/>
                </a:solidFill>
                <a:latin typeface="DejaVu Sans"/>
                <a:cs typeface="DejaVu Sans"/>
              </a:rPr>
              <a:t>∗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</a:t>
            </a:r>
            <a:r>
              <a:rPr sz="1100" i="1" spc="-22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19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1200" baseline="27777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spc="-21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31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i="1" spc="-210" dirty="0">
                <a:solidFill>
                  <a:srgbClr val="22373A"/>
                </a:solidFill>
                <a:latin typeface="DejaVu Sans"/>
                <a:cs typeface="DejaVu Sans"/>
              </a:rPr>
              <a:t>∅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5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i="1" spc="-33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200" i="1" spc="-502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200" i="1" spc="135" baseline="2777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10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i="1" spc="-10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540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 </a:t>
            </a: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29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endParaRPr sz="1100">
              <a:latin typeface="Alfios"/>
              <a:cs typeface="Alfios"/>
            </a:endParaRPr>
          </a:p>
          <a:p>
            <a:pPr marL="214629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i="1" spc="-105" dirty="0">
                <a:solidFill>
                  <a:srgbClr val="22373A"/>
                </a:solidFill>
                <a:latin typeface="DejaVu Sans"/>
                <a:cs typeface="DejaVu Sans"/>
              </a:rPr>
              <a:t>◦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ϵ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04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endParaRPr sz="1100">
              <a:latin typeface="Alfios"/>
              <a:cs typeface="Alfios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18012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Notes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47357" y="1066048"/>
            <a:ext cx="2663825" cy="136461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635"/>
              </a:spcBef>
              <a:buChar char="•"/>
              <a:tabLst>
                <a:tab pos="1898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any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expression:</a:t>
            </a:r>
            <a:endParaRPr sz="1100">
              <a:latin typeface="LM Sans 10"/>
              <a:cs typeface="LM Sans 10"/>
            </a:endParaRPr>
          </a:p>
          <a:p>
            <a:pPr marL="189230" indent="-177165">
              <a:lnSpc>
                <a:spcPct val="100000"/>
              </a:lnSpc>
              <a:spcBef>
                <a:spcPts val="540"/>
              </a:spcBef>
              <a:buFont typeface="LM Sans 10"/>
              <a:buChar char="•"/>
              <a:tabLst>
                <a:tab pos="189865" algn="l"/>
              </a:tabLst>
            </a:pP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-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105" dirty="0">
                <a:solidFill>
                  <a:srgbClr val="22373A"/>
                </a:solidFill>
                <a:latin typeface="DejaVu Sans"/>
                <a:cs typeface="DejaVu Sans"/>
              </a:rPr>
              <a:t>◦</a:t>
            </a:r>
            <a:r>
              <a:rPr sz="1100" i="1" spc="-114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endParaRPr sz="1100">
              <a:latin typeface="Alfios"/>
              <a:cs typeface="Alfios"/>
            </a:endParaRPr>
          </a:p>
          <a:p>
            <a:pPr marL="189230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189865" algn="l"/>
              </a:tabLst>
            </a:pP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ϵ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may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not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equal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e.g., if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7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then</a:t>
            </a:r>
            <a:endParaRPr sz="1100">
              <a:latin typeface="LM Sans 10"/>
              <a:cs typeface="LM Sans 10"/>
            </a:endParaRPr>
          </a:p>
          <a:p>
            <a:pPr marL="189230">
              <a:lnSpc>
                <a:spcPct val="100000"/>
              </a:lnSpc>
              <a:spcBef>
                <a:spcPts val="240"/>
              </a:spcBef>
            </a:pP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7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1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i="1" spc="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but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spc="7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-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</a:t>
            </a:r>
            <a:r>
              <a:rPr sz="1100" i="1" spc="-114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5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spc="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70" dirty="0">
                <a:solidFill>
                  <a:srgbClr val="22373A"/>
                </a:solidFill>
                <a:latin typeface="Alfios"/>
                <a:cs typeface="Alfios"/>
              </a:rPr>
              <a:t>ϵ</a:t>
            </a:r>
            <a:r>
              <a:rPr sz="1100" i="1" spc="-7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189230" indent="-177165">
              <a:lnSpc>
                <a:spcPct val="100000"/>
              </a:lnSpc>
              <a:spcBef>
                <a:spcPts val="535"/>
              </a:spcBef>
              <a:buFont typeface="LM Sans 10"/>
              <a:buChar char="•"/>
              <a:tabLst>
                <a:tab pos="189865" algn="l"/>
              </a:tabLst>
            </a:pP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i="1" spc="-2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105" dirty="0">
                <a:solidFill>
                  <a:srgbClr val="22373A"/>
                </a:solidFill>
                <a:latin typeface="DejaVu Sans"/>
                <a:cs typeface="DejaVu Sans"/>
              </a:rPr>
              <a:t>◦ </a:t>
            </a: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100" i="1" spc="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may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not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equal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e.g., if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then</a:t>
            </a:r>
            <a:endParaRPr sz="1100">
              <a:latin typeface="LM Sans 10"/>
              <a:cs typeface="LM Sans 10"/>
            </a:endParaRPr>
          </a:p>
          <a:p>
            <a:pPr marL="189230">
              <a:lnSpc>
                <a:spcPct val="100000"/>
              </a:lnSpc>
              <a:spcBef>
                <a:spcPts val="240"/>
              </a:spcBef>
            </a:pP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1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but 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spc="7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R </a:t>
            </a:r>
            <a:r>
              <a:rPr sz="1100" i="1" spc="-105" dirty="0">
                <a:solidFill>
                  <a:srgbClr val="22373A"/>
                </a:solidFill>
                <a:latin typeface="DejaVu Sans"/>
                <a:cs typeface="DejaVu Sans"/>
              </a:rPr>
              <a:t>◦ </a:t>
            </a:r>
            <a:r>
              <a:rPr sz="1100" i="1" spc="-210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r>
              <a:rPr sz="1100" spc="-21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54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1100">
              <a:latin typeface="DejaVu Sans"/>
              <a:cs typeface="DejaVu Sans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9348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Regular </a:t>
            </a:r>
            <a:r>
              <a:rPr spc="-10" dirty="0"/>
              <a:t>Expressions </a:t>
            </a:r>
            <a:r>
              <a:rPr spc="-5" dirty="0"/>
              <a:t>and </a:t>
            </a:r>
            <a:r>
              <a:rPr spc="-15" dirty="0"/>
              <a:t>Regular</a:t>
            </a:r>
            <a:r>
              <a:rPr spc="20" dirty="0"/>
              <a:t> </a:t>
            </a:r>
            <a:r>
              <a:rPr spc="-10" dirty="0"/>
              <a:t>Languages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59994" y="755497"/>
            <a:ext cx="3888104" cy="19875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65"/>
              </a:lnSpc>
            </a:pPr>
            <a:r>
              <a:rPr sz="1100" b="1" spc="-15" dirty="0">
                <a:solidFill>
                  <a:srgbClr val="22373A"/>
                </a:solidFill>
                <a:latin typeface="LM Sans 10"/>
                <a:cs typeface="LM Sans 10"/>
              </a:rPr>
              <a:t>Theorem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b="1" spc="-5" dirty="0">
                <a:solidFill>
                  <a:srgbClr val="22373A"/>
                </a:solidFill>
                <a:latin typeface="LM Sans 10"/>
                <a:cs typeface="LM Sans 10"/>
              </a:rPr>
              <a:t>7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53744"/>
            <a:ext cx="3888104" cy="38671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A language is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only if some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r>
              <a:rPr sz="1100" i="1" spc="3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expression</a:t>
            </a:r>
            <a:endParaRPr sz="1100">
              <a:latin typeface="LM Sans 10"/>
              <a:cs typeface="LM Sans 10"/>
            </a:endParaRPr>
          </a:p>
          <a:p>
            <a:pPr marL="45720">
              <a:lnSpc>
                <a:spcPct val="100000"/>
              </a:lnSpc>
              <a:spcBef>
                <a:spcPts val="240"/>
              </a:spcBef>
            </a:pP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describes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 it.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441094"/>
            <a:ext cx="3888104" cy="19875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65"/>
              </a:lnSpc>
            </a:pPr>
            <a:r>
              <a:rPr sz="1100" b="1" spc="-15" dirty="0">
                <a:solidFill>
                  <a:srgbClr val="22373A"/>
                </a:solidFill>
                <a:latin typeface="LM Sans 10"/>
                <a:cs typeface="LM Sans 10"/>
              </a:rPr>
              <a:t>Lemma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b="1" spc="-5" dirty="0">
                <a:solidFill>
                  <a:srgbClr val="22373A"/>
                </a:solidFill>
                <a:latin typeface="LM Sans 10"/>
                <a:cs typeface="LM Sans 10"/>
              </a:rPr>
              <a:t>8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639341"/>
            <a:ext cx="3888104" cy="4140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language is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described </a:t>
            </a:r>
            <a:r>
              <a:rPr sz="1100" i="1" spc="-25" dirty="0">
                <a:solidFill>
                  <a:srgbClr val="22373A"/>
                </a:solidFill>
                <a:latin typeface="LM Sans 10"/>
                <a:cs typeface="LM Sans 10"/>
              </a:rPr>
              <a:t>by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expression,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it</a:t>
            </a:r>
            <a:r>
              <a:rPr sz="1100" i="1" spc="3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is</a:t>
            </a:r>
            <a:endParaRPr sz="1100">
              <a:latin typeface="LM Sans 10"/>
              <a:cs typeface="LM Sans 10"/>
            </a:endParaRPr>
          </a:p>
          <a:p>
            <a:pPr marL="45720">
              <a:lnSpc>
                <a:spcPct val="100000"/>
              </a:lnSpc>
              <a:spcBef>
                <a:spcPts val="240"/>
              </a:spcBef>
            </a:pP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regular.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153628"/>
            <a:ext cx="3888104" cy="19875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65"/>
              </a:lnSpc>
            </a:pPr>
            <a:r>
              <a:rPr sz="1100" b="1" spc="-15" dirty="0">
                <a:solidFill>
                  <a:srgbClr val="22373A"/>
                </a:solidFill>
                <a:latin typeface="LM Sans 10"/>
                <a:cs typeface="LM Sans 10"/>
              </a:rPr>
              <a:t>Lemma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b="1" spc="-5" dirty="0">
                <a:solidFill>
                  <a:srgbClr val="22373A"/>
                </a:solidFill>
                <a:latin typeface="LM Sans 10"/>
                <a:cs typeface="LM Sans 10"/>
              </a:rPr>
              <a:t>9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351875"/>
            <a:ext cx="3888104" cy="4140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0"/>
              </a:spcBef>
            </a:pP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language is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regular,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it is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described </a:t>
            </a:r>
            <a:r>
              <a:rPr sz="1100" i="1" spc="-25" dirty="0">
                <a:solidFill>
                  <a:srgbClr val="22373A"/>
                </a:solidFill>
                <a:latin typeface="LM Sans 10"/>
                <a:cs typeface="LM Sans 10"/>
              </a:rPr>
              <a:t>by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</a:t>
            </a:r>
            <a:r>
              <a:rPr sz="1100" i="1" spc="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  <a:p>
            <a:pPr marL="45720">
              <a:lnSpc>
                <a:spcPct val="100000"/>
              </a:lnSpc>
              <a:spcBef>
                <a:spcPts val="240"/>
              </a:spcBef>
            </a:pP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expression.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180128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LM Sans 10"/>
                <a:cs typeface="LM Sans 10"/>
              </a:rPr>
              <a:t>Example </a:t>
            </a:r>
            <a:r>
              <a:rPr sz="1200" b="1" spc="-5" dirty="0">
                <a:latin typeface="LM Sans 10"/>
                <a:cs typeface="LM Sans 10"/>
              </a:rPr>
              <a:t>of</a:t>
            </a:r>
            <a:r>
              <a:rPr sz="1200" b="1" spc="-50" dirty="0">
                <a:latin typeface="LM Sans 10"/>
                <a:cs typeface="LM Sans 10"/>
              </a:rPr>
              <a:t> </a:t>
            </a:r>
            <a:r>
              <a:rPr sz="1200" b="1" spc="-35" dirty="0">
                <a:latin typeface="LM Sans 10"/>
                <a:cs typeface="LM Sans 10"/>
              </a:rPr>
              <a:t>GNFA</a:t>
            </a:r>
            <a:endParaRPr sz="1200" dirty="0">
              <a:latin typeface="LM Sans 10"/>
              <a:cs typeface="LM Sans 1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4032" y="1513473"/>
            <a:ext cx="432434" cy="432434"/>
            <a:chOff x="964032" y="1513473"/>
            <a:chExt cx="432434" cy="432434"/>
          </a:xfrm>
        </p:grpSpPr>
        <p:sp>
          <p:nvSpPr>
            <p:cNvPr id="4" name="object 4"/>
            <p:cNvSpPr/>
            <p:nvPr/>
          </p:nvSpPr>
          <p:spPr>
            <a:xfrm>
              <a:off x="969112" y="1518553"/>
              <a:ext cx="422275" cy="422275"/>
            </a:xfrm>
            <a:custGeom>
              <a:avLst/>
              <a:gdLst/>
              <a:ahLst/>
              <a:cxnLst/>
              <a:rect l="l" t="t" r="r" b="b"/>
              <a:pathLst>
                <a:path w="422275" h="422275">
                  <a:moveTo>
                    <a:pt x="210920" y="0"/>
                  </a:moveTo>
                  <a:lnTo>
                    <a:pt x="162557" y="5570"/>
                  </a:lnTo>
                  <a:lnTo>
                    <a:pt x="118162" y="21438"/>
                  </a:lnTo>
                  <a:lnTo>
                    <a:pt x="79000" y="46336"/>
                  </a:lnTo>
                  <a:lnTo>
                    <a:pt x="46336" y="79000"/>
                  </a:lnTo>
                  <a:lnTo>
                    <a:pt x="21438" y="118162"/>
                  </a:lnTo>
                  <a:lnTo>
                    <a:pt x="5570" y="162557"/>
                  </a:lnTo>
                  <a:lnTo>
                    <a:pt x="0" y="210920"/>
                  </a:lnTo>
                  <a:lnTo>
                    <a:pt x="5570" y="259282"/>
                  </a:lnTo>
                  <a:lnTo>
                    <a:pt x="21438" y="303678"/>
                  </a:lnTo>
                  <a:lnTo>
                    <a:pt x="46336" y="342840"/>
                  </a:lnTo>
                  <a:lnTo>
                    <a:pt x="79000" y="375504"/>
                  </a:lnTo>
                  <a:lnTo>
                    <a:pt x="118162" y="400402"/>
                  </a:lnTo>
                  <a:lnTo>
                    <a:pt x="162557" y="416270"/>
                  </a:lnTo>
                  <a:lnTo>
                    <a:pt x="210920" y="421840"/>
                  </a:lnTo>
                  <a:lnTo>
                    <a:pt x="259282" y="416270"/>
                  </a:lnTo>
                  <a:lnTo>
                    <a:pt x="303678" y="400402"/>
                  </a:lnTo>
                  <a:lnTo>
                    <a:pt x="342840" y="375504"/>
                  </a:lnTo>
                  <a:lnTo>
                    <a:pt x="375504" y="342840"/>
                  </a:lnTo>
                  <a:lnTo>
                    <a:pt x="400402" y="303678"/>
                  </a:lnTo>
                  <a:lnTo>
                    <a:pt x="416270" y="259282"/>
                  </a:lnTo>
                  <a:lnTo>
                    <a:pt x="421840" y="210920"/>
                  </a:lnTo>
                  <a:lnTo>
                    <a:pt x="416270" y="162557"/>
                  </a:lnTo>
                  <a:lnTo>
                    <a:pt x="400402" y="118162"/>
                  </a:lnTo>
                  <a:lnTo>
                    <a:pt x="375504" y="79000"/>
                  </a:lnTo>
                  <a:lnTo>
                    <a:pt x="342840" y="46336"/>
                  </a:lnTo>
                  <a:lnTo>
                    <a:pt x="303678" y="21438"/>
                  </a:lnTo>
                  <a:lnTo>
                    <a:pt x="259282" y="5570"/>
                  </a:lnTo>
                  <a:lnTo>
                    <a:pt x="21092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9112" y="1518553"/>
              <a:ext cx="422275" cy="422275"/>
            </a:xfrm>
            <a:custGeom>
              <a:avLst/>
              <a:gdLst/>
              <a:ahLst/>
              <a:cxnLst/>
              <a:rect l="l" t="t" r="r" b="b"/>
              <a:pathLst>
                <a:path w="422275" h="422275">
                  <a:moveTo>
                    <a:pt x="421840" y="210920"/>
                  </a:moveTo>
                  <a:lnTo>
                    <a:pt x="416270" y="162557"/>
                  </a:lnTo>
                  <a:lnTo>
                    <a:pt x="400402" y="118162"/>
                  </a:lnTo>
                  <a:lnTo>
                    <a:pt x="375504" y="79000"/>
                  </a:lnTo>
                  <a:lnTo>
                    <a:pt x="342840" y="46336"/>
                  </a:lnTo>
                  <a:lnTo>
                    <a:pt x="303678" y="21438"/>
                  </a:lnTo>
                  <a:lnTo>
                    <a:pt x="259282" y="5570"/>
                  </a:lnTo>
                  <a:lnTo>
                    <a:pt x="210920" y="0"/>
                  </a:lnTo>
                  <a:lnTo>
                    <a:pt x="162557" y="5570"/>
                  </a:lnTo>
                  <a:lnTo>
                    <a:pt x="118162" y="21438"/>
                  </a:lnTo>
                  <a:lnTo>
                    <a:pt x="79000" y="46336"/>
                  </a:lnTo>
                  <a:lnTo>
                    <a:pt x="46336" y="79000"/>
                  </a:lnTo>
                  <a:lnTo>
                    <a:pt x="21438" y="118162"/>
                  </a:lnTo>
                  <a:lnTo>
                    <a:pt x="5570" y="162557"/>
                  </a:lnTo>
                  <a:lnTo>
                    <a:pt x="0" y="210920"/>
                  </a:lnTo>
                  <a:lnTo>
                    <a:pt x="5570" y="259282"/>
                  </a:lnTo>
                  <a:lnTo>
                    <a:pt x="21438" y="303678"/>
                  </a:lnTo>
                  <a:lnTo>
                    <a:pt x="46336" y="342840"/>
                  </a:lnTo>
                  <a:lnTo>
                    <a:pt x="79000" y="375504"/>
                  </a:lnTo>
                  <a:lnTo>
                    <a:pt x="118162" y="400402"/>
                  </a:lnTo>
                  <a:lnTo>
                    <a:pt x="162557" y="416270"/>
                  </a:lnTo>
                  <a:lnTo>
                    <a:pt x="210920" y="421840"/>
                  </a:lnTo>
                  <a:lnTo>
                    <a:pt x="259282" y="416270"/>
                  </a:lnTo>
                  <a:lnTo>
                    <a:pt x="303678" y="400402"/>
                  </a:lnTo>
                  <a:lnTo>
                    <a:pt x="342840" y="375504"/>
                  </a:lnTo>
                  <a:lnTo>
                    <a:pt x="375504" y="342840"/>
                  </a:lnTo>
                  <a:lnTo>
                    <a:pt x="400402" y="303678"/>
                  </a:lnTo>
                  <a:lnTo>
                    <a:pt x="416270" y="259282"/>
                  </a:lnTo>
                  <a:lnTo>
                    <a:pt x="421840" y="210920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220" y="1615362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48285" algn="l"/>
              </a:tabLst>
            </a:pPr>
            <a:r>
              <a:rPr sz="1650" u="sng" spc="-7" baseline="757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50" spc="120" baseline="757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650" i="1" spc="-7" baseline="757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800" spc="-5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0827" y="831201"/>
            <a:ext cx="3021330" cy="1472565"/>
            <a:chOff x="940827" y="831201"/>
            <a:chExt cx="3021330" cy="1472565"/>
          </a:xfrm>
        </p:grpSpPr>
        <p:sp>
          <p:nvSpPr>
            <p:cNvPr id="8" name="object 8"/>
            <p:cNvSpPr/>
            <p:nvPr/>
          </p:nvSpPr>
          <p:spPr>
            <a:xfrm>
              <a:off x="943049" y="170922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46867" y="836281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173181" y="0"/>
                  </a:move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3"/>
                  </a:lnTo>
                  <a:lnTo>
                    <a:pt x="0" y="173183"/>
                  </a:lnTo>
                  <a:lnTo>
                    <a:pt x="6186" y="219222"/>
                  </a:lnTo>
                  <a:lnTo>
                    <a:pt x="23644" y="260592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2"/>
                  </a:lnTo>
                  <a:lnTo>
                    <a:pt x="340184" y="219222"/>
                  </a:lnTo>
                  <a:lnTo>
                    <a:pt x="346370" y="173183"/>
                  </a:lnTo>
                  <a:lnTo>
                    <a:pt x="340184" y="127143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46867" y="836281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70" y="173183"/>
                  </a:moveTo>
                  <a:lnTo>
                    <a:pt x="340184" y="127143"/>
                  </a:lnTo>
                  <a:lnTo>
                    <a:pt x="322726" y="85773"/>
                  </a:lnTo>
                  <a:lnTo>
                    <a:pt x="295647" y="50723"/>
                  </a:lnTo>
                  <a:lnTo>
                    <a:pt x="260596" y="23644"/>
                  </a:lnTo>
                  <a:lnTo>
                    <a:pt x="219223" y="6186"/>
                  </a:lnTo>
                  <a:lnTo>
                    <a:pt x="173181" y="0"/>
                  </a:lnTo>
                  <a:lnTo>
                    <a:pt x="127143" y="6186"/>
                  </a:lnTo>
                  <a:lnTo>
                    <a:pt x="85773" y="23644"/>
                  </a:lnTo>
                  <a:lnTo>
                    <a:pt x="50724" y="50723"/>
                  </a:lnTo>
                  <a:lnTo>
                    <a:pt x="23644" y="85773"/>
                  </a:lnTo>
                  <a:lnTo>
                    <a:pt x="6186" y="127143"/>
                  </a:lnTo>
                  <a:lnTo>
                    <a:pt x="0" y="173183"/>
                  </a:lnTo>
                  <a:lnTo>
                    <a:pt x="6186" y="219222"/>
                  </a:lnTo>
                  <a:lnTo>
                    <a:pt x="23644" y="260592"/>
                  </a:lnTo>
                  <a:lnTo>
                    <a:pt x="50724" y="295643"/>
                  </a:lnTo>
                  <a:lnTo>
                    <a:pt x="85773" y="322722"/>
                  </a:lnTo>
                  <a:lnTo>
                    <a:pt x="127143" y="340180"/>
                  </a:lnTo>
                  <a:lnTo>
                    <a:pt x="173181" y="346367"/>
                  </a:lnTo>
                  <a:lnTo>
                    <a:pt x="219223" y="340180"/>
                  </a:lnTo>
                  <a:lnTo>
                    <a:pt x="260596" y="322722"/>
                  </a:lnTo>
                  <a:lnTo>
                    <a:pt x="295647" y="295643"/>
                  </a:lnTo>
                  <a:lnTo>
                    <a:pt x="322726" y="260592"/>
                  </a:lnTo>
                  <a:lnTo>
                    <a:pt x="340184" y="219222"/>
                  </a:lnTo>
                  <a:lnTo>
                    <a:pt x="346370" y="173183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52012" y="1751423"/>
              <a:ext cx="496570" cy="496570"/>
            </a:xfrm>
            <a:custGeom>
              <a:avLst/>
              <a:gdLst/>
              <a:ahLst/>
              <a:cxnLst/>
              <a:rect l="l" t="t" r="r" b="b"/>
              <a:pathLst>
                <a:path w="496570" h="496569">
                  <a:moveTo>
                    <a:pt x="248056" y="0"/>
                  </a:moveTo>
                  <a:lnTo>
                    <a:pt x="198061" y="5039"/>
                  </a:lnTo>
                  <a:lnTo>
                    <a:pt x="151497" y="19493"/>
                  </a:lnTo>
                  <a:lnTo>
                    <a:pt x="109361" y="42363"/>
                  </a:lnTo>
                  <a:lnTo>
                    <a:pt x="72650" y="72652"/>
                  </a:lnTo>
                  <a:lnTo>
                    <a:pt x="42361" y="109363"/>
                  </a:lnTo>
                  <a:lnTo>
                    <a:pt x="19492" y="151499"/>
                  </a:lnTo>
                  <a:lnTo>
                    <a:pt x="5039" y="198061"/>
                  </a:lnTo>
                  <a:lnTo>
                    <a:pt x="0" y="248053"/>
                  </a:lnTo>
                  <a:lnTo>
                    <a:pt x="5039" y="298044"/>
                  </a:lnTo>
                  <a:lnTo>
                    <a:pt x="19492" y="344607"/>
                  </a:lnTo>
                  <a:lnTo>
                    <a:pt x="42361" y="386742"/>
                  </a:lnTo>
                  <a:lnTo>
                    <a:pt x="72650" y="423453"/>
                  </a:lnTo>
                  <a:lnTo>
                    <a:pt x="109361" y="453742"/>
                  </a:lnTo>
                  <a:lnTo>
                    <a:pt x="151497" y="476612"/>
                  </a:lnTo>
                  <a:lnTo>
                    <a:pt x="198061" y="491066"/>
                  </a:lnTo>
                  <a:lnTo>
                    <a:pt x="248056" y="496105"/>
                  </a:lnTo>
                  <a:lnTo>
                    <a:pt x="298047" y="491066"/>
                  </a:lnTo>
                  <a:lnTo>
                    <a:pt x="344607" y="476612"/>
                  </a:lnTo>
                  <a:lnTo>
                    <a:pt x="386741" y="453742"/>
                  </a:lnTo>
                  <a:lnTo>
                    <a:pt x="423451" y="423453"/>
                  </a:lnTo>
                  <a:lnTo>
                    <a:pt x="453739" y="386742"/>
                  </a:lnTo>
                  <a:lnTo>
                    <a:pt x="476608" y="344607"/>
                  </a:lnTo>
                  <a:lnTo>
                    <a:pt x="491060" y="298044"/>
                  </a:lnTo>
                  <a:lnTo>
                    <a:pt x="496100" y="248053"/>
                  </a:lnTo>
                  <a:lnTo>
                    <a:pt x="491060" y="198061"/>
                  </a:lnTo>
                  <a:lnTo>
                    <a:pt x="476608" y="151499"/>
                  </a:lnTo>
                  <a:lnTo>
                    <a:pt x="453739" y="109363"/>
                  </a:lnTo>
                  <a:lnTo>
                    <a:pt x="423451" y="72652"/>
                  </a:lnTo>
                  <a:lnTo>
                    <a:pt x="386741" y="42363"/>
                  </a:lnTo>
                  <a:lnTo>
                    <a:pt x="344607" y="19493"/>
                  </a:lnTo>
                  <a:lnTo>
                    <a:pt x="298047" y="5039"/>
                  </a:lnTo>
                  <a:lnTo>
                    <a:pt x="24805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52012" y="1751423"/>
              <a:ext cx="496570" cy="496570"/>
            </a:xfrm>
            <a:custGeom>
              <a:avLst/>
              <a:gdLst/>
              <a:ahLst/>
              <a:cxnLst/>
              <a:rect l="l" t="t" r="r" b="b"/>
              <a:pathLst>
                <a:path w="496570" h="496569">
                  <a:moveTo>
                    <a:pt x="496100" y="248053"/>
                  </a:moveTo>
                  <a:lnTo>
                    <a:pt x="491060" y="198061"/>
                  </a:lnTo>
                  <a:lnTo>
                    <a:pt x="476608" y="151499"/>
                  </a:lnTo>
                  <a:lnTo>
                    <a:pt x="453739" y="109363"/>
                  </a:lnTo>
                  <a:lnTo>
                    <a:pt x="423451" y="72652"/>
                  </a:lnTo>
                  <a:lnTo>
                    <a:pt x="386741" y="42363"/>
                  </a:lnTo>
                  <a:lnTo>
                    <a:pt x="344607" y="19493"/>
                  </a:lnTo>
                  <a:lnTo>
                    <a:pt x="298047" y="5039"/>
                  </a:lnTo>
                  <a:lnTo>
                    <a:pt x="248056" y="0"/>
                  </a:lnTo>
                  <a:lnTo>
                    <a:pt x="198061" y="5039"/>
                  </a:lnTo>
                  <a:lnTo>
                    <a:pt x="151497" y="19493"/>
                  </a:lnTo>
                  <a:lnTo>
                    <a:pt x="109361" y="42363"/>
                  </a:lnTo>
                  <a:lnTo>
                    <a:pt x="72650" y="72652"/>
                  </a:lnTo>
                  <a:lnTo>
                    <a:pt x="42361" y="109363"/>
                  </a:lnTo>
                  <a:lnTo>
                    <a:pt x="19492" y="151499"/>
                  </a:lnTo>
                  <a:lnTo>
                    <a:pt x="5039" y="198061"/>
                  </a:lnTo>
                  <a:lnTo>
                    <a:pt x="0" y="248053"/>
                  </a:lnTo>
                  <a:lnTo>
                    <a:pt x="5039" y="298044"/>
                  </a:lnTo>
                  <a:lnTo>
                    <a:pt x="19492" y="344607"/>
                  </a:lnTo>
                  <a:lnTo>
                    <a:pt x="42361" y="386742"/>
                  </a:lnTo>
                  <a:lnTo>
                    <a:pt x="72650" y="423453"/>
                  </a:lnTo>
                  <a:lnTo>
                    <a:pt x="109361" y="453742"/>
                  </a:lnTo>
                  <a:lnTo>
                    <a:pt x="151497" y="476612"/>
                  </a:lnTo>
                  <a:lnTo>
                    <a:pt x="198061" y="491066"/>
                  </a:lnTo>
                  <a:lnTo>
                    <a:pt x="248056" y="496105"/>
                  </a:lnTo>
                  <a:lnTo>
                    <a:pt x="298047" y="491066"/>
                  </a:lnTo>
                  <a:lnTo>
                    <a:pt x="344607" y="476612"/>
                  </a:lnTo>
                  <a:lnTo>
                    <a:pt x="386741" y="453742"/>
                  </a:lnTo>
                  <a:lnTo>
                    <a:pt x="423451" y="423453"/>
                  </a:lnTo>
                  <a:lnTo>
                    <a:pt x="453739" y="386742"/>
                  </a:lnTo>
                  <a:lnTo>
                    <a:pt x="476608" y="344607"/>
                  </a:lnTo>
                  <a:lnTo>
                    <a:pt x="491060" y="298044"/>
                  </a:lnTo>
                  <a:lnTo>
                    <a:pt x="496100" y="248053"/>
                  </a:lnTo>
                  <a:close/>
                </a:path>
              </a:pathLst>
            </a:custGeom>
            <a:ln w="27836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2012" y="1751423"/>
              <a:ext cx="496570" cy="496570"/>
            </a:xfrm>
            <a:custGeom>
              <a:avLst/>
              <a:gdLst/>
              <a:ahLst/>
              <a:cxnLst/>
              <a:rect l="l" t="t" r="r" b="b"/>
              <a:pathLst>
                <a:path w="496570" h="496569">
                  <a:moveTo>
                    <a:pt x="496100" y="248053"/>
                  </a:moveTo>
                  <a:lnTo>
                    <a:pt x="491060" y="198061"/>
                  </a:lnTo>
                  <a:lnTo>
                    <a:pt x="476608" y="151499"/>
                  </a:lnTo>
                  <a:lnTo>
                    <a:pt x="453739" y="109363"/>
                  </a:lnTo>
                  <a:lnTo>
                    <a:pt x="423451" y="72652"/>
                  </a:lnTo>
                  <a:lnTo>
                    <a:pt x="386741" y="42363"/>
                  </a:lnTo>
                  <a:lnTo>
                    <a:pt x="344607" y="19493"/>
                  </a:lnTo>
                  <a:lnTo>
                    <a:pt x="298047" y="5039"/>
                  </a:lnTo>
                  <a:lnTo>
                    <a:pt x="248056" y="0"/>
                  </a:lnTo>
                  <a:lnTo>
                    <a:pt x="198061" y="5039"/>
                  </a:lnTo>
                  <a:lnTo>
                    <a:pt x="151497" y="19493"/>
                  </a:lnTo>
                  <a:lnTo>
                    <a:pt x="109361" y="42363"/>
                  </a:lnTo>
                  <a:lnTo>
                    <a:pt x="72650" y="72652"/>
                  </a:lnTo>
                  <a:lnTo>
                    <a:pt x="42361" y="109363"/>
                  </a:lnTo>
                  <a:lnTo>
                    <a:pt x="19492" y="151499"/>
                  </a:lnTo>
                  <a:lnTo>
                    <a:pt x="5039" y="198061"/>
                  </a:lnTo>
                  <a:lnTo>
                    <a:pt x="0" y="248053"/>
                  </a:lnTo>
                  <a:lnTo>
                    <a:pt x="5039" y="298044"/>
                  </a:lnTo>
                  <a:lnTo>
                    <a:pt x="19492" y="344607"/>
                  </a:lnTo>
                  <a:lnTo>
                    <a:pt x="42361" y="386742"/>
                  </a:lnTo>
                  <a:lnTo>
                    <a:pt x="72650" y="423453"/>
                  </a:lnTo>
                  <a:lnTo>
                    <a:pt x="109361" y="453742"/>
                  </a:lnTo>
                  <a:lnTo>
                    <a:pt x="151497" y="476612"/>
                  </a:lnTo>
                  <a:lnTo>
                    <a:pt x="198061" y="491066"/>
                  </a:lnTo>
                  <a:lnTo>
                    <a:pt x="248056" y="496105"/>
                  </a:lnTo>
                  <a:lnTo>
                    <a:pt x="298047" y="491066"/>
                  </a:lnTo>
                  <a:lnTo>
                    <a:pt x="344607" y="476612"/>
                  </a:lnTo>
                  <a:lnTo>
                    <a:pt x="386741" y="453742"/>
                  </a:lnTo>
                  <a:lnTo>
                    <a:pt x="423451" y="423453"/>
                  </a:lnTo>
                  <a:lnTo>
                    <a:pt x="453739" y="386742"/>
                  </a:lnTo>
                  <a:lnTo>
                    <a:pt x="476608" y="344607"/>
                  </a:lnTo>
                  <a:lnTo>
                    <a:pt x="491060" y="298044"/>
                  </a:lnTo>
                  <a:lnTo>
                    <a:pt x="496100" y="248053"/>
                  </a:lnTo>
                  <a:close/>
                </a:path>
              </a:pathLst>
            </a:custGeom>
            <a:ln w="75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86862" y="1952296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173183" y="0"/>
                  </a:move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4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4"/>
                  </a:lnTo>
                  <a:lnTo>
                    <a:pt x="6186" y="219224"/>
                  </a:lnTo>
                  <a:lnTo>
                    <a:pt x="23644" y="260594"/>
                  </a:lnTo>
                  <a:lnTo>
                    <a:pt x="50723" y="295644"/>
                  </a:lnTo>
                  <a:lnTo>
                    <a:pt x="85774" y="322723"/>
                  </a:lnTo>
                  <a:lnTo>
                    <a:pt x="127144" y="340182"/>
                  </a:lnTo>
                  <a:lnTo>
                    <a:pt x="173183" y="346368"/>
                  </a:lnTo>
                  <a:lnTo>
                    <a:pt x="219223" y="340182"/>
                  </a:lnTo>
                  <a:lnTo>
                    <a:pt x="260593" y="322723"/>
                  </a:lnTo>
                  <a:lnTo>
                    <a:pt x="295643" y="295644"/>
                  </a:lnTo>
                  <a:lnTo>
                    <a:pt x="322722" y="260594"/>
                  </a:lnTo>
                  <a:lnTo>
                    <a:pt x="340180" y="219224"/>
                  </a:lnTo>
                  <a:lnTo>
                    <a:pt x="346367" y="173184"/>
                  </a:ln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4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86862" y="1952296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7" y="173184"/>
                  </a:moveTo>
                  <a:lnTo>
                    <a:pt x="340180" y="127144"/>
                  </a:lnTo>
                  <a:lnTo>
                    <a:pt x="322722" y="85774"/>
                  </a:lnTo>
                  <a:lnTo>
                    <a:pt x="295643" y="50724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4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4"/>
                  </a:lnTo>
                  <a:lnTo>
                    <a:pt x="6186" y="219224"/>
                  </a:lnTo>
                  <a:lnTo>
                    <a:pt x="23644" y="260594"/>
                  </a:lnTo>
                  <a:lnTo>
                    <a:pt x="50723" y="295644"/>
                  </a:lnTo>
                  <a:lnTo>
                    <a:pt x="85774" y="322723"/>
                  </a:lnTo>
                  <a:lnTo>
                    <a:pt x="127144" y="340182"/>
                  </a:lnTo>
                  <a:lnTo>
                    <a:pt x="173183" y="346368"/>
                  </a:lnTo>
                  <a:lnTo>
                    <a:pt x="219223" y="340182"/>
                  </a:lnTo>
                  <a:lnTo>
                    <a:pt x="260593" y="322723"/>
                  </a:lnTo>
                  <a:lnTo>
                    <a:pt x="295643" y="295644"/>
                  </a:lnTo>
                  <a:lnTo>
                    <a:pt x="322722" y="260594"/>
                  </a:lnTo>
                  <a:lnTo>
                    <a:pt x="340180" y="219224"/>
                  </a:lnTo>
                  <a:lnTo>
                    <a:pt x="346367" y="173184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78466" y="1878608"/>
            <a:ext cx="436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7" baseline="757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800" spc="-5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96487" y="974808"/>
            <a:ext cx="1146175" cy="577215"/>
            <a:chOff x="1296487" y="974808"/>
            <a:chExt cx="1146175" cy="577215"/>
          </a:xfrm>
        </p:grpSpPr>
        <p:sp>
          <p:nvSpPr>
            <p:cNvPr id="18" name="object 18"/>
            <p:cNvSpPr/>
            <p:nvPr/>
          </p:nvSpPr>
          <p:spPr>
            <a:xfrm>
              <a:off x="1299027" y="993747"/>
              <a:ext cx="1137920" cy="555625"/>
            </a:xfrm>
            <a:custGeom>
              <a:avLst/>
              <a:gdLst/>
              <a:ahLst/>
              <a:cxnLst/>
              <a:rect l="l" t="t" r="r" b="b"/>
              <a:pathLst>
                <a:path w="1137920" h="555625">
                  <a:moveTo>
                    <a:pt x="0" y="555498"/>
                  </a:moveTo>
                  <a:lnTo>
                    <a:pt x="31412" y="510925"/>
                  </a:lnTo>
                  <a:lnTo>
                    <a:pt x="63573" y="468255"/>
                  </a:lnTo>
                  <a:lnTo>
                    <a:pt x="96491" y="427484"/>
                  </a:lnTo>
                  <a:lnTo>
                    <a:pt x="130176" y="388605"/>
                  </a:lnTo>
                  <a:lnTo>
                    <a:pt x="164637" y="351615"/>
                  </a:lnTo>
                  <a:lnTo>
                    <a:pt x="199882" y="316507"/>
                  </a:lnTo>
                  <a:lnTo>
                    <a:pt x="235920" y="283276"/>
                  </a:lnTo>
                  <a:lnTo>
                    <a:pt x="272761" y="251917"/>
                  </a:lnTo>
                  <a:lnTo>
                    <a:pt x="310415" y="222424"/>
                  </a:lnTo>
                  <a:lnTo>
                    <a:pt x="348888" y="194792"/>
                  </a:lnTo>
                  <a:lnTo>
                    <a:pt x="388192" y="169016"/>
                  </a:lnTo>
                  <a:lnTo>
                    <a:pt x="428335" y="145090"/>
                  </a:lnTo>
                  <a:lnTo>
                    <a:pt x="469325" y="123009"/>
                  </a:lnTo>
                  <a:lnTo>
                    <a:pt x="511173" y="102767"/>
                  </a:lnTo>
                  <a:lnTo>
                    <a:pt x="553887" y="84360"/>
                  </a:lnTo>
                  <a:lnTo>
                    <a:pt x="597476" y="67782"/>
                  </a:lnTo>
                  <a:lnTo>
                    <a:pt x="641949" y="53028"/>
                  </a:lnTo>
                  <a:lnTo>
                    <a:pt x="687315" y="40092"/>
                  </a:lnTo>
                  <a:lnTo>
                    <a:pt x="733584" y="28968"/>
                  </a:lnTo>
                  <a:lnTo>
                    <a:pt x="780764" y="19652"/>
                  </a:lnTo>
                  <a:lnTo>
                    <a:pt x="828865" y="12139"/>
                  </a:lnTo>
                  <a:lnTo>
                    <a:pt x="877895" y="6422"/>
                  </a:lnTo>
                  <a:lnTo>
                    <a:pt x="927863" y="2497"/>
                  </a:lnTo>
                  <a:lnTo>
                    <a:pt x="978780" y="358"/>
                  </a:lnTo>
                  <a:lnTo>
                    <a:pt x="1030652" y="0"/>
                  </a:lnTo>
                  <a:lnTo>
                    <a:pt x="1083491" y="1417"/>
                  </a:lnTo>
                  <a:lnTo>
                    <a:pt x="1137304" y="4604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19679" y="977031"/>
              <a:ext cx="20955" cy="40640"/>
            </a:xfrm>
            <a:custGeom>
              <a:avLst/>
              <a:gdLst/>
              <a:ahLst/>
              <a:cxnLst/>
              <a:rect l="l" t="t" r="r" b="b"/>
              <a:pathLst>
                <a:path w="20955" h="40640">
                  <a:moveTo>
                    <a:pt x="3026" y="0"/>
                  </a:moveTo>
                  <a:lnTo>
                    <a:pt x="5520" y="6391"/>
                  </a:lnTo>
                  <a:lnTo>
                    <a:pt x="10608" y="13097"/>
                  </a:lnTo>
                  <a:lnTo>
                    <a:pt x="16257" y="18654"/>
                  </a:lnTo>
                  <a:lnTo>
                    <a:pt x="20437" y="21604"/>
                  </a:lnTo>
                  <a:lnTo>
                    <a:pt x="15864" y="23898"/>
                  </a:lnTo>
                  <a:lnTo>
                    <a:pt x="9449" y="28552"/>
                  </a:lnTo>
                  <a:lnTo>
                    <a:pt x="3419" y="34423"/>
                  </a:lnTo>
                  <a:lnTo>
                    <a:pt x="0" y="40372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10283" y="906512"/>
            <a:ext cx="2628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90" dirty="0">
                <a:solidFill>
                  <a:srgbClr val="22373A"/>
                </a:solidFill>
                <a:latin typeface="Alfios"/>
                <a:cs typeface="Alfios"/>
              </a:rPr>
              <a:t>ab</a:t>
            </a:r>
            <a:r>
              <a:rPr sz="1200" i="1" spc="-13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1200" baseline="27777">
              <a:latin typeface="DejaVu Sans"/>
              <a:cs typeface="DejaVu San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57034" y="624029"/>
            <a:ext cx="139435" cy="215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34094" y="428852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aa</a:t>
            </a:r>
            <a:endParaRPr sz="1100">
              <a:latin typeface="Alfios"/>
              <a:cs typeface="Alfio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91510" y="1045535"/>
            <a:ext cx="845819" cy="709295"/>
            <a:chOff x="2791510" y="1045535"/>
            <a:chExt cx="845819" cy="709295"/>
          </a:xfrm>
        </p:grpSpPr>
        <p:sp>
          <p:nvSpPr>
            <p:cNvPr id="24" name="object 24"/>
            <p:cNvSpPr/>
            <p:nvPr/>
          </p:nvSpPr>
          <p:spPr>
            <a:xfrm>
              <a:off x="2794050" y="1048075"/>
              <a:ext cx="827405" cy="701040"/>
            </a:xfrm>
            <a:custGeom>
              <a:avLst/>
              <a:gdLst/>
              <a:ahLst/>
              <a:cxnLst/>
              <a:rect l="l" t="t" r="r" b="b"/>
              <a:pathLst>
                <a:path w="827404" h="701039">
                  <a:moveTo>
                    <a:pt x="0" y="0"/>
                  </a:moveTo>
                  <a:lnTo>
                    <a:pt x="51574" y="10435"/>
                  </a:lnTo>
                  <a:lnTo>
                    <a:pt x="101580" y="22447"/>
                  </a:lnTo>
                  <a:lnTo>
                    <a:pt x="150029" y="36043"/>
                  </a:lnTo>
                  <a:lnTo>
                    <a:pt x="196932" y="51230"/>
                  </a:lnTo>
                  <a:lnTo>
                    <a:pt x="242299" y="68017"/>
                  </a:lnTo>
                  <a:lnTo>
                    <a:pt x="286141" y="86411"/>
                  </a:lnTo>
                  <a:lnTo>
                    <a:pt x="328469" y="106419"/>
                  </a:lnTo>
                  <a:lnTo>
                    <a:pt x="369293" y="128049"/>
                  </a:lnTo>
                  <a:lnTo>
                    <a:pt x="408626" y="151308"/>
                  </a:lnTo>
                  <a:lnTo>
                    <a:pt x="446476" y="176205"/>
                  </a:lnTo>
                  <a:lnTo>
                    <a:pt x="482856" y="202746"/>
                  </a:lnTo>
                  <a:lnTo>
                    <a:pt x="517775" y="230940"/>
                  </a:lnTo>
                  <a:lnTo>
                    <a:pt x="551246" y="260793"/>
                  </a:lnTo>
                  <a:lnTo>
                    <a:pt x="583278" y="292314"/>
                  </a:lnTo>
                  <a:lnTo>
                    <a:pt x="613882" y="325510"/>
                  </a:lnTo>
                  <a:lnTo>
                    <a:pt x="643069" y="360389"/>
                  </a:lnTo>
                  <a:lnTo>
                    <a:pt x="670851" y="396957"/>
                  </a:lnTo>
                  <a:lnTo>
                    <a:pt x="697237" y="435223"/>
                  </a:lnTo>
                  <a:lnTo>
                    <a:pt x="722238" y="475195"/>
                  </a:lnTo>
                  <a:lnTo>
                    <a:pt x="745866" y="516879"/>
                  </a:lnTo>
                  <a:lnTo>
                    <a:pt x="768132" y="560284"/>
                  </a:lnTo>
                  <a:lnTo>
                    <a:pt x="789045" y="605417"/>
                  </a:lnTo>
                  <a:lnTo>
                    <a:pt x="808617" y="652285"/>
                  </a:lnTo>
                  <a:lnTo>
                    <a:pt x="826858" y="700897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96752" y="1727889"/>
              <a:ext cx="38735" cy="24765"/>
            </a:xfrm>
            <a:custGeom>
              <a:avLst/>
              <a:gdLst/>
              <a:ahLst/>
              <a:cxnLst/>
              <a:rect l="l" t="t" r="r" b="b"/>
              <a:pathLst>
                <a:path w="38735" h="24764">
                  <a:moveTo>
                    <a:pt x="38150" y="0"/>
                  </a:moveTo>
                  <a:lnTo>
                    <a:pt x="33312" y="4865"/>
                  </a:lnTo>
                  <a:lnTo>
                    <a:pt x="29236" y="12229"/>
                  </a:lnTo>
                  <a:lnTo>
                    <a:pt x="26436" y="19643"/>
                  </a:lnTo>
                  <a:lnTo>
                    <a:pt x="25428" y="24659"/>
                  </a:lnTo>
                  <a:lnTo>
                    <a:pt x="21481" y="21404"/>
                  </a:lnTo>
                  <a:lnTo>
                    <a:pt x="14631" y="17418"/>
                  </a:lnTo>
                  <a:lnTo>
                    <a:pt x="6823" y="14276"/>
                  </a:lnTo>
                  <a:lnTo>
                    <a:pt x="0" y="13553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48050" y="1079752"/>
            <a:ext cx="4451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solidFill>
                  <a:srgbClr val="22373A"/>
                </a:solidFill>
                <a:latin typeface="Alfios"/>
                <a:cs typeface="Alfios"/>
              </a:rPr>
              <a:t>ab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</a:t>
            </a:r>
            <a:r>
              <a:rPr sz="1100" i="1" spc="-2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Alfios"/>
                <a:cs typeface="Alfios"/>
              </a:rPr>
              <a:t>ba</a:t>
            </a:r>
            <a:endParaRPr sz="1100">
              <a:latin typeface="Alfios"/>
              <a:cs typeface="Alfio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15924" y="1892709"/>
            <a:ext cx="768985" cy="289560"/>
            <a:chOff x="1315924" y="1892709"/>
            <a:chExt cx="768985" cy="289560"/>
          </a:xfrm>
        </p:grpSpPr>
        <p:sp>
          <p:nvSpPr>
            <p:cNvPr id="28" name="object 28"/>
            <p:cNvSpPr/>
            <p:nvPr/>
          </p:nvSpPr>
          <p:spPr>
            <a:xfrm>
              <a:off x="1318464" y="1895249"/>
              <a:ext cx="760730" cy="280670"/>
            </a:xfrm>
            <a:custGeom>
              <a:avLst/>
              <a:gdLst/>
              <a:ahLst/>
              <a:cxnLst/>
              <a:rect l="l" t="t" r="r" b="b"/>
              <a:pathLst>
                <a:path w="760730" h="280669">
                  <a:moveTo>
                    <a:pt x="0" y="0"/>
                  </a:moveTo>
                  <a:lnTo>
                    <a:pt x="37139" y="40356"/>
                  </a:lnTo>
                  <a:lnTo>
                    <a:pt x="75127" y="77540"/>
                  </a:lnTo>
                  <a:lnTo>
                    <a:pt x="113983" y="111565"/>
                  </a:lnTo>
                  <a:lnTo>
                    <a:pt x="153727" y="142439"/>
                  </a:lnTo>
                  <a:lnTo>
                    <a:pt x="194379" y="170173"/>
                  </a:lnTo>
                  <a:lnTo>
                    <a:pt x="235960" y="194777"/>
                  </a:lnTo>
                  <a:lnTo>
                    <a:pt x="278487" y="216263"/>
                  </a:lnTo>
                  <a:lnTo>
                    <a:pt x="321983" y="234641"/>
                  </a:lnTo>
                  <a:lnTo>
                    <a:pt x="366466" y="249921"/>
                  </a:lnTo>
                  <a:lnTo>
                    <a:pt x="411957" y="262113"/>
                  </a:lnTo>
                  <a:lnTo>
                    <a:pt x="458475" y="271228"/>
                  </a:lnTo>
                  <a:lnTo>
                    <a:pt x="506040" y="277277"/>
                  </a:lnTo>
                  <a:lnTo>
                    <a:pt x="554672" y="280270"/>
                  </a:lnTo>
                  <a:lnTo>
                    <a:pt x="604391" y="280218"/>
                  </a:lnTo>
                  <a:lnTo>
                    <a:pt x="655217" y="277130"/>
                  </a:lnTo>
                  <a:lnTo>
                    <a:pt x="707169" y="271018"/>
                  </a:lnTo>
                  <a:lnTo>
                    <a:pt x="760268" y="26189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9908" y="2140232"/>
              <a:ext cx="22860" cy="40005"/>
            </a:xfrm>
            <a:custGeom>
              <a:avLst/>
              <a:gdLst/>
              <a:ahLst/>
              <a:cxnLst/>
              <a:rect l="l" t="t" r="r" b="b"/>
              <a:pathLst>
                <a:path w="22860" h="40005">
                  <a:moveTo>
                    <a:pt x="0" y="0"/>
                  </a:moveTo>
                  <a:lnTo>
                    <a:pt x="4110" y="5493"/>
                  </a:lnTo>
                  <a:lnTo>
                    <a:pt x="10804" y="10596"/>
                  </a:lnTo>
                  <a:lnTo>
                    <a:pt x="17732" y="14444"/>
                  </a:lnTo>
                  <a:lnTo>
                    <a:pt x="22548" y="16171"/>
                  </a:lnTo>
                  <a:lnTo>
                    <a:pt x="18754" y="19602"/>
                  </a:lnTo>
                  <a:lnTo>
                    <a:pt x="13814" y="25800"/>
                  </a:lnTo>
                  <a:lnTo>
                    <a:pt x="9571" y="33069"/>
                  </a:lnTo>
                  <a:lnTo>
                    <a:pt x="7864" y="39714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699272" y="193011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15" dirty="0">
                <a:solidFill>
                  <a:srgbClr val="22373A"/>
                </a:solidFill>
                <a:latin typeface="DejaVu Sans"/>
                <a:cs typeface="DejaVu Sans"/>
              </a:rPr>
              <a:t>∅</a:t>
            </a:r>
            <a:endParaRPr sz="1100">
              <a:latin typeface="DejaVu Sans"/>
              <a:cs typeface="DejaVu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36492" y="1920857"/>
            <a:ext cx="2752090" cy="930275"/>
            <a:chOff x="1036492" y="1920857"/>
            <a:chExt cx="2752090" cy="930275"/>
          </a:xfrm>
        </p:grpSpPr>
        <p:sp>
          <p:nvSpPr>
            <p:cNvPr id="32" name="object 32"/>
            <p:cNvSpPr/>
            <p:nvPr/>
          </p:nvSpPr>
          <p:spPr>
            <a:xfrm>
              <a:off x="2183630" y="2295121"/>
              <a:ext cx="139432" cy="215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21589" y="2149990"/>
              <a:ext cx="1063625" cy="182245"/>
            </a:xfrm>
            <a:custGeom>
              <a:avLst/>
              <a:gdLst/>
              <a:ahLst/>
              <a:cxnLst/>
              <a:rect l="l" t="t" r="r" b="b"/>
              <a:pathLst>
                <a:path w="1063625" h="182244">
                  <a:moveTo>
                    <a:pt x="0" y="50817"/>
                  </a:moveTo>
                  <a:lnTo>
                    <a:pt x="48392" y="74488"/>
                  </a:lnTo>
                  <a:lnTo>
                    <a:pt x="96488" y="95801"/>
                  </a:lnTo>
                  <a:lnTo>
                    <a:pt x="144301" y="114757"/>
                  </a:lnTo>
                  <a:lnTo>
                    <a:pt x="191846" y="131356"/>
                  </a:lnTo>
                  <a:lnTo>
                    <a:pt x="239137" y="145600"/>
                  </a:lnTo>
                  <a:lnTo>
                    <a:pt x="286188" y="157489"/>
                  </a:lnTo>
                  <a:lnTo>
                    <a:pt x="333013" y="167023"/>
                  </a:lnTo>
                  <a:lnTo>
                    <a:pt x="379627" y="174204"/>
                  </a:lnTo>
                  <a:lnTo>
                    <a:pt x="426044" y="179033"/>
                  </a:lnTo>
                  <a:lnTo>
                    <a:pt x="472277" y="181509"/>
                  </a:lnTo>
                  <a:lnTo>
                    <a:pt x="518343" y="181634"/>
                  </a:lnTo>
                  <a:lnTo>
                    <a:pt x="564253" y="179408"/>
                  </a:lnTo>
                  <a:lnTo>
                    <a:pt x="610023" y="174833"/>
                  </a:lnTo>
                  <a:lnTo>
                    <a:pt x="655667" y="167909"/>
                  </a:lnTo>
                  <a:lnTo>
                    <a:pt x="701200" y="158636"/>
                  </a:lnTo>
                  <a:lnTo>
                    <a:pt x="746634" y="147015"/>
                  </a:lnTo>
                  <a:lnTo>
                    <a:pt x="791986" y="133048"/>
                  </a:lnTo>
                  <a:lnTo>
                    <a:pt x="837268" y="116734"/>
                  </a:lnTo>
                  <a:lnTo>
                    <a:pt x="882495" y="98075"/>
                  </a:lnTo>
                  <a:lnTo>
                    <a:pt x="927681" y="77072"/>
                  </a:lnTo>
                  <a:lnTo>
                    <a:pt x="972841" y="53724"/>
                  </a:lnTo>
                  <a:lnTo>
                    <a:pt x="1017989" y="28033"/>
                  </a:lnTo>
                  <a:lnTo>
                    <a:pt x="1063138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60985" y="2141237"/>
              <a:ext cx="27305" cy="34290"/>
            </a:xfrm>
            <a:custGeom>
              <a:avLst/>
              <a:gdLst/>
              <a:ahLst/>
              <a:cxnLst/>
              <a:rect l="l" t="t" r="r" b="b"/>
              <a:pathLst>
                <a:path w="27304" h="34289">
                  <a:moveTo>
                    <a:pt x="0" y="0"/>
                  </a:moveTo>
                  <a:lnTo>
                    <a:pt x="5850" y="3585"/>
                  </a:lnTo>
                  <a:lnTo>
                    <a:pt x="13956" y="5853"/>
                  </a:lnTo>
                  <a:lnTo>
                    <a:pt x="21816" y="6867"/>
                  </a:lnTo>
                  <a:lnTo>
                    <a:pt x="26929" y="6692"/>
                  </a:lnTo>
                  <a:lnTo>
                    <a:pt x="24672" y="11283"/>
                  </a:lnTo>
                  <a:lnTo>
                    <a:pt x="22373" y="18867"/>
                  </a:lnTo>
                  <a:lnTo>
                    <a:pt x="21116" y="27190"/>
                  </a:lnTo>
                  <a:lnTo>
                    <a:pt x="21986" y="33996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39032" y="1923397"/>
              <a:ext cx="2736215" cy="925194"/>
            </a:xfrm>
            <a:custGeom>
              <a:avLst/>
              <a:gdLst/>
              <a:ahLst/>
              <a:cxnLst/>
              <a:rect l="l" t="t" r="r" b="b"/>
              <a:pathLst>
                <a:path w="2736215" h="925194">
                  <a:moveTo>
                    <a:pt x="45935" y="0"/>
                  </a:moveTo>
                  <a:lnTo>
                    <a:pt x="23566" y="51091"/>
                  </a:lnTo>
                  <a:lnTo>
                    <a:pt x="8731" y="101088"/>
                  </a:lnTo>
                  <a:lnTo>
                    <a:pt x="1154" y="149955"/>
                  </a:lnTo>
                  <a:lnTo>
                    <a:pt x="0" y="173955"/>
                  </a:lnTo>
                  <a:lnTo>
                    <a:pt x="555" y="197660"/>
                  </a:lnTo>
                  <a:lnTo>
                    <a:pt x="6659" y="244170"/>
                  </a:lnTo>
                  <a:lnTo>
                    <a:pt x="19185" y="289449"/>
                  </a:lnTo>
                  <a:lnTo>
                    <a:pt x="37858" y="333466"/>
                  </a:lnTo>
                  <a:lnTo>
                    <a:pt x="62399" y="376186"/>
                  </a:lnTo>
                  <a:lnTo>
                    <a:pt x="92530" y="417575"/>
                  </a:lnTo>
                  <a:lnTo>
                    <a:pt x="127973" y="457601"/>
                  </a:lnTo>
                  <a:lnTo>
                    <a:pt x="168451" y="496229"/>
                  </a:lnTo>
                  <a:lnTo>
                    <a:pt x="213685" y="533426"/>
                  </a:lnTo>
                  <a:lnTo>
                    <a:pt x="263399" y="569159"/>
                  </a:lnTo>
                  <a:lnTo>
                    <a:pt x="317314" y="603393"/>
                  </a:lnTo>
                  <a:lnTo>
                    <a:pt x="375152" y="636096"/>
                  </a:lnTo>
                  <a:lnTo>
                    <a:pt x="436636" y="667233"/>
                  </a:lnTo>
                  <a:lnTo>
                    <a:pt x="501487" y="696772"/>
                  </a:lnTo>
                  <a:lnTo>
                    <a:pt x="569429" y="724678"/>
                  </a:lnTo>
                  <a:lnTo>
                    <a:pt x="640182" y="750918"/>
                  </a:lnTo>
                  <a:lnTo>
                    <a:pt x="676526" y="763403"/>
                  </a:lnTo>
                  <a:lnTo>
                    <a:pt x="713470" y="775458"/>
                  </a:lnTo>
                  <a:lnTo>
                    <a:pt x="750977" y="787081"/>
                  </a:lnTo>
                  <a:lnTo>
                    <a:pt x="789014" y="798266"/>
                  </a:lnTo>
                  <a:lnTo>
                    <a:pt x="827545" y="809009"/>
                  </a:lnTo>
                  <a:lnTo>
                    <a:pt x="866537" y="819306"/>
                  </a:lnTo>
                  <a:lnTo>
                    <a:pt x="905953" y="829153"/>
                  </a:lnTo>
                  <a:lnTo>
                    <a:pt x="945761" y="838546"/>
                  </a:lnTo>
                  <a:lnTo>
                    <a:pt x="985923" y="847481"/>
                  </a:lnTo>
                  <a:lnTo>
                    <a:pt x="1026407" y="855952"/>
                  </a:lnTo>
                  <a:lnTo>
                    <a:pt x="1067178" y="863957"/>
                  </a:lnTo>
                  <a:lnTo>
                    <a:pt x="1108199" y="871491"/>
                  </a:lnTo>
                  <a:lnTo>
                    <a:pt x="1149438" y="878550"/>
                  </a:lnTo>
                  <a:lnTo>
                    <a:pt x="1190859" y="885129"/>
                  </a:lnTo>
                  <a:lnTo>
                    <a:pt x="1232427" y="891224"/>
                  </a:lnTo>
                  <a:lnTo>
                    <a:pt x="1274108" y="896832"/>
                  </a:lnTo>
                  <a:lnTo>
                    <a:pt x="1315867" y="901947"/>
                  </a:lnTo>
                  <a:lnTo>
                    <a:pt x="1357669" y="906566"/>
                  </a:lnTo>
                  <a:lnTo>
                    <a:pt x="1399480" y="910685"/>
                  </a:lnTo>
                  <a:lnTo>
                    <a:pt x="1441264" y="914299"/>
                  </a:lnTo>
                  <a:lnTo>
                    <a:pt x="1482987" y="917405"/>
                  </a:lnTo>
                  <a:lnTo>
                    <a:pt x="1524615" y="919997"/>
                  </a:lnTo>
                  <a:lnTo>
                    <a:pt x="1566112" y="922072"/>
                  </a:lnTo>
                  <a:lnTo>
                    <a:pt x="1607444" y="923626"/>
                  </a:lnTo>
                  <a:lnTo>
                    <a:pt x="1648577" y="924654"/>
                  </a:lnTo>
                  <a:lnTo>
                    <a:pt x="1689474" y="925152"/>
                  </a:lnTo>
                  <a:lnTo>
                    <a:pt x="1730103" y="925116"/>
                  </a:lnTo>
                  <a:lnTo>
                    <a:pt x="1770427" y="924542"/>
                  </a:lnTo>
                  <a:lnTo>
                    <a:pt x="1810413" y="923425"/>
                  </a:lnTo>
                  <a:lnTo>
                    <a:pt x="1850025" y="921762"/>
                  </a:lnTo>
                  <a:lnTo>
                    <a:pt x="1889229" y="919548"/>
                  </a:lnTo>
                  <a:lnTo>
                    <a:pt x="1927990" y="916779"/>
                  </a:lnTo>
                  <a:lnTo>
                    <a:pt x="1966273" y="913451"/>
                  </a:lnTo>
                  <a:lnTo>
                    <a:pt x="2041268" y="905101"/>
                  </a:lnTo>
                  <a:lnTo>
                    <a:pt x="2113935" y="894463"/>
                  </a:lnTo>
                  <a:lnTo>
                    <a:pt x="2183997" y="881504"/>
                  </a:lnTo>
                  <a:lnTo>
                    <a:pt x="2251176" y="866191"/>
                  </a:lnTo>
                  <a:lnTo>
                    <a:pt x="2315195" y="848490"/>
                  </a:lnTo>
                  <a:lnTo>
                    <a:pt x="2375774" y="828368"/>
                  </a:lnTo>
                  <a:lnTo>
                    <a:pt x="2432637" y="805791"/>
                  </a:lnTo>
                  <a:lnTo>
                    <a:pt x="2485506" y="780725"/>
                  </a:lnTo>
                  <a:lnTo>
                    <a:pt x="2534103" y="753137"/>
                  </a:lnTo>
                  <a:lnTo>
                    <a:pt x="2578150" y="722993"/>
                  </a:lnTo>
                  <a:lnTo>
                    <a:pt x="2617369" y="690259"/>
                  </a:lnTo>
                  <a:lnTo>
                    <a:pt x="2651483" y="654903"/>
                  </a:lnTo>
                  <a:lnTo>
                    <a:pt x="2680214" y="616890"/>
                  </a:lnTo>
                  <a:lnTo>
                    <a:pt x="2703283" y="576187"/>
                  </a:lnTo>
                  <a:lnTo>
                    <a:pt x="2720413" y="532761"/>
                  </a:lnTo>
                  <a:lnTo>
                    <a:pt x="2731327" y="486577"/>
                  </a:lnTo>
                  <a:lnTo>
                    <a:pt x="2735746" y="437603"/>
                  </a:lnTo>
                  <a:lnTo>
                    <a:pt x="2735434" y="412058"/>
                  </a:lnTo>
                  <a:lnTo>
                    <a:pt x="2733393" y="385804"/>
                  </a:lnTo>
                  <a:lnTo>
                    <a:pt x="2729590" y="358835"/>
                  </a:lnTo>
                  <a:lnTo>
                    <a:pt x="2723990" y="331147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46736" y="2250847"/>
              <a:ext cx="40005" cy="23495"/>
            </a:xfrm>
            <a:custGeom>
              <a:avLst/>
              <a:gdLst/>
              <a:ahLst/>
              <a:cxnLst/>
              <a:rect l="l" t="t" r="r" b="b"/>
              <a:pathLst>
                <a:path w="40004" h="23494">
                  <a:moveTo>
                    <a:pt x="0" y="23063"/>
                  </a:moveTo>
                  <a:lnTo>
                    <a:pt x="5356" y="18775"/>
                  </a:lnTo>
                  <a:lnTo>
                    <a:pt x="10239" y="11919"/>
                  </a:lnTo>
                  <a:lnTo>
                    <a:pt x="13859" y="4869"/>
                  </a:lnTo>
                  <a:lnTo>
                    <a:pt x="15428" y="0"/>
                  </a:lnTo>
                  <a:lnTo>
                    <a:pt x="18981" y="3680"/>
                  </a:lnTo>
                  <a:lnTo>
                    <a:pt x="25336" y="8415"/>
                  </a:lnTo>
                  <a:lnTo>
                    <a:pt x="32740" y="12420"/>
                  </a:lnTo>
                  <a:lnTo>
                    <a:pt x="39438" y="13909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155583" y="2080169"/>
            <a:ext cx="816610" cy="927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90"/>
              </a:spcBef>
            </a:pPr>
            <a:r>
              <a:rPr sz="1650" i="1" spc="-82" baseline="-20202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r>
              <a:rPr sz="800" i="1" spc="-250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DejaVu Sans"/>
              <a:cs typeface="DejaVu Sans"/>
            </a:endParaRPr>
          </a:p>
          <a:p>
            <a:pPr marR="637540" algn="r">
              <a:lnSpc>
                <a:spcPct val="100000"/>
              </a:lnSpc>
            </a:pPr>
            <a:r>
              <a:rPr sz="1100" i="1" spc="-15" dirty="0">
                <a:solidFill>
                  <a:srgbClr val="22373A"/>
                </a:solidFill>
                <a:latin typeface="Alfios"/>
                <a:cs typeface="Alfios"/>
              </a:rPr>
              <a:t>ab</a:t>
            </a:r>
            <a:endParaRPr sz="1100">
              <a:latin typeface="Alfios"/>
              <a:cs typeface="Alfio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lfios"/>
              <a:cs typeface="Alfios"/>
            </a:endParaRPr>
          </a:p>
          <a:p>
            <a:pPr marR="600710" algn="r">
              <a:lnSpc>
                <a:spcPct val="100000"/>
              </a:lnSpc>
              <a:spcBef>
                <a:spcPts val="5"/>
              </a:spcBef>
            </a:pPr>
            <a:r>
              <a:rPr sz="1100" i="1" spc="-55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1100">
              <a:latin typeface="Alfios"/>
              <a:cs typeface="Alfio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91527" y="1181190"/>
            <a:ext cx="292735" cy="828040"/>
            <a:chOff x="2391527" y="1181190"/>
            <a:chExt cx="292735" cy="828040"/>
          </a:xfrm>
        </p:grpSpPr>
        <p:sp>
          <p:nvSpPr>
            <p:cNvPr id="39" name="object 39"/>
            <p:cNvSpPr/>
            <p:nvPr/>
          </p:nvSpPr>
          <p:spPr>
            <a:xfrm>
              <a:off x="2396564" y="1183730"/>
              <a:ext cx="285115" cy="818515"/>
            </a:xfrm>
            <a:custGeom>
              <a:avLst/>
              <a:gdLst/>
              <a:ahLst/>
              <a:cxnLst/>
              <a:rect l="l" t="t" r="r" b="b"/>
              <a:pathLst>
                <a:path w="285114" h="818514">
                  <a:moveTo>
                    <a:pt x="260910" y="0"/>
                  </a:moveTo>
                  <a:lnTo>
                    <a:pt x="270805" y="51599"/>
                  </a:lnTo>
                  <a:lnTo>
                    <a:pt x="278095" y="102143"/>
                  </a:lnTo>
                  <a:lnTo>
                    <a:pt x="282775" y="151650"/>
                  </a:lnTo>
                  <a:lnTo>
                    <a:pt x="284843" y="200140"/>
                  </a:lnTo>
                  <a:lnTo>
                    <a:pt x="284295" y="247631"/>
                  </a:lnTo>
                  <a:lnTo>
                    <a:pt x="281127" y="294143"/>
                  </a:lnTo>
                  <a:lnTo>
                    <a:pt x="275336" y="339694"/>
                  </a:lnTo>
                  <a:lnTo>
                    <a:pt x="266919" y="384304"/>
                  </a:lnTo>
                  <a:lnTo>
                    <a:pt x="255871" y="427991"/>
                  </a:lnTo>
                  <a:lnTo>
                    <a:pt x="242191" y="470774"/>
                  </a:lnTo>
                  <a:lnTo>
                    <a:pt x="225873" y="512673"/>
                  </a:lnTo>
                  <a:lnTo>
                    <a:pt x="206916" y="553706"/>
                  </a:lnTo>
                  <a:lnTo>
                    <a:pt x="185315" y="593893"/>
                  </a:lnTo>
                  <a:lnTo>
                    <a:pt x="161066" y="633253"/>
                  </a:lnTo>
                  <a:lnTo>
                    <a:pt x="134168" y="671804"/>
                  </a:lnTo>
                  <a:lnTo>
                    <a:pt x="104615" y="709565"/>
                  </a:lnTo>
                  <a:lnTo>
                    <a:pt x="72405" y="746556"/>
                  </a:lnTo>
                  <a:lnTo>
                    <a:pt x="37534" y="782795"/>
                  </a:lnTo>
                  <a:lnTo>
                    <a:pt x="0" y="818302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93749" y="1976835"/>
              <a:ext cx="27940" cy="30480"/>
            </a:xfrm>
            <a:custGeom>
              <a:avLst/>
              <a:gdLst/>
              <a:ahLst/>
              <a:cxnLst/>
              <a:rect l="l" t="t" r="r" b="b"/>
              <a:pathLst>
                <a:path w="27939" h="30480">
                  <a:moveTo>
                    <a:pt x="27652" y="30029"/>
                  </a:moveTo>
                  <a:lnTo>
                    <a:pt x="21303" y="27428"/>
                  </a:lnTo>
                  <a:lnTo>
                    <a:pt x="12939" y="26490"/>
                  </a:lnTo>
                  <a:lnTo>
                    <a:pt x="5018" y="26749"/>
                  </a:lnTo>
                  <a:lnTo>
                    <a:pt x="0" y="27742"/>
                  </a:lnTo>
                  <a:lnTo>
                    <a:pt x="1491" y="22849"/>
                  </a:lnTo>
                  <a:lnTo>
                    <a:pt x="2544" y="14994"/>
                  </a:lnTo>
                  <a:lnTo>
                    <a:pt x="2449" y="6578"/>
                  </a:lnTo>
                  <a:lnTo>
                    <a:pt x="498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655976" y="1578265"/>
            <a:ext cx="203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65" baseline="-20202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800" i="1" spc="-110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800">
              <a:latin typeface="DejaVu Sans"/>
              <a:cs typeface="DejaVu San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196158" y="1126055"/>
            <a:ext cx="292735" cy="828040"/>
            <a:chOff x="2196158" y="1126055"/>
            <a:chExt cx="292735" cy="828040"/>
          </a:xfrm>
        </p:grpSpPr>
        <p:sp>
          <p:nvSpPr>
            <p:cNvPr id="43" name="object 43"/>
            <p:cNvSpPr/>
            <p:nvPr/>
          </p:nvSpPr>
          <p:spPr>
            <a:xfrm>
              <a:off x="2198689" y="1132911"/>
              <a:ext cx="285115" cy="818515"/>
            </a:xfrm>
            <a:custGeom>
              <a:avLst/>
              <a:gdLst/>
              <a:ahLst/>
              <a:cxnLst/>
              <a:rect l="l" t="t" r="r" b="b"/>
              <a:pathLst>
                <a:path w="285114" h="818514">
                  <a:moveTo>
                    <a:pt x="23932" y="818302"/>
                  </a:moveTo>
                  <a:lnTo>
                    <a:pt x="14037" y="766703"/>
                  </a:lnTo>
                  <a:lnTo>
                    <a:pt x="6747" y="716159"/>
                  </a:lnTo>
                  <a:lnTo>
                    <a:pt x="2067" y="666652"/>
                  </a:lnTo>
                  <a:lnTo>
                    <a:pt x="0" y="618162"/>
                  </a:lnTo>
                  <a:lnTo>
                    <a:pt x="548" y="570671"/>
                  </a:lnTo>
                  <a:lnTo>
                    <a:pt x="3716" y="524160"/>
                  </a:lnTo>
                  <a:lnTo>
                    <a:pt x="9507" y="478609"/>
                  </a:lnTo>
                  <a:lnTo>
                    <a:pt x="17924" y="433999"/>
                  </a:lnTo>
                  <a:lnTo>
                    <a:pt x="28971" y="390312"/>
                  </a:lnTo>
                  <a:lnTo>
                    <a:pt x="42651" y="347529"/>
                  </a:lnTo>
                  <a:lnTo>
                    <a:pt x="58969" y="305630"/>
                  </a:lnTo>
                  <a:lnTo>
                    <a:pt x="77926" y="264596"/>
                  </a:lnTo>
                  <a:lnTo>
                    <a:pt x="99527" y="224409"/>
                  </a:lnTo>
                  <a:lnTo>
                    <a:pt x="123776" y="185050"/>
                  </a:lnTo>
                  <a:lnTo>
                    <a:pt x="150675" y="146499"/>
                  </a:lnTo>
                  <a:lnTo>
                    <a:pt x="180228" y="108737"/>
                  </a:lnTo>
                  <a:lnTo>
                    <a:pt x="212438" y="71746"/>
                  </a:lnTo>
                  <a:lnTo>
                    <a:pt x="247310" y="35507"/>
                  </a:lnTo>
                  <a:lnTo>
                    <a:pt x="284846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697" y="1128079"/>
              <a:ext cx="27940" cy="30480"/>
            </a:xfrm>
            <a:custGeom>
              <a:avLst/>
              <a:gdLst/>
              <a:ahLst/>
              <a:cxnLst/>
              <a:rect l="l" t="t" r="r" b="b"/>
              <a:pathLst>
                <a:path w="27939" h="30480">
                  <a:moveTo>
                    <a:pt x="0" y="0"/>
                  </a:moveTo>
                  <a:lnTo>
                    <a:pt x="6349" y="2600"/>
                  </a:lnTo>
                  <a:lnTo>
                    <a:pt x="14713" y="3538"/>
                  </a:lnTo>
                  <a:lnTo>
                    <a:pt x="22634" y="3279"/>
                  </a:lnTo>
                  <a:lnTo>
                    <a:pt x="27652" y="2286"/>
                  </a:lnTo>
                  <a:lnTo>
                    <a:pt x="26161" y="7179"/>
                  </a:lnTo>
                  <a:lnTo>
                    <a:pt x="25108" y="15034"/>
                  </a:lnTo>
                  <a:lnTo>
                    <a:pt x="25203" y="23450"/>
                  </a:lnTo>
                  <a:lnTo>
                    <a:pt x="27153" y="30029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849793" y="1266645"/>
            <a:ext cx="349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aa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i="1" spc="-380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1100">
              <a:latin typeface="DejaVu Sans"/>
              <a:cs typeface="DejaVu San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363008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latin typeface="LM Sans 10"/>
                <a:cs typeface="LM Sans 10"/>
              </a:rPr>
              <a:t>DFA </a:t>
            </a:r>
            <a:r>
              <a:rPr sz="1200" b="1" spc="-5" dirty="0">
                <a:latin typeface="LM Sans 10"/>
                <a:cs typeface="LM Sans 10"/>
              </a:rPr>
              <a:t>to </a:t>
            </a:r>
            <a:r>
              <a:rPr sz="1200" b="1" spc="-15" dirty="0">
                <a:latin typeface="LM Sans 10"/>
                <a:cs typeface="LM Sans 10"/>
              </a:rPr>
              <a:t>Regular </a:t>
            </a:r>
            <a:r>
              <a:rPr sz="1200" b="1" spc="-10" dirty="0">
                <a:latin typeface="LM Sans 10"/>
                <a:cs typeface="LM Sans 10"/>
              </a:rPr>
              <a:t>Expression </a:t>
            </a:r>
            <a:r>
              <a:rPr sz="1200" b="1" spc="-5" dirty="0">
                <a:latin typeface="LM Sans 10"/>
                <a:cs typeface="LM Sans 10"/>
              </a:rPr>
              <a:t>using</a:t>
            </a:r>
            <a:r>
              <a:rPr sz="1200" b="1" spc="35" dirty="0">
                <a:latin typeface="LM Sans 10"/>
                <a:cs typeface="LM Sans 10"/>
              </a:rPr>
              <a:t> </a:t>
            </a:r>
            <a:r>
              <a:rPr sz="1200" b="1" spc="-35" dirty="0">
                <a:latin typeface="LM Sans 10"/>
                <a:cs typeface="LM Sans 10"/>
              </a:rPr>
              <a:t>GNFA</a:t>
            </a:r>
            <a:endParaRPr sz="1200" dirty="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5631" y="1218387"/>
            <a:ext cx="2176780" cy="1089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4125328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Generalized Nondeterministic Finite</a:t>
            </a:r>
            <a:r>
              <a:rPr spc="5" dirty="0"/>
              <a:t> </a:t>
            </a:r>
            <a:r>
              <a:rPr spc="-10" dirty="0"/>
              <a:t>Automata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705637"/>
            <a:ext cx="3888104" cy="2110105"/>
            <a:chOff x="359994" y="705637"/>
            <a:chExt cx="3888104" cy="2110105"/>
          </a:xfrm>
        </p:grpSpPr>
        <p:sp>
          <p:nvSpPr>
            <p:cNvPr id="4" name="object 4"/>
            <p:cNvSpPr/>
            <p:nvPr/>
          </p:nvSpPr>
          <p:spPr>
            <a:xfrm>
              <a:off x="359994" y="705637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5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903884"/>
              <a:ext cx="3888104" cy="1911350"/>
            </a:xfrm>
            <a:custGeom>
              <a:avLst/>
              <a:gdLst/>
              <a:ahLst/>
              <a:cxnLst/>
              <a:rect l="l" t="t" r="r" b="b"/>
              <a:pathLst>
                <a:path w="3888104" h="1911350">
                  <a:moveTo>
                    <a:pt x="3888003" y="0"/>
                  </a:moveTo>
                  <a:lnTo>
                    <a:pt x="0" y="0"/>
                  </a:lnTo>
                  <a:lnTo>
                    <a:pt x="0" y="1911248"/>
                  </a:lnTo>
                  <a:lnTo>
                    <a:pt x="3888003" y="1911248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9984" y="645665"/>
            <a:ext cx="3933825" cy="208533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15"/>
              </a:spcBef>
            </a:pPr>
            <a:r>
              <a:rPr sz="1100" b="1" spc="-35" dirty="0">
                <a:solidFill>
                  <a:srgbClr val="22373A"/>
                </a:solidFill>
                <a:latin typeface="LM Sans 10"/>
                <a:cs typeface="LM Sans 10"/>
              </a:rPr>
              <a:t>GNFA</a:t>
            </a:r>
            <a:endParaRPr sz="1100">
              <a:latin typeface="LM Sans 10"/>
              <a:cs typeface="LM Sans 10"/>
            </a:endParaRPr>
          </a:p>
          <a:p>
            <a:pPr marL="76200" marR="68580">
              <a:lnSpc>
                <a:spcPct val="118000"/>
              </a:lnSpc>
              <a:spcBef>
                <a:spcPts val="8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b="1" spc="-5" dirty="0">
                <a:solidFill>
                  <a:srgbClr val="22373A"/>
                </a:solidFill>
                <a:latin typeface="LM Sans 10"/>
                <a:cs typeface="LM Sans 10"/>
              </a:rPr>
              <a:t>generalized nondeterministic finite automaton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</a:t>
            </a:r>
            <a:r>
              <a:rPr sz="1100" spc="-9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5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-tuple,  </a:t>
            </a:r>
            <a:r>
              <a:rPr sz="1100" spc="4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Q,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δ,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baseline="-10416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where</a:t>
            </a:r>
            <a:endParaRPr sz="1100">
              <a:latin typeface="LM Sans 10"/>
              <a:cs typeface="LM Sans 10"/>
            </a:endParaRPr>
          </a:p>
          <a:p>
            <a:pPr marL="306705" indent="-177800">
              <a:lnSpc>
                <a:spcPct val="100000"/>
              </a:lnSpc>
              <a:spcBef>
                <a:spcPts val="1085"/>
              </a:spcBef>
              <a:buFont typeface="LM Sans 10"/>
              <a:buAutoNum type="arabicPeriod"/>
              <a:tabLst>
                <a:tab pos="307340" algn="l"/>
              </a:tabLst>
            </a:pP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finite set of</a:t>
            </a:r>
            <a:r>
              <a:rPr sz="1100" spc="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states,</a:t>
            </a:r>
            <a:endParaRPr sz="1100">
              <a:latin typeface="LM Sans 10"/>
              <a:cs typeface="LM Sans 10"/>
            </a:endParaRPr>
          </a:p>
          <a:p>
            <a:pPr marL="306705" indent="-177800">
              <a:lnSpc>
                <a:spcPct val="100000"/>
              </a:lnSpc>
              <a:spcBef>
                <a:spcPts val="535"/>
              </a:spcBef>
              <a:buFont typeface="LM Sans 10"/>
              <a:buAutoNum type="arabicPeriod"/>
              <a:tabLst>
                <a:tab pos="307340" algn="l"/>
              </a:tabLst>
            </a:pP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Σ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input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alphabet,</a:t>
            </a:r>
            <a:endParaRPr sz="1100">
              <a:latin typeface="LM Sans 10"/>
              <a:cs typeface="LM Sans 10"/>
            </a:endParaRPr>
          </a:p>
          <a:p>
            <a:pPr marL="306705" marR="349885" indent="-177165">
              <a:lnSpc>
                <a:spcPct val="118000"/>
              </a:lnSpc>
              <a:spcBef>
                <a:spcPts val="300"/>
              </a:spcBef>
              <a:buFont typeface="LM Sans 10"/>
              <a:buAutoNum type="arabicPeriod"/>
              <a:tabLst>
                <a:tab pos="307340" algn="l"/>
              </a:tabLst>
            </a:pP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2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100" i="1" spc="-4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44" baseline="-10416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12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×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2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100" i="1" spc="-4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44" baseline="-10416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65" dirty="0">
                <a:solidFill>
                  <a:srgbClr val="22373A"/>
                </a:solidFill>
                <a:latin typeface="DejaVu Sans"/>
                <a:cs typeface="DejaVu Sans"/>
              </a:rPr>
              <a:t>→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160" dirty="0">
                <a:solidFill>
                  <a:srgbClr val="22373A"/>
                </a:solidFill>
                <a:latin typeface="DejaVu Sans"/>
                <a:cs typeface="DejaVu Sans"/>
              </a:rPr>
              <a:t>R</a:t>
            </a:r>
            <a:r>
              <a:rPr sz="1100" i="1" spc="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the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transition 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function,</a:t>
            </a:r>
            <a:endParaRPr sz="1100">
              <a:latin typeface="LM Sans 10"/>
              <a:cs typeface="LM Sans 10"/>
            </a:endParaRPr>
          </a:p>
          <a:p>
            <a:pPr marL="306705" indent="-177800">
              <a:lnSpc>
                <a:spcPct val="100000"/>
              </a:lnSpc>
              <a:spcBef>
                <a:spcPts val="535"/>
              </a:spcBef>
              <a:buFont typeface="LM Sans 10"/>
              <a:buAutoNum type="arabicPeriod"/>
              <a:tabLst>
                <a:tab pos="307340" algn="l"/>
              </a:tabLst>
            </a:pP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start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start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state,</a:t>
            </a:r>
            <a:r>
              <a:rPr sz="1100" spc="-1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1100">
              <a:latin typeface="LM Sans 10"/>
              <a:cs typeface="LM Sans 10"/>
            </a:endParaRPr>
          </a:p>
          <a:p>
            <a:pPr marL="306705" indent="-177800">
              <a:lnSpc>
                <a:spcPct val="100000"/>
              </a:lnSpc>
              <a:spcBef>
                <a:spcPts val="540"/>
              </a:spcBef>
              <a:buFont typeface="LM Sans 10"/>
              <a:buAutoNum type="arabicPeriod"/>
              <a:tabLst>
                <a:tab pos="307340" algn="l"/>
              </a:tabLst>
            </a:pP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accept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accept</a:t>
            </a:r>
            <a:r>
              <a:rPr sz="1100" spc="-1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state.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385868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latin typeface="LM Sans 10"/>
                <a:cs typeface="LM Sans 10"/>
              </a:rPr>
              <a:t>DFA </a:t>
            </a:r>
            <a:r>
              <a:rPr sz="1200" b="1" spc="-5" dirty="0">
                <a:latin typeface="LM Sans 10"/>
                <a:cs typeface="LM Sans 10"/>
              </a:rPr>
              <a:t>to </a:t>
            </a:r>
            <a:r>
              <a:rPr sz="1200" b="1" spc="-15" dirty="0">
                <a:latin typeface="LM Sans 10"/>
                <a:cs typeface="LM Sans 10"/>
              </a:rPr>
              <a:t>Regular </a:t>
            </a:r>
            <a:r>
              <a:rPr sz="1200" b="1" spc="-10" dirty="0">
                <a:latin typeface="LM Sans 10"/>
                <a:cs typeface="LM Sans 10"/>
              </a:rPr>
              <a:t>Expression </a:t>
            </a:r>
            <a:r>
              <a:rPr sz="1200" b="1" spc="-5" dirty="0">
                <a:latin typeface="LM Sans 10"/>
                <a:cs typeface="LM Sans 10"/>
              </a:rPr>
              <a:t>using</a:t>
            </a:r>
            <a:r>
              <a:rPr sz="1200" b="1" spc="35" dirty="0">
                <a:latin typeface="LM Sans 10"/>
                <a:cs typeface="LM Sans 10"/>
              </a:rPr>
              <a:t> </a:t>
            </a:r>
            <a:r>
              <a:rPr sz="1200" b="1" spc="-35" dirty="0">
                <a:latin typeface="LM Sans 10"/>
                <a:cs typeface="LM Sans 10"/>
              </a:rPr>
              <a:t>GNFA</a:t>
            </a:r>
            <a:endParaRPr sz="1200" dirty="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823" y="1090104"/>
            <a:ext cx="3106420" cy="134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50" y="266074"/>
            <a:ext cx="403860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Generalized Nondeterministic Finite</a:t>
            </a:r>
            <a:r>
              <a:rPr spc="5" dirty="0"/>
              <a:t> </a:t>
            </a:r>
            <a:r>
              <a:rPr spc="-10" dirty="0"/>
              <a:t>Automata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83794" y="1052027"/>
            <a:ext cx="4015104" cy="13963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34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spc="-35" dirty="0">
                <a:solidFill>
                  <a:srgbClr val="22373A"/>
                </a:solidFill>
                <a:latin typeface="LM Sans 10"/>
                <a:cs typeface="LM Sans 10"/>
              </a:rPr>
              <a:t>GNFA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accepts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string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spc="-13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200" i="1" spc="-195" baseline="27777" dirty="0">
                <a:solidFill>
                  <a:srgbClr val="22373A"/>
                </a:solidFill>
                <a:latin typeface="DejaVu Sans"/>
                <a:cs typeface="DejaVu Sans"/>
              </a:rPr>
              <a:t>∗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2 </a:t>
            </a:r>
            <a:r>
              <a:rPr sz="1100" i="1" spc="-50" dirty="0">
                <a:solidFill>
                  <a:srgbClr val="22373A"/>
                </a:solidFill>
                <a:latin typeface="DejaVu Sans"/>
                <a:cs typeface="DejaVu Sans"/>
              </a:rPr>
              <a:t>· · ·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1200" i="1" spc="60" baseline="-13888" dirty="0">
                <a:solidFill>
                  <a:srgbClr val="22373A"/>
                </a:solidFill>
                <a:latin typeface="Arimo"/>
                <a:cs typeface="Arimo"/>
              </a:rPr>
              <a:t>k</a:t>
            </a:r>
            <a:r>
              <a:rPr sz="1100" spc="4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254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where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each</a:t>
            </a:r>
            <a:endParaRPr sz="1100">
              <a:latin typeface="LM Sans 10"/>
              <a:cs typeface="LM Sans 10"/>
            </a:endParaRPr>
          </a:p>
          <a:p>
            <a:pPr marL="76200">
              <a:lnSpc>
                <a:spcPct val="100000"/>
              </a:lnSpc>
              <a:spcBef>
                <a:spcPts val="235"/>
              </a:spcBef>
            </a:pP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200" i="1" spc="277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200" i="1" spc="-19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200" i="1" spc="-135" baseline="2777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a sequence of states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60" baseline="-10416" dirty="0">
                <a:solidFill>
                  <a:srgbClr val="22373A"/>
                </a:solidFill>
                <a:latin typeface="LM Roman 8"/>
                <a:cs typeface="LM Roman 8"/>
              </a:rPr>
              <a:t>0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60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30" baseline="-13888" dirty="0">
                <a:solidFill>
                  <a:srgbClr val="22373A"/>
                </a:solidFill>
                <a:latin typeface="Arimo"/>
                <a:cs typeface="Arimo"/>
              </a:rPr>
              <a:t>k</a:t>
            </a:r>
            <a:r>
              <a:rPr sz="1200" i="1" spc="315" baseline="-13888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exists such that</a:t>
            </a:r>
            <a:endParaRPr sz="1100">
              <a:latin typeface="LM Sans 10"/>
              <a:cs typeface="LM Sans 10"/>
            </a:endParaRPr>
          </a:p>
          <a:p>
            <a:pPr marL="353060" indent="-177800">
              <a:lnSpc>
                <a:spcPct val="100000"/>
              </a:lnSpc>
              <a:spcBef>
                <a:spcPts val="1085"/>
              </a:spcBef>
              <a:buFont typeface="LM Sans 10"/>
              <a:buAutoNum type="arabicPeriod"/>
              <a:tabLst>
                <a:tab pos="353695" algn="l"/>
              </a:tabLst>
            </a:pP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0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start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start</a:t>
            </a:r>
            <a:r>
              <a:rPr sz="1100" spc="-13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state,</a:t>
            </a:r>
            <a:endParaRPr sz="1100">
              <a:latin typeface="LM Sans 10"/>
              <a:cs typeface="LM Sans 10"/>
            </a:endParaRPr>
          </a:p>
          <a:p>
            <a:pPr marL="353060" indent="-177800">
              <a:lnSpc>
                <a:spcPct val="100000"/>
              </a:lnSpc>
              <a:spcBef>
                <a:spcPts val="535"/>
              </a:spcBef>
              <a:buFont typeface="LM Sans 10"/>
              <a:buAutoNum type="arabicPeriod"/>
              <a:tabLst>
                <a:tab pos="353695" algn="l"/>
              </a:tabLst>
            </a:pP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30" baseline="-13888" dirty="0">
                <a:solidFill>
                  <a:srgbClr val="22373A"/>
                </a:solidFill>
                <a:latin typeface="Arimo"/>
                <a:cs typeface="Arimo"/>
              </a:rPr>
              <a:t>k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accept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accepth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state,</a:t>
            </a:r>
            <a:endParaRPr sz="1100">
              <a:latin typeface="LM Sans 10"/>
              <a:cs typeface="LM Sans 10"/>
            </a:endParaRPr>
          </a:p>
          <a:p>
            <a:pPr marL="353060" marR="43180" indent="-177165">
              <a:lnSpc>
                <a:spcPct val="118000"/>
              </a:lnSpc>
              <a:spcBef>
                <a:spcPts val="300"/>
              </a:spcBef>
              <a:buAutoNum type="arabicPeriod"/>
              <a:tabLst>
                <a:tab pos="28511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each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have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w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6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where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157" baseline="-10416" dirty="0">
                <a:solidFill>
                  <a:srgbClr val="22373A"/>
                </a:solidFill>
                <a:latin typeface="Arimo"/>
                <a:cs typeface="Arimo"/>
              </a:rPr>
              <a:t>i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52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200" i="1" spc="52" baseline="-10416" dirty="0">
                <a:solidFill>
                  <a:srgbClr val="22373A"/>
                </a:solidFill>
                <a:latin typeface="DejaVu Sans"/>
                <a:cs typeface="DejaVu Sans"/>
              </a:rPr>
              <a:t>−</a:t>
            </a:r>
            <a:r>
              <a:rPr sz="1200" spc="5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, q</a:t>
            </a:r>
            <a:r>
              <a:rPr sz="1200" i="1" spc="52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3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 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other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words,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157" baseline="-10416" dirty="0">
                <a:solidFill>
                  <a:srgbClr val="22373A"/>
                </a:solidFill>
                <a:latin typeface="Arimo"/>
                <a:cs typeface="Arimo"/>
              </a:rPr>
              <a:t>i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expression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on the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arrow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from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30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200" i="1" spc="30" baseline="-10416" dirty="0">
                <a:solidFill>
                  <a:srgbClr val="22373A"/>
                </a:solidFill>
                <a:latin typeface="DejaVu Sans"/>
                <a:cs typeface="DejaVu Sans"/>
              </a:rPr>
              <a:t>−</a:t>
            </a:r>
            <a:r>
              <a:rPr sz="1200" spc="30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to</a:t>
            </a:r>
            <a:r>
              <a:rPr sz="1100" spc="2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75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spc="50" dirty="0">
                <a:solidFill>
                  <a:srgbClr val="22373A"/>
                </a:solidFill>
                <a:latin typeface="LM Sans 10"/>
                <a:cs typeface="LM Sans 10"/>
              </a:rPr>
              <a:t>.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4014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Converting </a:t>
            </a:r>
            <a:r>
              <a:rPr spc="-40" dirty="0"/>
              <a:t>DFA </a:t>
            </a:r>
            <a:r>
              <a:rPr spc="-5" dirty="0"/>
              <a:t>to </a:t>
            </a:r>
            <a:r>
              <a:rPr spc="-35" dirty="0"/>
              <a:t>GNFA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96494" y="457643"/>
            <a:ext cx="4026535" cy="2637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Roman Caps 10"/>
                <a:cs typeface="LM Roman Caps 10"/>
              </a:rPr>
              <a:t>convert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-10" dirty="0">
                <a:solidFill>
                  <a:srgbClr val="22373A"/>
                </a:solidFill>
                <a:latin typeface="Alfios"/>
                <a:cs typeface="Alfios"/>
              </a:rPr>
              <a:t>G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:</a:t>
            </a:r>
            <a:endParaRPr sz="1100" dirty="0">
              <a:latin typeface="LM Sans 10"/>
              <a:cs typeface="LM Sans 10"/>
            </a:endParaRPr>
          </a:p>
          <a:p>
            <a:pPr marL="271780" indent="-109220">
              <a:lnSpc>
                <a:spcPct val="100000"/>
              </a:lnSpc>
              <a:spcBef>
                <a:spcPts val="890"/>
              </a:spcBef>
              <a:buSzPct val="90909"/>
              <a:buAutoNum type="arabicPeriod"/>
              <a:tabLst>
                <a:tab pos="27241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45" dirty="0">
                <a:solidFill>
                  <a:srgbClr val="22373A"/>
                </a:solidFill>
                <a:latin typeface="Alfios"/>
                <a:cs typeface="Alfios"/>
              </a:rPr>
              <a:t>k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number of states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</a:t>
            </a:r>
            <a:r>
              <a:rPr sz="1100" spc="-1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70" dirty="0">
                <a:solidFill>
                  <a:srgbClr val="22373A"/>
                </a:solidFill>
                <a:latin typeface="Alfios"/>
                <a:cs typeface="Alfios"/>
              </a:rPr>
              <a:t>G</a:t>
            </a:r>
            <a:endParaRPr sz="1100" dirty="0">
              <a:latin typeface="Alfios"/>
              <a:cs typeface="Alfios"/>
            </a:endParaRPr>
          </a:p>
          <a:p>
            <a:pPr marL="340360" marR="66040" indent="-177165">
              <a:lnSpc>
                <a:spcPct val="118000"/>
              </a:lnSpc>
              <a:spcBef>
                <a:spcPts val="65"/>
              </a:spcBef>
              <a:buSzPct val="90909"/>
              <a:buAutoNum type="arabicPeriod"/>
              <a:tabLst>
                <a:tab pos="27241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45" dirty="0">
                <a:solidFill>
                  <a:srgbClr val="22373A"/>
                </a:solidFill>
                <a:latin typeface="Alfios"/>
                <a:cs typeface="Alfios"/>
              </a:rPr>
              <a:t>k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2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1100" i="1" spc="70" dirty="0">
                <a:solidFill>
                  <a:srgbClr val="22373A"/>
                </a:solidFill>
                <a:latin typeface="Alfios"/>
                <a:cs typeface="Alfios"/>
              </a:rPr>
              <a:t>G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must conists of a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start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state,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 accept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state, 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single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arrow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connecting them labeled with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R.E.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0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endParaRPr sz="1100" dirty="0">
              <a:latin typeface="Alfios"/>
              <a:cs typeface="Alfios"/>
            </a:endParaRPr>
          </a:p>
          <a:p>
            <a:pPr marL="271780" indent="-109220">
              <a:lnSpc>
                <a:spcPct val="100000"/>
              </a:lnSpc>
              <a:spcBef>
                <a:spcPts val="305"/>
              </a:spcBef>
              <a:buSzPct val="90909"/>
              <a:buAutoNum type="arabicPeriod"/>
              <a:tabLst>
                <a:tab pos="27241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45" dirty="0">
                <a:solidFill>
                  <a:srgbClr val="22373A"/>
                </a:solidFill>
                <a:latin typeface="Alfios"/>
                <a:cs typeface="Alfios"/>
              </a:rPr>
              <a:t>k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2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select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any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 </a:t>
            </a: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rip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 </a:t>
            </a:r>
            <a:r>
              <a:rPr sz="1100" i="1" spc="-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7" baseline="-10416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r>
              <a:rPr sz="1100" i="1" spc="-5" dirty="0">
                <a:solidFill>
                  <a:srgbClr val="22373A"/>
                </a:solidFill>
                <a:latin typeface="Alfios"/>
                <a:cs typeface="Alfios"/>
              </a:rPr>
              <a:t>, </a:t>
            </a:r>
            <a:r>
              <a:rPr sz="1100" i="1" spc="-1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22" baseline="-10416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r>
              <a:rPr sz="1100" i="1" spc="-15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r>
              <a:rPr sz="1100" spc="-2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</a:t>
            </a:r>
            <a:endParaRPr sz="1100" dirty="0">
              <a:latin typeface="LM Sans 10"/>
              <a:cs typeface="LM Sans 10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G</a:t>
            </a:r>
            <a:r>
              <a:rPr sz="1200" i="1" spc="89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1200" i="1" spc="232" baseline="27777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the </a:t>
            </a:r>
            <a:r>
              <a:rPr sz="1100" spc="-35" dirty="0">
                <a:solidFill>
                  <a:srgbClr val="22373A"/>
                </a:solidFill>
                <a:latin typeface="LM Sans 10"/>
                <a:cs typeface="LM Sans 10"/>
              </a:rPr>
              <a:t>GNFA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82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200" i="1" spc="112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baseline="-10416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where</a:t>
            </a:r>
            <a:endParaRPr sz="1100" dirty="0">
              <a:latin typeface="LM Sans 10"/>
              <a:cs typeface="LM Sans 10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75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 </a:t>
            </a:r>
            <a:r>
              <a:rPr sz="1100" i="1" spc="-4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4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60" baseline="-10416" dirty="0">
                <a:solidFill>
                  <a:srgbClr val="22373A"/>
                </a:solidFill>
                <a:latin typeface="LM Roman 8"/>
                <a:cs typeface="LM Roman 8"/>
              </a:rPr>
              <a:t>rip</a:t>
            </a:r>
            <a:r>
              <a:rPr sz="1100" i="1" spc="-4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any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82" baseline="-10416" dirty="0">
                <a:solidFill>
                  <a:srgbClr val="22373A"/>
                </a:solidFill>
                <a:latin typeface="Arimo"/>
                <a:cs typeface="Arimo"/>
              </a:rPr>
              <a:t>i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75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</a:t>
            </a:r>
            <a:r>
              <a:rPr sz="1100" i="1" spc="-24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52" baseline="-10416" dirty="0">
                <a:solidFill>
                  <a:srgbClr val="22373A"/>
                </a:solidFill>
                <a:latin typeface="LM Roman 8"/>
                <a:cs typeface="LM Roman 8"/>
              </a:rPr>
              <a:t>accept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any</a:t>
            </a:r>
            <a:endParaRPr sz="1100" dirty="0">
              <a:latin typeface="LM Sans 10"/>
              <a:cs typeface="LM Sans 10"/>
            </a:endParaRPr>
          </a:p>
          <a:p>
            <a:pPr marL="340360">
              <a:lnSpc>
                <a:spcPct val="100000"/>
              </a:lnSpc>
              <a:spcBef>
                <a:spcPts val="235"/>
              </a:spcBef>
            </a:pP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120" baseline="-10416" dirty="0">
                <a:solidFill>
                  <a:srgbClr val="22373A"/>
                </a:solidFill>
                <a:latin typeface="Arimo"/>
                <a:cs typeface="Arimo"/>
              </a:rPr>
              <a:t>j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75" baseline="27777" dirty="0">
                <a:solidFill>
                  <a:srgbClr val="22373A"/>
                </a:solidFill>
                <a:latin typeface="DejaVu Sans"/>
                <a:cs typeface="DejaVu Sans"/>
              </a:rPr>
              <a:t>′ </a:t>
            </a:r>
            <a:r>
              <a:rPr sz="1100" i="1" spc="170" dirty="0">
                <a:solidFill>
                  <a:srgbClr val="22373A"/>
                </a:solidFill>
                <a:latin typeface="DejaVu Sans"/>
                <a:cs typeface="DejaVu Sans"/>
              </a:rPr>
              <a:t>\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-52" baseline="-10416" dirty="0">
                <a:solidFill>
                  <a:srgbClr val="22373A"/>
                </a:solidFill>
                <a:latin typeface="LM Roman 8"/>
                <a:cs typeface="LM Roman 8"/>
              </a:rPr>
              <a:t>start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i="1" spc="-24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</a:t>
            </a:r>
            <a:endParaRPr sz="1100" dirty="0">
              <a:latin typeface="LM Sans 10"/>
              <a:cs typeface="LM Sans 10"/>
            </a:endParaRPr>
          </a:p>
          <a:p>
            <a:pPr marL="1134110">
              <a:lnSpc>
                <a:spcPct val="100000"/>
              </a:lnSpc>
              <a:spcBef>
                <a:spcPts val="875"/>
              </a:spcBef>
            </a:pP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200" i="1" spc="89" baseline="31250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120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-195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1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spc="15" dirty="0">
                <a:solidFill>
                  <a:srgbClr val="22373A"/>
                </a:solidFill>
                <a:latin typeface="LM Roman 10"/>
                <a:cs typeface="LM Roman 10"/>
              </a:rPr>
              <a:t>)(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1100" spc="1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200" i="1" spc="22" baseline="31250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1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r>
              <a:rPr sz="1100" spc="1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12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∪</a:t>
            </a:r>
            <a:r>
              <a:rPr sz="1100" i="1" spc="-11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4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60" baseline="-10416" dirty="0">
                <a:solidFill>
                  <a:srgbClr val="22373A"/>
                </a:solidFill>
                <a:latin typeface="LM Roman 8"/>
                <a:cs typeface="LM Roman 8"/>
              </a:rPr>
              <a:t>4</a:t>
            </a:r>
            <a:r>
              <a:rPr sz="1100" spc="4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endParaRPr sz="1100" dirty="0">
              <a:latin typeface="Alfios"/>
              <a:cs typeface="Alfios"/>
            </a:endParaRPr>
          </a:p>
          <a:p>
            <a:pPr marL="340360">
              <a:lnSpc>
                <a:spcPct val="100000"/>
              </a:lnSpc>
              <a:spcBef>
                <a:spcPts val="869"/>
              </a:spcBef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200" spc="97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5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82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7" baseline="-10416" dirty="0">
                <a:solidFill>
                  <a:srgbClr val="22373A"/>
                </a:solidFill>
                <a:latin typeface="LM Roman 8"/>
                <a:cs typeface="LM Roman 8"/>
              </a:rPr>
              <a:t>rip</a:t>
            </a:r>
            <a:r>
              <a:rPr sz="1100" spc="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1200" spc="104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2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30" baseline="-10416" dirty="0">
                <a:solidFill>
                  <a:srgbClr val="22373A"/>
                </a:solidFill>
                <a:latin typeface="LM Roman 8"/>
                <a:cs typeface="LM Roman 8"/>
              </a:rPr>
              <a:t>rip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7" baseline="-10416" dirty="0">
                <a:solidFill>
                  <a:srgbClr val="22373A"/>
                </a:solidFill>
                <a:latin typeface="LM Roman 8"/>
                <a:cs typeface="LM Roman 8"/>
              </a:rPr>
              <a:t>rip</a:t>
            </a:r>
            <a:r>
              <a:rPr sz="1100" spc="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3</a:t>
            </a:r>
            <a:r>
              <a:rPr sz="1200" spc="97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2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spc="30" baseline="-10416" dirty="0">
                <a:solidFill>
                  <a:srgbClr val="22373A"/>
                </a:solidFill>
                <a:latin typeface="LM Roman 8"/>
                <a:cs typeface="LM Roman 8"/>
              </a:rPr>
              <a:t>rip</a:t>
            </a:r>
            <a:r>
              <a:rPr sz="1100" i="1" spc="2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120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-195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1100" dirty="0">
              <a:latin typeface="LM Sans 10"/>
              <a:cs typeface="LM Sans 10"/>
            </a:endParaRPr>
          </a:p>
          <a:p>
            <a:pPr marL="340360">
              <a:lnSpc>
                <a:spcPct val="100000"/>
              </a:lnSpc>
              <a:spcBef>
                <a:spcPts val="235"/>
              </a:spcBef>
            </a:pP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4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5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82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14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qj</a:t>
            </a:r>
            <a:r>
              <a:rPr sz="1100" spc="10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endParaRPr sz="1100" dirty="0">
              <a:latin typeface="LM Roman 10"/>
              <a:cs typeface="LM Roman 10"/>
            </a:endParaRPr>
          </a:p>
          <a:p>
            <a:pPr marL="271780" indent="-109220">
              <a:lnSpc>
                <a:spcPct val="100000"/>
              </a:lnSpc>
              <a:spcBef>
                <a:spcPts val="305"/>
              </a:spcBef>
              <a:buSzPct val="90909"/>
              <a:buAutoNum type="arabicPeriod" startAt="4"/>
              <a:tabLst>
                <a:tab pos="27241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Compute </a:t>
            </a:r>
            <a:r>
              <a:rPr sz="1100" dirty="0">
                <a:solidFill>
                  <a:srgbClr val="22373A"/>
                </a:solidFill>
                <a:latin typeface="LM Roman Caps 10"/>
                <a:cs typeface="LM Roman Caps 10"/>
              </a:rPr>
              <a:t>convert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dirty="0">
                <a:solidFill>
                  <a:srgbClr val="22373A"/>
                </a:solidFill>
                <a:latin typeface="Alfios"/>
                <a:cs typeface="Alfios"/>
              </a:rPr>
              <a:t>G</a:t>
            </a:r>
            <a:r>
              <a:rPr sz="1200" i="1" baseline="27777" dirty="0">
                <a:solidFill>
                  <a:srgbClr val="22373A"/>
                </a:solidFill>
                <a:latin typeface="DejaVu Sans"/>
                <a:cs typeface="DejaVu Sans"/>
              </a:rPr>
              <a:t>′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)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return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this</a:t>
            </a:r>
            <a:r>
              <a:rPr sz="1100" spc="-16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value.</a:t>
            </a:r>
            <a:endParaRPr sz="1100" dirty="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172148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LM Sans 10"/>
                <a:cs typeface="LM Sans 10"/>
              </a:rPr>
              <a:t>Example: </a:t>
            </a:r>
            <a:r>
              <a:rPr sz="1200" b="1" spc="-40" dirty="0">
                <a:latin typeface="LM Sans 10"/>
                <a:cs typeface="LM Sans 10"/>
              </a:rPr>
              <a:t>DFA </a:t>
            </a:r>
            <a:r>
              <a:rPr sz="1200" b="1" spc="-5" dirty="0">
                <a:latin typeface="LM Sans 10"/>
                <a:cs typeface="LM Sans 10"/>
              </a:rPr>
              <a:t>to</a:t>
            </a:r>
            <a:r>
              <a:rPr sz="1200" b="1" spc="130" dirty="0">
                <a:latin typeface="LM Sans 10"/>
                <a:cs typeface="LM Sans 10"/>
              </a:rPr>
              <a:t> </a:t>
            </a:r>
            <a:r>
              <a:rPr sz="1200" b="1" spc="-35" dirty="0">
                <a:latin typeface="LM Sans 10"/>
                <a:cs typeface="LM Sans 10"/>
              </a:rPr>
              <a:t>GNFA</a:t>
            </a:r>
            <a:endParaRPr sz="1200" dirty="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4020" y="474256"/>
            <a:ext cx="622300" cy="1028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8966" y="479336"/>
            <a:ext cx="1165860" cy="10236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5297" y="1549589"/>
            <a:ext cx="200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(a)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9588" y="1549589"/>
            <a:ext cx="2051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(b)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3190" y="1765262"/>
            <a:ext cx="1203960" cy="1160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32646" y="1760181"/>
            <a:ext cx="698500" cy="11658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47799" y="2972675"/>
            <a:ext cx="194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(c)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2879458" y="2972675"/>
            <a:ext cx="2051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(d)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17214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F9F9F9"/>
                </a:solidFill>
                <a:latin typeface="LM Sans 10"/>
                <a:cs typeface="LM Sans 10"/>
              </a:rPr>
              <a:t>Example: </a:t>
            </a:r>
            <a:r>
              <a:rPr sz="1200" b="1" spc="-40" dirty="0">
                <a:solidFill>
                  <a:srgbClr val="F9F9F9"/>
                </a:solidFill>
                <a:latin typeface="LM Sans 10"/>
                <a:cs typeface="LM Sans 10"/>
              </a:rPr>
              <a:t>DFA </a:t>
            </a:r>
            <a:r>
              <a:rPr sz="1200" b="1" spc="-5" dirty="0">
                <a:solidFill>
                  <a:srgbClr val="F9F9F9"/>
                </a:solidFill>
                <a:latin typeface="LM Sans 10"/>
                <a:cs typeface="LM Sans 10"/>
              </a:rPr>
              <a:t>to</a:t>
            </a:r>
            <a:r>
              <a:rPr sz="1200" b="1" spc="130" dirty="0">
                <a:solidFill>
                  <a:srgbClr val="F9F9F9"/>
                </a:solidFill>
                <a:latin typeface="LM Sans 10"/>
                <a:cs typeface="LM Sans 10"/>
              </a:rPr>
              <a:t> </a:t>
            </a:r>
            <a:r>
              <a:rPr sz="1200" b="1" spc="-35" dirty="0">
                <a:solidFill>
                  <a:srgbClr val="F9F9F9"/>
                </a:solidFill>
                <a:latin typeface="LM Sans 10"/>
                <a:cs typeface="LM Sans 10"/>
              </a:rPr>
              <a:t>GNFA</a:t>
            </a:r>
            <a:endParaRPr sz="120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4304" y="474218"/>
            <a:ext cx="3299460" cy="2758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6375"/>
            <a:ext cx="172148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LM Sans 10"/>
                <a:cs typeface="LM Sans 10"/>
              </a:rPr>
              <a:t>Example: </a:t>
            </a:r>
            <a:r>
              <a:rPr sz="1200" b="1" spc="-40" dirty="0">
                <a:latin typeface="LM Sans 10"/>
                <a:cs typeface="LM Sans 10"/>
              </a:rPr>
              <a:t>DFA </a:t>
            </a:r>
            <a:r>
              <a:rPr sz="1200" b="1" spc="-5" dirty="0">
                <a:latin typeface="LM Sans 10"/>
                <a:cs typeface="LM Sans 10"/>
              </a:rPr>
              <a:t>to</a:t>
            </a:r>
            <a:r>
              <a:rPr sz="1200" b="1" spc="130" dirty="0">
                <a:latin typeface="LM Sans 10"/>
                <a:cs typeface="LM Sans 10"/>
              </a:rPr>
              <a:t> </a:t>
            </a:r>
            <a:r>
              <a:rPr sz="1200" b="1" spc="-35" dirty="0">
                <a:latin typeface="LM Sans 10"/>
                <a:cs typeface="LM Sans 10"/>
              </a:rPr>
              <a:t>GNFA</a:t>
            </a:r>
            <a:endParaRPr sz="1200" dirty="0">
              <a:latin typeface="LM Sans 10"/>
              <a:cs typeface="LM Sans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5421" y="1387297"/>
            <a:ext cx="2997200" cy="751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27918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Nonregular</a:t>
            </a:r>
            <a:r>
              <a:rPr spc="-40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21957" y="895234"/>
            <a:ext cx="4124325" cy="1776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90"/>
              </a:spcBef>
              <a:buChar char="•"/>
              <a:tabLst>
                <a:tab pos="215265" algn="l"/>
              </a:tabLst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Not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all languages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are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</a:t>
            </a:r>
            <a:r>
              <a:rPr sz="1100" spc="1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example</a:t>
            </a:r>
            <a:endParaRPr sz="1100">
              <a:latin typeface="LM Sans 10"/>
              <a:cs typeface="LM Sans 10"/>
            </a:endParaRPr>
          </a:p>
          <a:p>
            <a:pPr marR="74930" algn="ctr">
              <a:lnSpc>
                <a:spcPct val="100000"/>
              </a:lnSpc>
              <a:spcBef>
                <a:spcPts val="1335"/>
              </a:spcBef>
            </a:pPr>
            <a:r>
              <a:rPr sz="1100" i="1" spc="145" dirty="0">
                <a:solidFill>
                  <a:srgbClr val="22373A"/>
                </a:solidFill>
                <a:latin typeface="Alfios"/>
                <a:cs typeface="Alfios"/>
              </a:rPr>
              <a:t>L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baseline="31250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baseline="31250" dirty="0">
                <a:solidFill>
                  <a:srgbClr val="22373A"/>
                </a:solidFill>
                <a:latin typeface="Arimo"/>
                <a:cs typeface="Arimo"/>
              </a:rPr>
              <a:t>n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14" dirty="0">
                <a:solidFill>
                  <a:srgbClr val="22373A"/>
                </a:solidFill>
                <a:latin typeface="Alfios"/>
                <a:cs typeface="Alfios"/>
              </a:rPr>
              <a:t>n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</a:t>
            </a:r>
            <a:r>
              <a:rPr sz="1100" i="1" spc="-26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1330"/>
              </a:spcBef>
              <a:buChar char="•"/>
              <a:tabLst>
                <a:tab pos="2152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Now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consider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M Sans 10"/>
                <a:cs typeface="LM Sans 10"/>
              </a:rPr>
              <a:t>two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languages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over</a:t>
            </a:r>
            <a:r>
              <a:rPr sz="1100" spc="-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i="1" spc="-6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spc="-6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3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are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they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regular?</a:t>
            </a:r>
            <a:endParaRPr sz="1100">
              <a:latin typeface="LM Sans 10"/>
              <a:cs typeface="LM Sans 10"/>
            </a:endParaRPr>
          </a:p>
          <a:p>
            <a:pPr marL="224154">
              <a:lnSpc>
                <a:spcPct val="100000"/>
              </a:lnSpc>
              <a:spcBef>
                <a:spcPts val="1335"/>
              </a:spcBef>
              <a:tabLst>
                <a:tab pos="459740" algn="l"/>
              </a:tabLst>
            </a:pP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	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has an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equal number of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r>
              <a:rPr sz="1100" spc="-114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s</a:t>
            </a:r>
            <a:r>
              <a:rPr sz="1100" i="1" spc="-25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100" i="1" spc="-2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endParaRPr sz="1100">
              <a:latin typeface="Alfios"/>
              <a:cs typeface="Alfios"/>
            </a:endParaRPr>
          </a:p>
          <a:p>
            <a:pPr marL="214629">
              <a:lnSpc>
                <a:spcPct val="100000"/>
              </a:lnSpc>
              <a:spcBef>
                <a:spcPts val="540"/>
              </a:spcBef>
              <a:tabLst>
                <a:tab pos="459740" algn="l"/>
              </a:tabLst>
            </a:pPr>
            <a:r>
              <a:rPr sz="1100" i="1" spc="140" dirty="0">
                <a:solidFill>
                  <a:srgbClr val="22373A"/>
                </a:solidFill>
                <a:latin typeface="Alfios"/>
                <a:cs typeface="Alfios"/>
              </a:rPr>
              <a:t>D	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0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has an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equal number of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01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10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as</a:t>
            </a:r>
            <a:r>
              <a:rPr sz="1100" spc="-1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substrings</a:t>
            </a:r>
            <a:r>
              <a:rPr sz="1100" i="1" spc="-2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14629" indent="-177165">
              <a:lnSpc>
                <a:spcPct val="100000"/>
              </a:lnSpc>
              <a:spcBef>
                <a:spcPts val="1335"/>
              </a:spcBef>
              <a:buFont typeface="LM Sans 10"/>
              <a:buChar char="•"/>
              <a:tabLst>
                <a:tab pos="215265" algn="l"/>
              </a:tabLst>
            </a:pP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but </a:t>
            </a:r>
            <a:r>
              <a:rPr sz="1100" i="1" spc="140" dirty="0">
                <a:solidFill>
                  <a:srgbClr val="22373A"/>
                </a:solidFill>
                <a:latin typeface="Alfios"/>
                <a:cs typeface="Alfios"/>
              </a:rPr>
              <a:t>D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</a:t>
            </a:r>
            <a:r>
              <a:rPr sz="1100" spc="-19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:)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7062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Pumping Lemma </a:t>
            </a:r>
            <a:r>
              <a:rPr spc="-20" dirty="0"/>
              <a:t>for </a:t>
            </a:r>
            <a:r>
              <a:rPr spc="-15" dirty="0"/>
              <a:t>Regular</a:t>
            </a:r>
            <a:r>
              <a:rPr spc="15" dirty="0"/>
              <a:t> </a:t>
            </a:r>
            <a:r>
              <a:rPr spc="-10" dirty="0"/>
              <a:t>Languages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842543"/>
            <a:ext cx="3888104" cy="1835785"/>
            <a:chOff x="359994" y="842543"/>
            <a:chExt cx="3888104" cy="1835785"/>
          </a:xfrm>
        </p:grpSpPr>
        <p:sp>
          <p:nvSpPr>
            <p:cNvPr id="4" name="object 4"/>
            <p:cNvSpPr/>
            <p:nvPr/>
          </p:nvSpPr>
          <p:spPr>
            <a:xfrm>
              <a:off x="359994" y="842543"/>
              <a:ext cx="3888104" cy="198755"/>
            </a:xfrm>
            <a:custGeom>
              <a:avLst/>
              <a:gdLst/>
              <a:ahLst/>
              <a:cxnLst/>
              <a:rect l="l" t="t" r="r" b="b"/>
              <a:pathLst>
                <a:path w="3888104" h="198755">
                  <a:moveTo>
                    <a:pt x="3888003" y="0"/>
                  </a:moveTo>
                  <a:lnTo>
                    <a:pt x="0" y="0"/>
                  </a:lnTo>
                  <a:lnTo>
                    <a:pt x="0" y="198247"/>
                  </a:lnTo>
                  <a:lnTo>
                    <a:pt x="3888003" y="198247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CE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040790"/>
              <a:ext cx="3888104" cy="1637664"/>
            </a:xfrm>
            <a:custGeom>
              <a:avLst/>
              <a:gdLst/>
              <a:ahLst/>
              <a:cxnLst/>
              <a:rect l="l" t="t" r="r" b="b"/>
              <a:pathLst>
                <a:path w="3888104" h="1637664">
                  <a:moveTo>
                    <a:pt x="3888003" y="0"/>
                  </a:moveTo>
                  <a:lnTo>
                    <a:pt x="0" y="0"/>
                  </a:lnTo>
                  <a:lnTo>
                    <a:pt x="0" y="1637449"/>
                  </a:lnTo>
                  <a:lnTo>
                    <a:pt x="3888003" y="1637449"/>
                  </a:lnTo>
                  <a:lnTo>
                    <a:pt x="3888003" y="0"/>
                  </a:lnTo>
                  <a:close/>
                </a:path>
              </a:pathLst>
            </a:custGeom>
            <a:solidFill>
              <a:srgbClr val="E4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5384" y="776717"/>
            <a:ext cx="3897629" cy="182372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64"/>
              </a:spcBef>
            </a:pPr>
            <a:r>
              <a:rPr sz="1100" b="1" spc="-15" dirty="0">
                <a:solidFill>
                  <a:srgbClr val="22373A"/>
                </a:solidFill>
                <a:latin typeface="LM Sans 10"/>
                <a:cs typeface="LM Sans 10"/>
              </a:rPr>
              <a:t>Lemma</a:t>
            </a:r>
            <a:r>
              <a:rPr sz="1100" b="1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b="1" spc="-5" dirty="0">
                <a:solidFill>
                  <a:srgbClr val="22373A"/>
                </a:solidFill>
                <a:latin typeface="LM Sans 10"/>
                <a:cs typeface="LM Sans 10"/>
              </a:rPr>
              <a:t>10</a:t>
            </a:r>
            <a:endParaRPr sz="1100">
              <a:latin typeface="LM Sans 10"/>
              <a:cs typeface="LM Sans 10"/>
            </a:endParaRPr>
          </a:p>
          <a:p>
            <a:pPr marL="50800" marR="43180">
              <a:lnSpc>
                <a:spcPct val="118000"/>
              </a:lnSpc>
              <a:spcBef>
                <a:spcPts val="120"/>
              </a:spcBef>
            </a:pP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95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 </a:t>
            </a:r>
            <a:r>
              <a:rPr sz="1100" i="1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language,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then there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a number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(the pumping  length)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where, if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is any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string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1100" i="1" spc="95" dirty="0">
                <a:solidFill>
                  <a:srgbClr val="22373A"/>
                </a:solidFill>
                <a:latin typeface="Alfios"/>
                <a:cs typeface="Alfios"/>
              </a:rPr>
              <a:t>A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of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length at least </a:t>
            </a: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 </a:t>
            </a:r>
            <a:r>
              <a:rPr sz="1100" i="1" spc="-20" dirty="0">
                <a:solidFill>
                  <a:srgbClr val="22373A"/>
                </a:solidFill>
                <a:latin typeface="LM Sans 10"/>
                <a:cs typeface="LM Sans 10"/>
              </a:rPr>
              <a:t>may </a:t>
            </a:r>
            <a:r>
              <a:rPr sz="1100" i="1" spc="5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divided into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three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pieces,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70" dirty="0">
                <a:solidFill>
                  <a:srgbClr val="22373A"/>
                </a:solidFill>
                <a:latin typeface="Alfios"/>
                <a:cs typeface="Alfios"/>
              </a:rPr>
              <a:t>xyz</a:t>
            </a:r>
            <a:r>
              <a:rPr sz="1100" i="1" spc="7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-5" dirty="0">
                <a:solidFill>
                  <a:srgbClr val="22373A"/>
                </a:solidFill>
                <a:latin typeface="LM Sans 10"/>
                <a:cs typeface="LM Sans 10"/>
              </a:rPr>
              <a:t>satisfying the 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following condition:</a:t>
            </a:r>
            <a:endParaRPr sz="1100">
              <a:latin typeface="LM Sans 10"/>
              <a:cs typeface="LM Sans 10"/>
            </a:endParaRPr>
          </a:p>
          <a:p>
            <a:pPr marL="104139">
              <a:lnSpc>
                <a:spcPct val="100000"/>
              </a:lnSpc>
              <a:spcBef>
                <a:spcPts val="1085"/>
              </a:spcBef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1. </a:t>
            </a:r>
            <a:r>
              <a:rPr sz="1100" i="1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each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200" i="1" spc="150" baseline="27777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z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sz="1100" i="1" spc="-19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45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1100" i="1" spc="4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104139">
              <a:lnSpc>
                <a:spcPct val="100000"/>
              </a:lnSpc>
              <a:spcBef>
                <a:spcPts val="535"/>
              </a:spcBef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2.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i="1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1100">
              <a:latin typeface="LM Sans 10"/>
              <a:cs typeface="LM Sans 10"/>
            </a:endParaRPr>
          </a:p>
          <a:p>
            <a:pPr marL="104139">
              <a:lnSpc>
                <a:spcPct val="100000"/>
              </a:lnSpc>
              <a:spcBef>
                <a:spcPts val="540"/>
              </a:spcBef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3. 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</a:t>
            </a:r>
            <a:r>
              <a:rPr sz="1100" i="1" spc="6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10" dirty="0">
                <a:solidFill>
                  <a:srgbClr val="22373A"/>
                </a:solidFill>
                <a:latin typeface="LM Sans 10"/>
                <a:cs typeface="LM Sans 10"/>
              </a:rPr>
              <a:t>.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0966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Proof </a:t>
            </a:r>
            <a:r>
              <a:rPr spc="-20" dirty="0"/>
              <a:t>for </a:t>
            </a:r>
            <a:r>
              <a:rPr spc="-10" dirty="0"/>
              <a:t>Pumping</a:t>
            </a:r>
            <a:r>
              <a:rPr spc="-35" dirty="0"/>
              <a:t> </a:t>
            </a:r>
            <a:r>
              <a:rPr spc="-10" dirty="0"/>
              <a:t>Lemma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432331"/>
            <a:ext cx="4055110" cy="2795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 marR="252095" indent="-177165" algn="just">
              <a:lnSpc>
                <a:spcPct val="118000"/>
              </a:lnSpc>
              <a:spcBef>
                <a:spcPts val="100"/>
              </a:spcBef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r>
              <a:rPr sz="1100" i="1" spc="14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40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Q,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LM Roman 10"/>
                <a:cs typeface="LM Roman 10"/>
              </a:rPr>
              <a:t>Σ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δ,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q</a:t>
            </a:r>
            <a:r>
              <a:rPr sz="1200" i="1" spc="44" baseline="-10416" dirty="0">
                <a:solidFill>
                  <a:srgbClr val="22373A"/>
                </a:solidFill>
                <a:latin typeface="Arimo"/>
                <a:cs typeface="Arimo"/>
              </a:rPr>
              <a:t>q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F</a:t>
            </a:r>
            <a:r>
              <a:rPr sz="1100" i="1" spc="-1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a 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DFA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recognizing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95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 number of states of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endParaRPr sz="1100">
              <a:latin typeface="Alfios"/>
              <a:cs typeface="Alfios"/>
            </a:endParaRPr>
          </a:p>
          <a:p>
            <a:pPr marL="328930" indent="-177165" algn="just">
              <a:lnSpc>
                <a:spcPct val="100000"/>
              </a:lnSpc>
              <a:spcBef>
                <a:spcPts val="240"/>
              </a:spcBef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spc="44" baseline="-10416" dirty="0">
                <a:solidFill>
                  <a:srgbClr val="22373A"/>
                </a:solidFill>
                <a:latin typeface="LM Roman 8"/>
                <a:cs typeface="LM Roman 8"/>
              </a:rPr>
              <a:t>2</a:t>
            </a:r>
            <a:r>
              <a:rPr sz="1200" spc="-82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75" baseline="-10416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1200" i="1" spc="277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a string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in </a:t>
            </a:r>
            <a:r>
              <a:rPr sz="1100" i="1" spc="95" dirty="0">
                <a:solidFill>
                  <a:srgbClr val="22373A"/>
                </a:solidFill>
                <a:latin typeface="Alfios"/>
                <a:cs typeface="Alfios"/>
              </a:rPr>
              <a:t>A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of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length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1100" spc="5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14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endParaRPr sz="1100">
              <a:latin typeface="Alfios"/>
              <a:cs typeface="Alfios"/>
            </a:endParaRPr>
          </a:p>
          <a:p>
            <a:pPr marL="328930" marR="399415" indent="-177165" algn="just">
              <a:lnSpc>
                <a:spcPct val="118000"/>
              </a:lnSpc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9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135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i="1" spc="9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75" baseline="-10416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+1</a:t>
            </a:r>
            <a:r>
              <a:rPr sz="1200" spc="195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sequence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of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states that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</a:t>
            </a:r>
            <a:r>
              <a:rPr sz="1100" i="1" spc="2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enters  while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processing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100" spc="1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so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200" spc="89" baseline="-10416" dirty="0">
                <a:solidFill>
                  <a:srgbClr val="22373A"/>
                </a:solidFill>
                <a:latin typeface="LM Roman 8"/>
                <a:cs typeface="LM Roman 8"/>
              </a:rPr>
              <a:t>+1</a:t>
            </a:r>
            <a:r>
              <a:rPr sz="1200" spc="97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δ</a:t>
            </a:r>
            <a:r>
              <a:rPr sz="1100" spc="85" dirty="0">
                <a:solidFill>
                  <a:srgbClr val="22373A"/>
                </a:solidFill>
                <a:latin typeface="LM Roman 10"/>
                <a:cs typeface="LM Roman 10"/>
              </a:rPr>
              <a:t>(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127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89" baseline="-10416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spc="60" dirty="0">
                <a:solidFill>
                  <a:srgbClr val="22373A"/>
                </a:solidFill>
                <a:latin typeface="LM Roman 10"/>
                <a:cs typeface="LM Roman 10"/>
              </a:rPr>
              <a:t>)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</a:t>
            </a:r>
            <a:r>
              <a:rPr sz="1100" i="1" spc="-5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1100" spc="5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this  sequence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 has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length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14" dirty="0">
                <a:solidFill>
                  <a:srgbClr val="22373A"/>
                </a:solidFill>
                <a:latin typeface="Alfios"/>
                <a:cs typeface="Alfios"/>
              </a:rPr>
              <a:t>n</a:t>
            </a:r>
            <a:r>
              <a:rPr sz="1100" i="1" spc="-4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</a:t>
            </a:r>
            <a:r>
              <a:rPr sz="1100" spc="-12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which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at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least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</a:t>
            </a:r>
            <a:r>
              <a:rPr sz="1100" spc="-13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  <a:p>
            <a:pPr marL="328930" marR="154940" indent="-177165" algn="just">
              <a:lnSpc>
                <a:spcPct val="118000"/>
              </a:lnSpc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Among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first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elements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sequence, </a:t>
            </a:r>
            <a:r>
              <a:rPr sz="1100" spc="-30" dirty="0">
                <a:solidFill>
                  <a:srgbClr val="22373A"/>
                </a:solidFill>
                <a:latin typeface="LM Sans 10"/>
                <a:cs typeface="LM Sans 10"/>
              </a:rPr>
              <a:t>two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must</a:t>
            </a:r>
            <a:r>
              <a:rPr sz="1100" spc="-2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same state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(by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pigeonhole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principle)</a:t>
            </a:r>
            <a:endParaRPr sz="1100">
              <a:latin typeface="LM Sans 10"/>
              <a:cs typeface="LM Sans 10"/>
            </a:endParaRPr>
          </a:p>
          <a:p>
            <a:pPr marL="328930" indent="-177800" algn="just">
              <a:lnSpc>
                <a:spcPct val="100000"/>
              </a:lnSpc>
              <a:spcBef>
                <a:spcPts val="240"/>
              </a:spcBef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first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of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them</a:t>
            </a:r>
            <a:r>
              <a:rPr sz="1100" spc="-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232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284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second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9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135" baseline="-13888" dirty="0">
                <a:solidFill>
                  <a:srgbClr val="22373A"/>
                </a:solidFill>
                <a:latin typeface="Arimo"/>
                <a:cs typeface="Arimo"/>
              </a:rPr>
              <a:t>l</a:t>
            </a:r>
            <a:r>
              <a:rPr sz="1100" spc="9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4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1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165" baseline="-13888" dirty="0">
                <a:solidFill>
                  <a:srgbClr val="22373A"/>
                </a:solidFill>
                <a:latin typeface="Arimo"/>
                <a:cs typeface="Arimo"/>
              </a:rPr>
              <a:t>l</a:t>
            </a:r>
            <a:r>
              <a:rPr sz="1200" i="1" spc="232" baseline="-13888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occurs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among</a:t>
            </a:r>
            <a:r>
              <a:rPr sz="1100" spc="-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first</a:t>
            </a:r>
            <a:endParaRPr sz="1100">
              <a:latin typeface="LM Sans 10"/>
              <a:cs typeface="LM Sans 10"/>
            </a:endParaRPr>
          </a:p>
          <a:p>
            <a:pPr marL="328930">
              <a:lnSpc>
                <a:spcPct val="100000"/>
              </a:lnSpc>
              <a:spcBef>
                <a:spcPts val="235"/>
              </a:spcBef>
            </a:pP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</a:t>
            </a:r>
            <a:r>
              <a:rPr sz="1100" spc="-12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places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a sequence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starting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at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89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spc="6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we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have</a:t>
            </a:r>
            <a:r>
              <a:rPr sz="110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l</a:t>
            </a:r>
            <a:r>
              <a:rPr sz="1100" i="1" spc="4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</a:t>
            </a:r>
            <a:r>
              <a:rPr sz="1100" i="1" spc="-5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</a:t>
            </a:r>
            <a:r>
              <a:rPr sz="1100" spc="-12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  <a:p>
            <a:pPr marL="328930" indent="-177800">
              <a:lnSpc>
                <a:spcPct val="100000"/>
              </a:lnSpc>
              <a:spcBef>
                <a:spcPts val="240"/>
              </a:spcBef>
              <a:buChar char="•"/>
              <a:tabLst>
                <a:tab pos="3295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x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spc="2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200" spc="-82" baseline="-10416" dirty="0">
                <a:solidFill>
                  <a:srgbClr val="22373A"/>
                </a:solidFill>
                <a:latin typeface="LM Roman 8"/>
                <a:cs typeface="LM Roman 8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82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82" baseline="-10416" dirty="0">
                <a:solidFill>
                  <a:srgbClr val="22373A"/>
                </a:solidFill>
                <a:latin typeface="DejaVu Sans"/>
                <a:cs typeface="DejaVu Sans"/>
              </a:rPr>
              <a:t>−</a:t>
            </a:r>
            <a:r>
              <a:rPr sz="1200" spc="82" baseline="-10416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spc="55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1100" i="1" spc="6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7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150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82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3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44" baseline="-13888" dirty="0">
                <a:solidFill>
                  <a:srgbClr val="22373A"/>
                </a:solidFill>
                <a:latin typeface="Arimo"/>
                <a:cs typeface="Arimo"/>
              </a:rPr>
              <a:t>l</a:t>
            </a:r>
            <a:r>
              <a:rPr sz="1200" i="1" spc="44" baseline="-13888" dirty="0">
                <a:solidFill>
                  <a:srgbClr val="22373A"/>
                </a:solidFill>
                <a:latin typeface="DejaVu Sans"/>
                <a:cs typeface="DejaVu Sans"/>
              </a:rPr>
              <a:t>−</a:t>
            </a:r>
            <a:r>
              <a:rPr sz="1200" spc="44" baseline="-13888" dirty="0">
                <a:solidFill>
                  <a:srgbClr val="22373A"/>
                </a:solidFill>
                <a:latin typeface="LM Roman 8"/>
                <a:cs typeface="LM Roman 8"/>
              </a:rPr>
              <a:t>1</a:t>
            </a:r>
            <a:r>
              <a:rPr sz="1100" spc="30" dirty="0">
                <a:solidFill>
                  <a:srgbClr val="22373A"/>
                </a:solidFill>
                <a:latin typeface="LM Sans 10"/>
                <a:cs typeface="LM Sans 10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z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6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82" baseline="-13888" dirty="0">
                <a:solidFill>
                  <a:srgbClr val="22373A"/>
                </a:solidFill>
                <a:latin typeface="Arimo"/>
                <a:cs typeface="Arimo"/>
              </a:rPr>
              <a:t>l</a:t>
            </a:r>
            <a:r>
              <a:rPr sz="1200" i="1" spc="22" baseline="-13888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10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.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,</a:t>
            </a:r>
            <a:r>
              <a:rPr sz="1100" i="1" spc="-9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200" i="1" spc="75" baseline="-10416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endParaRPr sz="1200" baseline="-10416">
              <a:latin typeface="Arimo"/>
              <a:cs typeface="Arimo"/>
            </a:endParaRPr>
          </a:p>
          <a:p>
            <a:pPr marL="328930" indent="-177800" algn="just">
              <a:lnSpc>
                <a:spcPct val="100000"/>
              </a:lnSpc>
              <a:spcBef>
                <a:spcPts val="240"/>
              </a:spcBef>
              <a:buFont typeface="LM Sans 10"/>
              <a:buChar char="•"/>
              <a:tabLst>
                <a:tab pos="329565" algn="l"/>
              </a:tabLst>
            </a:pP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x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takes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from </a:t>
            </a:r>
            <a:r>
              <a:rPr sz="1100" i="1" spc="7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spc="104" baseline="-10416" dirty="0">
                <a:solidFill>
                  <a:srgbClr val="22373A"/>
                </a:solidFill>
                <a:latin typeface="LM Roman 8"/>
                <a:cs typeface="LM Roman 8"/>
              </a:rPr>
              <a:t>1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to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232" baseline="-10416" dirty="0">
                <a:solidFill>
                  <a:srgbClr val="22373A"/>
                </a:solidFill>
                <a:latin typeface="Arimo"/>
                <a:cs typeface="Arimo"/>
              </a:rPr>
              <a:t>j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y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takes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from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232" baseline="-10416" dirty="0">
                <a:solidFill>
                  <a:srgbClr val="22373A"/>
                </a:solidFill>
                <a:latin typeface="Arimo"/>
                <a:cs typeface="Arimo"/>
              </a:rPr>
              <a:t>j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to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232" baseline="-10416" dirty="0">
                <a:solidFill>
                  <a:srgbClr val="22373A"/>
                </a:solidFill>
                <a:latin typeface="Arimo"/>
                <a:cs typeface="Arimo"/>
              </a:rPr>
              <a:t>j</a:t>
            </a:r>
            <a:r>
              <a:rPr sz="1200" i="1" spc="-209" baseline="-10416" dirty="0">
                <a:solidFill>
                  <a:srgbClr val="22373A"/>
                </a:solidFill>
                <a:latin typeface="Arimo"/>
                <a:cs typeface="Arimo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z</a:t>
            </a:r>
            <a:endParaRPr sz="1100">
              <a:latin typeface="Alfios"/>
              <a:cs typeface="Alfios"/>
            </a:endParaRPr>
          </a:p>
          <a:p>
            <a:pPr marL="328930">
              <a:lnSpc>
                <a:spcPct val="100000"/>
              </a:lnSpc>
              <a:spcBef>
                <a:spcPts val="235"/>
              </a:spcBef>
            </a:pP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takes </a:t>
            </a: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from </a:t>
            </a:r>
            <a:r>
              <a:rPr sz="1100" i="1" spc="155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232" baseline="-10416" dirty="0">
                <a:solidFill>
                  <a:srgbClr val="22373A"/>
                </a:solidFill>
                <a:latin typeface="Arimo"/>
                <a:cs typeface="Arimo"/>
              </a:rPr>
              <a:t>j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to </a:t>
            </a:r>
            <a:r>
              <a:rPr sz="1100" i="1" spc="50" dirty="0">
                <a:solidFill>
                  <a:srgbClr val="22373A"/>
                </a:solidFill>
                <a:latin typeface="Alfios"/>
                <a:cs typeface="Alfios"/>
              </a:rPr>
              <a:t>r</a:t>
            </a:r>
            <a:r>
              <a:rPr sz="1200" i="1" spc="75" baseline="-10416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1200" spc="75" baseline="-10416" dirty="0">
                <a:solidFill>
                  <a:srgbClr val="22373A"/>
                </a:solidFill>
                <a:latin typeface="LM Roman 8"/>
                <a:cs typeface="LM Roman 8"/>
              </a:rPr>
              <a:t>+1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(accepting</a:t>
            </a:r>
            <a:r>
              <a:rPr sz="1100" spc="19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state)</a:t>
            </a:r>
            <a:endParaRPr sz="1100">
              <a:latin typeface="LM Sans 10"/>
              <a:cs typeface="LM Sans 10"/>
            </a:endParaRPr>
          </a:p>
          <a:p>
            <a:pPr marL="328930" indent="-177800" algn="just">
              <a:lnSpc>
                <a:spcPct val="100000"/>
              </a:lnSpc>
              <a:spcBef>
                <a:spcPts val="240"/>
              </a:spcBef>
              <a:buFont typeface="LM Sans 10"/>
              <a:buChar char="•"/>
              <a:tabLst>
                <a:tab pos="329565" algn="l"/>
              </a:tabLst>
            </a:pPr>
            <a:r>
              <a:rPr sz="1100" i="1" spc="170" dirty="0">
                <a:solidFill>
                  <a:srgbClr val="22373A"/>
                </a:solidFill>
                <a:latin typeface="Alfios"/>
                <a:cs typeface="Alfios"/>
              </a:rPr>
              <a:t>M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must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accept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200" i="1" spc="150" baseline="27777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z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since </a:t>
            </a:r>
            <a:r>
              <a:rPr sz="1100" i="1" spc="204" dirty="0">
                <a:solidFill>
                  <a:srgbClr val="22373A"/>
                </a:solidFill>
                <a:latin typeface="Alfios"/>
                <a:cs typeface="Alfios"/>
              </a:rPr>
              <a:t>j </a:t>
            </a:r>
            <a:r>
              <a:rPr sz="1100" i="1" spc="-5" dirty="0">
                <a:solidFill>
                  <a:srgbClr val="22373A"/>
                </a:solidFill>
                <a:latin typeface="DejaVu Sans"/>
                <a:cs typeface="DejaVu Sans"/>
              </a:rPr>
              <a:t≯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l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so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y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</a:t>
            </a:r>
            <a:r>
              <a:rPr sz="1100" i="1" spc="-135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95" y="3234358"/>
            <a:ext cx="1293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l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+</a:t>
            </a:r>
            <a:r>
              <a:rPr sz="1100" spc="-29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</a:t>
            </a:r>
            <a:endParaRPr sz="1100">
              <a:latin typeface="Alfios"/>
              <a:cs typeface="Alfi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6541" y="3207117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solidFill>
                  <a:srgbClr val="22373A"/>
                </a:solidFill>
                <a:latin typeface="LM Sans 8"/>
                <a:cs typeface="LM Sans 8"/>
              </a:rPr>
              <a:t>43</a:t>
            </a:r>
            <a:endParaRPr sz="800"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40872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Using PL </a:t>
            </a:r>
            <a:r>
              <a:rPr spc="-5" dirty="0"/>
              <a:t>to </a:t>
            </a:r>
            <a:r>
              <a:rPr spc="-10" dirty="0"/>
              <a:t>Prove Languages</a:t>
            </a:r>
            <a:r>
              <a:rPr spc="25" dirty="0"/>
              <a:t> </a:t>
            </a:r>
            <a:r>
              <a:rPr spc="-10" dirty="0"/>
              <a:t>Nonregular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83857" y="700694"/>
            <a:ext cx="3894454" cy="21031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52729" indent="-177165">
              <a:lnSpc>
                <a:spcPct val="100000"/>
              </a:lnSpc>
              <a:spcBef>
                <a:spcPts val="635"/>
              </a:spcBef>
              <a:buChar char="•"/>
              <a:tabLst>
                <a:tab pos="2533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language </a:t>
            </a:r>
            <a:r>
              <a:rPr sz="1100" i="1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baseline="27777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110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baseline="27777" dirty="0">
                <a:solidFill>
                  <a:srgbClr val="22373A"/>
                </a:solidFill>
                <a:latin typeface="Arimo"/>
                <a:cs typeface="Arimo"/>
              </a:rPr>
              <a:t>n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14" dirty="0">
                <a:solidFill>
                  <a:srgbClr val="22373A"/>
                </a:solidFill>
                <a:latin typeface="Alfios"/>
                <a:cs typeface="Alfios"/>
              </a:rPr>
              <a:t>n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</a:t>
            </a:r>
            <a:r>
              <a:rPr sz="1100" i="1" spc="-26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52729" marR="205740" indent="-177165">
              <a:lnSpc>
                <a:spcPct val="118000"/>
              </a:lnSpc>
              <a:spcBef>
                <a:spcPts val="300"/>
              </a:spcBef>
              <a:buChar char="•"/>
              <a:tabLst>
                <a:tab pos="2533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Assume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pumping length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given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by 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pumping lemma</a:t>
            </a:r>
            <a:endParaRPr sz="1100">
              <a:latin typeface="LM Sans 10"/>
              <a:cs typeface="LM Sans 10"/>
            </a:endParaRPr>
          </a:p>
          <a:p>
            <a:pPr marL="252729" indent="-177165">
              <a:lnSpc>
                <a:spcPct val="100000"/>
              </a:lnSpc>
              <a:spcBef>
                <a:spcPts val="540"/>
              </a:spcBef>
              <a:buChar char="•"/>
              <a:tabLst>
                <a:tab pos="2533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-7" baseline="27777" dirty="0">
                <a:solidFill>
                  <a:srgbClr val="22373A"/>
                </a:solidFill>
                <a:latin typeface="Arimo"/>
                <a:cs typeface="Arimo"/>
              </a:rPr>
              <a:t>p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7" baseline="27777" dirty="0">
                <a:solidFill>
                  <a:srgbClr val="22373A"/>
                </a:solidFill>
                <a:latin typeface="Arimo"/>
                <a:cs typeface="Arimo"/>
              </a:rPr>
              <a:t>p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so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therefore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15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xyz</a:t>
            </a:r>
            <a:endParaRPr sz="1100">
              <a:latin typeface="Alfios"/>
              <a:cs typeface="Alfios"/>
            </a:endParaRPr>
          </a:p>
          <a:p>
            <a:pPr marL="252729" indent="-177165">
              <a:lnSpc>
                <a:spcPct val="100000"/>
              </a:lnSpc>
              <a:spcBef>
                <a:spcPts val="350"/>
              </a:spcBef>
              <a:buChar char="•"/>
              <a:tabLst>
                <a:tab pos="253365" algn="l"/>
              </a:tabLst>
            </a:pPr>
            <a:r>
              <a:rPr sz="1100" spc="-30" dirty="0">
                <a:solidFill>
                  <a:srgbClr val="22373A"/>
                </a:solidFill>
                <a:latin typeface="LM Sans 10"/>
                <a:cs typeface="LM Sans 10"/>
              </a:rPr>
              <a:t>For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200" i="1" spc="150" baseline="27777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z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must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in</a:t>
            </a:r>
            <a:r>
              <a:rPr sz="1100" spc="-4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</a:t>
            </a:r>
            <a:endParaRPr sz="1100">
              <a:latin typeface="Alfios"/>
              <a:cs typeface="Alfios"/>
            </a:endParaRPr>
          </a:p>
          <a:p>
            <a:pPr marL="530225" lvl="1" indent="-168275">
              <a:lnSpc>
                <a:spcPct val="100000"/>
              </a:lnSpc>
              <a:spcBef>
                <a:spcPts val="355"/>
              </a:spcBef>
              <a:buFont typeface="LM Sans 10"/>
              <a:buAutoNum type="arabicPeriod"/>
              <a:tabLst>
                <a:tab pos="530860" algn="l"/>
              </a:tabLst>
            </a:pPr>
            <a:r>
              <a:rPr sz="1000" i="1" spc="15" dirty="0">
                <a:solidFill>
                  <a:srgbClr val="22373A"/>
                </a:solidFill>
                <a:latin typeface="Alfios"/>
                <a:cs typeface="Alfios"/>
              </a:rPr>
              <a:t>y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consists only of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so </a:t>
            </a:r>
            <a:r>
              <a:rPr sz="1000" i="1" spc="70" dirty="0">
                <a:solidFill>
                  <a:srgbClr val="22373A"/>
                </a:solidFill>
                <a:latin typeface="Alfios"/>
                <a:cs typeface="Alfios"/>
              </a:rPr>
              <a:t>xyyz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has </a:t>
            </a:r>
            <a:r>
              <a:rPr sz="1000" spc="-15" dirty="0">
                <a:solidFill>
                  <a:srgbClr val="22373A"/>
                </a:solidFill>
                <a:latin typeface="LM Sans 10"/>
                <a:cs typeface="LM Sans 10"/>
              </a:rPr>
              <a:t>more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than</a:t>
            </a:r>
            <a:r>
              <a:rPr sz="1000" spc="-8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</a:t>
            </a:r>
            <a:endParaRPr sz="1000">
              <a:latin typeface="LM Sans 10"/>
              <a:cs typeface="LM Sans 10"/>
            </a:endParaRPr>
          </a:p>
          <a:p>
            <a:pPr marL="530225" lvl="1" indent="-168275">
              <a:lnSpc>
                <a:spcPct val="100000"/>
              </a:lnSpc>
              <a:spcBef>
                <a:spcPts val="175"/>
              </a:spcBef>
              <a:buFont typeface="LM Sans 10"/>
              <a:buAutoNum type="arabicPeriod"/>
              <a:tabLst>
                <a:tab pos="530860" algn="l"/>
              </a:tabLst>
            </a:pPr>
            <a:r>
              <a:rPr sz="1000" i="1" spc="15" dirty="0">
                <a:solidFill>
                  <a:srgbClr val="22373A"/>
                </a:solidFill>
                <a:latin typeface="Alfios"/>
                <a:cs typeface="Alfios"/>
              </a:rPr>
              <a:t>y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consists only of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, same</a:t>
            </a:r>
            <a:r>
              <a:rPr sz="1000" spc="-17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argument</a:t>
            </a:r>
            <a:endParaRPr sz="1000">
              <a:latin typeface="LM Sans 10"/>
              <a:cs typeface="LM Sans 10"/>
            </a:endParaRPr>
          </a:p>
          <a:p>
            <a:pPr marL="530225" marR="30480" lvl="1" indent="-168275">
              <a:lnSpc>
                <a:spcPct val="114599"/>
              </a:lnSpc>
              <a:buFont typeface="LM Sans 10"/>
              <a:buAutoNum type="arabicPeriod"/>
              <a:tabLst>
                <a:tab pos="530860" algn="l"/>
              </a:tabLst>
            </a:pPr>
            <a:r>
              <a:rPr sz="1000" i="1" spc="15" dirty="0">
                <a:solidFill>
                  <a:srgbClr val="22373A"/>
                </a:solidFill>
                <a:latin typeface="Alfios"/>
                <a:cs typeface="Alfios"/>
              </a:rPr>
              <a:t>y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consists of </a:t>
            </a:r>
            <a:r>
              <a:rPr sz="1000" dirty="0">
                <a:solidFill>
                  <a:srgbClr val="22373A"/>
                </a:solidFill>
                <a:latin typeface="LM Sans 10"/>
                <a:cs typeface="LM Sans 10"/>
              </a:rPr>
              <a:t>both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so </a:t>
            </a:r>
            <a:r>
              <a:rPr sz="1000" i="1" spc="70" dirty="0">
                <a:solidFill>
                  <a:srgbClr val="22373A"/>
                </a:solidFill>
                <a:latin typeface="Alfios"/>
                <a:cs typeface="Alfios"/>
              </a:rPr>
              <a:t>xyyz </a:t>
            </a:r>
            <a:r>
              <a:rPr sz="1000" spc="-15" dirty="0">
                <a:solidFill>
                  <a:srgbClr val="22373A"/>
                </a:solidFill>
                <a:latin typeface="LM Sans 10"/>
                <a:cs typeface="LM Sans 10"/>
              </a:rPr>
              <a:t>may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have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equal number  of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0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’s 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but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they will </a:t>
            </a:r>
            <a:r>
              <a:rPr sz="10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000" spc="-5" dirty="0">
                <a:solidFill>
                  <a:srgbClr val="22373A"/>
                </a:solidFill>
                <a:latin typeface="LM Sans 10"/>
                <a:cs typeface="LM Sans 10"/>
              </a:rPr>
              <a:t>out of</a:t>
            </a:r>
            <a:r>
              <a:rPr sz="1000" spc="-1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000" spc="-15" dirty="0">
                <a:solidFill>
                  <a:srgbClr val="22373A"/>
                </a:solidFill>
                <a:latin typeface="LM Sans 10"/>
                <a:cs typeface="LM Sans 10"/>
              </a:rPr>
              <a:t>order</a:t>
            </a:r>
            <a:endParaRPr sz="1000">
              <a:latin typeface="LM Sans 10"/>
              <a:cs typeface="LM Sans 10"/>
            </a:endParaRPr>
          </a:p>
          <a:p>
            <a:pPr marL="252729" indent="-177165">
              <a:lnSpc>
                <a:spcPct val="100000"/>
              </a:lnSpc>
              <a:spcBef>
                <a:spcPts val="560"/>
              </a:spcBef>
              <a:buChar char="•"/>
              <a:tabLst>
                <a:tab pos="253365" algn="l"/>
              </a:tabLst>
            </a:pP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Hence,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</a:t>
            </a:r>
            <a:r>
              <a:rPr sz="1100" spc="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9348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Using PL </a:t>
            </a:r>
            <a:r>
              <a:rPr spc="-5" dirty="0"/>
              <a:t>to </a:t>
            </a:r>
            <a:r>
              <a:rPr spc="-10" dirty="0"/>
              <a:t>Prove Languages</a:t>
            </a:r>
            <a:r>
              <a:rPr spc="25" dirty="0"/>
              <a:t> </a:t>
            </a:r>
            <a:r>
              <a:rPr spc="-10" dirty="0"/>
              <a:t>Nonregular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96557" y="815070"/>
            <a:ext cx="3855085" cy="18745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0029" indent="-177165">
              <a:lnSpc>
                <a:spcPct val="100000"/>
              </a:lnSpc>
              <a:spcBef>
                <a:spcPts val="635"/>
              </a:spcBef>
              <a:buChar char="•"/>
              <a:tabLst>
                <a:tab pos="2406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7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has an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equal number of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s and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spc="-55" dirty="0">
                <a:solidFill>
                  <a:srgbClr val="22373A"/>
                </a:solidFill>
                <a:latin typeface="LM Sans 10"/>
                <a:cs typeface="LM Sans 10"/>
              </a:rPr>
              <a:t>s</a:t>
            </a:r>
            <a:r>
              <a:rPr sz="1100" i="1" spc="-55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40029" indent="-1771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Assume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pumping</a:t>
            </a:r>
            <a:r>
              <a:rPr sz="1100" spc="-13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length</a:t>
            </a:r>
            <a:endParaRPr sz="1100">
              <a:latin typeface="LM Sans 10"/>
              <a:cs typeface="LM Sans 10"/>
            </a:endParaRPr>
          </a:p>
          <a:p>
            <a:pPr marL="240029" indent="-177165">
              <a:lnSpc>
                <a:spcPct val="100000"/>
              </a:lnSpc>
              <a:spcBef>
                <a:spcPts val="535"/>
              </a:spcBef>
              <a:buChar char="•"/>
              <a:tabLst>
                <a:tab pos="2406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Let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spc="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7" baseline="27777" dirty="0">
                <a:solidFill>
                  <a:srgbClr val="22373A"/>
                </a:solidFill>
                <a:latin typeface="Arimo"/>
                <a:cs typeface="Arimo"/>
              </a:rPr>
              <a:t>p</a:t>
            </a:r>
            <a:r>
              <a:rPr sz="1100" spc="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7" baseline="27777" dirty="0">
                <a:solidFill>
                  <a:srgbClr val="22373A"/>
                </a:solidFill>
                <a:latin typeface="Arimo"/>
                <a:cs typeface="Arimo"/>
              </a:rPr>
              <a:t>p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,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s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therefore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</a:t>
            </a:r>
            <a:r>
              <a:rPr sz="1100" spc="-240" dirty="0">
                <a:solidFill>
                  <a:srgbClr val="22373A"/>
                </a:solidFill>
                <a:latin typeface="LM Roman 10"/>
                <a:cs typeface="LM Roman 10"/>
              </a:rPr>
              <a:t>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xyz</a:t>
            </a:r>
            <a:endParaRPr sz="1100">
              <a:latin typeface="Alfios"/>
              <a:cs typeface="Alfios"/>
            </a:endParaRPr>
          </a:p>
          <a:p>
            <a:pPr marL="240029" indent="-1771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Now 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so </a:t>
            </a:r>
            <a:r>
              <a:rPr sz="1100" i="1" spc="40" dirty="0">
                <a:solidFill>
                  <a:srgbClr val="22373A"/>
                </a:solidFill>
                <a:latin typeface="Alfios"/>
                <a:cs typeface="Alfios"/>
              </a:rPr>
              <a:t>s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-7" baseline="27777" dirty="0">
                <a:solidFill>
                  <a:srgbClr val="22373A"/>
                </a:solidFill>
                <a:latin typeface="Arimo"/>
                <a:cs typeface="Arimo"/>
              </a:rPr>
              <a:t>p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7" baseline="27777" dirty="0">
                <a:solidFill>
                  <a:srgbClr val="22373A"/>
                </a:solidFill>
                <a:latin typeface="Arimo"/>
                <a:cs typeface="Arimo"/>
              </a:rPr>
              <a:t>p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cannot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-8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pumped</a:t>
            </a:r>
            <a:endParaRPr sz="1100">
              <a:latin typeface="LM Sans 10"/>
              <a:cs typeface="LM Sans 10"/>
            </a:endParaRPr>
          </a:p>
          <a:p>
            <a:pPr marL="240029" indent="-177165">
              <a:lnSpc>
                <a:spcPct val="100000"/>
              </a:lnSpc>
              <a:spcBef>
                <a:spcPts val="535"/>
              </a:spcBef>
              <a:buChar char="•"/>
              <a:tabLst>
                <a:tab pos="2406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xy</a:t>
            </a:r>
            <a:r>
              <a:rPr sz="1100" i="1" spc="15" dirty="0">
                <a:solidFill>
                  <a:srgbClr val="22373A"/>
                </a:solidFill>
                <a:latin typeface="DejaVu Sans"/>
                <a:cs typeface="DejaVu Sans"/>
              </a:rPr>
              <a:t>|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≤ </a:t>
            </a:r>
            <a:r>
              <a:rPr sz="1100" i="1" spc="25" dirty="0">
                <a:solidFill>
                  <a:srgbClr val="22373A"/>
                </a:solidFill>
                <a:latin typeface="Alfios"/>
                <a:cs typeface="Alfios"/>
              </a:rPr>
              <a:t>p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then </a:t>
            </a:r>
            <a:r>
              <a:rPr sz="1100" i="1" spc="10" dirty="0">
                <a:solidFill>
                  <a:srgbClr val="22373A"/>
                </a:solidFill>
                <a:latin typeface="Alfios"/>
                <a:cs typeface="Alfios"/>
              </a:rPr>
              <a:t>y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must consist only of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’s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so </a:t>
            </a:r>
            <a:r>
              <a:rPr sz="1100" i="1" spc="75" dirty="0">
                <a:solidFill>
                  <a:srgbClr val="22373A"/>
                </a:solidFill>
                <a:latin typeface="Alfios"/>
                <a:cs typeface="Alfios"/>
              </a:rPr>
              <a:t>xyyz</a:t>
            </a:r>
            <a:r>
              <a:rPr sz="1100" i="1" spc="-9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-459" dirty="0">
                <a:solidFill>
                  <a:srgbClr val="22373A"/>
                </a:solidFill>
                <a:latin typeface="DejaVu Sans"/>
                <a:cs typeface="DejaVu Sans"/>
              </a:rPr>
              <a:t>∈</a:t>
            </a:r>
            <a:r>
              <a:rPr sz="1100" i="1" spc="-459" dirty="0">
                <a:solidFill>
                  <a:srgbClr val="22373A"/>
                </a:solidFill>
                <a:latin typeface="Alfios"/>
                <a:cs typeface="Alfios"/>
              </a:rPr>
              <a:t>/</a:t>
            </a:r>
            <a:r>
              <a:rPr sz="1100" i="1" spc="8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</a:t>
            </a:r>
            <a:endParaRPr sz="1100">
              <a:latin typeface="Alfios"/>
              <a:cs typeface="Alfios"/>
            </a:endParaRPr>
          </a:p>
          <a:p>
            <a:pPr marL="240029" indent="-177165">
              <a:lnSpc>
                <a:spcPct val="100000"/>
              </a:lnSpc>
              <a:spcBef>
                <a:spcPts val="535"/>
              </a:spcBef>
              <a:buChar char="•"/>
              <a:tabLst>
                <a:tab pos="2406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Alternately,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since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nonregular,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if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were regular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∩</a:t>
            </a:r>
            <a:r>
              <a:rPr sz="1100" i="1" spc="-120" dirty="0">
                <a:solidFill>
                  <a:srgbClr val="22373A"/>
                </a:solidFill>
                <a:latin typeface="DejaVu Sans"/>
                <a:cs typeface="DejaVu Sans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-179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-12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179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endParaRPr sz="1200" baseline="27777">
              <a:latin typeface="DejaVu Sans"/>
              <a:cs typeface="DejaVu Sans"/>
            </a:endParaRPr>
          </a:p>
          <a:p>
            <a:pPr marL="240029">
              <a:lnSpc>
                <a:spcPct val="100000"/>
              </a:lnSpc>
              <a:spcBef>
                <a:spcPts val="240"/>
              </a:spcBef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also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would </a:t>
            </a:r>
            <a:r>
              <a:rPr sz="1100" spc="10" dirty="0">
                <a:solidFill>
                  <a:srgbClr val="22373A"/>
                </a:solidFill>
                <a:latin typeface="LM Sans 10"/>
                <a:cs typeface="LM Sans 10"/>
              </a:rPr>
              <a:t>be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  <a:p>
            <a:pPr marL="240029" indent="-1771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But </a:t>
            </a:r>
            <a:r>
              <a:rPr sz="1100" i="1" spc="35" dirty="0">
                <a:solidFill>
                  <a:srgbClr val="22373A"/>
                </a:solidFill>
                <a:latin typeface="Alfios"/>
                <a:cs typeface="Alfios"/>
              </a:rPr>
              <a:t>C 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∩ </a:t>
            </a:r>
            <a:r>
              <a:rPr sz="1100" spc="-114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-172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spc="-114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172" baseline="27777" dirty="0">
                <a:solidFill>
                  <a:srgbClr val="22373A"/>
                </a:solidFill>
                <a:latin typeface="DejaVu Sans"/>
                <a:cs typeface="DejaVu Sans"/>
              </a:rPr>
              <a:t>∗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and </a:t>
            </a:r>
            <a:r>
              <a:rPr sz="1100" spc="-25" dirty="0">
                <a:solidFill>
                  <a:srgbClr val="22373A"/>
                </a:solidFill>
                <a:latin typeface="LM Sans 10"/>
                <a:cs typeface="LM Sans 10"/>
              </a:rPr>
              <a:t>we </a:t>
            </a: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know </a:t>
            </a:r>
            <a:r>
              <a:rPr sz="1100" i="1" spc="85" dirty="0">
                <a:solidFill>
                  <a:srgbClr val="22373A"/>
                </a:solidFill>
                <a:latin typeface="Alfios"/>
                <a:cs typeface="Alfios"/>
              </a:rPr>
              <a:t>B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</a:t>
            </a:r>
            <a:r>
              <a:rPr sz="1100" spc="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70" y="46058"/>
            <a:ext cx="3706280" cy="26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Using PL </a:t>
            </a:r>
            <a:r>
              <a:rPr spc="-5" dirty="0"/>
              <a:t>to </a:t>
            </a:r>
            <a:r>
              <a:rPr spc="-10" dirty="0"/>
              <a:t>Prove Languages</a:t>
            </a:r>
            <a:r>
              <a:rPr spc="25" dirty="0"/>
              <a:t> </a:t>
            </a:r>
            <a:r>
              <a:rPr spc="-10" dirty="0"/>
              <a:t>Nonregular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83857" y="1282888"/>
            <a:ext cx="3793490" cy="9309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52729" indent="-177165">
              <a:lnSpc>
                <a:spcPct val="100000"/>
              </a:lnSpc>
              <a:spcBef>
                <a:spcPts val="635"/>
              </a:spcBef>
              <a:buChar char="•"/>
              <a:tabLst>
                <a:tab pos="2533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Show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that </a:t>
            </a:r>
            <a:r>
              <a:rPr sz="1100" i="1" spc="60" dirty="0">
                <a:solidFill>
                  <a:srgbClr val="22373A"/>
                </a:solidFill>
                <a:latin typeface="Alfios"/>
                <a:cs typeface="Alfios"/>
              </a:rPr>
              <a:t>F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3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i="1" spc="-35" dirty="0">
                <a:solidFill>
                  <a:srgbClr val="22373A"/>
                </a:solidFill>
                <a:latin typeface="Alfios"/>
                <a:cs typeface="Alfios"/>
              </a:rPr>
              <a:t>ww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5" dirty="0">
                <a:solidFill>
                  <a:srgbClr val="22373A"/>
                </a:solidFill>
                <a:latin typeface="Alfios"/>
                <a:cs typeface="Alfios"/>
              </a:rPr>
              <a:t>w </a:t>
            </a:r>
            <a:r>
              <a:rPr sz="1100" i="1" spc="-235" dirty="0">
                <a:solidFill>
                  <a:srgbClr val="22373A"/>
                </a:solidFill>
                <a:latin typeface="DejaVu Sans"/>
                <a:cs typeface="DejaVu Sans"/>
              </a:rPr>
              <a:t>∈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30" dirty="0">
                <a:solidFill>
                  <a:srgbClr val="22373A"/>
                </a:solidFill>
                <a:latin typeface="Alfios"/>
                <a:cs typeface="Alfios"/>
              </a:rPr>
              <a:t>, </a:t>
            </a:r>
            <a:r>
              <a:rPr sz="1100" spc="-13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i="1" spc="-130" dirty="0">
                <a:solidFill>
                  <a:srgbClr val="22373A"/>
                </a:solidFill>
                <a:latin typeface="DejaVu Sans"/>
                <a:cs typeface="DejaVu Sans"/>
              </a:rPr>
              <a:t>}</a:t>
            </a:r>
            <a:r>
              <a:rPr sz="1200" i="1" spc="-195" baseline="27777" dirty="0">
                <a:solidFill>
                  <a:srgbClr val="22373A"/>
                </a:solidFill>
                <a:latin typeface="DejaVu Sans"/>
                <a:cs typeface="DejaVu Sans"/>
              </a:rPr>
              <a:t>∗</a:t>
            </a:r>
            <a:r>
              <a:rPr sz="1100" i="1" spc="-130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</a:t>
            </a:r>
            <a:r>
              <a:rPr sz="1100" spc="-50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  <a:p>
            <a:pPr marL="252729" marR="30480" indent="-177165">
              <a:lnSpc>
                <a:spcPct val="118000"/>
              </a:lnSpc>
              <a:spcBef>
                <a:spcPts val="300"/>
              </a:spcBef>
              <a:buChar char="•"/>
              <a:tabLst>
                <a:tab pos="2533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Show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that </a:t>
            </a:r>
            <a:r>
              <a:rPr sz="1100" i="1" spc="140" dirty="0">
                <a:solidFill>
                  <a:srgbClr val="22373A"/>
                </a:solidFill>
                <a:latin typeface="Alfios"/>
                <a:cs typeface="Alfios"/>
              </a:rPr>
              <a:t>D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-30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-30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-44" baseline="27777" dirty="0">
                <a:solidFill>
                  <a:srgbClr val="22373A"/>
                </a:solidFill>
                <a:latin typeface="Arimo"/>
                <a:cs typeface="Arimo"/>
              </a:rPr>
              <a:t>n</a:t>
            </a:r>
            <a:r>
              <a:rPr sz="900" spc="-44" baseline="64814" dirty="0">
                <a:solidFill>
                  <a:srgbClr val="22373A"/>
                </a:solidFill>
                <a:latin typeface="LM Roman 6"/>
                <a:cs typeface="LM Roman 6"/>
              </a:rPr>
              <a:t>2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14" dirty="0">
                <a:solidFill>
                  <a:srgbClr val="22373A"/>
                </a:solidFill>
                <a:latin typeface="Alfios"/>
                <a:cs typeface="Alfios"/>
              </a:rPr>
              <a:t>n </a:t>
            </a:r>
            <a:r>
              <a:rPr sz="1100" i="1" spc="-75" dirty="0">
                <a:solidFill>
                  <a:srgbClr val="22373A"/>
                </a:solidFill>
                <a:latin typeface="DejaVu Sans"/>
                <a:cs typeface="DejaVu Sans"/>
              </a:rPr>
              <a:t>≥ </a:t>
            </a:r>
            <a:r>
              <a:rPr sz="1100" spc="-80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100" i="1" spc="-80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regular. </a:t>
            </a:r>
            <a:r>
              <a:rPr sz="1100" i="1" spc="140" dirty="0">
                <a:solidFill>
                  <a:srgbClr val="22373A"/>
                </a:solidFill>
                <a:latin typeface="Alfios"/>
                <a:cs typeface="Alfios"/>
              </a:rPr>
              <a:t>D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the 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language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of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all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strings of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s whose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length is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a perfect</a:t>
            </a:r>
            <a:r>
              <a:rPr sz="1100" spc="25" dirty="0">
                <a:solidFill>
                  <a:srgbClr val="22373A"/>
                </a:solidFill>
                <a:latin typeface="LM Sans 10"/>
                <a:cs typeface="LM Sans 10"/>
              </a:rPr>
              <a:t>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square</a:t>
            </a:r>
            <a:endParaRPr sz="1100">
              <a:latin typeface="LM Sans 10"/>
              <a:cs typeface="LM Sans 10"/>
            </a:endParaRPr>
          </a:p>
          <a:p>
            <a:pPr marL="252729" indent="-177165">
              <a:lnSpc>
                <a:spcPct val="100000"/>
              </a:lnSpc>
              <a:spcBef>
                <a:spcPts val="540"/>
              </a:spcBef>
              <a:buChar char="•"/>
              <a:tabLst>
                <a:tab pos="253365" algn="l"/>
              </a:tabLst>
            </a:pPr>
            <a:r>
              <a:rPr sz="1100" spc="-20" dirty="0">
                <a:solidFill>
                  <a:srgbClr val="22373A"/>
                </a:solidFill>
                <a:latin typeface="LM Sans 10"/>
                <a:cs typeface="LM Sans 10"/>
              </a:rPr>
              <a:t>Show </a:t>
            </a:r>
            <a:r>
              <a:rPr sz="1100" spc="-5" dirty="0">
                <a:solidFill>
                  <a:srgbClr val="22373A"/>
                </a:solidFill>
                <a:latin typeface="LM Sans 10"/>
                <a:cs typeface="LM Sans 10"/>
              </a:rPr>
              <a:t>that </a:t>
            </a:r>
            <a:r>
              <a:rPr sz="1100" i="1" spc="100" dirty="0">
                <a:solidFill>
                  <a:srgbClr val="22373A"/>
                </a:solidFill>
                <a:latin typeface="Alfios"/>
                <a:cs typeface="Alfios"/>
              </a:rPr>
              <a:t>E </a:t>
            </a:r>
            <a:r>
              <a:rPr sz="1100" spc="-10" dirty="0">
                <a:solidFill>
                  <a:srgbClr val="22373A"/>
                </a:solidFill>
                <a:latin typeface="LM Roman 10"/>
                <a:cs typeface="LM Roman 10"/>
              </a:rPr>
              <a:t>= </a:t>
            </a:r>
            <a:r>
              <a:rPr sz="1100" i="1" spc="25" dirty="0">
                <a:solidFill>
                  <a:srgbClr val="22373A"/>
                </a:solidFill>
                <a:latin typeface="DejaVu Sans"/>
                <a:cs typeface="DejaVu Sans"/>
              </a:rPr>
              <a:t>{</a:t>
            </a:r>
            <a:r>
              <a:rPr sz="1100" spc="25" dirty="0">
                <a:solidFill>
                  <a:srgbClr val="22373A"/>
                </a:solidFill>
                <a:latin typeface="LM Roman 10"/>
                <a:cs typeface="LM Roman 10"/>
              </a:rPr>
              <a:t>0</a:t>
            </a:r>
            <a:r>
              <a:rPr sz="1200" i="1" spc="37" baseline="27777" dirty="0">
                <a:solidFill>
                  <a:srgbClr val="22373A"/>
                </a:solidFill>
                <a:latin typeface="Arimo"/>
                <a:cs typeface="Arimo"/>
              </a:rPr>
              <a:t>i</a:t>
            </a:r>
            <a:r>
              <a:rPr sz="1100" spc="25" dirty="0">
                <a:solidFill>
                  <a:srgbClr val="22373A"/>
                </a:solidFill>
                <a:latin typeface="LM Roman 10"/>
                <a:cs typeface="LM Roman 10"/>
              </a:rPr>
              <a:t>1</a:t>
            </a:r>
            <a:r>
              <a:rPr sz="1200" i="1" spc="37" baseline="27777" dirty="0">
                <a:solidFill>
                  <a:srgbClr val="22373A"/>
                </a:solidFill>
                <a:latin typeface="Arimo"/>
                <a:cs typeface="Arimo"/>
              </a:rPr>
              <a:t>j </a:t>
            </a:r>
            <a:r>
              <a:rPr sz="1100" spc="-5" dirty="0">
                <a:solidFill>
                  <a:srgbClr val="22373A"/>
                </a:solidFill>
                <a:latin typeface="LM Roman 10"/>
                <a:cs typeface="LM Roman 10"/>
              </a:rPr>
              <a:t>: </a:t>
            </a:r>
            <a:r>
              <a:rPr sz="1100" i="1" spc="130" dirty="0">
                <a:solidFill>
                  <a:srgbClr val="22373A"/>
                </a:solidFill>
                <a:latin typeface="Alfios"/>
                <a:cs typeface="Alfios"/>
              </a:rPr>
              <a:t>i </a:t>
            </a:r>
            <a:r>
              <a:rPr sz="1100" i="1" spc="220" dirty="0">
                <a:solidFill>
                  <a:srgbClr val="22373A"/>
                </a:solidFill>
                <a:latin typeface="Alfios"/>
                <a:cs typeface="Alfios"/>
              </a:rPr>
              <a:t>&gt;</a:t>
            </a:r>
            <a:r>
              <a:rPr sz="1100" i="1" spc="-80" dirty="0">
                <a:solidFill>
                  <a:srgbClr val="22373A"/>
                </a:solidFill>
                <a:latin typeface="Alfios"/>
                <a:cs typeface="Alfios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Alfios"/>
                <a:cs typeface="Alfios"/>
              </a:rPr>
              <a:t>j</a:t>
            </a:r>
            <a:r>
              <a:rPr sz="1100" i="1" spc="55" dirty="0">
                <a:solidFill>
                  <a:srgbClr val="22373A"/>
                </a:solidFill>
                <a:latin typeface="DejaVu Sans"/>
                <a:cs typeface="DejaVu Sans"/>
              </a:rPr>
              <a:t>} </a:t>
            </a:r>
            <a:r>
              <a:rPr sz="1100" spc="-10" dirty="0">
                <a:solidFill>
                  <a:srgbClr val="22373A"/>
                </a:solidFill>
                <a:latin typeface="LM Sans 10"/>
                <a:cs typeface="LM Sans 10"/>
              </a:rPr>
              <a:t>is not </a:t>
            </a:r>
            <a:r>
              <a:rPr sz="1100" spc="-15" dirty="0">
                <a:solidFill>
                  <a:srgbClr val="22373A"/>
                </a:solidFill>
                <a:latin typeface="LM Sans 10"/>
                <a:cs typeface="LM Sans 10"/>
              </a:rPr>
              <a:t>regular</a:t>
            </a:r>
            <a:endParaRPr sz="1100">
              <a:latin typeface="LM Sans 10"/>
              <a:cs typeface="LM Sans 10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1365</Words>
  <Application>Microsoft Office PowerPoint</Application>
  <PresentationFormat>Custom</PresentationFormat>
  <Paragraphs>151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Alfios</vt:lpstr>
      <vt:lpstr>Arial</vt:lpstr>
      <vt:lpstr>Arimo</vt:lpstr>
      <vt:lpstr>Calibri</vt:lpstr>
      <vt:lpstr>Calibri Light</vt:lpstr>
      <vt:lpstr>DejaVu Sans</vt:lpstr>
      <vt:lpstr>LM Roman 10</vt:lpstr>
      <vt:lpstr>LM Roman 6</vt:lpstr>
      <vt:lpstr>LM Roman 8</vt:lpstr>
      <vt:lpstr>LM Roman Caps 10</vt:lpstr>
      <vt:lpstr>LM Sans 10</vt:lpstr>
      <vt:lpstr>LM Sans 8</vt:lpstr>
      <vt:lpstr>Times New Roman</vt:lpstr>
      <vt:lpstr>Office Theme</vt:lpstr>
      <vt:lpstr> Week 3: Introduction to Regular Expresssions</vt:lpstr>
      <vt:lpstr>Regular Expressions</vt:lpstr>
      <vt:lpstr>Examples</vt:lpstr>
      <vt:lpstr>Notes</vt:lpstr>
      <vt:lpstr>Regular Expressions and Regular Languages</vt:lpstr>
      <vt:lpstr>PowerPoint Presentation</vt:lpstr>
      <vt:lpstr>PowerPoint Presentation</vt:lpstr>
      <vt:lpstr>Generalized Nondeterministic Finite Automata</vt:lpstr>
      <vt:lpstr>PowerPoint Presentation</vt:lpstr>
      <vt:lpstr>Generalized Nondeterministic Finite Automata</vt:lpstr>
      <vt:lpstr>Converting DFA to GNFA</vt:lpstr>
      <vt:lpstr>PowerPoint Presentation</vt:lpstr>
      <vt:lpstr>PowerPoint Presentation</vt:lpstr>
      <vt:lpstr>PowerPoint Presentation</vt:lpstr>
      <vt:lpstr>Nonregular Language</vt:lpstr>
      <vt:lpstr>Pumping Lemma for Regular Languages</vt:lpstr>
      <vt:lpstr>Proof for Pumping Lemma</vt:lpstr>
      <vt:lpstr>Using PL to Prove Languages Nonregular</vt:lpstr>
      <vt:lpstr>Using PL to Prove Languages Nonregular</vt:lpstr>
      <vt:lpstr>Using PL to Prove Languages Nonregular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309: Theory of Automata  Introduction and Finite Automata</dc:title>
  <dc:creator>Dell</dc:creator>
  <cp:lastModifiedBy>Dell</cp:lastModifiedBy>
  <cp:revision>17</cp:revision>
  <dcterms:created xsi:type="dcterms:W3CDTF">2022-09-07T05:51:53Z</dcterms:created>
  <dcterms:modified xsi:type="dcterms:W3CDTF">2022-09-07T05:57:56Z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2022-09-07T00:00:00Z</vt:filetime>
  </property>
</Properties>
</file>