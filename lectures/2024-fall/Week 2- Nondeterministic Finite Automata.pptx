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71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8B62-CF33-4703-8AD2-C2E118B72D3D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160A-BAFE-4671-AF49-3BF1B0EEF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55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8B62-CF33-4703-8AD2-C2E118B72D3D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160A-BAFE-4671-AF49-3BF1B0EEF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85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8B62-CF33-4703-8AD2-C2E118B72D3D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160A-BAFE-4671-AF49-3BF1B0EEF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2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8B62-CF33-4703-8AD2-C2E118B72D3D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160A-BAFE-4671-AF49-3BF1B0EEF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5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8B62-CF33-4703-8AD2-C2E118B72D3D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160A-BAFE-4671-AF49-3BF1B0EEF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91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8B62-CF33-4703-8AD2-C2E118B72D3D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160A-BAFE-4671-AF49-3BF1B0EEF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26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8B62-CF33-4703-8AD2-C2E118B72D3D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160A-BAFE-4671-AF49-3BF1B0EEF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3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8B62-CF33-4703-8AD2-C2E118B72D3D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160A-BAFE-4671-AF49-3BF1B0EEF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77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8B62-CF33-4703-8AD2-C2E118B72D3D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160A-BAFE-4671-AF49-3BF1B0EEF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653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8B62-CF33-4703-8AD2-C2E118B72D3D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160A-BAFE-4671-AF49-3BF1B0EEF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72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8B62-CF33-4703-8AD2-C2E118B72D3D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160A-BAFE-4671-AF49-3BF1B0EEF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A8B62-CF33-4703-8AD2-C2E118B72D3D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2160A-BAFE-4671-AF49-3BF1B0EEF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8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44363" y="1682108"/>
            <a:ext cx="6332837" cy="968349"/>
            <a:chOff x="879449" y="848842"/>
            <a:chExt cx="2849245" cy="488658"/>
          </a:xfrm>
        </p:grpSpPr>
        <p:sp>
          <p:nvSpPr>
            <p:cNvPr id="3" name="object 3"/>
            <p:cNvSpPr/>
            <p:nvPr/>
          </p:nvSpPr>
          <p:spPr>
            <a:xfrm>
              <a:off x="879449" y="848842"/>
              <a:ext cx="2849245" cy="238125"/>
            </a:xfrm>
            <a:custGeom>
              <a:avLst/>
              <a:gdLst/>
              <a:ahLst/>
              <a:cxnLst/>
              <a:rect l="l" t="t" r="r" b="b"/>
              <a:pathLst>
                <a:path w="2849245" h="238125">
                  <a:moveTo>
                    <a:pt x="2849092" y="0"/>
                  </a:moveTo>
                  <a:lnTo>
                    <a:pt x="0" y="0"/>
                  </a:lnTo>
                  <a:lnTo>
                    <a:pt x="0" y="237870"/>
                  </a:lnTo>
                  <a:lnTo>
                    <a:pt x="2849092" y="237870"/>
                  </a:lnTo>
                  <a:lnTo>
                    <a:pt x="2849092" y="0"/>
                  </a:lnTo>
                  <a:close/>
                </a:path>
              </a:pathLst>
            </a:custGeom>
            <a:solidFill>
              <a:srgbClr val="EDEDFF"/>
            </a:solidFill>
          </p:spPr>
          <p:txBody>
            <a:bodyPr wrap="square" lIns="0" tIns="0" rIns="0" bIns="0" rtlCol="0"/>
            <a:lstStyle/>
            <a:p>
              <a:r>
                <a:rPr lang="en-US" sz="2800" b="1" spc="20" dirty="0">
                  <a:latin typeface="LM Sans 10"/>
                  <a:cs typeface="LM Sans 10"/>
                </a:rPr>
                <a:t>             </a:t>
              </a:r>
              <a:r>
                <a:rPr lang="en-US" sz="2800" b="1" spc="20">
                  <a:latin typeface="LM Sans 10"/>
                  <a:cs typeface="LM Sans 10"/>
                </a:rPr>
                <a:t>Lecture 2</a:t>
              </a:r>
              <a:endParaRPr sz="2800"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922020" y="1099375"/>
              <a:ext cx="2806674" cy="238125"/>
            </a:xfrm>
            <a:custGeom>
              <a:avLst/>
              <a:gdLst/>
              <a:ahLst/>
              <a:cxnLst/>
              <a:rect l="l" t="t" r="r" b="b"/>
              <a:pathLst>
                <a:path w="1974214" h="238125">
                  <a:moveTo>
                    <a:pt x="1973961" y="0"/>
                  </a:moveTo>
                  <a:lnTo>
                    <a:pt x="0" y="0"/>
                  </a:lnTo>
                  <a:lnTo>
                    <a:pt x="0" y="237858"/>
                  </a:lnTo>
                  <a:lnTo>
                    <a:pt x="1973961" y="237858"/>
                  </a:lnTo>
                  <a:lnTo>
                    <a:pt x="1973961" y="0"/>
                  </a:lnTo>
                  <a:close/>
                </a:path>
              </a:pathLst>
            </a:custGeom>
            <a:solidFill>
              <a:srgbClr val="E0E0FF"/>
            </a:solidFill>
          </p:spPr>
          <p:txBody>
            <a:bodyPr wrap="square" lIns="0" tIns="0" rIns="0" bIns="0" rtlCol="0"/>
            <a:lstStyle/>
            <a:p>
              <a:r>
                <a:rPr lang="en-US" sz="2400" b="1" dirty="0"/>
                <a:t>     Non Deterministic Finite Automata</a:t>
              </a:r>
              <a:endParaRPr sz="2400" b="1"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08545" y="3241655"/>
            <a:ext cx="4522879" cy="666648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1259" algn="ctr">
              <a:spcBef>
                <a:spcPts val="178"/>
              </a:spcBef>
            </a:pPr>
            <a:r>
              <a:rPr lang="en-US" sz="2200" b="1" spc="-10" dirty="0" err="1">
                <a:latin typeface="LM Sans 10"/>
                <a:cs typeface="LM Sans 10"/>
              </a:rPr>
              <a:t>Asma</a:t>
            </a:r>
            <a:r>
              <a:rPr lang="en-US" sz="2200" b="1" spc="-10" dirty="0">
                <a:latin typeface="LM Sans 10"/>
                <a:cs typeface="LM Sans 10"/>
              </a:rPr>
              <a:t> </a:t>
            </a:r>
            <a:r>
              <a:rPr lang="en-US" sz="2200" b="1" spc="-10" dirty="0" err="1">
                <a:latin typeface="LM Sans 10"/>
                <a:cs typeface="LM Sans 10"/>
              </a:rPr>
              <a:t>Sanam</a:t>
            </a:r>
            <a:r>
              <a:rPr lang="en-US" sz="2200" b="1" spc="-10" dirty="0">
                <a:latin typeface="LM Sans 10"/>
                <a:cs typeface="LM Sans 10"/>
              </a:rPr>
              <a:t> </a:t>
            </a:r>
            <a:r>
              <a:rPr lang="en-US" sz="2200" b="1" spc="-10" dirty="0" err="1">
                <a:latin typeface="LM Sans 10"/>
                <a:cs typeface="LM Sans 10"/>
              </a:rPr>
              <a:t>Larik</a:t>
            </a:r>
            <a:endParaRPr sz="2200" dirty="0">
              <a:latin typeface="LM Sans 10"/>
              <a:cs typeface="LM Sans 10"/>
            </a:endParaRPr>
          </a:p>
          <a:p>
            <a:pPr>
              <a:spcBef>
                <a:spcPts val="89"/>
              </a:spcBef>
            </a:pPr>
            <a:endParaRPr sz="1900" dirty="0">
              <a:latin typeface="LM Mono 10"/>
              <a:cs typeface="LM Mono 10"/>
            </a:endParaRPr>
          </a:p>
        </p:txBody>
      </p:sp>
    </p:spTree>
    <p:extLst>
      <p:ext uri="{BB962C8B-B14F-4D97-AF65-F5344CB8AC3E}">
        <p14:creationId xmlns:p14="http://schemas.microsoft.com/office/powerpoint/2010/main" val="437164605"/>
      </p:ext>
    </p:extLst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146" y="165018"/>
            <a:ext cx="5662555" cy="701262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pc="-10" dirty="0"/>
              <a:t>Nondeterminism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42716" y="5280923"/>
            <a:ext cx="707841" cy="707192"/>
            <a:chOff x="1181119" y="2664910"/>
            <a:chExt cx="356870" cy="356870"/>
          </a:xfrm>
        </p:grpSpPr>
        <p:sp>
          <p:nvSpPr>
            <p:cNvPr id="4" name="object 4"/>
            <p:cNvSpPr/>
            <p:nvPr/>
          </p:nvSpPr>
          <p:spPr>
            <a:xfrm>
              <a:off x="1186199" y="2669990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09" h="346710">
                  <a:moveTo>
                    <a:pt x="173183" y="0"/>
                  </a:moveTo>
                  <a:lnTo>
                    <a:pt x="127144" y="6186"/>
                  </a:lnTo>
                  <a:lnTo>
                    <a:pt x="85773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3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3" y="295643"/>
                  </a:lnTo>
                  <a:lnTo>
                    <a:pt x="322722" y="260593"/>
                  </a:lnTo>
                  <a:lnTo>
                    <a:pt x="340180" y="219223"/>
                  </a:lnTo>
                  <a:lnTo>
                    <a:pt x="346367" y="173183"/>
                  </a:lnTo>
                  <a:lnTo>
                    <a:pt x="340180" y="127144"/>
                  </a:lnTo>
                  <a:lnTo>
                    <a:pt x="322722" y="85773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6199" y="2669990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09" h="346710">
                  <a:moveTo>
                    <a:pt x="346367" y="173183"/>
                  </a:moveTo>
                  <a:lnTo>
                    <a:pt x="340180" y="127144"/>
                  </a:lnTo>
                  <a:lnTo>
                    <a:pt x="322722" y="85773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3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3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3" y="295643"/>
                  </a:lnTo>
                  <a:lnTo>
                    <a:pt x="322722" y="260593"/>
                  </a:lnTo>
                  <a:lnTo>
                    <a:pt x="340180" y="219223"/>
                  </a:lnTo>
                  <a:lnTo>
                    <a:pt x="346367" y="173183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00770" y="5366853"/>
            <a:ext cx="979894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  <a:tabLst>
                <a:tab pos="467071" algn="l"/>
              </a:tabLst>
            </a:pPr>
            <a:r>
              <a:rPr sz="2200" u="sng" spc="-1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200" spc="-10" dirty="0">
                <a:solidFill>
                  <a:srgbClr val="22373A"/>
                </a:solidFill>
                <a:latin typeface="Times New Roman"/>
                <a:cs typeface="Times New Roman"/>
              </a:rPr>
              <a:t>   </a:t>
            </a:r>
            <a:r>
              <a:rPr sz="2200" i="1" spc="-1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endParaRPr sz="2400" baseline="-10416">
              <a:latin typeface="LM Roman 8"/>
              <a:cs typeface="LM Roman 8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70831" y="5280923"/>
            <a:ext cx="707841" cy="707192"/>
            <a:chOff x="1901127" y="2664910"/>
            <a:chExt cx="356870" cy="356870"/>
          </a:xfrm>
        </p:grpSpPr>
        <p:sp>
          <p:nvSpPr>
            <p:cNvPr id="8" name="object 8"/>
            <p:cNvSpPr/>
            <p:nvPr/>
          </p:nvSpPr>
          <p:spPr>
            <a:xfrm>
              <a:off x="1906207" y="2669990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173183" y="0"/>
                  </a:move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2" y="219223"/>
                  </a:lnTo>
                  <a:lnTo>
                    <a:pt x="346368" y="173183"/>
                  </a:lnTo>
                  <a:lnTo>
                    <a:pt x="340182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06207" y="2669990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346368" y="173183"/>
                  </a:moveTo>
                  <a:lnTo>
                    <a:pt x="340182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2" y="219223"/>
                  </a:lnTo>
                  <a:lnTo>
                    <a:pt x="346368" y="173183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271981" y="4870381"/>
            <a:ext cx="576853" cy="809118"/>
            <a:chOff x="1145457" y="2457738"/>
            <a:chExt cx="290830" cy="408305"/>
          </a:xfrm>
        </p:grpSpPr>
        <p:sp>
          <p:nvSpPr>
            <p:cNvPr id="11" name="object 11"/>
            <p:cNvSpPr/>
            <p:nvPr/>
          </p:nvSpPr>
          <p:spPr>
            <a:xfrm>
              <a:off x="1147481" y="2822930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6366" y="2457738"/>
              <a:ext cx="139432" cy="215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27888" y="5366853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1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2</a:t>
            </a:r>
            <a:endParaRPr sz="2400" baseline="-10416">
              <a:latin typeface="LM Roman 8"/>
              <a:cs typeface="LM Roman 8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98948" y="5280923"/>
            <a:ext cx="707841" cy="707192"/>
            <a:chOff x="2621136" y="2664910"/>
            <a:chExt cx="356870" cy="356870"/>
          </a:xfrm>
        </p:grpSpPr>
        <p:sp>
          <p:nvSpPr>
            <p:cNvPr id="15" name="object 15"/>
            <p:cNvSpPr/>
            <p:nvPr/>
          </p:nvSpPr>
          <p:spPr>
            <a:xfrm>
              <a:off x="2626216" y="2669990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173181" y="0"/>
                  </a:moveTo>
                  <a:lnTo>
                    <a:pt x="127143" y="6186"/>
                  </a:lnTo>
                  <a:lnTo>
                    <a:pt x="85773" y="23644"/>
                  </a:lnTo>
                  <a:lnTo>
                    <a:pt x="50724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4" y="295643"/>
                  </a:lnTo>
                  <a:lnTo>
                    <a:pt x="85773" y="322722"/>
                  </a:lnTo>
                  <a:lnTo>
                    <a:pt x="127143" y="340180"/>
                  </a:lnTo>
                  <a:lnTo>
                    <a:pt x="173181" y="346367"/>
                  </a:lnTo>
                  <a:lnTo>
                    <a:pt x="219223" y="340180"/>
                  </a:lnTo>
                  <a:lnTo>
                    <a:pt x="260596" y="322722"/>
                  </a:lnTo>
                  <a:lnTo>
                    <a:pt x="295647" y="295643"/>
                  </a:lnTo>
                  <a:lnTo>
                    <a:pt x="322726" y="260593"/>
                  </a:lnTo>
                  <a:lnTo>
                    <a:pt x="340184" y="219223"/>
                  </a:lnTo>
                  <a:lnTo>
                    <a:pt x="346370" y="173183"/>
                  </a:lnTo>
                  <a:lnTo>
                    <a:pt x="340184" y="127144"/>
                  </a:lnTo>
                  <a:lnTo>
                    <a:pt x="322726" y="85773"/>
                  </a:lnTo>
                  <a:lnTo>
                    <a:pt x="295647" y="50723"/>
                  </a:lnTo>
                  <a:lnTo>
                    <a:pt x="260596" y="23644"/>
                  </a:lnTo>
                  <a:lnTo>
                    <a:pt x="219223" y="6186"/>
                  </a:lnTo>
                  <a:lnTo>
                    <a:pt x="17318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26216" y="2669990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346370" y="173183"/>
                  </a:moveTo>
                  <a:lnTo>
                    <a:pt x="340184" y="127144"/>
                  </a:lnTo>
                  <a:lnTo>
                    <a:pt x="322726" y="85773"/>
                  </a:lnTo>
                  <a:lnTo>
                    <a:pt x="295647" y="50723"/>
                  </a:lnTo>
                  <a:lnTo>
                    <a:pt x="260596" y="23644"/>
                  </a:lnTo>
                  <a:lnTo>
                    <a:pt x="219223" y="6186"/>
                  </a:lnTo>
                  <a:lnTo>
                    <a:pt x="173181" y="0"/>
                  </a:lnTo>
                  <a:lnTo>
                    <a:pt x="127143" y="6186"/>
                  </a:lnTo>
                  <a:lnTo>
                    <a:pt x="85773" y="23644"/>
                  </a:lnTo>
                  <a:lnTo>
                    <a:pt x="50724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4" y="295643"/>
                  </a:lnTo>
                  <a:lnTo>
                    <a:pt x="85773" y="322722"/>
                  </a:lnTo>
                  <a:lnTo>
                    <a:pt x="127143" y="340180"/>
                  </a:lnTo>
                  <a:lnTo>
                    <a:pt x="173181" y="346367"/>
                  </a:lnTo>
                  <a:lnTo>
                    <a:pt x="219223" y="340180"/>
                  </a:lnTo>
                  <a:lnTo>
                    <a:pt x="260596" y="322722"/>
                  </a:lnTo>
                  <a:lnTo>
                    <a:pt x="295647" y="295643"/>
                  </a:lnTo>
                  <a:lnTo>
                    <a:pt x="322726" y="260593"/>
                  </a:lnTo>
                  <a:lnTo>
                    <a:pt x="340184" y="219223"/>
                  </a:lnTo>
                  <a:lnTo>
                    <a:pt x="346370" y="173183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5966" y="5366853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1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3</a:t>
            </a:r>
            <a:endParaRPr sz="2400" baseline="-10416">
              <a:latin typeface="LM Roman 8"/>
              <a:cs typeface="LM Roman 8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09424" y="5263308"/>
            <a:ext cx="743107" cy="742426"/>
            <a:chOff x="3332251" y="2656021"/>
            <a:chExt cx="374650" cy="374650"/>
          </a:xfrm>
        </p:grpSpPr>
        <p:sp>
          <p:nvSpPr>
            <p:cNvPr id="19" name="object 19"/>
            <p:cNvSpPr/>
            <p:nvPr/>
          </p:nvSpPr>
          <p:spPr>
            <a:xfrm>
              <a:off x="3346221" y="2669991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173189" y="0"/>
                  </a:moveTo>
                  <a:lnTo>
                    <a:pt x="127151" y="6186"/>
                  </a:lnTo>
                  <a:lnTo>
                    <a:pt x="85780" y="23644"/>
                  </a:lnTo>
                  <a:lnTo>
                    <a:pt x="50728" y="50723"/>
                  </a:lnTo>
                  <a:lnTo>
                    <a:pt x="23646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6" y="260593"/>
                  </a:lnTo>
                  <a:lnTo>
                    <a:pt x="50728" y="295643"/>
                  </a:lnTo>
                  <a:lnTo>
                    <a:pt x="85780" y="322722"/>
                  </a:lnTo>
                  <a:lnTo>
                    <a:pt x="127151" y="340180"/>
                  </a:lnTo>
                  <a:lnTo>
                    <a:pt x="173189" y="346367"/>
                  </a:lnTo>
                  <a:lnTo>
                    <a:pt x="219227" y="340180"/>
                  </a:lnTo>
                  <a:lnTo>
                    <a:pt x="260596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1" y="219223"/>
                  </a:lnTo>
                  <a:lnTo>
                    <a:pt x="346367" y="173183"/>
                  </a:lnTo>
                  <a:lnTo>
                    <a:pt x="340181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6" y="23644"/>
                  </a:lnTo>
                  <a:lnTo>
                    <a:pt x="219227" y="6186"/>
                  </a:lnTo>
                  <a:lnTo>
                    <a:pt x="17318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46221" y="2669991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346367" y="173183"/>
                  </a:moveTo>
                  <a:lnTo>
                    <a:pt x="340181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6" y="23644"/>
                  </a:lnTo>
                  <a:lnTo>
                    <a:pt x="219227" y="6186"/>
                  </a:lnTo>
                  <a:lnTo>
                    <a:pt x="173189" y="0"/>
                  </a:lnTo>
                  <a:lnTo>
                    <a:pt x="127151" y="6186"/>
                  </a:lnTo>
                  <a:lnTo>
                    <a:pt x="85780" y="23644"/>
                  </a:lnTo>
                  <a:lnTo>
                    <a:pt x="50728" y="50723"/>
                  </a:lnTo>
                  <a:lnTo>
                    <a:pt x="23646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6" y="260593"/>
                  </a:lnTo>
                  <a:lnTo>
                    <a:pt x="50728" y="295643"/>
                  </a:lnTo>
                  <a:lnTo>
                    <a:pt x="85780" y="322722"/>
                  </a:lnTo>
                  <a:lnTo>
                    <a:pt x="127151" y="340180"/>
                  </a:lnTo>
                  <a:lnTo>
                    <a:pt x="173189" y="346367"/>
                  </a:lnTo>
                  <a:lnTo>
                    <a:pt x="219227" y="340180"/>
                  </a:lnTo>
                  <a:lnTo>
                    <a:pt x="260596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1" y="219223"/>
                  </a:lnTo>
                  <a:lnTo>
                    <a:pt x="346367" y="173183"/>
                  </a:lnTo>
                  <a:close/>
                </a:path>
              </a:pathLst>
            </a:custGeom>
            <a:ln w="27836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46221" y="2669991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346367" y="173183"/>
                  </a:moveTo>
                  <a:lnTo>
                    <a:pt x="340181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6" y="23644"/>
                  </a:lnTo>
                  <a:lnTo>
                    <a:pt x="219227" y="6186"/>
                  </a:lnTo>
                  <a:lnTo>
                    <a:pt x="173189" y="0"/>
                  </a:lnTo>
                  <a:lnTo>
                    <a:pt x="127151" y="6186"/>
                  </a:lnTo>
                  <a:lnTo>
                    <a:pt x="85780" y="23644"/>
                  </a:lnTo>
                  <a:lnTo>
                    <a:pt x="50728" y="50723"/>
                  </a:lnTo>
                  <a:lnTo>
                    <a:pt x="23646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6" y="260593"/>
                  </a:lnTo>
                  <a:lnTo>
                    <a:pt x="50728" y="295643"/>
                  </a:lnTo>
                  <a:lnTo>
                    <a:pt x="85780" y="322722"/>
                  </a:lnTo>
                  <a:lnTo>
                    <a:pt x="127151" y="340180"/>
                  </a:lnTo>
                  <a:lnTo>
                    <a:pt x="173189" y="346367"/>
                  </a:lnTo>
                  <a:lnTo>
                    <a:pt x="219227" y="340180"/>
                  </a:lnTo>
                  <a:lnTo>
                    <a:pt x="260596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1" y="219223"/>
                  </a:lnTo>
                  <a:lnTo>
                    <a:pt x="346367" y="173183"/>
                  </a:lnTo>
                  <a:close/>
                </a:path>
              </a:pathLst>
            </a:custGeom>
            <a:ln w="75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84067" y="5366853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1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4</a:t>
            </a:r>
            <a:endParaRPr sz="2400" baseline="-10416">
              <a:latin typeface="LM Roman 8"/>
              <a:cs typeface="LM Roman 8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04112" y="5594063"/>
            <a:ext cx="37785" cy="80534"/>
          </a:xfrm>
          <a:custGeom>
            <a:avLst/>
            <a:gdLst/>
            <a:ahLst/>
            <a:cxnLst/>
            <a:rect l="l" t="t" r="r" b="b"/>
            <a:pathLst>
              <a:path w="19050" h="40639">
                <a:moveTo>
                  <a:pt x="0" y="0"/>
                </a:moveTo>
                <a:lnTo>
                  <a:pt x="2965" y="6187"/>
                </a:lnTo>
                <a:lnTo>
                  <a:pt x="8540" y="12494"/>
                </a:lnTo>
                <a:lnTo>
                  <a:pt x="14589" y="17614"/>
                </a:lnTo>
                <a:lnTo>
                  <a:pt x="18978" y="20243"/>
                </a:lnTo>
                <a:lnTo>
                  <a:pt x="14589" y="22873"/>
                </a:lnTo>
                <a:lnTo>
                  <a:pt x="8540" y="27993"/>
                </a:lnTo>
                <a:lnTo>
                  <a:pt x="2965" y="34300"/>
                </a:lnTo>
                <a:lnTo>
                  <a:pt x="0" y="40487"/>
                </a:lnTo>
              </a:path>
            </a:pathLst>
          </a:custGeom>
          <a:ln w="4048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024649" y="5237923"/>
            <a:ext cx="73555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  <a:tabLst>
                <a:tab pos="708789" algn="l"/>
              </a:tabLst>
            </a:pPr>
            <a:r>
              <a:rPr sz="2200" u="sng" spc="-1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Times New Roman"/>
                <a:cs typeface="Times New Roman"/>
              </a:rPr>
              <a:t>   </a:t>
            </a:r>
            <a:r>
              <a:rPr sz="2200" u="sng" spc="119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sng" spc="-1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M Roman 10"/>
                <a:cs typeface="LM Roman 10"/>
              </a:rPr>
              <a:t>1	</a:t>
            </a:r>
            <a:endParaRPr sz="2200">
              <a:latin typeface="LM Roman 10"/>
              <a:cs typeface="LM Roman 10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472917" y="5589661"/>
            <a:ext cx="701544" cy="89343"/>
            <a:chOff x="2255095" y="2820708"/>
            <a:chExt cx="353695" cy="45085"/>
          </a:xfrm>
        </p:grpSpPr>
        <p:sp>
          <p:nvSpPr>
            <p:cNvPr id="26" name="object 26"/>
            <p:cNvSpPr/>
            <p:nvPr/>
          </p:nvSpPr>
          <p:spPr>
            <a:xfrm>
              <a:off x="2257635" y="2843174"/>
              <a:ext cx="345440" cy="0"/>
            </a:xfrm>
            <a:custGeom>
              <a:avLst/>
              <a:gdLst/>
              <a:ahLst/>
              <a:cxnLst/>
              <a:rect l="l" t="t" r="r" b="b"/>
              <a:pathLst>
                <a:path w="345439">
                  <a:moveTo>
                    <a:pt x="0" y="0"/>
                  </a:moveTo>
                  <a:lnTo>
                    <a:pt x="345047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87500" y="2822930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627721" y="5184543"/>
            <a:ext cx="421934" cy="699991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69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30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40" dirty="0">
                <a:solidFill>
                  <a:srgbClr val="22373A"/>
                </a:solidFill>
                <a:latin typeface="Alfios"/>
                <a:cs typeface="Alfios"/>
              </a:rPr>
              <a:t>ϵ</a:t>
            </a:r>
            <a:endParaRPr sz="2200">
              <a:latin typeface="Alfios"/>
              <a:cs typeface="Alfio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901028" y="5589661"/>
            <a:ext cx="693987" cy="89343"/>
            <a:chOff x="2975101" y="2820708"/>
            <a:chExt cx="349885" cy="45085"/>
          </a:xfrm>
        </p:grpSpPr>
        <p:sp>
          <p:nvSpPr>
            <p:cNvPr id="30" name="object 30"/>
            <p:cNvSpPr/>
            <p:nvPr/>
          </p:nvSpPr>
          <p:spPr>
            <a:xfrm>
              <a:off x="2977641" y="2843174"/>
              <a:ext cx="341630" cy="0"/>
            </a:xfrm>
            <a:custGeom>
              <a:avLst/>
              <a:gdLst/>
              <a:ahLst/>
              <a:cxnLst/>
              <a:rect l="l" t="t" r="r" b="b"/>
              <a:pathLst>
                <a:path w="341629">
                  <a:moveTo>
                    <a:pt x="0" y="0"/>
                  </a:moveTo>
                  <a:lnTo>
                    <a:pt x="341249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03707" y="2822930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168875" y="5237923"/>
            <a:ext cx="18892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endParaRPr sz="2200">
              <a:latin typeface="LM Roman 10"/>
              <a:cs typeface="LM Roman 1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853093" y="4854324"/>
            <a:ext cx="281078" cy="4364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87321" y="852425"/>
            <a:ext cx="7565841" cy="3998831"/>
          </a:xfrm>
          <a:prstGeom prst="rect">
            <a:avLst/>
          </a:prstGeom>
        </p:spPr>
        <p:txBody>
          <a:bodyPr vert="horz" wrap="square" lIns="0" tIns="110788" rIns="0" bIns="0" rtlCol="0">
            <a:spAutoFit/>
          </a:bodyPr>
          <a:lstStyle/>
          <a:p>
            <a:pPr marL="375167" indent="-351247">
              <a:spcBef>
                <a:spcPts val="872"/>
              </a:spcBef>
              <a:buChar char="•"/>
              <a:tabLst>
                <a:tab pos="376426" algn="l"/>
              </a:tabLst>
            </a:pP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Nondeterminism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useful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concept</a:t>
            </a:r>
            <a:endParaRPr sz="2200" dirty="0">
              <a:latin typeface="LM Sans 10"/>
              <a:cs typeface="LM Sans 10"/>
            </a:endParaRPr>
          </a:p>
          <a:p>
            <a:pPr marL="375167" marR="10072" indent="-351247">
              <a:lnSpc>
                <a:spcPct val="118000"/>
              </a:lnSpc>
              <a:spcBef>
                <a:spcPts val="208"/>
              </a:spcBef>
              <a:buChar char="•"/>
              <a:tabLst>
                <a:tab pos="376426" algn="l"/>
              </a:tabLst>
            </a:pP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In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our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automata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every step of computation </a:t>
            </a:r>
            <a:r>
              <a:rPr sz="2200" spc="-30" dirty="0">
                <a:solidFill>
                  <a:srgbClr val="22373A"/>
                </a:solidFill>
                <a:latin typeface="LM Sans 10"/>
                <a:cs typeface="LM Sans 10"/>
              </a:rPr>
              <a:t>follows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in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unique  </a:t>
            </a:r>
            <a:r>
              <a:rPr sz="2200" spc="-59" dirty="0">
                <a:solidFill>
                  <a:srgbClr val="22373A"/>
                </a:solidFill>
                <a:latin typeface="LM Sans 10"/>
                <a:cs typeface="LM Sans 10"/>
              </a:rPr>
              <a:t>way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from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preceding</a:t>
            </a:r>
            <a:r>
              <a:rPr sz="2200" spc="3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step</a:t>
            </a:r>
            <a:endParaRPr sz="2200" dirty="0">
              <a:latin typeface="LM Sans 10"/>
              <a:cs typeface="LM Sans 10"/>
            </a:endParaRPr>
          </a:p>
          <a:p>
            <a:pPr marL="375167" marR="572823" indent="-351247">
              <a:lnSpc>
                <a:spcPct val="118000"/>
              </a:lnSpc>
              <a:spcBef>
                <a:spcPts val="208"/>
              </a:spcBef>
              <a:buChar char="•"/>
              <a:tabLst>
                <a:tab pos="376426" algn="l"/>
              </a:tabLst>
            </a:pP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Given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a state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next input </a:t>
            </a:r>
            <a:r>
              <a:rPr sz="2200" dirty="0">
                <a:solidFill>
                  <a:srgbClr val="22373A"/>
                </a:solidFill>
                <a:latin typeface="LM Sans 10"/>
                <a:cs typeface="LM Sans 10"/>
              </a:rPr>
              <a:t>symbol </a:t>
            </a:r>
            <a:r>
              <a:rPr sz="2200" spc="-50" dirty="0">
                <a:solidFill>
                  <a:srgbClr val="22373A"/>
                </a:solidFill>
                <a:latin typeface="LM Sans 10"/>
                <a:cs typeface="LM Sans 10"/>
              </a:rPr>
              <a:t>we </a:t>
            </a: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know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exactly  what will </a:t>
            </a:r>
            <a:r>
              <a:rPr sz="2200" spc="1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next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state of</a:t>
            </a:r>
            <a:r>
              <a:rPr sz="2200" spc="-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machine</a:t>
            </a:r>
            <a:endParaRPr sz="2200" dirty="0">
              <a:latin typeface="LM Sans 10"/>
              <a:cs typeface="LM Sans 10"/>
            </a:endParaRPr>
          </a:p>
          <a:p>
            <a:pPr marL="375167" indent="-351247">
              <a:spcBef>
                <a:spcPts val="674"/>
              </a:spcBef>
              <a:buChar char="•"/>
              <a:tabLst>
                <a:tab pos="376426" algn="l"/>
              </a:tabLst>
            </a:pP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That is, it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can </a:t>
            </a:r>
            <a:r>
              <a:rPr sz="2200" spc="20" dirty="0">
                <a:solidFill>
                  <a:srgbClr val="22373A"/>
                </a:solidFill>
                <a:latin typeface="LM Sans 10"/>
                <a:cs typeface="LM Sans 10"/>
              </a:rPr>
              <a:t>be</a:t>
            </a:r>
            <a:r>
              <a:rPr sz="220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determined</a:t>
            </a:r>
            <a:endParaRPr sz="2200" dirty="0">
              <a:latin typeface="LM Sans 10"/>
              <a:cs typeface="LM Sans 10"/>
            </a:endParaRPr>
          </a:p>
          <a:p>
            <a:pPr marL="375167" marR="197655" indent="-351247">
              <a:lnSpc>
                <a:spcPct val="118000"/>
              </a:lnSpc>
              <a:spcBef>
                <a:spcPts val="208"/>
              </a:spcBef>
              <a:buChar char="•"/>
              <a:tabLst>
                <a:tab pos="376426" algn="l"/>
              </a:tabLst>
            </a:pP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In </a:t>
            </a:r>
            <a:r>
              <a:rPr sz="2200" b="1" spc="-10" dirty="0">
                <a:solidFill>
                  <a:srgbClr val="22373A"/>
                </a:solidFill>
                <a:latin typeface="LM Sans 10"/>
                <a:cs typeface="LM Sans 10"/>
              </a:rPr>
              <a:t>nondeterministic </a:t>
            </a:r>
            <a:r>
              <a:rPr sz="2200" b="1" spc="-20" dirty="0">
                <a:solidFill>
                  <a:srgbClr val="22373A"/>
                </a:solidFill>
                <a:latin typeface="LM Sans 10"/>
                <a:cs typeface="LM Sans 10"/>
              </a:rPr>
              <a:t>machines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several choices </a:t>
            </a: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may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exist </a:t>
            </a: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for 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next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state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at any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dirty="0">
                <a:solidFill>
                  <a:srgbClr val="22373A"/>
                </a:solidFill>
                <a:latin typeface="LM Sans 10"/>
                <a:cs typeface="LM Sans 10"/>
              </a:rPr>
              <a:t>point</a:t>
            </a:r>
            <a:endParaRPr sz="2200" dirty="0">
              <a:latin typeface="LM Sans 10"/>
              <a:cs typeface="LM Sans 10"/>
            </a:endParaRPr>
          </a:p>
          <a:p>
            <a:pPr marL="1608939">
              <a:spcBef>
                <a:spcPts val="2429"/>
              </a:spcBef>
              <a:tabLst>
                <a:tab pos="5891891" algn="l"/>
              </a:tabLst>
            </a:pPr>
            <a:r>
              <a:rPr sz="2200" spc="69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1	</a:t>
            </a:r>
            <a:r>
              <a:rPr sz="3300" spc="103" baseline="2525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3300" i="1" spc="103" baseline="2525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3300" i="1" spc="-297" baseline="252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3300" spc="-14" baseline="252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endParaRPr sz="3300" baseline="2525" dirty="0">
              <a:latin typeface="LM Roman 10"/>
              <a:cs typeface="LM Roman 10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4294967295"/>
          </p:nvPr>
        </p:nvSpPr>
        <p:spPr>
          <a:xfrm>
            <a:off x="8650197" y="6324499"/>
            <a:ext cx="365256" cy="344786"/>
          </a:xfrm>
          <a:prstGeom prst="rect">
            <a:avLst/>
          </a:prstGeom>
        </p:spPr>
        <p:txBody>
          <a:bodyPr vert="horz" wrap="square" lIns="0" tIns="55392" rIns="0" bIns="0" rtlCol="0">
            <a:spAutoFit/>
          </a:bodyPr>
          <a:lstStyle/>
          <a:p>
            <a:pPr marL="75537">
              <a:spcBef>
                <a:spcPts val="434"/>
              </a:spcBef>
            </a:pPr>
            <a:fld id="{81D60167-4931-47E6-BA6A-407CBD079E47}" type="slidenum">
              <a:rPr spc="-10" dirty="0"/>
              <a:pPr marL="75537">
                <a:spcBef>
                  <a:spcPts val="434"/>
                </a:spcBef>
              </a:pPr>
              <a:t>2</a:t>
            </a:fld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3273253709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Lets run 010110 on the NFA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00200"/>
            <a:ext cx="4876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4131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10581"/>
            <a:ext cx="7300289" cy="137837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pc="-10" dirty="0"/>
              <a:t>Nondeterministic Finite</a:t>
            </a:r>
            <a:r>
              <a:rPr spc="-40" dirty="0"/>
              <a:t> </a:t>
            </a:r>
            <a:r>
              <a:rPr spc="-20" dirty="0"/>
              <a:t>Automata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14038" y="1607791"/>
            <a:ext cx="7711942" cy="3762462"/>
            <a:chOff x="359994" y="811339"/>
            <a:chExt cx="3888104" cy="1898650"/>
          </a:xfrm>
        </p:grpSpPr>
        <p:sp>
          <p:nvSpPr>
            <p:cNvPr id="4" name="object 4"/>
            <p:cNvSpPr/>
            <p:nvPr/>
          </p:nvSpPr>
          <p:spPr>
            <a:xfrm>
              <a:off x="359994" y="811339"/>
              <a:ext cx="3888104" cy="198755"/>
            </a:xfrm>
            <a:custGeom>
              <a:avLst/>
              <a:gdLst/>
              <a:ahLst/>
              <a:cxnLst/>
              <a:rect l="l" t="t" r="r" b="b"/>
              <a:pathLst>
                <a:path w="3888104" h="198755">
                  <a:moveTo>
                    <a:pt x="3888003" y="0"/>
                  </a:moveTo>
                  <a:lnTo>
                    <a:pt x="0" y="0"/>
                  </a:lnTo>
                  <a:lnTo>
                    <a:pt x="0" y="198247"/>
                  </a:lnTo>
                  <a:lnTo>
                    <a:pt x="3888003" y="198247"/>
                  </a:lnTo>
                  <a:lnTo>
                    <a:pt x="3888003" y="0"/>
                  </a:lnTo>
                  <a:close/>
                </a:path>
              </a:pathLst>
            </a:custGeom>
            <a:solidFill>
              <a:srgbClr val="CE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1009586"/>
              <a:ext cx="3888104" cy="1699895"/>
            </a:xfrm>
            <a:custGeom>
              <a:avLst/>
              <a:gdLst/>
              <a:ahLst/>
              <a:cxnLst/>
              <a:rect l="l" t="t" r="r" b="b"/>
              <a:pathLst>
                <a:path w="3888104" h="1699895">
                  <a:moveTo>
                    <a:pt x="3888003" y="0"/>
                  </a:moveTo>
                  <a:lnTo>
                    <a:pt x="0" y="0"/>
                  </a:lnTo>
                  <a:lnTo>
                    <a:pt x="0" y="1699844"/>
                  </a:lnTo>
                  <a:lnTo>
                    <a:pt x="3888003" y="1699844"/>
                  </a:lnTo>
                  <a:lnTo>
                    <a:pt x="3888003" y="0"/>
                  </a:lnTo>
                  <a:close/>
                </a:path>
              </a:pathLst>
            </a:custGeom>
            <a:solidFill>
              <a:srgbClr val="E4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4894" y="1488951"/>
            <a:ext cx="5965012" cy="3807809"/>
          </a:xfrm>
          <a:prstGeom prst="rect">
            <a:avLst/>
          </a:prstGeom>
        </p:spPr>
        <p:txBody>
          <a:bodyPr vert="horz" wrap="square" lIns="0" tIns="104493" rIns="0" bIns="0" rtlCol="0">
            <a:spAutoFit/>
          </a:bodyPr>
          <a:lstStyle/>
          <a:p>
            <a:pPr marL="100716">
              <a:spcBef>
                <a:spcPts val="823"/>
              </a:spcBef>
            </a:pPr>
            <a:r>
              <a:rPr sz="2200" b="1" spc="-10" dirty="0">
                <a:solidFill>
                  <a:srgbClr val="22373A"/>
                </a:solidFill>
                <a:latin typeface="LM Sans 10"/>
                <a:cs typeface="LM Sans 10"/>
              </a:rPr>
              <a:t>Nondeterministic Finite</a:t>
            </a:r>
            <a:r>
              <a:rPr sz="2200" b="1" spc="-3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b="1" spc="-20" dirty="0">
                <a:solidFill>
                  <a:srgbClr val="22373A"/>
                </a:solidFill>
                <a:latin typeface="LM Sans 10"/>
                <a:cs typeface="LM Sans 10"/>
              </a:rPr>
              <a:t>Automata</a:t>
            </a:r>
            <a:endParaRPr sz="2200">
              <a:latin typeface="LM Sans 10"/>
              <a:cs typeface="LM Sans 10"/>
            </a:endParaRPr>
          </a:p>
          <a:p>
            <a:pPr marL="100716" marR="85609">
              <a:lnSpc>
                <a:spcPct val="118000"/>
              </a:lnSpc>
              <a:spcBef>
                <a:spcPts val="159"/>
              </a:spcBef>
            </a:pP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2200" b="1" spc="-10" dirty="0">
                <a:solidFill>
                  <a:srgbClr val="22373A"/>
                </a:solidFill>
                <a:latin typeface="LM Sans 10"/>
                <a:cs typeface="LM Sans 10"/>
              </a:rPr>
              <a:t>nondeterministic finite automata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a</a:t>
            </a:r>
            <a:r>
              <a:rPr sz="2200" spc="-198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5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-tuple  </a:t>
            </a:r>
            <a:r>
              <a:rPr sz="2200" spc="7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Q,</a:t>
            </a:r>
            <a:r>
              <a:rPr sz="2200" i="1" spc="-19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69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δ,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119" baseline="-10416" dirty="0">
                <a:solidFill>
                  <a:srgbClr val="22373A"/>
                </a:solidFill>
                <a:latin typeface="LM Roman 8"/>
                <a:cs typeface="LM Roman 8"/>
              </a:rPr>
              <a:t>0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119" dirty="0">
                <a:solidFill>
                  <a:srgbClr val="22373A"/>
                </a:solidFill>
                <a:latin typeface="Alfios"/>
                <a:cs typeface="Alfios"/>
              </a:rPr>
              <a:t>F</a:t>
            </a:r>
            <a:r>
              <a:rPr sz="2200" i="1" spc="-24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 where</a:t>
            </a:r>
            <a:endParaRPr sz="2200">
              <a:latin typeface="LM Sans 10"/>
              <a:cs typeface="LM Sans 10"/>
            </a:endParaRPr>
          </a:p>
          <a:p>
            <a:pPr marL="557715" indent="-352506">
              <a:spcBef>
                <a:spcPts val="2151"/>
              </a:spcBef>
              <a:buFont typeface="LM Sans 10"/>
              <a:buAutoNum type="arabicPeriod"/>
              <a:tabLst>
                <a:tab pos="558974" algn="l"/>
              </a:tabLst>
            </a:pP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a finite set of</a:t>
            </a:r>
            <a:r>
              <a:rPr sz="2200" spc="3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states,</a:t>
            </a:r>
            <a:endParaRPr sz="2200">
              <a:latin typeface="LM Sans 10"/>
              <a:cs typeface="LM Sans 10"/>
            </a:endParaRPr>
          </a:p>
          <a:p>
            <a:pPr marL="557715" indent="-352506">
              <a:spcBef>
                <a:spcPts val="1061"/>
              </a:spcBef>
              <a:buFont typeface="LM Sans 10"/>
              <a:buAutoNum type="arabicPeriod"/>
              <a:tabLst>
                <a:tab pos="558974" algn="l"/>
              </a:tabLst>
            </a:pP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Σ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a finite alphabet,</a:t>
            </a:r>
            <a:endParaRPr sz="2200">
              <a:latin typeface="LM Sans 10"/>
              <a:cs typeface="LM Sans 10"/>
            </a:endParaRPr>
          </a:p>
          <a:p>
            <a:pPr marL="557715" indent="-352506">
              <a:spcBef>
                <a:spcPts val="1061"/>
              </a:spcBef>
              <a:buFont typeface="LM Sans 10"/>
              <a:buAutoNum type="arabicPeriod"/>
              <a:tabLst>
                <a:tab pos="558974" algn="l"/>
              </a:tabLst>
            </a:pPr>
            <a:r>
              <a:rPr sz="2200" i="1" spc="20" dirty="0">
                <a:solidFill>
                  <a:srgbClr val="22373A"/>
                </a:solidFill>
                <a:latin typeface="Alfios"/>
                <a:cs typeface="Alfios"/>
              </a:rPr>
              <a:t>δ 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2200" i="1" spc="-149" dirty="0">
                <a:solidFill>
                  <a:srgbClr val="22373A"/>
                </a:solidFill>
                <a:latin typeface="DejaVu Sans"/>
                <a:cs typeface="DejaVu Sans"/>
              </a:rPr>
              <a:t>×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2400" i="1" spc="-30" baseline="-10416" dirty="0">
                <a:solidFill>
                  <a:srgbClr val="22373A"/>
                </a:solidFill>
                <a:latin typeface="Arimo"/>
                <a:cs typeface="Arimo"/>
              </a:rPr>
              <a:t>ϵ </a:t>
            </a:r>
            <a:r>
              <a:rPr sz="2200" i="1" spc="327" dirty="0">
                <a:solidFill>
                  <a:srgbClr val="22373A"/>
                </a:solidFill>
                <a:latin typeface="DejaVu Sans"/>
                <a:cs typeface="DejaVu Sans"/>
              </a:rPr>
              <a:t>→ </a:t>
            </a:r>
            <a:r>
              <a:rPr sz="2200" i="1" spc="109" dirty="0">
                <a:solidFill>
                  <a:srgbClr val="22373A"/>
                </a:solidFill>
                <a:latin typeface="DejaVu Sans"/>
                <a:cs typeface="DejaVu Sans"/>
              </a:rPr>
              <a:t>P</a:t>
            </a:r>
            <a:r>
              <a:rPr sz="2200" spc="10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200" spc="109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2200" spc="-486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the transition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function,</a:t>
            </a:r>
            <a:endParaRPr sz="2200">
              <a:latin typeface="LM Sans 10"/>
              <a:cs typeface="LM Sans 10"/>
            </a:endParaRPr>
          </a:p>
          <a:p>
            <a:pPr marL="557715" indent="-352506">
              <a:spcBef>
                <a:spcPts val="1071"/>
              </a:spcBef>
              <a:buFont typeface="LM Sans 10"/>
              <a:buAutoNum type="arabicPeriod"/>
              <a:tabLst>
                <a:tab pos="558974" algn="l"/>
              </a:tabLst>
            </a:pPr>
            <a:r>
              <a:rPr sz="2200" i="1" spc="-1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0 </a:t>
            </a:r>
            <a:r>
              <a:rPr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2200" spc="-30" dirty="0">
                <a:solidFill>
                  <a:srgbClr val="22373A"/>
                </a:solidFill>
                <a:latin typeface="LM Sans 10"/>
                <a:cs typeface="LM Sans 10"/>
              </a:rPr>
              <a:t>start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state,</a:t>
            </a:r>
            <a:r>
              <a:rPr sz="2200" spc="109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and</a:t>
            </a:r>
            <a:endParaRPr sz="2200">
              <a:latin typeface="LM Sans 10"/>
              <a:cs typeface="LM Sans 10"/>
            </a:endParaRPr>
          </a:p>
          <a:p>
            <a:pPr marL="557715" indent="-352506">
              <a:spcBef>
                <a:spcPts val="1061"/>
              </a:spcBef>
              <a:buFont typeface="LM Sans 10"/>
              <a:buAutoNum type="arabicPeriod"/>
              <a:tabLst>
                <a:tab pos="558974" algn="l"/>
              </a:tabLst>
            </a:pPr>
            <a:r>
              <a:rPr sz="2200" i="1" spc="119" dirty="0">
                <a:solidFill>
                  <a:srgbClr val="22373A"/>
                </a:solidFill>
                <a:latin typeface="Alfios"/>
                <a:cs typeface="Alfios"/>
              </a:rPr>
              <a:t>F </a:t>
            </a:r>
            <a:r>
              <a:rPr sz="2200" i="1" spc="-149" dirty="0">
                <a:solidFill>
                  <a:srgbClr val="22373A"/>
                </a:solidFill>
                <a:latin typeface="DejaVu Sans"/>
                <a:cs typeface="DejaVu Sans"/>
              </a:rPr>
              <a:t>⊆ 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the set of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accept</a:t>
            </a:r>
            <a:r>
              <a:rPr sz="2200" spc="297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states.</a:t>
            </a:r>
            <a:endParaRPr sz="2200">
              <a:latin typeface="LM Sans 10"/>
              <a:cs typeface="LM Sans 1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650197" y="6324499"/>
            <a:ext cx="365256" cy="344786"/>
          </a:xfrm>
          <a:prstGeom prst="rect">
            <a:avLst/>
          </a:prstGeom>
        </p:spPr>
        <p:txBody>
          <a:bodyPr vert="horz" wrap="square" lIns="0" tIns="55392" rIns="0" bIns="0" rtlCol="0">
            <a:spAutoFit/>
          </a:bodyPr>
          <a:lstStyle/>
          <a:p>
            <a:pPr marL="75537">
              <a:spcBef>
                <a:spcPts val="434"/>
              </a:spcBef>
            </a:pPr>
            <a:fld id="{81D60167-4931-47E6-BA6A-407CBD079E47}" type="slidenum">
              <a:rPr spc="-10" dirty="0"/>
              <a:pPr marL="75537">
                <a:spcBef>
                  <a:spcPts val="434"/>
                </a:spcBef>
              </a:pPr>
              <a:t>4</a:t>
            </a:fld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519181258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511" y="6459"/>
            <a:ext cx="6309297" cy="701262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pc="-20" dirty="0"/>
              <a:t>Example</a:t>
            </a:r>
            <a:r>
              <a:rPr spc="-129" dirty="0"/>
              <a:t> </a:t>
            </a:r>
            <a:r>
              <a:rPr spc="-79" dirty="0"/>
              <a:t>NFA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42716" y="1771289"/>
            <a:ext cx="707841" cy="707192"/>
            <a:chOff x="1181119" y="893845"/>
            <a:chExt cx="356870" cy="356870"/>
          </a:xfrm>
        </p:grpSpPr>
        <p:sp>
          <p:nvSpPr>
            <p:cNvPr id="4" name="object 4"/>
            <p:cNvSpPr/>
            <p:nvPr/>
          </p:nvSpPr>
          <p:spPr>
            <a:xfrm>
              <a:off x="1186199" y="898925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09" h="346709">
                  <a:moveTo>
                    <a:pt x="173183" y="0"/>
                  </a:moveTo>
                  <a:lnTo>
                    <a:pt x="127144" y="6186"/>
                  </a:lnTo>
                  <a:lnTo>
                    <a:pt x="85773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3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3" y="295643"/>
                  </a:lnTo>
                  <a:lnTo>
                    <a:pt x="322722" y="260593"/>
                  </a:lnTo>
                  <a:lnTo>
                    <a:pt x="340180" y="219223"/>
                  </a:lnTo>
                  <a:lnTo>
                    <a:pt x="346367" y="173183"/>
                  </a:lnTo>
                  <a:lnTo>
                    <a:pt x="340180" y="127144"/>
                  </a:lnTo>
                  <a:lnTo>
                    <a:pt x="322722" y="85773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6199" y="898925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09" h="346709">
                  <a:moveTo>
                    <a:pt x="346367" y="173183"/>
                  </a:moveTo>
                  <a:lnTo>
                    <a:pt x="340180" y="127144"/>
                  </a:lnTo>
                  <a:lnTo>
                    <a:pt x="322722" y="85773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3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3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3" y="295643"/>
                  </a:lnTo>
                  <a:lnTo>
                    <a:pt x="322722" y="260593"/>
                  </a:lnTo>
                  <a:lnTo>
                    <a:pt x="340180" y="219223"/>
                  </a:lnTo>
                  <a:lnTo>
                    <a:pt x="346367" y="173183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00770" y="1857243"/>
            <a:ext cx="1005084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  <a:tabLst>
                <a:tab pos="467071" algn="l"/>
              </a:tabLst>
            </a:pPr>
            <a:r>
              <a:rPr sz="2200" u="sng" spc="-1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200" spc="-10" dirty="0">
                <a:solidFill>
                  <a:srgbClr val="22373A"/>
                </a:solidFill>
                <a:latin typeface="Times New Roman"/>
                <a:cs typeface="Times New Roman"/>
              </a:rPr>
              <a:t>   </a:t>
            </a:r>
            <a:r>
              <a:rPr sz="2200" i="1" spc="-1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endParaRPr sz="2400" baseline="-10416">
              <a:latin typeface="LM Roman 8"/>
              <a:cs typeface="LM Roman 8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70831" y="1771289"/>
            <a:ext cx="707841" cy="707192"/>
            <a:chOff x="1901127" y="893845"/>
            <a:chExt cx="356870" cy="356870"/>
          </a:xfrm>
        </p:grpSpPr>
        <p:sp>
          <p:nvSpPr>
            <p:cNvPr id="8" name="object 8"/>
            <p:cNvSpPr/>
            <p:nvPr/>
          </p:nvSpPr>
          <p:spPr>
            <a:xfrm>
              <a:off x="1906207" y="898925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173183" y="0"/>
                  </a:move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2" y="219223"/>
                  </a:lnTo>
                  <a:lnTo>
                    <a:pt x="346368" y="173183"/>
                  </a:lnTo>
                  <a:lnTo>
                    <a:pt x="340182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06207" y="898925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68" y="173183"/>
                  </a:moveTo>
                  <a:lnTo>
                    <a:pt x="340182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2" y="219223"/>
                  </a:lnTo>
                  <a:lnTo>
                    <a:pt x="346368" y="173183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271981" y="1360748"/>
            <a:ext cx="576853" cy="809118"/>
            <a:chOff x="1145457" y="686673"/>
            <a:chExt cx="290830" cy="408305"/>
          </a:xfrm>
        </p:grpSpPr>
        <p:sp>
          <p:nvSpPr>
            <p:cNvPr id="11" name="object 11"/>
            <p:cNvSpPr/>
            <p:nvPr/>
          </p:nvSpPr>
          <p:spPr>
            <a:xfrm>
              <a:off x="1147481" y="105186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6366" y="686673"/>
              <a:ext cx="139432" cy="215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27888" y="1857243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1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2</a:t>
            </a:r>
            <a:endParaRPr sz="2400" baseline="-10416">
              <a:latin typeface="LM Roman 8"/>
              <a:cs typeface="LM Roman 8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98948" y="1771289"/>
            <a:ext cx="707841" cy="707192"/>
            <a:chOff x="2621136" y="893845"/>
            <a:chExt cx="356870" cy="356870"/>
          </a:xfrm>
        </p:grpSpPr>
        <p:sp>
          <p:nvSpPr>
            <p:cNvPr id="15" name="object 15"/>
            <p:cNvSpPr/>
            <p:nvPr/>
          </p:nvSpPr>
          <p:spPr>
            <a:xfrm>
              <a:off x="2626216" y="898925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173181" y="0"/>
                  </a:moveTo>
                  <a:lnTo>
                    <a:pt x="127143" y="6186"/>
                  </a:lnTo>
                  <a:lnTo>
                    <a:pt x="85773" y="23644"/>
                  </a:lnTo>
                  <a:lnTo>
                    <a:pt x="50724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4" y="295643"/>
                  </a:lnTo>
                  <a:lnTo>
                    <a:pt x="85773" y="322722"/>
                  </a:lnTo>
                  <a:lnTo>
                    <a:pt x="127143" y="340180"/>
                  </a:lnTo>
                  <a:lnTo>
                    <a:pt x="173181" y="346367"/>
                  </a:lnTo>
                  <a:lnTo>
                    <a:pt x="219223" y="340180"/>
                  </a:lnTo>
                  <a:lnTo>
                    <a:pt x="260596" y="322722"/>
                  </a:lnTo>
                  <a:lnTo>
                    <a:pt x="295647" y="295643"/>
                  </a:lnTo>
                  <a:lnTo>
                    <a:pt x="322726" y="260593"/>
                  </a:lnTo>
                  <a:lnTo>
                    <a:pt x="340184" y="219223"/>
                  </a:lnTo>
                  <a:lnTo>
                    <a:pt x="346370" y="173183"/>
                  </a:lnTo>
                  <a:lnTo>
                    <a:pt x="340184" y="127144"/>
                  </a:lnTo>
                  <a:lnTo>
                    <a:pt x="322726" y="85773"/>
                  </a:lnTo>
                  <a:lnTo>
                    <a:pt x="295647" y="50723"/>
                  </a:lnTo>
                  <a:lnTo>
                    <a:pt x="260596" y="23644"/>
                  </a:lnTo>
                  <a:lnTo>
                    <a:pt x="219223" y="6186"/>
                  </a:lnTo>
                  <a:lnTo>
                    <a:pt x="17318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26216" y="898925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70" y="173183"/>
                  </a:moveTo>
                  <a:lnTo>
                    <a:pt x="340184" y="127144"/>
                  </a:lnTo>
                  <a:lnTo>
                    <a:pt x="322726" y="85773"/>
                  </a:lnTo>
                  <a:lnTo>
                    <a:pt x="295647" y="50723"/>
                  </a:lnTo>
                  <a:lnTo>
                    <a:pt x="260596" y="23644"/>
                  </a:lnTo>
                  <a:lnTo>
                    <a:pt x="219223" y="6186"/>
                  </a:lnTo>
                  <a:lnTo>
                    <a:pt x="173181" y="0"/>
                  </a:lnTo>
                  <a:lnTo>
                    <a:pt x="127143" y="6186"/>
                  </a:lnTo>
                  <a:lnTo>
                    <a:pt x="85773" y="23644"/>
                  </a:lnTo>
                  <a:lnTo>
                    <a:pt x="50724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4" y="295643"/>
                  </a:lnTo>
                  <a:lnTo>
                    <a:pt x="85773" y="322722"/>
                  </a:lnTo>
                  <a:lnTo>
                    <a:pt x="127143" y="340180"/>
                  </a:lnTo>
                  <a:lnTo>
                    <a:pt x="173181" y="346367"/>
                  </a:lnTo>
                  <a:lnTo>
                    <a:pt x="219223" y="340180"/>
                  </a:lnTo>
                  <a:lnTo>
                    <a:pt x="260596" y="322722"/>
                  </a:lnTo>
                  <a:lnTo>
                    <a:pt x="295647" y="295643"/>
                  </a:lnTo>
                  <a:lnTo>
                    <a:pt x="322726" y="260593"/>
                  </a:lnTo>
                  <a:lnTo>
                    <a:pt x="340184" y="219223"/>
                  </a:lnTo>
                  <a:lnTo>
                    <a:pt x="346370" y="173183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5966" y="1857243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1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3</a:t>
            </a:r>
            <a:endParaRPr sz="2400" baseline="-10416">
              <a:latin typeface="LM Roman 8"/>
              <a:cs typeface="LM Roman 8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09424" y="1753672"/>
            <a:ext cx="743107" cy="742426"/>
            <a:chOff x="3332251" y="884955"/>
            <a:chExt cx="374650" cy="374650"/>
          </a:xfrm>
        </p:grpSpPr>
        <p:sp>
          <p:nvSpPr>
            <p:cNvPr id="19" name="object 19"/>
            <p:cNvSpPr/>
            <p:nvPr/>
          </p:nvSpPr>
          <p:spPr>
            <a:xfrm>
              <a:off x="3346221" y="898925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173189" y="0"/>
                  </a:moveTo>
                  <a:lnTo>
                    <a:pt x="127151" y="6186"/>
                  </a:lnTo>
                  <a:lnTo>
                    <a:pt x="85780" y="23644"/>
                  </a:lnTo>
                  <a:lnTo>
                    <a:pt x="50728" y="50723"/>
                  </a:lnTo>
                  <a:lnTo>
                    <a:pt x="23646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6" y="260593"/>
                  </a:lnTo>
                  <a:lnTo>
                    <a:pt x="50728" y="295643"/>
                  </a:lnTo>
                  <a:lnTo>
                    <a:pt x="85780" y="322722"/>
                  </a:lnTo>
                  <a:lnTo>
                    <a:pt x="127151" y="340180"/>
                  </a:lnTo>
                  <a:lnTo>
                    <a:pt x="173189" y="346367"/>
                  </a:lnTo>
                  <a:lnTo>
                    <a:pt x="219227" y="340180"/>
                  </a:lnTo>
                  <a:lnTo>
                    <a:pt x="260596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1" y="219223"/>
                  </a:lnTo>
                  <a:lnTo>
                    <a:pt x="346367" y="173183"/>
                  </a:lnTo>
                  <a:lnTo>
                    <a:pt x="340181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6" y="23644"/>
                  </a:lnTo>
                  <a:lnTo>
                    <a:pt x="219227" y="6186"/>
                  </a:lnTo>
                  <a:lnTo>
                    <a:pt x="17318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46221" y="898925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67" y="173183"/>
                  </a:moveTo>
                  <a:lnTo>
                    <a:pt x="340181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6" y="23644"/>
                  </a:lnTo>
                  <a:lnTo>
                    <a:pt x="219227" y="6186"/>
                  </a:lnTo>
                  <a:lnTo>
                    <a:pt x="173189" y="0"/>
                  </a:lnTo>
                  <a:lnTo>
                    <a:pt x="127151" y="6186"/>
                  </a:lnTo>
                  <a:lnTo>
                    <a:pt x="85780" y="23644"/>
                  </a:lnTo>
                  <a:lnTo>
                    <a:pt x="50728" y="50723"/>
                  </a:lnTo>
                  <a:lnTo>
                    <a:pt x="23646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6" y="260593"/>
                  </a:lnTo>
                  <a:lnTo>
                    <a:pt x="50728" y="295643"/>
                  </a:lnTo>
                  <a:lnTo>
                    <a:pt x="85780" y="322722"/>
                  </a:lnTo>
                  <a:lnTo>
                    <a:pt x="127151" y="340180"/>
                  </a:lnTo>
                  <a:lnTo>
                    <a:pt x="173189" y="346367"/>
                  </a:lnTo>
                  <a:lnTo>
                    <a:pt x="219227" y="340180"/>
                  </a:lnTo>
                  <a:lnTo>
                    <a:pt x="260596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1" y="219223"/>
                  </a:lnTo>
                  <a:lnTo>
                    <a:pt x="346367" y="173183"/>
                  </a:lnTo>
                  <a:close/>
                </a:path>
              </a:pathLst>
            </a:custGeom>
            <a:ln w="27836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46221" y="898925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67" y="173183"/>
                  </a:moveTo>
                  <a:lnTo>
                    <a:pt x="340181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6" y="23644"/>
                  </a:lnTo>
                  <a:lnTo>
                    <a:pt x="219227" y="6186"/>
                  </a:lnTo>
                  <a:lnTo>
                    <a:pt x="173189" y="0"/>
                  </a:lnTo>
                  <a:lnTo>
                    <a:pt x="127151" y="6186"/>
                  </a:lnTo>
                  <a:lnTo>
                    <a:pt x="85780" y="23644"/>
                  </a:lnTo>
                  <a:lnTo>
                    <a:pt x="50728" y="50723"/>
                  </a:lnTo>
                  <a:lnTo>
                    <a:pt x="23646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6" y="260593"/>
                  </a:lnTo>
                  <a:lnTo>
                    <a:pt x="50728" y="295643"/>
                  </a:lnTo>
                  <a:lnTo>
                    <a:pt x="85780" y="322722"/>
                  </a:lnTo>
                  <a:lnTo>
                    <a:pt x="127151" y="340180"/>
                  </a:lnTo>
                  <a:lnTo>
                    <a:pt x="173189" y="346367"/>
                  </a:lnTo>
                  <a:lnTo>
                    <a:pt x="219227" y="340180"/>
                  </a:lnTo>
                  <a:lnTo>
                    <a:pt x="260596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1" y="219223"/>
                  </a:lnTo>
                  <a:lnTo>
                    <a:pt x="346367" y="173183"/>
                  </a:lnTo>
                  <a:close/>
                </a:path>
              </a:pathLst>
            </a:custGeom>
            <a:ln w="75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84067" y="1857243"/>
            <a:ext cx="38163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1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4</a:t>
            </a:r>
            <a:endParaRPr sz="2400" baseline="-10416">
              <a:latin typeface="LM Roman 8"/>
              <a:cs typeface="LM Roman 8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72633" y="920580"/>
            <a:ext cx="448383" cy="699991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69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30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endParaRPr sz="2200">
              <a:latin typeface="LM Roman 10"/>
              <a:cs typeface="LM Roman 1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04112" y="2084428"/>
            <a:ext cx="37785" cy="80534"/>
          </a:xfrm>
          <a:custGeom>
            <a:avLst/>
            <a:gdLst/>
            <a:ahLst/>
            <a:cxnLst/>
            <a:rect l="l" t="t" r="r" b="b"/>
            <a:pathLst>
              <a:path w="19050" h="40640">
                <a:moveTo>
                  <a:pt x="0" y="0"/>
                </a:moveTo>
                <a:lnTo>
                  <a:pt x="2965" y="6187"/>
                </a:lnTo>
                <a:lnTo>
                  <a:pt x="8540" y="12494"/>
                </a:lnTo>
                <a:lnTo>
                  <a:pt x="14589" y="17614"/>
                </a:lnTo>
                <a:lnTo>
                  <a:pt x="18978" y="20243"/>
                </a:lnTo>
                <a:lnTo>
                  <a:pt x="14589" y="22873"/>
                </a:lnTo>
                <a:lnTo>
                  <a:pt x="8540" y="27993"/>
                </a:lnTo>
                <a:lnTo>
                  <a:pt x="2965" y="34300"/>
                </a:lnTo>
                <a:lnTo>
                  <a:pt x="0" y="40487"/>
                </a:lnTo>
              </a:path>
            </a:pathLst>
          </a:custGeom>
          <a:ln w="4048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024649" y="1728313"/>
            <a:ext cx="735550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  <a:tabLst>
                <a:tab pos="708789" algn="l"/>
              </a:tabLst>
            </a:pPr>
            <a:r>
              <a:rPr sz="2200" u="sng" spc="-1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Times New Roman"/>
                <a:cs typeface="Times New Roman"/>
              </a:rPr>
              <a:t>   </a:t>
            </a:r>
            <a:r>
              <a:rPr sz="2200" u="sng" spc="119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sng" spc="-1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M Roman 10"/>
                <a:cs typeface="LM Roman 10"/>
              </a:rPr>
              <a:t>1	</a:t>
            </a:r>
            <a:endParaRPr sz="2200">
              <a:latin typeface="LM Roman 10"/>
              <a:cs typeface="LM Roman 10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472917" y="2080025"/>
            <a:ext cx="701544" cy="89343"/>
            <a:chOff x="2255095" y="1049642"/>
            <a:chExt cx="353695" cy="45085"/>
          </a:xfrm>
        </p:grpSpPr>
        <p:sp>
          <p:nvSpPr>
            <p:cNvPr id="27" name="object 27"/>
            <p:cNvSpPr/>
            <p:nvPr/>
          </p:nvSpPr>
          <p:spPr>
            <a:xfrm>
              <a:off x="2257635" y="1072108"/>
              <a:ext cx="345440" cy="0"/>
            </a:xfrm>
            <a:custGeom>
              <a:avLst/>
              <a:gdLst/>
              <a:ahLst/>
              <a:cxnLst/>
              <a:rect l="l" t="t" r="r" b="b"/>
              <a:pathLst>
                <a:path w="345439">
                  <a:moveTo>
                    <a:pt x="0" y="0"/>
                  </a:moveTo>
                  <a:lnTo>
                    <a:pt x="345047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87500" y="105186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627721" y="1674934"/>
            <a:ext cx="421934" cy="699991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69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30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40" dirty="0">
                <a:solidFill>
                  <a:srgbClr val="22373A"/>
                </a:solidFill>
                <a:latin typeface="Alfios"/>
                <a:cs typeface="Alfios"/>
              </a:rPr>
              <a:t>ϵ</a:t>
            </a:r>
            <a:endParaRPr sz="2200">
              <a:latin typeface="Alfios"/>
              <a:cs typeface="Alfio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901028" y="2080025"/>
            <a:ext cx="693987" cy="89343"/>
            <a:chOff x="2975101" y="1049642"/>
            <a:chExt cx="349885" cy="45085"/>
          </a:xfrm>
        </p:grpSpPr>
        <p:sp>
          <p:nvSpPr>
            <p:cNvPr id="31" name="object 31"/>
            <p:cNvSpPr/>
            <p:nvPr/>
          </p:nvSpPr>
          <p:spPr>
            <a:xfrm>
              <a:off x="2977641" y="1072108"/>
              <a:ext cx="341630" cy="0"/>
            </a:xfrm>
            <a:custGeom>
              <a:avLst/>
              <a:gdLst/>
              <a:ahLst/>
              <a:cxnLst/>
              <a:rect l="l" t="t" r="r" b="b"/>
              <a:pathLst>
                <a:path w="341629">
                  <a:moveTo>
                    <a:pt x="0" y="0"/>
                  </a:moveTo>
                  <a:lnTo>
                    <a:pt x="341249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03707" y="105186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168875" y="1728313"/>
            <a:ext cx="18892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endParaRPr sz="2200">
              <a:latin typeface="LM Roman 10"/>
              <a:cs typeface="LM Roman 1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53093" y="1344688"/>
            <a:ext cx="281078" cy="4364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756936" y="904523"/>
            <a:ext cx="448383" cy="699991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69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30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endParaRPr sz="2200">
              <a:latin typeface="LM Roman 10"/>
              <a:cs typeface="LM Roman 10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1749" y="2775182"/>
            <a:ext cx="2745719" cy="835543"/>
          </a:xfrm>
          <a:prstGeom prst="rect">
            <a:avLst/>
          </a:prstGeom>
        </p:spPr>
        <p:txBody>
          <a:bodyPr vert="horz" wrap="square" lIns="0" tIns="85609" rIns="0" bIns="0" rtlCol="0">
            <a:spAutoFit/>
          </a:bodyPr>
          <a:lstStyle/>
          <a:p>
            <a:pPr marL="100716">
              <a:spcBef>
                <a:spcPts val="674"/>
              </a:spcBef>
            </a:pP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1.</a:t>
            </a:r>
            <a:r>
              <a:rPr sz="2200" spc="317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200" i="1" spc="3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2200" spc="-139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i="1" spc="-2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2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30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2200" i="1" spc="-2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9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119" baseline="-10416" dirty="0">
                <a:solidFill>
                  <a:srgbClr val="22373A"/>
                </a:solidFill>
                <a:latin typeface="LM Roman 8"/>
                <a:cs typeface="LM Roman 8"/>
              </a:rPr>
              <a:t>2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9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119" baseline="-10416" dirty="0">
                <a:solidFill>
                  <a:srgbClr val="22373A"/>
                </a:solidFill>
                <a:latin typeface="LM Roman 8"/>
                <a:cs typeface="LM Roman 8"/>
              </a:rPr>
              <a:t>3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9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-6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03" baseline="-10416" dirty="0">
                <a:solidFill>
                  <a:srgbClr val="22373A"/>
                </a:solidFill>
                <a:latin typeface="LM Roman 8"/>
                <a:cs typeface="LM Roman 8"/>
              </a:rPr>
              <a:t>4</a:t>
            </a:r>
            <a:r>
              <a:rPr sz="2200" i="1" spc="-6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  <a:p>
            <a:pPr marL="100716">
              <a:spcBef>
                <a:spcPts val="466"/>
              </a:spcBef>
            </a:pP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2.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Σ = </a:t>
            </a:r>
            <a:r>
              <a:rPr sz="2200" i="1" spc="-5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spc="-59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2200" i="1" spc="-5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89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159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2200" i="1" spc="-15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757680" y="4072291"/>
            <a:ext cx="0" cy="392605"/>
          </a:xfrm>
          <a:custGeom>
            <a:avLst/>
            <a:gdLst/>
            <a:ahLst/>
            <a:cxnLst/>
            <a:rect l="l" t="t" r="r" b="b"/>
            <a:pathLst>
              <a:path h="198119">
                <a:moveTo>
                  <a:pt x="0" y="197878"/>
                </a:moveTo>
                <a:lnTo>
                  <a:pt x="0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964860" y="4047047"/>
            <a:ext cx="16247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40" dirty="0">
                <a:solidFill>
                  <a:srgbClr val="22373A"/>
                </a:solidFill>
                <a:latin typeface="Alfios"/>
                <a:cs typeface="Alfios"/>
              </a:rPr>
              <a:t>ϵ</a:t>
            </a:r>
            <a:endParaRPr sz="2200">
              <a:latin typeface="Alfios"/>
              <a:cs typeface="Alfio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254786" y="4464394"/>
            <a:ext cx="3180248" cy="1191656"/>
            <a:chOff x="1640954" y="2252865"/>
            <a:chExt cx="1603375" cy="601345"/>
          </a:xfrm>
        </p:grpSpPr>
        <p:sp>
          <p:nvSpPr>
            <p:cNvPr id="40" name="object 40"/>
            <p:cNvSpPr/>
            <p:nvPr/>
          </p:nvSpPr>
          <p:spPr>
            <a:xfrm>
              <a:off x="1643494" y="2255405"/>
              <a:ext cx="1598295" cy="0"/>
            </a:xfrm>
            <a:custGeom>
              <a:avLst/>
              <a:gdLst/>
              <a:ahLst/>
              <a:cxnLst/>
              <a:rect l="l" t="t" r="r" b="b"/>
              <a:pathLst>
                <a:path w="1598295">
                  <a:moveTo>
                    <a:pt x="0" y="0"/>
                  </a:moveTo>
                  <a:lnTo>
                    <a:pt x="1598117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894497" y="2257945"/>
              <a:ext cx="0" cy="198120"/>
            </a:xfrm>
            <a:custGeom>
              <a:avLst/>
              <a:gdLst/>
              <a:ahLst/>
              <a:cxnLst/>
              <a:rect l="l" t="t" r="r" b="b"/>
              <a:pathLst>
                <a:path h="198119">
                  <a:moveTo>
                    <a:pt x="0" y="19787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894497" y="2455824"/>
              <a:ext cx="0" cy="198120"/>
            </a:xfrm>
            <a:custGeom>
              <a:avLst/>
              <a:gdLst/>
              <a:ahLst/>
              <a:cxnLst/>
              <a:rect l="l" t="t" r="r" b="b"/>
              <a:pathLst>
                <a:path h="198119">
                  <a:moveTo>
                    <a:pt x="0" y="19787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894497" y="2653703"/>
              <a:ext cx="0" cy="198120"/>
            </a:xfrm>
            <a:custGeom>
              <a:avLst/>
              <a:gdLst/>
              <a:ahLst/>
              <a:cxnLst/>
              <a:rect l="l" t="t" r="r" b="b"/>
              <a:pathLst>
                <a:path h="198119">
                  <a:moveTo>
                    <a:pt x="0" y="19787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052630" y="5233494"/>
            <a:ext cx="18892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823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6940" y="3622128"/>
            <a:ext cx="2883005" cy="3488190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3.Tansition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function </a:t>
            </a:r>
            <a:r>
              <a:rPr sz="2200" spc="347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i="1" spc="40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2200" spc="40" dirty="0">
                <a:solidFill>
                  <a:srgbClr val="22373A"/>
                </a:solidFill>
                <a:latin typeface="LM Sans 10"/>
                <a:cs typeface="LM Sans 10"/>
              </a:rPr>
              <a:t>:</a:t>
            </a:r>
            <a:endParaRPr sz="2200">
              <a:latin typeface="LM Sans 10"/>
              <a:cs typeface="LM Sans 10"/>
            </a:endParaRPr>
          </a:p>
          <a:p>
            <a:pPr>
              <a:spcBef>
                <a:spcPts val="89"/>
              </a:spcBef>
            </a:pPr>
            <a:endParaRPr sz="2300">
              <a:latin typeface="LM Sans 10"/>
              <a:cs typeface="LM Sans 10"/>
            </a:endParaRPr>
          </a:p>
          <a:p>
            <a:pPr marL="2546858" marR="88127" algn="just">
              <a:lnSpc>
                <a:spcPct val="118000"/>
              </a:lnSpc>
            </a:pPr>
            <a:r>
              <a:rPr sz="2200" i="1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1  </a:t>
            </a:r>
            <a:r>
              <a:rPr sz="2200" i="1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2  </a:t>
            </a:r>
            <a:r>
              <a:rPr sz="2200" i="1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3  </a:t>
            </a:r>
            <a:r>
              <a:rPr sz="2200" i="1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4</a:t>
            </a:r>
            <a:endParaRPr sz="2400" baseline="-10416">
              <a:latin typeface="LM Roman 8"/>
              <a:cs typeface="LM Roman 8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757680" y="5650865"/>
            <a:ext cx="0" cy="392605"/>
          </a:xfrm>
          <a:custGeom>
            <a:avLst/>
            <a:gdLst/>
            <a:ahLst/>
            <a:cxnLst/>
            <a:rect l="l" t="t" r="r" b="b"/>
            <a:pathLst>
              <a:path h="198119">
                <a:moveTo>
                  <a:pt x="0" y="197878"/>
                </a:moveTo>
                <a:lnTo>
                  <a:pt x="0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12595" y="5625621"/>
            <a:ext cx="668797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75537">
              <a:spcBef>
                <a:spcPts val="178"/>
              </a:spcBef>
            </a:pPr>
            <a:r>
              <a:rPr sz="2200" i="1" spc="-12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12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92" baseline="-10416" dirty="0">
                <a:solidFill>
                  <a:srgbClr val="22373A"/>
                </a:solidFill>
                <a:latin typeface="LM Roman 8"/>
                <a:cs typeface="LM Roman 8"/>
              </a:rPr>
              <a:t>4</a:t>
            </a:r>
            <a:r>
              <a:rPr sz="2200" i="1" spc="-12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62351" y="5170826"/>
            <a:ext cx="668797" cy="835543"/>
          </a:xfrm>
          <a:prstGeom prst="rect">
            <a:avLst/>
          </a:prstGeom>
        </p:spPr>
        <p:txBody>
          <a:bodyPr vert="horz" wrap="square" lIns="0" tIns="85609" rIns="0" bIns="0" rtlCol="0">
            <a:spAutoFit/>
          </a:bodyPr>
          <a:lstStyle/>
          <a:p>
            <a:pPr marL="75537">
              <a:spcBef>
                <a:spcPts val="674"/>
              </a:spcBef>
            </a:pPr>
            <a:r>
              <a:rPr sz="2200" i="1" spc="-13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13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206" baseline="-10416" dirty="0">
                <a:solidFill>
                  <a:srgbClr val="22373A"/>
                </a:solidFill>
                <a:latin typeface="LM Roman 8"/>
                <a:cs typeface="LM Roman 8"/>
              </a:rPr>
              <a:t>4</a:t>
            </a:r>
            <a:r>
              <a:rPr sz="2200" i="1" spc="-13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  <a:p>
            <a:pPr marL="75537">
              <a:spcBef>
                <a:spcPts val="466"/>
              </a:spcBef>
            </a:pPr>
            <a:r>
              <a:rPr sz="2200" i="1" spc="-13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13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206" baseline="-10416" dirty="0">
                <a:solidFill>
                  <a:srgbClr val="22373A"/>
                </a:solidFill>
                <a:latin typeface="LM Roman 8"/>
                <a:cs typeface="LM Roman 8"/>
              </a:rPr>
              <a:t>4</a:t>
            </a:r>
            <a:r>
              <a:rPr sz="2200" i="1" spc="-13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762215" y="3974340"/>
            <a:ext cx="2643699" cy="2032233"/>
          </a:xfrm>
          <a:prstGeom prst="rect">
            <a:avLst/>
          </a:prstGeom>
        </p:spPr>
        <p:txBody>
          <a:bodyPr vert="horz" wrap="square" lIns="0" tIns="95680" rIns="0" bIns="0" rtlCol="0">
            <a:spAutoFit/>
          </a:bodyPr>
          <a:lstStyle/>
          <a:p>
            <a:pPr marL="314738">
              <a:spcBef>
                <a:spcPts val="753"/>
              </a:spcBef>
              <a:tabLst>
                <a:tab pos="1263987" algn="l"/>
              </a:tabLst>
            </a:pP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0	1</a:t>
            </a:r>
            <a:endParaRPr sz="2200">
              <a:latin typeface="LM Roman 10"/>
              <a:cs typeface="LM Roman 10"/>
            </a:endParaRPr>
          </a:p>
          <a:p>
            <a:pPr marL="125895">
              <a:spcBef>
                <a:spcPts val="545"/>
              </a:spcBef>
              <a:tabLst>
                <a:tab pos="2213236" algn="l"/>
              </a:tabLst>
            </a:pPr>
            <a:r>
              <a:rPr sz="2200" i="1" spc="-12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12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92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2200" i="1" spc="-129" dirty="0">
                <a:solidFill>
                  <a:srgbClr val="22373A"/>
                </a:solidFill>
                <a:latin typeface="DejaVu Sans"/>
                <a:cs typeface="DejaVu Sans"/>
              </a:rPr>
              <a:t>}  </a:t>
            </a:r>
            <a:r>
              <a:rPr sz="2200" i="1" spc="169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2200" i="1" spc="-2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2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30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2200" i="1" spc="-2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-6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03" baseline="-10416" dirty="0">
                <a:solidFill>
                  <a:srgbClr val="22373A"/>
                </a:solidFill>
                <a:latin typeface="LM Roman 8"/>
                <a:cs typeface="LM Roman 8"/>
              </a:rPr>
              <a:t>2</a:t>
            </a:r>
            <a:r>
              <a:rPr sz="2200" i="1" spc="-69" dirty="0">
                <a:solidFill>
                  <a:srgbClr val="22373A"/>
                </a:solidFill>
                <a:latin typeface="DejaVu Sans"/>
                <a:cs typeface="DejaVu Sans"/>
              </a:rPr>
              <a:t>}	</a:t>
            </a:r>
            <a:r>
              <a:rPr sz="2200" i="1" spc="-823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endParaRPr sz="2200">
              <a:latin typeface="DejaVu Sans"/>
              <a:cs typeface="DejaVu Sans"/>
            </a:endParaRPr>
          </a:p>
          <a:p>
            <a:pPr marL="125895">
              <a:spcBef>
                <a:spcPts val="476"/>
              </a:spcBef>
              <a:tabLst>
                <a:tab pos="1263987" algn="l"/>
                <a:tab pos="2023132" algn="l"/>
              </a:tabLst>
            </a:pPr>
            <a:r>
              <a:rPr sz="2200" i="1" spc="-12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12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92" baseline="-10416" dirty="0">
                <a:solidFill>
                  <a:srgbClr val="22373A"/>
                </a:solidFill>
                <a:latin typeface="LM Roman 8"/>
                <a:cs typeface="LM Roman 8"/>
              </a:rPr>
              <a:t>3</a:t>
            </a:r>
            <a:r>
              <a:rPr sz="2200" i="1" spc="-129" dirty="0">
                <a:solidFill>
                  <a:srgbClr val="22373A"/>
                </a:solidFill>
                <a:latin typeface="DejaVu Sans"/>
                <a:cs typeface="DejaVu Sans"/>
              </a:rPr>
              <a:t>}	</a:t>
            </a:r>
            <a:r>
              <a:rPr sz="2200" i="1" spc="-823" dirty="0">
                <a:solidFill>
                  <a:srgbClr val="22373A"/>
                </a:solidFill>
                <a:latin typeface="DejaVu Sans"/>
                <a:cs typeface="DejaVu Sans"/>
              </a:rPr>
              <a:t>∅	</a:t>
            </a:r>
            <a:r>
              <a:rPr sz="2200" i="1" spc="-12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12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92" baseline="-10416" dirty="0">
                <a:solidFill>
                  <a:srgbClr val="22373A"/>
                </a:solidFill>
                <a:latin typeface="LM Roman 8"/>
                <a:cs typeface="LM Roman 8"/>
              </a:rPr>
              <a:t>3</a:t>
            </a:r>
            <a:r>
              <a:rPr sz="2200" i="1" spc="-12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  <a:p>
            <a:pPr marL="2213236">
              <a:spcBef>
                <a:spcPts val="476"/>
              </a:spcBef>
            </a:pPr>
            <a:r>
              <a:rPr sz="2200" i="1" spc="-823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endParaRPr sz="2200">
              <a:latin typeface="DejaVu Sans"/>
              <a:cs typeface="DejaVu Sans"/>
            </a:endParaRPr>
          </a:p>
          <a:p>
            <a:pPr marL="2213236">
              <a:spcBef>
                <a:spcPts val="466"/>
              </a:spcBef>
            </a:pPr>
            <a:r>
              <a:rPr sz="2200" i="1" spc="-823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36939" y="6021672"/>
            <a:ext cx="3309977" cy="835543"/>
          </a:xfrm>
          <a:prstGeom prst="rect">
            <a:avLst/>
          </a:prstGeom>
        </p:spPr>
        <p:txBody>
          <a:bodyPr vert="horz" wrap="square" lIns="0" tIns="25179" rIns="0" bIns="0" rtlCol="0">
            <a:spAutoFit/>
          </a:bodyPr>
          <a:lstStyle/>
          <a:p>
            <a:pPr marL="75537" marR="60430">
              <a:lnSpc>
                <a:spcPct val="118000"/>
              </a:lnSpc>
              <a:spcBef>
                <a:spcPts val="198"/>
              </a:spcBef>
            </a:pP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4. </a:t>
            </a:r>
            <a:r>
              <a:rPr sz="2200" i="1" spc="-1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4" baseline="-10416" dirty="0">
                <a:solidFill>
                  <a:srgbClr val="22373A"/>
                </a:solidFill>
                <a:latin typeface="LM Roman 8"/>
                <a:cs typeface="LM Roman 8"/>
              </a:rPr>
              <a:t>1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2200" spc="-30" dirty="0">
                <a:solidFill>
                  <a:srgbClr val="22373A"/>
                </a:solidFill>
                <a:latin typeface="LM Sans 10"/>
                <a:cs typeface="LM Sans 10"/>
              </a:rPr>
              <a:t>start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state,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and 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5. </a:t>
            </a:r>
            <a:r>
              <a:rPr sz="2200" i="1" spc="119" dirty="0">
                <a:solidFill>
                  <a:srgbClr val="22373A"/>
                </a:solidFill>
                <a:latin typeface="Alfios"/>
                <a:cs typeface="Alfios"/>
              </a:rPr>
              <a:t>F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2200" spc="-287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i="1" spc="-13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13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206" baseline="-10416" dirty="0">
                <a:solidFill>
                  <a:srgbClr val="22373A"/>
                </a:solidFill>
                <a:latin typeface="LM Roman 8"/>
                <a:cs typeface="LM Roman 8"/>
              </a:rPr>
              <a:t>4</a:t>
            </a:r>
            <a:r>
              <a:rPr sz="2200" i="1" spc="-13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00577" y="6355388"/>
            <a:ext cx="264496" cy="270375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z="1600" spc="-10" dirty="0">
                <a:solidFill>
                  <a:srgbClr val="22373A"/>
                </a:solidFill>
                <a:latin typeface="LM Sans 8"/>
                <a:cs typeface="LM Sans 8"/>
              </a:rPr>
              <a:t>19</a:t>
            </a:r>
            <a:endParaRPr sz="1600">
              <a:latin typeface="LM Sans 8"/>
              <a:cs typeface="LM Sans 8"/>
            </a:endParaRPr>
          </a:p>
        </p:txBody>
      </p:sp>
    </p:spTree>
    <p:extLst>
      <p:ext uri="{BB962C8B-B14F-4D97-AF65-F5344CB8AC3E}">
        <p14:creationId xmlns:p14="http://schemas.microsoft.com/office/powerpoint/2010/main" val="4166865059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650197" y="6324499"/>
            <a:ext cx="365256" cy="344786"/>
          </a:xfrm>
          <a:prstGeom prst="rect">
            <a:avLst/>
          </a:prstGeom>
        </p:spPr>
        <p:txBody>
          <a:bodyPr vert="horz" wrap="square" lIns="0" tIns="55392" rIns="0" bIns="0" rtlCol="0">
            <a:spAutoFit/>
          </a:bodyPr>
          <a:lstStyle/>
          <a:p>
            <a:pPr marL="75537">
              <a:spcBef>
                <a:spcPts val="434"/>
              </a:spcBef>
            </a:pPr>
            <a:fld id="{81D60167-4931-47E6-BA6A-407CBD079E47}" type="slidenum">
              <a:rPr spc="-10" dirty="0"/>
              <a:pPr marL="75537">
                <a:spcBef>
                  <a:spcPts val="434"/>
                </a:spcBef>
              </a:pPr>
              <a:t>6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36179" y="1991280"/>
            <a:ext cx="5854175" cy="2962153"/>
          </a:xfrm>
          <a:prstGeom prst="rect">
            <a:avLst/>
          </a:prstGeom>
        </p:spPr>
        <p:txBody>
          <a:bodyPr vert="horz" wrap="square" lIns="0" tIns="159887" rIns="0" bIns="0" rtlCol="0">
            <a:spAutoFit/>
          </a:bodyPr>
          <a:lstStyle/>
          <a:p>
            <a:pPr marL="526242" indent="-351247">
              <a:spcBef>
                <a:spcPts val="1259"/>
              </a:spcBef>
              <a:buChar char="•"/>
              <a:tabLst>
                <a:tab pos="527500" algn="l"/>
              </a:tabLst>
            </a:pP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Let </a:t>
            </a:r>
            <a:r>
              <a:rPr sz="2200" i="1" spc="258" dirty="0">
                <a:solidFill>
                  <a:srgbClr val="22373A"/>
                </a:solidFill>
                <a:latin typeface="Alfios"/>
                <a:cs typeface="Alfios"/>
              </a:rPr>
              <a:t>N</a:t>
            </a:r>
            <a:r>
              <a:rPr sz="2200" i="1" spc="28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2200" spc="-139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spc="7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Q,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69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δ,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119" baseline="-10416" dirty="0">
                <a:solidFill>
                  <a:srgbClr val="22373A"/>
                </a:solidFill>
                <a:latin typeface="LM Roman 8"/>
                <a:cs typeface="LM Roman 8"/>
              </a:rPr>
              <a:t>0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119" dirty="0">
                <a:solidFill>
                  <a:srgbClr val="22373A"/>
                </a:solidFill>
                <a:latin typeface="Alfios"/>
                <a:cs typeface="Alfios"/>
              </a:rPr>
              <a:t>F</a:t>
            </a:r>
            <a:r>
              <a:rPr sz="2200" i="1" spc="-24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spc="20" dirty="0">
                <a:solidFill>
                  <a:srgbClr val="22373A"/>
                </a:solidFill>
                <a:latin typeface="LM Sans 10"/>
                <a:cs typeface="LM Sans 10"/>
              </a:rPr>
              <a:t>be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an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79" dirty="0">
                <a:solidFill>
                  <a:srgbClr val="22373A"/>
                </a:solidFill>
                <a:latin typeface="LM Sans 10"/>
                <a:cs typeface="LM Sans 10"/>
              </a:rPr>
              <a:t>NFA</a:t>
            </a:r>
            <a:endParaRPr sz="2200">
              <a:latin typeface="LM Sans 10"/>
              <a:cs typeface="LM Sans 10"/>
            </a:endParaRPr>
          </a:p>
          <a:p>
            <a:pPr marL="526242" indent="-351247">
              <a:spcBef>
                <a:spcPts val="1071"/>
              </a:spcBef>
              <a:buFont typeface="LM Sans 10"/>
              <a:buChar char="•"/>
              <a:tabLst>
                <a:tab pos="527500" algn="l"/>
              </a:tabLst>
            </a:pPr>
            <a:r>
              <a:rPr sz="2200" i="1" spc="30" dirty="0">
                <a:solidFill>
                  <a:srgbClr val="22373A"/>
                </a:solidFill>
                <a:latin typeface="Alfios"/>
                <a:cs typeface="Alfios"/>
              </a:rPr>
              <a:t>w</a:t>
            </a:r>
            <a:r>
              <a:rPr sz="2200" i="1" spc="99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2200" spc="-129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i="1" spc="30" dirty="0">
                <a:solidFill>
                  <a:srgbClr val="22373A"/>
                </a:solidFill>
                <a:latin typeface="Alfios"/>
                <a:cs typeface="Alfios"/>
              </a:rPr>
              <a:t>y</a:t>
            </a:r>
            <a:r>
              <a:rPr sz="2400" spc="44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2200" i="1" spc="30" dirty="0">
                <a:solidFill>
                  <a:srgbClr val="22373A"/>
                </a:solidFill>
                <a:latin typeface="Alfios"/>
                <a:cs typeface="Alfios"/>
              </a:rPr>
              <a:t>y</a:t>
            </a:r>
            <a:r>
              <a:rPr sz="2400" spc="44" baseline="-10416" dirty="0">
                <a:solidFill>
                  <a:srgbClr val="22373A"/>
                </a:solidFill>
                <a:latin typeface="LM Roman 8"/>
                <a:cs typeface="LM Roman 8"/>
              </a:rPr>
              <a:t>2</a:t>
            </a:r>
            <a:r>
              <a:rPr sz="2400" spc="-176" baseline="-10416" dirty="0">
                <a:solidFill>
                  <a:srgbClr val="22373A"/>
                </a:solidFill>
                <a:latin typeface="LM Roman 8"/>
                <a:cs typeface="LM Roman 8"/>
              </a:rPr>
              <a:t> </a:t>
            </a:r>
            <a:r>
              <a:rPr sz="2200" i="1" spc="-99" dirty="0">
                <a:solidFill>
                  <a:srgbClr val="22373A"/>
                </a:solidFill>
                <a:latin typeface="DejaVu Sans"/>
                <a:cs typeface="DejaVu Sans"/>
              </a:rPr>
              <a:t>·</a:t>
            </a:r>
            <a:r>
              <a:rPr sz="2200" i="1" spc="-337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2200" i="1" spc="-99" dirty="0">
                <a:solidFill>
                  <a:srgbClr val="22373A"/>
                </a:solidFill>
                <a:latin typeface="DejaVu Sans"/>
                <a:cs typeface="DejaVu Sans"/>
              </a:rPr>
              <a:t>·</a:t>
            </a:r>
            <a:r>
              <a:rPr sz="2200" i="1" spc="-337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2200" i="1" spc="-99" dirty="0">
                <a:solidFill>
                  <a:srgbClr val="22373A"/>
                </a:solidFill>
                <a:latin typeface="DejaVu Sans"/>
                <a:cs typeface="DejaVu Sans"/>
              </a:rPr>
              <a:t>·</a:t>
            </a:r>
            <a:r>
              <a:rPr sz="2200" i="1" spc="-347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2200" i="1" spc="89" dirty="0">
                <a:solidFill>
                  <a:srgbClr val="22373A"/>
                </a:solidFill>
                <a:latin typeface="Alfios"/>
                <a:cs typeface="Alfios"/>
              </a:rPr>
              <a:t>y</a:t>
            </a:r>
            <a:r>
              <a:rPr sz="2400" i="1" spc="133" baseline="-10416" dirty="0">
                <a:solidFill>
                  <a:srgbClr val="22373A"/>
                </a:solidFill>
                <a:latin typeface="Arimo"/>
                <a:cs typeface="Arimo"/>
              </a:rPr>
              <a:t>m</a:t>
            </a:r>
            <a:r>
              <a:rPr sz="2400" i="1" spc="549" baseline="-10416" dirty="0">
                <a:solidFill>
                  <a:srgbClr val="22373A"/>
                </a:solidFill>
                <a:latin typeface="Arimo"/>
                <a:cs typeface="Arimo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over some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alphabet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2400" i="1" spc="-30" baseline="-10416" dirty="0">
                <a:solidFill>
                  <a:srgbClr val="22373A"/>
                </a:solidFill>
                <a:latin typeface="Arimo"/>
                <a:cs typeface="Arimo"/>
              </a:rPr>
              <a:t>ϵ</a:t>
            </a:r>
            <a:endParaRPr sz="2400" baseline="-10416">
              <a:latin typeface="Arimo"/>
              <a:cs typeface="Arimo"/>
            </a:endParaRPr>
          </a:p>
          <a:p>
            <a:pPr marL="526242" indent="-351247">
              <a:spcBef>
                <a:spcPts val="704"/>
              </a:spcBef>
              <a:buFont typeface="LM Sans 10"/>
              <a:buChar char="•"/>
              <a:tabLst>
                <a:tab pos="527500" algn="l"/>
              </a:tabLst>
            </a:pPr>
            <a:r>
              <a:rPr sz="2200" i="1" spc="178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400" spc="268" baseline="-10416" dirty="0">
                <a:solidFill>
                  <a:srgbClr val="22373A"/>
                </a:solidFill>
                <a:latin typeface="LM Roman 8"/>
                <a:cs typeface="LM Roman 8"/>
              </a:rPr>
              <a:t>0</a:t>
            </a:r>
            <a:r>
              <a:rPr sz="2200" i="1" spc="178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9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178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400" spc="268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2200" i="1" spc="178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159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159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159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15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9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218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400" i="1" spc="327" baseline="-10416" dirty="0">
                <a:solidFill>
                  <a:srgbClr val="22373A"/>
                </a:solidFill>
                <a:latin typeface="Arimo"/>
                <a:cs typeface="Arimo"/>
              </a:rPr>
              <a:t>m</a:t>
            </a:r>
            <a:r>
              <a:rPr sz="2400" i="1" spc="549" baseline="-10416" dirty="0">
                <a:solidFill>
                  <a:srgbClr val="22373A"/>
                </a:solidFill>
                <a:latin typeface="Arimo"/>
                <a:cs typeface="Arimo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exists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in 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200" i="1" spc="169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such that:</a:t>
            </a:r>
            <a:endParaRPr sz="2200">
              <a:latin typeface="LM Sans 10"/>
              <a:cs typeface="LM Sans 10"/>
            </a:endParaRPr>
          </a:p>
          <a:p>
            <a:pPr marL="744040">
              <a:spcBef>
                <a:spcPts val="694"/>
              </a:spcBef>
            </a:pPr>
            <a:r>
              <a:rPr sz="2000" spc="-10" dirty="0">
                <a:solidFill>
                  <a:srgbClr val="22373A"/>
                </a:solidFill>
                <a:latin typeface="LM Sans 10"/>
                <a:cs typeface="LM Sans 10"/>
              </a:rPr>
              <a:t>1. </a:t>
            </a:r>
            <a:r>
              <a:rPr sz="2000" i="1" spc="129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100" spc="192" baseline="-11904" dirty="0">
                <a:solidFill>
                  <a:srgbClr val="22373A"/>
                </a:solidFill>
                <a:latin typeface="LM Roman 7"/>
                <a:cs typeface="LM Roman 7"/>
              </a:rPr>
              <a:t>0 </a:t>
            </a:r>
            <a:r>
              <a:rPr sz="20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2000" spc="-387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000" i="1" spc="3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100" spc="44" baseline="-11904" dirty="0">
                <a:solidFill>
                  <a:srgbClr val="22373A"/>
                </a:solidFill>
                <a:latin typeface="LM Roman 7"/>
                <a:cs typeface="LM Roman 7"/>
              </a:rPr>
              <a:t>0</a:t>
            </a:r>
            <a:r>
              <a:rPr sz="2000" spc="3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endParaRPr sz="2000">
              <a:latin typeface="LM Sans 10"/>
              <a:cs typeface="LM Sans 10"/>
            </a:endParaRPr>
          </a:p>
          <a:p>
            <a:pPr marL="744040">
              <a:spcBef>
                <a:spcPts val="347"/>
              </a:spcBef>
            </a:pPr>
            <a:r>
              <a:rPr sz="2000" spc="-10" dirty="0">
                <a:solidFill>
                  <a:srgbClr val="22373A"/>
                </a:solidFill>
                <a:latin typeface="LM Sans 10"/>
                <a:cs typeface="LM Sans 10"/>
              </a:rPr>
              <a:t>2.</a:t>
            </a:r>
            <a:r>
              <a:rPr sz="2000" spc="404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000" i="1" spc="109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100" i="1" spc="163" baseline="-11904" dirty="0">
                <a:solidFill>
                  <a:srgbClr val="22373A"/>
                </a:solidFill>
                <a:latin typeface="Verdana"/>
                <a:cs typeface="Verdana"/>
              </a:rPr>
              <a:t>i</a:t>
            </a:r>
            <a:r>
              <a:rPr sz="2100" spc="163" baseline="-11904" dirty="0">
                <a:solidFill>
                  <a:srgbClr val="22373A"/>
                </a:solidFill>
                <a:latin typeface="LM Roman 7"/>
                <a:cs typeface="LM Roman 7"/>
              </a:rPr>
              <a:t>+1 </a:t>
            </a:r>
            <a:r>
              <a:rPr sz="2000" i="1" spc="-416" dirty="0">
                <a:solidFill>
                  <a:srgbClr val="22373A"/>
                </a:solidFill>
                <a:latin typeface="DejaVu Sans"/>
                <a:cs typeface="DejaVu Sans"/>
              </a:rPr>
              <a:t>∈</a:t>
            </a:r>
            <a:r>
              <a:rPr sz="2000" i="1" spc="-297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2000" i="1" spc="149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2000" spc="14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000" i="1" spc="149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100" i="1" spc="222" baseline="-11904" dirty="0">
                <a:solidFill>
                  <a:srgbClr val="22373A"/>
                </a:solidFill>
                <a:latin typeface="Verdana"/>
                <a:cs typeface="Verdana"/>
              </a:rPr>
              <a:t>i</a:t>
            </a:r>
            <a:r>
              <a:rPr sz="2000" i="1" spc="14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000" i="1" spc="-169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000" i="1" spc="40" dirty="0">
                <a:solidFill>
                  <a:srgbClr val="22373A"/>
                </a:solidFill>
                <a:latin typeface="Alfios"/>
                <a:cs typeface="Alfios"/>
              </a:rPr>
              <a:t>y</a:t>
            </a:r>
            <a:r>
              <a:rPr sz="2100" i="1" spc="59" baseline="-11904" dirty="0">
                <a:solidFill>
                  <a:srgbClr val="22373A"/>
                </a:solidFill>
                <a:latin typeface="Verdana"/>
                <a:cs typeface="Verdana"/>
              </a:rPr>
              <a:t>i</a:t>
            </a:r>
            <a:r>
              <a:rPr sz="2100" spc="59" baseline="-11904" dirty="0">
                <a:solidFill>
                  <a:srgbClr val="22373A"/>
                </a:solidFill>
                <a:latin typeface="LM Roman 7"/>
                <a:cs typeface="LM Roman 7"/>
              </a:rPr>
              <a:t>+1</a:t>
            </a:r>
            <a:r>
              <a:rPr sz="2000" spc="4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2000" spc="4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20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000" spc="-30" dirty="0">
                <a:solidFill>
                  <a:srgbClr val="22373A"/>
                </a:solidFill>
                <a:latin typeface="LM Sans 10"/>
                <a:cs typeface="LM Sans 10"/>
              </a:rPr>
              <a:t>for</a:t>
            </a:r>
            <a:r>
              <a:rPr sz="20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000" i="1" spc="238" dirty="0">
                <a:solidFill>
                  <a:srgbClr val="22373A"/>
                </a:solidFill>
                <a:latin typeface="Alfios"/>
                <a:cs typeface="Alfios"/>
              </a:rPr>
              <a:t>i</a:t>
            </a:r>
            <a:r>
              <a:rPr sz="2000" i="1" spc="5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0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2000" spc="-119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000" spc="59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2000" i="1" spc="5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000" i="1" spc="-169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000" i="1" spc="149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2000" i="1" spc="-169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000" i="1" spc="149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2000" i="1" spc="-169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000" i="1" spc="149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2000" i="1" spc="-169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000" i="1" spc="14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000" i="1" spc="-169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000" i="1" spc="357" dirty="0">
                <a:solidFill>
                  <a:srgbClr val="22373A"/>
                </a:solidFill>
                <a:latin typeface="Alfios"/>
                <a:cs typeface="Alfios"/>
              </a:rPr>
              <a:t>m</a:t>
            </a:r>
            <a:r>
              <a:rPr sz="2000" i="1" spc="-59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000" i="1" spc="-129" dirty="0">
                <a:solidFill>
                  <a:srgbClr val="22373A"/>
                </a:solidFill>
                <a:latin typeface="DejaVu Sans"/>
                <a:cs typeface="DejaVu Sans"/>
              </a:rPr>
              <a:t>−</a:t>
            </a:r>
            <a:r>
              <a:rPr sz="2000" i="1" spc="-198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2000" spc="-1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2000" spc="-10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2000" spc="-20" dirty="0">
                <a:solidFill>
                  <a:srgbClr val="22373A"/>
                </a:solidFill>
                <a:latin typeface="LM Sans 10"/>
                <a:cs typeface="LM Sans 10"/>
              </a:rPr>
              <a:t>and</a:t>
            </a:r>
            <a:endParaRPr sz="2000">
              <a:latin typeface="LM Sans 10"/>
              <a:cs typeface="LM Sans 10"/>
            </a:endParaRPr>
          </a:p>
          <a:p>
            <a:pPr marL="744040">
              <a:spcBef>
                <a:spcPts val="347"/>
              </a:spcBef>
            </a:pPr>
            <a:r>
              <a:rPr sz="2000" spc="-10" dirty="0">
                <a:solidFill>
                  <a:srgbClr val="22373A"/>
                </a:solidFill>
                <a:latin typeface="LM Sans 10"/>
                <a:cs typeface="LM Sans 10"/>
              </a:rPr>
              <a:t>3. </a:t>
            </a:r>
            <a:r>
              <a:rPr sz="2000" i="1" spc="159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100" i="1" spc="238" baseline="-11904" dirty="0">
                <a:solidFill>
                  <a:srgbClr val="22373A"/>
                </a:solidFill>
                <a:latin typeface="Verdana"/>
                <a:cs typeface="Verdana"/>
              </a:rPr>
              <a:t>m </a:t>
            </a:r>
            <a:r>
              <a:rPr sz="2000" i="1" spc="-416" dirty="0">
                <a:solidFill>
                  <a:srgbClr val="22373A"/>
                </a:solidFill>
                <a:latin typeface="DejaVu Sans"/>
                <a:cs typeface="DejaVu Sans"/>
              </a:rPr>
              <a:t>∈</a:t>
            </a:r>
            <a:r>
              <a:rPr sz="2000" i="1" spc="-337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2000" i="1" spc="109" dirty="0">
                <a:solidFill>
                  <a:srgbClr val="22373A"/>
                </a:solidFill>
                <a:latin typeface="Alfios"/>
                <a:cs typeface="Alfios"/>
              </a:rPr>
              <a:t>F</a:t>
            </a:r>
            <a:endParaRPr sz="2000">
              <a:latin typeface="Alfios"/>
              <a:cs typeface="Alfios"/>
            </a:endParaRPr>
          </a:p>
          <a:p>
            <a:pPr marL="526242" indent="-351247">
              <a:spcBef>
                <a:spcPts val="1110"/>
              </a:spcBef>
              <a:buChar char="•"/>
              <a:tabLst>
                <a:tab pos="527500" algn="l"/>
              </a:tabLst>
            </a:pP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Then, </a:t>
            </a:r>
            <a:r>
              <a:rPr sz="2200" spc="-50" dirty="0">
                <a:solidFill>
                  <a:srgbClr val="22373A"/>
                </a:solidFill>
                <a:latin typeface="LM Sans 10"/>
                <a:cs typeface="LM Sans 10"/>
              </a:rPr>
              <a:t>we </a:t>
            </a: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say </a:t>
            </a:r>
            <a:r>
              <a:rPr sz="2200" i="1" spc="258" dirty="0">
                <a:solidFill>
                  <a:srgbClr val="22373A"/>
                </a:solidFill>
                <a:latin typeface="Alfios"/>
                <a:cs typeface="Alfios"/>
              </a:rPr>
              <a:t>N </a:t>
            </a:r>
            <a:r>
              <a:rPr sz="2200" b="1" spc="-10" dirty="0">
                <a:solidFill>
                  <a:srgbClr val="22373A"/>
                </a:solidFill>
                <a:latin typeface="LM Sans 10"/>
                <a:cs typeface="LM Sans 10"/>
              </a:rPr>
              <a:t>accepts</a:t>
            </a:r>
            <a:r>
              <a:rPr sz="2200" b="1" spc="119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i="1" spc="30" dirty="0">
                <a:solidFill>
                  <a:srgbClr val="22373A"/>
                </a:solidFill>
                <a:latin typeface="Alfios"/>
                <a:cs typeface="Alfios"/>
              </a:rPr>
              <a:t>w</a:t>
            </a:r>
            <a:endParaRPr sz="2200">
              <a:latin typeface="Alfios"/>
              <a:cs typeface="Alfios"/>
            </a:endParaRPr>
          </a:p>
        </p:txBody>
      </p:sp>
    </p:spTree>
    <p:extLst>
      <p:ext uri="{BB962C8B-B14F-4D97-AF65-F5344CB8AC3E}">
        <p14:creationId xmlns:p14="http://schemas.microsoft.com/office/powerpoint/2010/main" val="1866687419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146" y="165018"/>
            <a:ext cx="7892016" cy="701262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lang="en-US" spc="-10" dirty="0"/>
              <a:t>Difference between DFA and NFA</a:t>
            </a:r>
            <a:endParaRPr spc="-10" dirty="0"/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4294967295"/>
          </p:nvPr>
        </p:nvSpPr>
        <p:spPr>
          <a:xfrm>
            <a:off x="8650197" y="6324499"/>
            <a:ext cx="365256" cy="344786"/>
          </a:xfrm>
          <a:prstGeom prst="rect">
            <a:avLst/>
          </a:prstGeom>
        </p:spPr>
        <p:txBody>
          <a:bodyPr vert="horz" wrap="square" lIns="0" tIns="55392" rIns="0" bIns="0" rtlCol="0">
            <a:spAutoFit/>
          </a:bodyPr>
          <a:lstStyle/>
          <a:p>
            <a:pPr marL="75537">
              <a:spcBef>
                <a:spcPts val="434"/>
              </a:spcBef>
            </a:pPr>
            <a:fld id="{81D60167-4931-47E6-BA6A-407CBD079E47}" type="slidenum">
              <a:rPr spc="-10" dirty="0"/>
              <a:pPr marL="75537">
                <a:spcBef>
                  <a:spcPts val="434"/>
                </a:spcBef>
              </a:pPr>
              <a:t>7</a:t>
            </a:fld>
            <a:endParaRPr spc="-10" dirty="0"/>
          </a:p>
        </p:txBody>
      </p:sp>
      <p:sp>
        <p:nvSpPr>
          <p:cNvPr id="36" name="TextBox 35"/>
          <p:cNvSpPr txBox="1"/>
          <p:nvPr/>
        </p:nvSpPr>
        <p:spPr>
          <a:xfrm>
            <a:off x="1143000" y="220980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More than one transition from same symbol is possible</a:t>
            </a:r>
          </a:p>
          <a:p>
            <a:pPr marL="342900" indent="-342900">
              <a:buAutoNum type="arabicPeriod"/>
            </a:pPr>
            <a:r>
              <a:rPr lang="en-US" dirty="0"/>
              <a:t>Empty transitions are allowed</a:t>
            </a:r>
          </a:p>
          <a:p>
            <a:pPr marL="342900" indent="-342900">
              <a:buAutoNum type="arabicPeriod"/>
            </a:pPr>
            <a:r>
              <a:rPr lang="en-US" dirty="0"/>
              <a:t>Not all transitions  need to be drawn</a:t>
            </a:r>
          </a:p>
        </p:txBody>
      </p:sp>
    </p:spTree>
    <p:extLst>
      <p:ext uri="{BB962C8B-B14F-4D97-AF65-F5344CB8AC3E}">
        <p14:creationId xmlns:p14="http://schemas.microsoft.com/office/powerpoint/2010/main" val="3159096997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6995489" cy="137837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pc="-10" dirty="0"/>
              <a:t>Determinism and</a:t>
            </a:r>
            <a:r>
              <a:rPr spc="-59" dirty="0"/>
              <a:t> </a:t>
            </a:r>
            <a:r>
              <a:rPr spc="-10" dirty="0"/>
              <a:t>Nondeterminism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650197" y="6324499"/>
            <a:ext cx="365256" cy="344786"/>
          </a:xfrm>
          <a:prstGeom prst="rect">
            <a:avLst/>
          </a:prstGeom>
        </p:spPr>
        <p:txBody>
          <a:bodyPr vert="horz" wrap="square" lIns="0" tIns="55392" rIns="0" bIns="0" rtlCol="0">
            <a:spAutoFit/>
          </a:bodyPr>
          <a:lstStyle/>
          <a:p>
            <a:pPr marL="75537">
              <a:spcBef>
                <a:spcPts val="434"/>
              </a:spcBef>
            </a:pPr>
            <a:fld id="{81D60167-4931-47E6-BA6A-407CBD079E47}" type="slidenum">
              <a:rPr spc="-10" dirty="0"/>
              <a:pPr marL="75537">
                <a:spcBef>
                  <a:spcPts val="434"/>
                </a:spcBef>
              </a:pPr>
              <a:t>8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14038" y="2122306"/>
            <a:ext cx="7711942" cy="320601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90644">
              <a:lnSpc>
                <a:spcPts val="2508"/>
              </a:lnSpc>
            </a:pPr>
            <a:r>
              <a:rPr sz="2200" b="1" spc="-30" dirty="0">
                <a:solidFill>
                  <a:srgbClr val="22373A"/>
                </a:solidFill>
                <a:latin typeface="LM Sans 10"/>
                <a:cs typeface="LM Sans 10"/>
              </a:rPr>
              <a:t>Theorem</a:t>
            </a:r>
            <a:r>
              <a:rPr sz="2200" b="1" spc="-2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b="1" spc="-10" dirty="0">
                <a:solidFill>
                  <a:srgbClr val="22373A"/>
                </a:solidFill>
                <a:latin typeface="LM Sans 10"/>
                <a:cs typeface="LM Sans 10"/>
              </a:rPr>
              <a:t>2</a:t>
            </a:r>
            <a:endParaRPr sz="2200">
              <a:latin typeface="LM Sans 10"/>
              <a:cs typeface="LM Sans 1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4038" y="2515163"/>
            <a:ext cx="7711942" cy="766334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5036" rIns="0" bIns="0" rtlCol="0">
            <a:spAutoFit/>
          </a:bodyPr>
          <a:lstStyle/>
          <a:p>
            <a:pPr marL="90644">
              <a:spcBef>
                <a:spcPts val="40"/>
              </a:spcBef>
            </a:pPr>
            <a:r>
              <a:rPr sz="2200" i="1" spc="-10" dirty="0">
                <a:solidFill>
                  <a:srgbClr val="22373A"/>
                </a:solidFill>
                <a:latin typeface="LM Sans 10"/>
                <a:cs typeface="LM Sans 10"/>
              </a:rPr>
              <a:t>Every </a:t>
            </a:r>
            <a:r>
              <a:rPr sz="2200" i="1" spc="-20" dirty="0">
                <a:solidFill>
                  <a:srgbClr val="22373A"/>
                </a:solidFill>
                <a:latin typeface="LM Sans 10"/>
                <a:cs typeface="LM Sans 10"/>
              </a:rPr>
              <a:t>nondeterministic </a:t>
            </a:r>
            <a:r>
              <a:rPr sz="2200" i="1" spc="-10" dirty="0">
                <a:solidFill>
                  <a:srgbClr val="22373A"/>
                </a:solidFill>
                <a:latin typeface="LM Sans 10"/>
                <a:cs typeface="LM Sans 10"/>
              </a:rPr>
              <a:t>finite </a:t>
            </a:r>
            <a:r>
              <a:rPr sz="2200" i="1" spc="-20" dirty="0">
                <a:solidFill>
                  <a:srgbClr val="22373A"/>
                </a:solidFill>
                <a:latin typeface="LM Sans 10"/>
                <a:cs typeface="LM Sans 10"/>
              </a:rPr>
              <a:t>automaton has an</a:t>
            </a:r>
            <a:r>
              <a:rPr sz="2200" i="1" spc="-10" dirty="0">
                <a:solidFill>
                  <a:srgbClr val="22373A"/>
                </a:solidFill>
                <a:latin typeface="LM Sans 10"/>
                <a:cs typeface="LM Sans 10"/>
              </a:rPr>
              <a:t> equivalent</a:t>
            </a:r>
            <a:endParaRPr sz="2200">
              <a:latin typeface="LM Sans 10"/>
              <a:cs typeface="LM Sans 10"/>
            </a:endParaRPr>
          </a:p>
          <a:p>
            <a:pPr marL="90644">
              <a:spcBef>
                <a:spcPts val="476"/>
              </a:spcBef>
            </a:pPr>
            <a:r>
              <a:rPr sz="2200" i="1" spc="-20" dirty="0">
                <a:solidFill>
                  <a:srgbClr val="22373A"/>
                </a:solidFill>
                <a:latin typeface="LM Sans 10"/>
                <a:cs typeface="LM Sans 10"/>
              </a:rPr>
              <a:t>deterministic </a:t>
            </a:r>
            <a:r>
              <a:rPr sz="2200" i="1" spc="-10" dirty="0">
                <a:solidFill>
                  <a:srgbClr val="22373A"/>
                </a:solidFill>
                <a:latin typeface="LM Sans 10"/>
                <a:cs typeface="LM Sans 10"/>
              </a:rPr>
              <a:t>finite </a:t>
            </a:r>
            <a:r>
              <a:rPr sz="2200" i="1" spc="-20" dirty="0">
                <a:solidFill>
                  <a:srgbClr val="22373A"/>
                </a:solidFill>
                <a:latin typeface="LM Sans 10"/>
                <a:cs typeface="LM Sans 10"/>
              </a:rPr>
              <a:t>automaton.</a:t>
            </a:r>
            <a:endParaRPr sz="2200">
              <a:latin typeface="LM Sans 10"/>
              <a:cs typeface="LM Sans 1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321" y="3547607"/>
            <a:ext cx="7545689" cy="1703448"/>
          </a:xfrm>
          <a:prstGeom prst="rect">
            <a:avLst/>
          </a:prstGeom>
        </p:spPr>
        <p:txBody>
          <a:bodyPr vert="horz" wrap="square" lIns="0" tIns="25179" rIns="0" bIns="0" rtlCol="0">
            <a:spAutoFit/>
          </a:bodyPr>
          <a:lstStyle/>
          <a:p>
            <a:pPr marL="375167" marR="10072" indent="-351247">
              <a:lnSpc>
                <a:spcPct val="118000"/>
              </a:lnSpc>
              <a:spcBef>
                <a:spcPts val="198"/>
              </a:spcBef>
              <a:buChar char="•"/>
              <a:tabLst>
                <a:tab pos="376426" algn="l"/>
              </a:tabLst>
            </a:pP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If </a:t>
            </a:r>
            <a:r>
              <a:rPr sz="2200" spc="-50" dirty="0">
                <a:solidFill>
                  <a:srgbClr val="22373A"/>
                </a:solidFill>
                <a:latin typeface="LM Sans 10"/>
                <a:cs typeface="LM Sans 10"/>
              </a:rPr>
              <a:t>we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could </a:t>
            </a:r>
            <a:r>
              <a:rPr sz="2200" spc="-30" dirty="0">
                <a:solidFill>
                  <a:srgbClr val="22373A"/>
                </a:solidFill>
                <a:latin typeface="LM Sans 10"/>
                <a:cs typeface="LM Sans 10"/>
              </a:rPr>
              <a:t>show </a:t>
            </a: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for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language </a:t>
            </a:r>
            <a:r>
              <a:rPr sz="2200" i="1" spc="188" dirty="0">
                <a:solidFill>
                  <a:srgbClr val="22373A"/>
                </a:solidFill>
                <a:latin typeface="Alfios"/>
                <a:cs typeface="Alfios"/>
              </a:rPr>
              <a:t>A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recognized </a:t>
            </a:r>
            <a:r>
              <a:rPr sz="2200" spc="-50" dirty="0">
                <a:solidFill>
                  <a:srgbClr val="22373A"/>
                </a:solidFill>
                <a:latin typeface="LM Sans 10"/>
                <a:cs typeface="LM Sans 10"/>
              </a:rPr>
              <a:t>by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an </a:t>
            </a:r>
            <a:r>
              <a:rPr sz="2200" spc="-79" dirty="0">
                <a:solidFill>
                  <a:srgbClr val="22373A"/>
                </a:solidFill>
                <a:latin typeface="LM Sans 10"/>
                <a:cs typeface="LM Sans 10"/>
              </a:rPr>
              <a:t>NFA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can 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also </a:t>
            </a:r>
            <a:r>
              <a:rPr sz="2200" spc="2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recognized </a:t>
            </a:r>
            <a:r>
              <a:rPr sz="2200" spc="-50" dirty="0">
                <a:solidFill>
                  <a:srgbClr val="22373A"/>
                </a:solidFill>
                <a:latin typeface="LM Sans 10"/>
                <a:cs typeface="LM Sans 10"/>
              </a:rPr>
              <a:t>by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2200" spc="-79" dirty="0">
                <a:solidFill>
                  <a:srgbClr val="22373A"/>
                </a:solidFill>
                <a:latin typeface="LM Sans 10"/>
                <a:cs typeface="LM Sans 10"/>
              </a:rPr>
              <a:t>DFA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then </a:t>
            </a:r>
            <a:r>
              <a:rPr sz="2200" spc="-50" dirty="0">
                <a:solidFill>
                  <a:srgbClr val="22373A"/>
                </a:solidFill>
                <a:latin typeface="LM Sans 10"/>
                <a:cs typeface="LM Sans 10"/>
              </a:rPr>
              <a:t>we </a:t>
            </a: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are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done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with the</a:t>
            </a:r>
            <a:r>
              <a:rPr sz="2200" spc="159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proof.</a:t>
            </a:r>
            <a:endParaRPr sz="2200">
              <a:latin typeface="LM Sans 10"/>
              <a:cs typeface="LM Sans 10"/>
            </a:endParaRPr>
          </a:p>
          <a:p>
            <a:pPr marL="375167" indent="-351247">
              <a:spcBef>
                <a:spcPts val="1071"/>
              </a:spcBef>
              <a:buChar char="•"/>
              <a:tabLst>
                <a:tab pos="376426" algn="l"/>
              </a:tabLst>
            </a:pP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So, lets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convert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an </a:t>
            </a:r>
            <a:r>
              <a:rPr sz="2200" spc="-79" dirty="0">
                <a:solidFill>
                  <a:srgbClr val="22373A"/>
                </a:solidFill>
                <a:latin typeface="LM Sans 10"/>
                <a:cs typeface="LM Sans 10"/>
              </a:rPr>
              <a:t>NFA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into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a</a:t>
            </a:r>
            <a:r>
              <a:rPr sz="2200" spc="79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69" dirty="0">
                <a:solidFill>
                  <a:srgbClr val="22373A"/>
                </a:solidFill>
                <a:latin typeface="LM Sans 10"/>
                <a:cs typeface="LM Sans 10"/>
              </a:rPr>
              <a:t>DFA.</a:t>
            </a:r>
            <a:endParaRPr sz="2200">
              <a:latin typeface="LM Sans 10"/>
              <a:cs typeface="LM Sans 10"/>
            </a:endParaRPr>
          </a:p>
        </p:txBody>
      </p:sp>
    </p:spTree>
    <p:extLst>
      <p:ext uri="{BB962C8B-B14F-4D97-AF65-F5344CB8AC3E}">
        <p14:creationId xmlns:p14="http://schemas.microsoft.com/office/powerpoint/2010/main" val="2295632195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724" y="161387"/>
            <a:ext cx="7605088" cy="701262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dirty="0"/>
              <a:t>Proof: </a:t>
            </a:r>
            <a:r>
              <a:rPr spc="-10" dirty="0"/>
              <a:t>assuming no </a:t>
            </a:r>
            <a:r>
              <a:rPr i="1" spc="-287" dirty="0">
                <a:latin typeface="Noto Serif SemiBold"/>
                <a:cs typeface="Noto Serif SemiBold"/>
              </a:rPr>
              <a:t>ϵ</a:t>
            </a:r>
            <a:r>
              <a:rPr i="1" spc="-188" dirty="0">
                <a:latin typeface="Noto Serif SemiBold"/>
                <a:cs typeface="Noto Serif SemiBold"/>
              </a:rPr>
              <a:t> </a:t>
            </a:r>
            <a:r>
              <a:rPr spc="-10" dirty="0"/>
              <a:t>transitions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14038" y="862649"/>
            <a:ext cx="7711942" cy="5252347"/>
            <a:chOff x="359994" y="435318"/>
            <a:chExt cx="3888104" cy="2650490"/>
          </a:xfrm>
        </p:grpSpPr>
        <p:sp>
          <p:nvSpPr>
            <p:cNvPr id="4" name="object 4"/>
            <p:cNvSpPr/>
            <p:nvPr/>
          </p:nvSpPr>
          <p:spPr>
            <a:xfrm>
              <a:off x="359994" y="435318"/>
              <a:ext cx="3888104" cy="198755"/>
            </a:xfrm>
            <a:custGeom>
              <a:avLst/>
              <a:gdLst/>
              <a:ahLst/>
              <a:cxnLst/>
              <a:rect l="l" t="t" r="r" b="b"/>
              <a:pathLst>
                <a:path w="3888104" h="198754">
                  <a:moveTo>
                    <a:pt x="3888003" y="0"/>
                  </a:moveTo>
                  <a:lnTo>
                    <a:pt x="0" y="0"/>
                  </a:lnTo>
                  <a:lnTo>
                    <a:pt x="0" y="198247"/>
                  </a:lnTo>
                  <a:lnTo>
                    <a:pt x="3888003" y="198247"/>
                  </a:lnTo>
                  <a:lnTo>
                    <a:pt x="3888003" y="0"/>
                  </a:lnTo>
                  <a:close/>
                </a:path>
              </a:pathLst>
            </a:custGeom>
            <a:solidFill>
              <a:srgbClr val="CE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633564"/>
              <a:ext cx="3888104" cy="2452370"/>
            </a:xfrm>
            <a:custGeom>
              <a:avLst/>
              <a:gdLst/>
              <a:ahLst/>
              <a:cxnLst/>
              <a:rect l="l" t="t" r="r" b="b"/>
              <a:pathLst>
                <a:path w="3888104" h="2452370">
                  <a:moveTo>
                    <a:pt x="3888003" y="0"/>
                  </a:moveTo>
                  <a:lnTo>
                    <a:pt x="0" y="0"/>
                  </a:lnTo>
                  <a:lnTo>
                    <a:pt x="0" y="2451887"/>
                  </a:lnTo>
                  <a:lnTo>
                    <a:pt x="3888003" y="2451887"/>
                  </a:lnTo>
                  <a:lnTo>
                    <a:pt x="3888003" y="0"/>
                  </a:lnTo>
                  <a:close/>
                </a:path>
              </a:pathLst>
            </a:custGeom>
            <a:solidFill>
              <a:srgbClr val="E4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4895" y="653330"/>
            <a:ext cx="7873160" cy="3285067"/>
          </a:xfrm>
          <a:prstGeom prst="rect">
            <a:avLst/>
          </a:prstGeom>
        </p:spPr>
        <p:txBody>
          <a:bodyPr vert="horz" wrap="square" lIns="0" tIns="195137" rIns="0" bIns="0" rtlCol="0">
            <a:spAutoFit/>
          </a:bodyPr>
          <a:lstStyle/>
          <a:p>
            <a:pPr marL="100716">
              <a:spcBef>
                <a:spcPts val="1537"/>
              </a:spcBef>
            </a:pPr>
            <a:r>
              <a:rPr sz="2200" b="1" spc="-10" dirty="0">
                <a:solidFill>
                  <a:srgbClr val="22373A"/>
                </a:solidFill>
                <a:latin typeface="LM Sans 10"/>
                <a:cs typeface="LM Sans 10"/>
              </a:rPr>
              <a:t>Proof.</a:t>
            </a:r>
            <a:endParaRPr sz="2200" dirty="0">
              <a:latin typeface="LM Sans 10"/>
              <a:cs typeface="LM Sans 10"/>
            </a:endParaRPr>
          </a:p>
          <a:p>
            <a:pPr marL="205209">
              <a:spcBef>
                <a:spcPts val="1338"/>
              </a:spcBef>
              <a:tabLst>
                <a:tab pos="558974" algn="l"/>
              </a:tabLst>
            </a:pPr>
            <a:r>
              <a:rPr sz="2200" i="1" spc="258" dirty="0">
                <a:solidFill>
                  <a:srgbClr val="22373A"/>
                </a:solidFill>
                <a:latin typeface="Alfios"/>
                <a:cs typeface="Alfios"/>
              </a:rPr>
              <a:t>N</a:t>
            </a:r>
            <a:r>
              <a:rPr sz="2200" i="1" spc="27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2200" spc="-129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spc="7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Q,</a:t>
            </a:r>
            <a:r>
              <a:rPr sz="2200" i="1" spc="-19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69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δ,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119" baseline="-10416" dirty="0">
                <a:solidFill>
                  <a:srgbClr val="22373A"/>
                </a:solidFill>
                <a:latin typeface="LM Roman 8"/>
                <a:cs typeface="LM Roman 8"/>
              </a:rPr>
              <a:t>0</a:t>
            </a:r>
            <a:r>
              <a:rPr sz="2200" i="1" spc="7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119" dirty="0">
                <a:solidFill>
                  <a:srgbClr val="22373A"/>
                </a:solidFill>
                <a:latin typeface="Alfios"/>
                <a:cs typeface="Alfios"/>
              </a:rPr>
              <a:t>F</a:t>
            </a:r>
            <a:r>
              <a:rPr sz="2200" i="1" spc="-24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2200" spc="-4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spc="20" dirty="0">
                <a:solidFill>
                  <a:srgbClr val="22373A"/>
                </a:solidFill>
                <a:latin typeface="LM Sans 10"/>
                <a:cs typeface="LM Sans 10"/>
              </a:rPr>
              <a:t>be</a:t>
            </a:r>
            <a:r>
              <a:rPr sz="2200" spc="-3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the</a:t>
            </a: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79" dirty="0">
                <a:solidFill>
                  <a:srgbClr val="22373A"/>
                </a:solidFill>
                <a:latin typeface="LM Sans 10"/>
                <a:cs typeface="LM Sans 10"/>
              </a:rPr>
              <a:t>NFA</a:t>
            </a:r>
            <a:r>
              <a:rPr sz="2200" spc="-3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recognizing</a:t>
            </a:r>
            <a:r>
              <a:rPr sz="2200" spc="-3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some</a:t>
            </a: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language</a:t>
            </a: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i="1" spc="188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endParaRPr sz="2200" dirty="0">
              <a:latin typeface="Alfios"/>
              <a:cs typeface="Alfios"/>
            </a:endParaRPr>
          </a:p>
          <a:p>
            <a:pPr marL="205209">
              <a:spcBef>
                <a:spcPts val="1071"/>
              </a:spcBef>
              <a:tabLst>
                <a:tab pos="558974" algn="l"/>
              </a:tabLst>
            </a:pPr>
            <a:r>
              <a:rPr sz="2200" spc="-79" dirty="0">
                <a:solidFill>
                  <a:srgbClr val="22373A"/>
                </a:solidFill>
                <a:latin typeface="LM Sans 10"/>
                <a:cs typeface="LM Sans 10"/>
              </a:rPr>
              <a:t>DFA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i="1" spc="337" dirty="0">
                <a:solidFill>
                  <a:srgbClr val="22373A"/>
                </a:solidFill>
                <a:latin typeface="Alfios"/>
                <a:cs typeface="Alfios"/>
              </a:rPr>
              <a:t>M</a:t>
            </a:r>
            <a:r>
              <a:rPr sz="2200" i="1" spc="28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2200" spc="-129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spc="10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i="1" spc="163" baseline="27777" dirty="0">
                <a:solidFill>
                  <a:srgbClr val="22373A"/>
                </a:solidFill>
                <a:latin typeface="DejaVu Sans"/>
                <a:cs typeface="DejaVu Sans"/>
              </a:rPr>
              <a:t>′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69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149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2400" i="1" spc="222" baseline="27777" dirty="0">
                <a:solidFill>
                  <a:srgbClr val="22373A"/>
                </a:solidFill>
                <a:latin typeface="DejaVu Sans"/>
                <a:cs typeface="DejaVu Sans"/>
              </a:rPr>
              <a:t>′</a:t>
            </a:r>
            <a:r>
              <a:rPr sz="2200" i="1" spc="14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8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-226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341" baseline="-20833" dirty="0">
                <a:solidFill>
                  <a:srgbClr val="22373A"/>
                </a:solidFill>
                <a:latin typeface="LM Roman 8"/>
                <a:cs typeface="LM Roman 8"/>
              </a:rPr>
              <a:t>0</a:t>
            </a:r>
            <a:r>
              <a:rPr sz="2400" i="1" spc="-341" baseline="27777" dirty="0">
                <a:solidFill>
                  <a:srgbClr val="22373A"/>
                </a:solidFill>
                <a:latin typeface="DejaVu Sans"/>
                <a:cs typeface="DejaVu Sans"/>
              </a:rPr>
              <a:t>′</a:t>
            </a:r>
            <a:r>
              <a:rPr sz="2400" i="1" spc="-149" baseline="27777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2200" i="1" spc="15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19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198" dirty="0">
                <a:solidFill>
                  <a:srgbClr val="22373A"/>
                </a:solidFill>
                <a:latin typeface="Alfios"/>
                <a:cs typeface="Alfios"/>
              </a:rPr>
              <a:t>F</a:t>
            </a:r>
            <a:r>
              <a:rPr sz="2400" i="1" spc="297" baseline="27777" dirty="0">
                <a:solidFill>
                  <a:srgbClr val="22373A"/>
                </a:solidFill>
                <a:latin typeface="DejaVu Sans"/>
                <a:cs typeface="DejaVu Sans"/>
              </a:rPr>
              <a:t>′</a:t>
            </a:r>
            <a:r>
              <a:rPr sz="2200" spc="198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recognizing</a:t>
            </a:r>
            <a:r>
              <a:rPr sz="220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i="1" spc="188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endParaRPr sz="2200" dirty="0">
              <a:latin typeface="Alfios"/>
              <a:cs typeface="Alfios"/>
            </a:endParaRPr>
          </a:p>
          <a:p>
            <a:pPr marL="205209">
              <a:spcBef>
                <a:spcPts val="1061"/>
              </a:spcBef>
              <a:tabLst>
                <a:tab pos="558974" algn="l"/>
              </a:tabLst>
            </a:pPr>
            <a:r>
              <a:rPr lang="en-US" sz="2200" i="1" spc="99" dirty="0">
                <a:solidFill>
                  <a:srgbClr val="22373A"/>
                </a:solidFill>
                <a:latin typeface="Alfios"/>
                <a:cs typeface="Alfios"/>
              </a:rPr>
              <a:t>    </a:t>
            </a:r>
            <a:r>
              <a:rPr sz="2200" i="1" spc="9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i="1" spc="149" baseline="27777" dirty="0">
                <a:solidFill>
                  <a:srgbClr val="22373A"/>
                </a:solidFill>
                <a:latin typeface="DejaVu Sans"/>
                <a:cs typeface="DejaVu Sans"/>
              </a:rPr>
              <a:t>′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2200" spc="-5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i="1" spc="109" dirty="0">
                <a:solidFill>
                  <a:srgbClr val="22373A"/>
                </a:solidFill>
                <a:latin typeface="DejaVu Sans"/>
                <a:cs typeface="DejaVu Sans"/>
              </a:rPr>
              <a:t>P</a:t>
            </a:r>
            <a:r>
              <a:rPr sz="2200" spc="10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200" spc="109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endParaRPr sz="2200" dirty="0">
              <a:latin typeface="LM Roman 10"/>
              <a:cs typeface="LM Roman 10"/>
            </a:endParaRPr>
          </a:p>
          <a:p>
            <a:pPr marL="205209">
              <a:spcBef>
                <a:spcPts val="1071"/>
              </a:spcBef>
              <a:tabLst>
                <a:tab pos="558974" algn="l"/>
              </a:tabLst>
            </a:pPr>
            <a:r>
              <a:rPr lang="en-US" sz="2200" spc="-59" dirty="0">
                <a:solidFill>
                  <a:srgbClr val="22373A"/>
                </a:solidFill>
                <a:latin typeface="LM Sans 10"/>
                <a:cs typeface="LM Sans 10"/>
              </a:rPr>
              <a:t>      </a:t>
            </a:r>
            <a:r>
              <a:rPr sz="2200" spc="-59" dirty="0">
                <a:solidFill>
                  <a:srgbClr val="22373A"/>
                </a:solidFill>
                <a:latin typeface="LM Sans 10"/>
                <a:cs typeface="LM Sans 10"/>
              </a:rPr>
              <a:t>For </a:t>
            </a:r>
            <a:r>
              <a:rPr sz="2200" i="1" spc="208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2200" i="1" spc="9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i="1" spc="149" baseline="27777" dirty="0">
                <a:solidFill>
                  <a:srgbClr val="22373A"/>
                </a:solidFill>
                <a:latin typeface="DejaVu Sans"/>
                <a:cs typeface="DejaVu Sans"/>
              </a:rPr>
              <a:t>′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a </a:t>
            </a:r>
            <a:r>
              <a:rPr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lang="en-US"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2200" spc="-89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let</a:t>
            </a:r>
            <a:endParaRPr sz="2200" dirty="0">
              <a:latin typeface="LM Sans 10"/>
              <a:cs typeface="LM Sans 10"/>
            </a:endParaRPr>
          </a:p>
          <a:p>
            <a:pPr marL="557715">
              <a:spcBef>
                <a:spcPts val="466"/>
              </a:spcBef>
            </a:pPr>
            <a:r>
              <a:rPr sz="2200" i="1" spc="129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2400" i="1" spc="192" baseline="27777" dirty="0">
                <a:solidFill>
                  <a:srgbClr val="22373A"/>
                </a:solidFill>
                <a:latin typeface="DejaVu Sans"/>
                <a:cs typeface="DejaVu Sans"/>
              </a:rPr>
              <a:t>′</a:t>
            </a:r>
            <a:r>
              <a:rPr sz="2200" spc="12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129" dirty="0">
                <a:solidFill>
                  <a:srgbClr val="22373A"/>
                </a:solidFill>
                <a:latin typeface="Alfios"/>
                <a:cs typeface="Alfios"/>
              </a:rPr>
              <a:t>R, </a:t>
            </a:r>
            <a:r>
              <a:rPr sz="2200" i="1" spc="30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r>
              <a:rPr sz="2200" spc="30" dirty="0">
                <a:solidFill>
                  <a:srgbClr val="22373A"/>
                </a:solidFill>
                <a:latin typeface="LM Roman 10"/>
                <a:cs typeface="LM Roman 10"/>
              </a:rPr>
              <a:t>)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2200" i="1" spc="-15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159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2200" i="1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lang="en-US"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  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2200" spc="10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r, </a:t>
            </a:r>
            <a:r>
              <a:rPr sz="2200" i="1" spc="30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r>
              <a:rPr sz="2200" spc="30" dirty="0">
                <a:solidFill>
                  <a:srgbClr val="22373A"/>
                </a:solidFill>
                <a:latin typeface="LM Roman 10"/>
                <a:cs typeface="LM Roman 10"/>
              </a:rPr>
              <a:t>) </a:t>
            </a: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for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some </a:t>
            </a:r>
            <a:r>
              <a:rPr sz="2200" i="1" spc="287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∈</a:t>
            </a:r>
            <a:r>
              <a:rPr lang="en-US"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lang="en-US"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  </a:t>
            </a:r>
            <a:r>
              <a:rPr sz="2200" i="1" spc="-5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200" i="1" spc="-5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lang="en-US" sz="2200" i="1" spc="-50" dirty="0">
              <a:solidFill>
                <a:srgbClr val="22373A"/>
              </a:solidFill>
              <a:latin typeface="DejaVu Sans"/>
              <a:cs typeface="DejaVu Sans"/>
            </a:endParaRPr>
          </a:p>
          <a:p>
            <a:pPr marL="557715">
              <a:spcBef>
                <a:spcPts val="466"/>
              </a:spcBef>
            </a:pPr>
            <a:r>
              <a:rPr lang="en-US" sz="2200" i="1" spc="-50" dirty="0">
                <a:solidFill>
                  <a:srgbClr val="22373A"/>
                </a:solidFill>
                <a:latin typeface="DejaVu Sans"/>
                <a:cs typeface="DejaVu Sans"/>
              </a:rPr>
              <a:t>                                    </a:t>
            </a:r>
            <a:r>
              <a:rPr sz="2200" i="1" spc="-416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2200" spc="-50" dirty="0">
                <a:solidFill>
                  <a:srgbClr val="22373A"/>
                </a:solidFill>
                <a:latin typeface="LM Sans 10"/>
                <a:cs typeface="LM Sans 10"/>
              </a:rPr>
              <a:t>or</a:t>
            </a:r>
            <a:endParaRPr sz="2200" dirty="0">
              <a:latin typeface="LM Sans 10"/>
              <a:cs typeface="LM Sans 1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2210" y="3751211"/>
            <a:ext cx="108317" cy="270375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z="1600" i="1" spc="89" dirty="0">
                <a:solidFill>
                  <a:srgbClr val="22373A"/>
                </a:solidFill>
                <a:latin typeface="DejaVu Sans"/>
                <a:cs typeface="DejaVu Sans"/>
              </a:rPr>
              <a:t>′</a:t>
            </a:r>
            <a:endParaRPr sz="1600"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4659" y="3570272"/>
            <a:ext cx="329990" cy="33193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z="2000" spc="1457" dirty="0">
                <a:solidFill>
                  <a:srgbClr val="22373A"/>
                </a:solidFill>
                <a:latin typeface="Trebuchet MS"/>
                <a:cs typeface="Trebuchet MS"/>
              </a:rPr>
              <a:t>[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59686" y="3790597"/>
            <a:ext cx="3544546" cy="358320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  <a:tabLst>
                <a:tab pos="1737352" algn="l"/>
              </a:tabLst>
            </a:pPr>
            <a:r>
              <a:rPr sz="2200" i="1" spc="20" dirty="0">
                <a:solidFill>
                  <a:srgbClr val="22373A"/>
                </a:solidFill>
                <a:latin typeface="Alfios"/>
                <a:cs typeface="Alfios"/>
              </a:rPr>
              <a:t>δ </a:t>
            </a:r>
            <a:r>
              <a:rPr sz="2200" spc="11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119" dirty="0">
                <a:solidFill>
                  <a:srgbClr val="22373A"/>
                </a:solidFill>
                <a:latin typeface="Alfios"/>
                <a:cs typeface="Alfios"/>
              </a:rPr>
              <a:t>R,</a:t>
            </a:r>
            <a:r>
              <a:rPr sz="2200" i="1" spc="-119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30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r>
              <a:rPr sz="2200" spc="3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2200" spc="-119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lang="en-US" sz="2200" spc="-2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2200" spc="10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r,</a:t>
            </a:r>
            <a:r>
              <a:rPr sz="2200" i="1" spc="-28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r>
              <a:rPr sz="2200" spc="69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endParaRPr sz="2200" dirty="0">
              <a:latin typeface="Alfios"/>
              <a:cs typeface="Alfio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1749" y="4175373"/>
            <a:ext cx="6292483" cy="1323783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4032420">
              <a:spcBef>
                <a:spcPts val="188"/>
              </a:spcBef>
            </a:pPr>
            <a:r>
              <a:rPr sz="1600" i="1" spc="40" dirty="0">
                <a:solidFill>
                  <a:srgbClr val="22373A"/>
                </a:solidFill>
                <a:latin typeface="Arimo"/>
                <a:cs typeface="Arimo"/>
              </a:rPr>
              <a:t>r</a:t>
            </a:r>
            <a:r>
              <a:rPr sz="1600" i="1" spc="40" dirty="0">
                <a:solidFill>
                  <a:srgbClr val="22373A"/>
                </a:solidFill>
                <a:latin typeface="DejaVu Sans"/>
                <a:cs typeface="DejaVu Sans"/>
              </a:rPr>
              <a:t>∈</a:t>
            </a:r>
            <a:r>
              <a:rPr sz="1600" i="1" spc="40" dirty="0">
                <a:solidFill>
                  <a:srgbClr val="22373A"/>
                </a:solidFill>
                <a:latin typeface="Arimo"/>
                <a:cs typeface="Arimo"/>
              </a:rPr>
              <a:t>R</a:t>
            </a:r>
            <a:endParaRPr sz="1600" dirty="0">
              <a:latin typeface="Arimo"/>
              <a:cs typeface="Arimo"/>
            </a:endParaRPr>
          </a:p>
          <a:p>
            <a:pPr marL="450702" indent="-351247">
              <a:spcBef>
                <a:spcPts val="1834"/>
              </a:spcBef>
              <a:buFont typeface="LM Sans 10"/>
              <a:buChar char="•"/>
              <a:tabLst>
                <a:tab pos="451963" algn="l"/>
              </a:tabLst>
            </a:pPr>
            <a:r>
              <a:rPr sz="2200" i="1" spc="-226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341" baseline="-20833" dirty="0">
                <a:solidFill>
                  <a:srgbClr val="22373A"/>
                </a:solidFill>
                <a:latin typeface="LM Roman 8"/>
                <a:cs typeface="LM Roman 8"/>
              </a:rPr>
              <a:t>0</a:t>
            </a:r>
            <a:r>
              <a:rPr sz="2400" i="1" spc="-341" baseline="27777" dirty="0">
                <a:solidFill>
                  <a:srgbClr val="22373A"/>
                </a:solidFill>
                <a:latin typeface="DejaVu Sans"/>
                <a:cs typeface="DejaVu Sans"/>
              </a:rPr>
              <a:t>′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2200" spc="-248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2200" i="1" spc="-12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12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192" baseline="-10416" dirty="0">
                <a:solidFill>
                  <a:srgbClr val="22373A"/>
                </a:solidFill>
                <a:latin typeface="LM Roman 8"/>
                <a:cs typeface="LM Roman 8"/>
              </a:rPr>
              <a:t>0</a:t>
            </a:r>
            <a:r>
              <a:rPr sz="2200" i="1" spc="-12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 dirty="0">
              <a:latin typeface="DejaVu Sans"/>
              <a:cs typeface="DejaVu Sans"/>
            </a:endParaRPr>
          </a:p>
          <a:p>
            <a:pPr marL="450702" indent="-351247">
              <a:spcBef>
                <a:spcPts val="1061"/>
              </a:spcBef>
              <a:buFont typeface="LM Sans 10"/>
              <a:buChar char="•"/>
              <a:tabLst>
                <a:tab pos="451963" algn="l"/>
              </a:tabLst>
            </a:pPr>
            <a:r>
              <a:rPr sz="2200" i="1" spc="258" dirty="0">
                <a:solidFill>
                  <a:srgbClr val="22373A"/>
                </a:solidFill>
                <a:latin typeface="Alfios"/>
                <a:cs typeface="Alfios"/>
              </a:rPr>
              <a:t>F</a:t>
            </a:r>
            <a:r>
              <a:rPr sz="2400" i="1" spc="387" baseline="27777" dirty="0">
                <a:solidFill>
                  <a:srgbClr val="22373A"/>
                </a:solidFill>
                <a:latin typeface="DejaVu Sans"/>
                <a:cs typeface="DejaVu Sans"/>
              </a:rPr>
              <a:t>′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2200" i="1" spc="-5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59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2200" i="1" spc="9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i="1" spc="149" baseline="27777" dirty="0">
                <a:solidFill>
                  <a:srgbClr val="22373A"/>
                </a:solidFill>
                <a:latin typeface="DejaVu Sans"/>
                <a:cs typeface="DejaVu Sans"/>
              </a:rPr>
              <a:t>′ 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2200" i="1" spc="208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contains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an accept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state of</a:t>
            </a:r>
            <a:r>
              <a:rPr sz="2200" spc="-268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i="1" spc="89" dirty="0">
                <a:solidFill>
                  <a:srgbClr val="22373A"/>
                </a:solidFill>
                <a:latin typeface="Alfios"/>
                <a:cs typeface="Alfios"/>
              </a:rPr>
              <a:t>N</a:t>
            </a:r>
            <a:r>
              <a:rPr sz="2200" i="1" spc="8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 dirty="0">
              <a:latin typeface="DejaVu Sans"/>
              <a:cs typeface="DejaVu San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134835" y="5837453"/>
            <a:ext cx="185147" cy="186236"/>
            <a:chOff x="4101312" y="2945752"/>
            <a:chExt cx="93345" cy="93980"/>
          </a:xfrm>
        </p:grpSpPr>
        <p:sp>
          <p:nvSpPr>
            <p:cNvPr id="12" name="object 12"/>
            <p:cNvSpPr/>
            <p:nvPr/>
          </p:nvSpPr>
          <p:spPr>
            <a:xfrm>
              <a:off x="4103839" y="2945752"/>
              <a:ext cx="0" cy="93980"/>
            </a:xfrm>
            <a:custGeom>
              <a:avLst/>
              <a:gdLst/>
              <a:ahLst/>
              <a:cxnLst/>
              <a:rect l="l" t="t" r="r" b="b"/>
              <a:pathLst>
                <a:path h="93980">
                  <a:moveTo>
                    <a:pt x="0" y="9352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06379" y="2948279"/>
              <a:ext cx="83185" cy="0"/>
            </a:xfrm>
            <a:custGeom>
              <a:avLst/>
              <a:gdLst/>
              <a:ahLst/>
              <a:cxnLst/>
              <a:rect l="l" t="t" r="r" b="b"/>
              <a:pathLst>
                <a:path w="83185">
                  <a:moveTo>
                    <a:pt x="0" y="0"/>
                  </a:moveTo>
                  <a:lnTo>
                    <a:pt x="83134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06379" y="3036747"/>
              <a:ext cx="83185" cy="0"/>
            </a:xfrm>
            <a:custGeom>
              <a:avLst/>
              <a:gdLst/>
              <a:ahLst/>
              <a:cxnLst/>
              <a:rect l="l" t="t" r="r" b="b"/>
              <a:pathLst>
                <a:path w="83185">
                  <a:moveTo>
                    <a:pt x="0" y="0"/>
                  </a:moveTo>
                  <a:lnTo>
                    <a:pt x="83134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92028" y="2945752"/>
              <a:ext cx="0" cy="93980"/>
            </a:xfrm>
            <a:custGeom>
              <a:avLst/>
              <a:gdLst/>
              <a:ahLst/>
              <a:cxnLst/>
              <a:rect l="l" t="t" r="r" b="b"/>
              <a:pathLst>
                <a:path h="93980">
                  <a:moveTo>
                    <a:pt x="0" y="9352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8650197" y="6324499"/>
            <a:ext cx="365256" cy="344786"/>
          </a:xfrm>
          <a:prstGeom prst="rect">
            <a:avLst/>
          </a:prstGeom>
        </p:spPr>
        <p:txBody>
          <a:bodyPr vert="horz" wrap="square" lIns="0" tIns="55392" rIns="0" bIns="0" rtlCol="0">
            <a:spAutoFit/>
          </a:bodyPr>
          <a:lstStyle/>
          <a:p>
            <a:pPr marL="75537">
              <a:spcBef>
                <a:spcPts val="434"/>
              </a:spcBef>
            </a:pPr>
            <a:fld id="{81D60167-4931-47E6-BA6A-407CBD079E47}" type="slidenum">
              <a:rPr spc="-10" dirty="0"/>
              <a:pPr marL="75537">
                <a:spcBef>
                  <a:spcPts val="434"/>
                </a:spcBef>
              </a:pPr>
              <a:t>9</a:t>
            </a:fld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3410995590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511" y="6459"/>
            <a:ext cx="5776289" cy="701262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pc="-20" dirty="0"/>
              <a:t>Pr</a:t>
            </a:r>
            <a:r>
              <a:rPr spc="59" dirty="0"/>
              <a:t>o</a:t>
            </a:r>
            <a:r>
              <a:rPr spc="-10" dirty="0"/>
              <a:t>of</a:t>
            </a:r>
            <a:r>
              <a:rPr lang="en-US" spc="-10" dirty="0"/>
              <a:t> with </a:t>
            </a:r>
            <a:r>
              <a:rPr lang="el-GR" i="1" spc="-287" dirty="0">
                <a:latin typeface="Noto Serif SemiBold"/>
                <a:cs typeface="Noto Serif SemiBold"/>
              </a:rPr>
              <a:t>ϵ</a:t>
            </a:r>
            <a:r>
              <a:rPr lang="el-GR" i="1" spc="-188" dirty="0">
                <a:latin typeface="Noto Serif SemiBold"/>
                <a:cs typeface="Noto Serif SemiBold"/>
              </a:rPr>
              <a:t> </a:t>
            </a:r>
            <a:r>
              <a:rPr lang="en-US" spc="-10" dirty="0"/>
              <a:t>transitions 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4038" y="814403"/>
            <a:ext cx="7711942" cy="5310231"/>
            <a:chOff x="359994" y="410972"/>
            <a:chExt cx="3888104" cy="2679700"/>
          </a:xfrm>
        </p:grpSpPr>
        <p:sp>
          <p:nvSpPr>
            <p:cNvPr id="4" name="object 4"/>
            <p:cNvSpPr/>
            <p:nvPr/>
          </p:nvSpPr>
          <p:spPr>
            <a:xfrm>
              <a:off x="359994" y="410972"/>
              <a:ext cx="3888104" cy="198755"/>
            </a:xfrm>
            <a:custGeom>
              <a:avLst/>
              <a:gdLst/>
              <a:ahLst/>
              <a:cxnLst/>
              <a:rect l="l" t="t" r="r" b="b"/>
              <a:pathLst>
                <a:path w="3888104" h="198754">
                  <a:moveTo>
                    <a:pt x="3888003" y="0"/>
                  </a:moveTo>
                  <a:lnTo>
                    <a:pt x="0" y="0"/>
                  </a:lnTo>
                  <a:lnTo>
                    <a:pt x="0" y="198247"/>
                  </a:lnTo>
                  <a:lnTo>
                    <a:pt x="3888003" y="198247"/>
                  </a:lnTo>
                  <a:lnTo>
                    <a:pt x="3888003" y="0"/>
                  </a:lnTo>
                  <a:close/>
                </a:path>
              </a:pathLst>
            </a:custGeom>
            <a:solidFill>
              <a:srgbClr val="CE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609219"/>
              <a:ext cx="3888104" cy="2481580"/>
            </a:xfrm>
            <a:custGeom>
              <a:avLst/>
              <a:gdLst/>
              <a:ahLst/>
              <a:cxnLst/>
              <a:rect l="l" t="t" r="r" b="b"/>
              <a:pathLst>
                <a:path w="3888104" h="2481580">
                  <a:moveTo>
                    <a:pt x="3888003" y="0"/>
                  </a:moveTo>
                  <a:lnTo>
                    <a:pt x="0" y="0"/>
                  </a:lnTo>
                  <a:lnTo>
                    <a:pt x="0" y="2481249"/>
                  </a:lnTo>
                  <a:lnTo>
                    <a:pt x="3888003" y="2481249"/>
                  </a:lnTo>
                  <a:lnTo>
                    <a:pt x="3888003" y="0"/>
                  </a:lnTo>
                  <a:close/>
                </a:path>
              </a:pathLst>
            </a:custGeom>
            <a:solidFill>
              <a:srgbClr val="E4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55275" y="605084"/>
            <a:ext cx="7730834" cy="5339476"/>
          </a:xfrm>
          <a:prstGeom prst="rect">
            <a:avLst/>
          </a:prstGeom>
        </p:spPr>
        <p:txBody>
          <a:bodyPr vert="horz" wrap="square" lIns="0" tIns="195137" rIns="0" bIns="0" rtlCol="0">
            <a:spAutoFit/>
          </a:bodyPr>
          <a:lstStyle/>
          <a:p>
            <a:pPr marL="50358">
              <a:spcBef>
                <a:spcPts val="1537"/>
              </a:spcBef>
            </a:pPr>
            <a:r>
              <a:rPr sz="2200" b="1" spc="-10" dirty="0">
                <a:solidFill>
                  <a:srgbClr val="22373A"/>
                </a:solidFill>
                <a:latin typeface="LM Sans 10"/>
                <a:cs typeface="LM Sans 10"/>
              </a:rPr>
              <a:t>Proof.</a:t>
            </a:r>
            <a:endParaRPr sz="2200">
              <a:latin typeface="LM Sans 10"/>
              <a:cs typeface="LM Sans 10"/>
            </a:endParaRPr>
          </a:p>
          <a:p>
            <a:pPr marL="507355" marR="85609" indent="-351247">
              <a:lnSpc>
                <a:spcPct val="118000"/>
              </a:lnSpc>
              <a:spcBef>
                <a:spcPts val="872"/>
              </a:spcBef>
              <a:buChar char="•"/>
              <a:tabLst>
                <a:tab pos="508616" algn="l"/>
              </a:tabLst>
            </a:pPr>
            <a:r>
              <a:rPr sz="2200" spc="-59" dirty="0">
                <a:solidFill>
                  <a:srgbClr val="22373A"/>
                </a:solidFill>
                <a:latin typeface="LM Sans 10"/>
                <a:cs typeface="LM Sans 10"/>
              </a:rPr>
              <a:t>For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any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state </a:t>
            </a:r>
            <a:r>
              <a:rPr sz="2200" i="1" spc="208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of </a:t>
            </a:r>
            <a:r>
              <a:rPr sz="2200" i="1" spc="337" dirty="0">
                <a:solidFill>
                  <a:srgbClr val="22373A"/>
                </a:solidFill>
                <a:latin typeface="Alfios"/>
                <a:cs typeface="Alfios"/>
              </a:rPr>
              <a:t>M</a:t>
            </a:r>
            <a:r>
              <a:rPr sz="2200" i="1" spc="-454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2200" spc="-50" dirty="0">
                <a:solidFill>
                  <a:srgbClr val="22373A"/>
                </a:solidFill>
                <a:latin typeface="LM Sans 10"/>
                <a:cs typeface="LM Sans 10"/>
              </a:rPr>
              <a:t>we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define </a:t>
            </a:r>
            <a:r>
              <a:rPr sz="2200" i="1" spc="129" dirty="0">
                <a:solidFill>
                  <a:srgbClr val="22373A"/>
                </a:solidFill>
                <a:latin typeface="Alfios"/>
                <a:cs typeface="Alfios"/>
              </a:rPr>
              <a:t>E</a:t>
            </a:r>
            <a:r>
              <a:rPr sz="2200" spc="12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129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200" spc="129" dirty="0">
                <a:solidFill>
                  <a:srgbClr val="22373A"/>
                </a:solidFill>
                <a:latin typeface="LM Roman 10"/>
                <a:cs typeface="LM Roman 10"/>
              </a:rPr>
              <a:t>)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to </a:t>
            </a:r>
            <a:r>
              <a:rPr sz="2200" spc="2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the collection of  states that can </a:t>
            </a:r>
            <a:r>
              <a:rPr sz="2200" spc="2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reached from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members of </a:t>
            </a:r>
            <a:r>
              <a:rPr sz="2200" i="1" spc="208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2200" spc="-50" dirty="0">
                <a:solidFill>
                  <a:srgbClr val="22373A"/>
                </a:solidFill>
                <a:latin typeface="LM Sans 10"/>
                <a:cs typeface="LM Sans 10"/>
              </a:rPr>
              <a:t>by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going only 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along </a:t>
            </a:r>
            <a:r>
              <a:rPr sz="2200" i="1" spc="40" dirty="0">
                <a:solidFill>
                  <a:srgbClr val="22373A"/>
                </a:solidFill>
                <a:latin typeface="Alfios"/>
                <a:cs typeface="Alfios"/>
              </a:rPr>
              <a:t>ϵ </a:t>
            </a: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arrows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including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the members of </a:t>
            </a:r>
            <a:r>
              <a:rPr sz="2200" i="1" spc="208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200" i="1" spc="404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themselves,for</a:t>
            </a:r>
            <a:endParaRPr sz="2200">
              <a:latin typeface="LM Sans 10"/>
              <a:cs typeface="LM Sans 10"/>
            </a:endParaRPr>
          </a:p>
          <a:p>
            <a:pPr marL="507355">
              <a:spcBef>
                <a:spcPts val="476"/>
              </a:spcBef>
            </a:pPr>
            <a:r>
              <a:rPr sz="2200" i="1" spc="208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2200" i="1" spc="-149" dirty="0">
                <a:solidFill>
                  <a:srgbClr val="22373A"/>
                </a:solidFill>
                <a:latin typeface="DejaVu Sans"/>
                <a:cs typeface="DejaVu Sans"/>
              </a:rPr>
              <a:t>⊆</a:t>
            </a:r>
            <a:r>
              <a:rPr sz="2200" i="1" spc="-248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endParaRPr sz="2200">
              <a:latin typeface="Alfios"/>
              <a:cs typeface="Alfios"/>
            </a:endParaRPr>
          </a:p>
          <a:p>
            <a:pPr marL="706272">
              <a:spcBef>
                <a:spcPts val="2637"/>
              </a:spcBef>
            </a:pPr>
            <a:r>
              <a:rPr sz="2200" i="1" spc="129" dirty="0">
                <a:solidFill>
                  <a:srgbClr val="22373A"/>
                </a:solidFill>
                <a:latin typeface="Alfios"/>
                <a:cs typeface="Alfios"/>
              </a:rPr>
              <a:t>E</a:t>
            </a:r>
            <a:r>
              <a:rPr sz="2200" spc="12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129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200" spc="129" dirty="0">
                <a:solidFill>
                  <a:srgbClr val="22373A"/>
                </a:solidFill>
                <a:latin typeface="LM Roman 10"/>
                <a:cs typeface="LM Roman 10"/>
              </a:rPr>
              <a:t>)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2200" i="1" spc="-15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159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2200" i="1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can </a:t>
            </a:r>
            <a:r>
              <a:rPr sz="2200" spc="2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reached from </a:t>
            </a:r>
            <a:r>
              <a:rPr sz="2200" i="1" spc="208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traversing </a:t>
            </a:r>
            <a:r>
              <a:rPr sz="2200" i="1" spc="40" dirty="0">
                <a:solidFill>
                  <a:srgbClr val="22373A"/>
                </a:solidFill>
                <a:latin typeface="Alfios"/>
                <a:cs typeface="Alfios"/>
              </a:rPr>
              <a:t>ϵ</a:t>
            </a:r>
            <a:r>
              <a:rPr sz="2200" i="1" spc="-23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79" dirty="0">
                <a:solidFill>
                  <a:srgbClr val="22373A"/>
                </a:solidFill>
                <a:latin typeface="LM Sans 10"/>
                <a:cs typeface="LM Sans 10"/>
              </a:rPr>
              <a:t>arrows</a:t>
            </a:r>
            <a:r>
              <a:rPr sz="2200" i="1" spc="-7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  <a:p>
            <a:pPr marL="507355" indent="-352506">
              <a:spcBef>
                <a:spcPts val="2647"/>
              </a:spcBef>
              <a:buChar char="•"/>
              <a:tabLst>
                <a:tab pos="508616" algn="l"/>
              </a:tabLst>
            </a:pP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The new transition function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can </a:t>
            </a:r>
            <a:r>
              <a:rPr sz="2200" spc="2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written</a:t>
            </a: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 as:</a:t>
            </a:r>
            <a:endParaRPr sz="2200">
              <a:latin typeface="LM Sans 10"/>
              <a:cs typeface="LM Sans 10"/>
            </a:endParaRPr>
          </a:p>
          <a:p>
            <a:pPr marL="446928" algn="ctr">
              <a:spcBef>
                <a:spcPts val="2647"/>
              </a:spcBef>
            </a:pPr>
            <a:r>
              <a:rPr sz="2200" i="1" spc="129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2400" i="1" spc="192" baseline="31250" dirty="0">
                <a:solidFill>
                  <a:srgbClr val="22373A"/>
                </a:solidFill>
                <a:latin typeface="DejaVu Sans"/>
                <a:cs typeface="DejaVu Sans"/>
              </a:rPr>
              <a:t>′</a:t>
            </a:r>
            <a:r>
              <a:rPr sz="2200" spc="12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129" dirty="0">
                <a:solidFill>
                  <a:srgbClr val="22373A"/>
                </a:solidFill>
                <a:latin typeface="Alfios"/>
                <a:cs typeface="Alfios"/>
              </a:rPr>
              <a:t>R, </a:t>
            </a:r>
            <a:r>
              <a:rPr sz="2200" i="1" spc="30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r>
              <a:rPr sz="2200" spc="30" dirty="0">
                <a:solidFill>
                  <a:srgbClr val="22373A"/>
                </a:solidFill>
                <a:latin typeface="LM Roman 10"/>
                <a:cs typeface="LM Roman 10"/>
              </a:rPr>
              <a:t>) 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2200" i="1" spc="-15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159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2200" i="1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2200" i="1" spc="129" dirty="0">
                <a:solidFill>
                  <a:srgbClr val="22373A"/>
                </a:solidFill>
                <a:latin typeface="Alfios"/>
                <a:cs typeface="Alfios"/>
              </a:rPr>
              <a:t>E</a:t>
            </a:r>
            <a:r>
              <a:rPr sz="2200" spc="12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129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2200" spc="129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129" dirty="0">
                <a:solidFill>
                  <a:srgbClr val="22373A"/>
                </a:solidFill>
                <a:latin typeface="Alfios"/>
                <a:cs typeface="Alfios"/>
              </a:rPr>
              <a:t>r, </a:t>
            </a:r>
            <a:r>
              <a:rPr sz="2200" i="1" spc="10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r>
              <a:rPr sz="2200" spc="10" dirty="0">
                <a:solidFill>
                  <a:srgbClr val="22373A"/>
                </a:solidFill>
                <a:latin typeface="LM Roman 10"/>
                <a:cs typeface="LM Roman 10"/>
              </a:rPr>
              <a:t>)) </a:t>
            </a:r>
            <a:r>
              <a:rPr sz="2200" spc="-40" dirty="0">
                <a:solidFill>
                  <a:srgbClr val="22373A"/>
                </a:solidFill>
                <a:latin typeface="LM Sans 10"/>
                <a:cs typeface="LM Sans 10"/>
              </a:rPr>
              <a:t>for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some </a:t>
            </a:r>
            <a:r>
              <a:rPr sz="2200" i="1" spc="287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200" i="1" spc="-178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-466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2200" i="1" spc="2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2200" i="1" spc="2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r>
              <a:rPr sz="2200" i="1" spc="2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endParaRPr sz="2200">
              <a:latin typeface="Alfios"/>
              <a:cs typeface="Alfios"/>
            </a:endParaRPr>
          </a:p>
          <a:p>
            <a:pPr marL="507355" indent="-352506">
              <a:spcBef>
                <a:spcPts val="2647"/>
              </a:spcBef>
              <a:buChar char="•"/>
              <a:tabLst>
                <a:tab pos="508616" algn="l"/>
              </a:tabLst>
            </a:pPr>
            <a:r>
              <a:rPr sz="2200" spc="-20" dirty="0">
                <a:solidFill>
                  <a:srgbClr val="22373A"/>
                </a:solidFill>
                <a:latin typeface="LM Sans 10"/>
                <a:cs typeface="LM Sans 10"/>
              </a:rPr>
              <a:t>The new </a:t>
            </a:r>
            <a:r>
              <a:rPr sz="2200" spc="-30" dirty="0">
                <a:solidFill>
                  <a:srgbClr val="22373A"/>
                </a:solidFill>
                <a:latin typeface="LM Sans 10"/>
                <a:cs typeface="LM Sans 10"/>
              </a:rPr>
              <a:t>start </a:t>
            </a:r>
            <a:r>
              <a:rPr sz="2200" spc="-10" dirty="0">
                <a:solidFill>
                  <a:srgbClr val="22373A"/>
                </a:solidFill>
                <a:latin typeface="LM Sans 10"/>
                <a:cs typeface="LM Sans 10"/>
              </a:rPr>
              <a:t>state of </a:t>
            </a:r>
            <a:r>
              <a:rPr sz="2200" i="1" spc="337" dirty="0">
                <a:solidFill>
                  <a:srgbClr val="22373A"/>
                </a:solidFill>
                <a:latin typeface="Alfios"/>
                <a:cs typeface="Alfios"/>
              </a:rPr>
              <a:t>M </a:t>
            </a:r>
            <a:r>
              <a:rPr sz="2200" spc="-30" dirty="0">
                <a:solidFill>
                  <a:srgbClr val="22373A"/>
                </a:solidFill>
                <a:latin typeface="LM Sans 10"/>
                <a:cs typeface="LM Sans 10"/>
              </a:rPr>
              <a:t>would </a:t>
            </a:r>
            <a:r>
              <a:rPr sz="2200" spc="20" dirty="0">
                <a:solidFill>
                  <a:srgbClr val="22373A"/>
                </a:solidFill>
                <a:latin typeface="LM Sans 10"/>
                <a:cs typeface="LM Sans 10"/>
              </a:rPr>
              <a:t>be</a:t>
            </a:r>
            <a:r>
              <a:rPr sz="2200" spc="109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i="1" spc="-40" dirty="0">
                <a:solidFill>
                  <a:srgbClr val="22373A"/>
                </a:solidFill>
                <a:latin typeface="Alfios"/>
                <a:cs typeface="Alfios"/>
              </a:rPr>
              <a:t>E</a:t>
            </a:r>
            <a:r>
              <a:rPr sz="2200" spc="-4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2200" i="1" spc="-4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i="1" spc="-4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2400" spc="-59" baseline="-10416" dirty="0">
                <a:solidFill>
                  <a:srgbClr val="22373A"/>
                </a:solidFill>
                <a:latin typeface="LM Roman 8"/>
                <a:cs typeface="LM Roman 8"/>
              </a:rPr>
              <a:t>0</a:t>
            </a:r>
            <a:r>
              <a:rPr sz="2200" i="1" spc="-4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r>
              <a:rPr sz="2200" spc="-4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endParaRPr sz="2200">
              <a:latin typeface="LM Roman 10"/>
              <a:cs typeface="LM Roman 1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134835" y="5847393"/>
            <a:ext cx="185147" cy="186236"/>
            <a:chOff x="4101312" y="2950768"/>
            <a:chExt cx="93345" cy="93980"/>
          </a:xfrm>
        </p:grpSpPr>
        <p:sp>
          <p:nvSpPr>
            <p:cNvPr id="8" name="object 8"/>
            <p:cNvSpPr/>
            <p:nvPr/>
          </p:nvSpPr>
          <p:spPr>
            <a:xfrm>
              <a:off x="4103839" y="2950768"/>
              <a:ext cx="0" cy="93980"/>
            </a:xfrm>
            <a:custGeom>
              <a:avLst/>
              <a:gdLst/>
              <a:ahLst/>
              <a:cxnLst/>
              <a:rect l="l" t="t" r="r" b="b"/>
              <a:pathLst>
                <a:path h="93980">
                  <a:moveTo>
                    <a:pt x="0" y="9352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06379" y="2953308"/>
              <a:ext cx="83185" cy="0"/>
            </a:xfrm>
            <a:custGeom>
              <a:avLst/>
              <a:gdLst/>
              <a:ahLst/>
              <a:cxnLst/>
              <a:rect l="l" t="t" r="r" b="b"/>
              <a:pathLst>
                <a:path w="83185">
                  <a:moveTo>
                    <a:pt x="0" y="0"/>
                  </a:moveTo>
                  <a:lnTo>
                    <a:pt x="83134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06379" y="3041764"/>
              <a:ext cx="83185" cy="0"/>
            </a:xfrm>
            <a:custGeom>
              <a:avLst/>
              <a:gdLst/>
              <a:ahLst/>
              <a:cxnLst/>
              <a:rect l="l" t="t" r="r" b="b"/>
              <a:pathLst>
                <a:path w="83185">
                  <a:moveTo>
                    <a:pt x="0" y="0"/>
                  </a:moveTo>
                  <a:lnTo>
                    <a:pt x="83134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92028" y="2950768"/>
              <a:ext cx="0" cy="93980"/>
            </a:xfrm>
            <a:custGeom>
              <a:avLst/>
              <a:gdLst/>
              <a:ahLst/>
              <a:cxnLst/>
              <a:rect l="l" t="t" r="r" b="b"/>
              <a:pathLst>
                <a:path h="93980">
                  <a:moveTo>
                    <a:pt x="0" y="9352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8650197" y="6324499"/>
            <a:ext cx="365256" cy="344786"/>
          </a:xfrm>
          <a:prstGeom prst="rect">
            <a:avLst/>
          </a:prstGeom>
        </p:spPr>
        <p:txBody>
          <a:bodyPr vert="horz" wrap="square" lIns="0" tIns="55392" rIns="0" bIns="0" rtlCol="0">
            <a:spAutoFit/>
          </a:bodyPr>
          <a:lstStyle/>
          <a:p>
            <a:pPr marL="75537">
              <a:spcBef>
                <a:spcPts val="434"/>
              </a:spcBef>
            </a:pPr>
            <a:fld id="{81D60167-4931-47E6-BA6A-407CBD079E47}" type="slidenum">
              <a:rPr spc="-10" dirty="0"/>
              <a:pPr marL="75537">
                <a:spcBef>
                  <a:spcPts val="434"/>
                </a:spcBef>
              </a:pPr>
              <a:t>10</a:t>
            </a:fld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3573269321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650197" y="6324499"/>
            <a:ext cx="365256" cy="344786"/>
          </a:xfrm>
          <a:prstGeom prst="rect">
            <a:avLst/>
          </a:prstGeom>
        </p:spPr>
        <p:txBody>
          <a:bodyPr vert="horz" wrap="square" lIns="0" tIns="55392" rIns="0" bIns="0" rtlCol="0">
            <a:spAutoFit/>
          </a:bodyPr>
          <a:lstStyle/>
          <a:p>
            <a:pPr marL="75537">
              <a:spcBef>
                <a:spcPts val="434"/>
              </a:spcBef>
            </a:pPr>
            <a:fld id="{81D60167-4931-47E6-BA6A-407CBD079E47}" type="slidenum">
              <a:rPr spc="-10" dirty="0"/>
              <a:pPr marL="75537">
                <a:spcBef>
                  <a:spcPts val="434"/>
                </a:spcBef>
              </a:pPr>
              <a:t>11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14038" y="2882450"/>
            <a:ext cx="7711942" cy="320601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90644">
              <a:lnSpc>
                <a:spcPts val="2508"/>
              </a:lnSpc>
            </a:pPr>
            <a:r>
              <a:rPr sz="2200" b="1" spc="-30" dirty="0">
                <a:solidFill>
                  <a:srgbClr val="22373A"/>
                </a:solidFill>
                <a:latin typeface="LM Sans 10"/>
                <a:cs typeface="LM Sans 10"/>
              </a:rPr>
              <a:t>Corollary</a:t>
            </a:r>
            <a:r>
              <a:rPr sz="2200" b="1" spc="-2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b="1" spc="-10" dirty="0">
                <a:solidFill>
                  <a:srgbClr val="22373A"/>
                </a:solidFill>
                <a:latin typeface="LM Sans 10"/>
                <a:cs typeface="LM Sans 10"/>
              </a:rPr>
              <a:t>3</a:t>
            </a:r>
            <a:endParaRPr sz="2200">
              <a:latin typeface="LM Sans 10"/>
              <a:cs typeface="LM Sans 1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4038" y="3275305"/>
            <a:ext cx="7711942" cy="746314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5036" rIns="0" bIns="0" rtlCol="0">
            <a:spAutoFit/>
          </a:bodyPr>
          <a:lstStyle/>
          <a:p>
            <a:pPr marL="90644">
              <a:spcBef>
                <a:spcPts val="40"/>
              </a:spcBef>
            </a:pPr>
            <a:r>
              <a:rPr sz="2200" i="1" spc="-20" dirty="0">
                <a:solidFill>
                  <a:srgbClr val="22373A"/>
                </a:solidFill>
                <a:latin typeface="LM Sans 10"/>
                <a:cs typeface="LM Sans 10"/>
              </a:rPr>
              <a:t>A language is </a:t>
            </a:r>
            <a:r>
              <a:rPr sz="2200" i="1" spc="-30" dirty="0">
                <a:solidFill>
                  <a:srgbClr val="22373A"/>
                </a:solidFill>
                <a:latin typeface="LM Sans 10"/>
                <a:cs typeface="LM Sans 10"/>
              </a:rPr>
              <a:t>regular </a:t>
            </a:r>
            <a:r>
              <a:rPr sz="2200" i="1" spc="-10" dirty="0">
                <a:solidFill>
                  <a:srgbClr val="22373A"/>
                </a:solidFill>
                <a:latin typeface="LM Sans 10"/>
                <a:cs typeface="LM Sans 10"/>
              </a:rPr>
              <a:t>if </a:t>
            </a:r>
            <a:r>
              <a:rPr sz="2200" i="1" spc="-2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2200" i="1" spc="-10" dirty="0">
                <a:solidFill>
                  <a:srgbClr val="22373A"/>
                </a:solidFill>
                <a:latin typeface="LM Sans 10"/>
                <a:cs typeface="LM Sans 10"/>
              </a:rPr>
              <a:t>only if some </a:t>
            </a:r>
            <a:r>
              <a:rPr sz="2200" i="1" spc="-20" dirty="0">
                <a:solidFill>
                  <a:srgbClr val="22373A"/>
                </a:solidFill>
                <a:latin typeface="LM Sans 10"/>
                <a:cs typeface="LM Sans 10"/>
              </a:rPr>
              <a:t>nondeterministic</a:t>
            </a:r>
            <a:r>
              <a:rPr sz="2200" i="1" spc="2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i="1" spc="-10" dirty="0">
                <a:solidFill>
                  <a:srgbClr val="22373A"/>
                </a:solidFill>
                <a:latin typeface="LM Sans 10"/>
                <a:cs typeface="LM Sans 10"/>
              </a:rPr>
              <a:t>finite</a:t>
            </a:r>
            <a:endParaRPr sz="2200">
              <a:latin typeface="LM Sans 10"/>
              <a:cs typeface="LM Sans 10"/>
            </a:endParaRPr>
          </a:p>
          <a:p>
            <a:pPr marL="90644">
              <a:spcBef>
                <a:spcPts val="476"/>
              </a:spcBef>
            </a:pPr>
            <a:r>
              <a:rPr sz="2200" i="1" spc="-20" dirty="0">
                <a:solidFill>
                  <a:srgbClr val="22373A"/>
                </a:solidFill>
                <a:latin typeface="LM Sans 10"/>
                <a:cs typeface="LM Sans 10"/>
              </a:rPr>
              <a:t>automaton recognizes</a:t>
            </a:r>
            <a:r>
              <a:rPr sz="2200" i="1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2200" i="1" spc="-20" dirty="0">
                <a:solidFill>
                  <a:srgbClr val="22373A"/>
                </a:solidFill>
                <a:latin typeface="LM Sans 10"/>
                <a:cs typeface="LM Sans 10"/>
              </a:rPr>
              <a:t>it.</a:t>
            </a:r>
            <a:endParaRPr sz="2200">
              <a:latin typeface="LM Sans 10"/>
              <a:cs typeface="LM Sans 10"/>
            </a:endParaRPr>
          </a:p>
        </p:txBody>
      </p:sp>
    </p:spTree>
    <p:extLst>
      <p:ext uri="{BB962C8B-B14F-4D97-AF65-F5344CB8AC3E}">
        <p14:creationId xmlns:p14="http://schemas.microsoft.com/office/powerpoint/2010/main" val="1052353178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566193" y="2379170"/>
            <a:ext cx="743107" cy="742426"/>
            <a:chOff x="2302122" y="1200600"/>
            <a:chExt cx="374650" cy="374650"/>
          </a:xfrm>
        </p:grpSpPr>
        <p:sp>
          <p:nvSpPr>
            <p:cNvPr id="4" name="object 4"/>
            <p:cNvSpPr/>
            <p:nvPr/>
          </p:nvSpPr>
          <p:spPr>
            <a:xfrm>
              <a:off x="2316092" y="1214570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173183" y="0"/>
                  </a:moveTo>
                  <a:lnTo>
                    <a:pt x="127144" y="6186"/>
                  </a:lnTo>
                  <a:lnTo>
                    <a:pt x="85773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3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3" y="295643"/>
                  </a:lnTo>
                  <a:lnTo>
                    <a:pt x="322722" y="260593"/>
                  </a:lnTo>
                  <a:lnTo>
                    <a:pt x="340180" y="219223"/>
                  </a:lnTo>
                  <a:lnTo>
                    <a:pt x="346367" y="173183"/>
                  </a:lnTo>
                  <a:lnTo>
                    <a:pt x="340180" y="127144"/>
                  </a:lnTo>
                  <a:lnTo>
                    <a:pt x="322722" y="85773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16092" y="1214570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67" y="173183"/>
                  </a:moveTo>
                  <a:lnTo>
                    <a:pt x="340180" y="127144"/>
                  </a:lnTo>
                  <a:lnTo>
                    <a:pt x="322722" y="85773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3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3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3" y="295643"/>
                  </a:lnTo>
                  <a:lnTo>
                    <a:pt x="322722" y="260593"/>
                  </a:lnTo>
                  <a:lnTo>
                    <a:pt x="340180" y="219223"/>
                  </a:lnTo>
                  <a:lnTo>
                    <a:pt x="346367" y="173183"/>
                  </a:lnTo>
                  <a:close/>
                </a:path>
              </a:pathLst>
            </a:custGeom>
            <a:ln w="27836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16092" y="1214570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67" y="173183"/>
                  </a:moveTo>
                  <a:lnTo>
                    <a:pt x="340180" y="127144"/>
                  </a:lnTo>
                  <a:lnTo>
                    <a:pt x="322722" y="85773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3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3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3" y="295643"/>
                  </a:lnTo>
                  <a:lnTo>
                    <a:pt x="322722" y="260593"/>
                  </a:lnTo>
                  <a:lnTo>
                    <a:pt x="340180" y="219223"/>
                  </a:lnTo>
                  <a:lnTo>
                    <a:pt x="346367" y="173183"/>
                  </a:lnTo>
                  <a:close/>
                </a:path>
              </a:pathLst>
            </a:custGeom>
            <a:ln w="75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843497" y="2536777"/>
            <a:ext cx="18892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endParaRPr sz="2200">
              <a:latin typeface="LM Roman 10"/>
              <a:cs typeface="LM Roman 1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12740" y="2705525"/>
            <a:ext cx="1039091" cy="1824606"/>
            <a:chOff x="1771006" y="1365288"/>
            <a:chExt cx="523875" cy="920750"/>
          </a:xfrm>
        </p:grpSpPr>
        <p:sp>
          <p:nvSpPr>
            <p:cNvPr id="9" name="object 9"/>
            <p:cNvSpPr/>
            <p:nvPr/>
          </p:nvSpPr>
          <p:spPr>
            <a:xfrm>
              <a:off x="2122503" y="1387754"/>
              <a:ext cx="166370" cy="0"/>
            </a:xfrm>
            <a:custGeom>
              <a:avLst/>
              <a:gdLst/>
              <a:ahLst/>
              <a:cxnLst/>
              <a:rect l="l" t="t" r="r" b="b"/>
              <a:pathLst>
                <a:path w="166369">
                  <a:moveTo>
                    <a:pt x="0" y="0"/>
                  </a:moveTo>
                  <a:lnTo>
                    <a:pt x="166258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73579" y="1367510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76086" y="1934579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173183" y="0"/>
                  </a:move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4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2" y="340180"/>
                  </a:lnTo>
                  <a:lnTo>
                    <a:pt x="260592" y="322722"/>
                  </a:lnTo>
                  <a:lnTo>
                    <a:pt x="295643" y="295643"/>
                  </a:lnTo>
                  <a:lnTo>
                    <a:pt x="322722" y="260593"/>
                  </a:lnTo>
                  <a:lnTo>
                    <a:pt x="340180" y="219223"/>
                  </a:lnTo>
                  <a:lnTo>
                    <a:pt x="346367" y="173183"/>
                  </a:lnTo>
                  <a:lnTo>
                    <a:pt x="340180" y="127144"/>
                  </a:lnTo>
                  <a:lnTo>
                    <a:pt x="322722" y="85774"/>
                  </a:lnTo>
                  <a:lnTo>
                    <a:pt x="295643" y="50723"/>
                  </a:lnTo>
                  <a:lnTo>
                    <a:pt x="260592" y="23644"/>
                  </a:lnTo>
                  <a:lnTo>
                    <a:pt x="219222" y="6186"/>
                  </a:lnTo>
                  <a:lnTo>
                    <a:pt x="17318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76086" y="1934579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346367" y="173183"/>
                  </a:moveTo>
                  <a:lnTo>
                    <a:pt x="340180" y="127144"/>
                  </a:lnTo>
                  <a:lnTo>
                    <a:pt x="322722" y="85774"/>
                  </a:lnTo>
                  <a:lnTo>
                    <a:pt x="295643" y="50723"/>
                  </a:lnTo>
                  <a:lnTo>
                    <a:pt x="260592" y="23644"/>
                  </a:lnTo>
                  <a:lnTo>
                    <a:pt x="219222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4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2" y="340180"/>
                  </a:lnTo>
                  <a:lnTo>
                    <a:pt x="260592" y="322722"/>
                  </a:lnTo>
                  <a:lnTo>
                    <a:pt x="295643" y="295643"/>
                  </a:lnTo>
                  <a:lnTo>
                    <a:pt x="322722" y="260593"/>
                  </a:lnTo>
                  <a:lnTo>
                    <a:pt x="340180" y="219223"/>
                  </a:lnTo>
                  <a:lnTo>
                    <a:pt x="346367" y="173183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772441" y="3963568"/>
            <a:ext cx="18892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2</a:t>
            </a:r>
            <a:endParaRPr sz="2200">
              <a:latin typeface="LM Roman 10"/>
              <a:cs typeface="LM Roman 1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54914" y="3823594"/>
            <a:ext cx="707841" cy="707192"/>
            <a:chOff x="2851019" y="1929499"/>
            <a:chExt cx="356870" cy="356870"/>
          </a:xfrm>
        </p:grpSpPr>
        <p:sp>
          <p:nvSpPr>
            <p:cNvPr id="15" name="object 15"/>
            <p:cNvSpPr/>
            <p:nvPr/>
          </p:nvSpPr>
          <p:spPr>
            <a:xfrm>
              <a:off x="2856099" y="1934579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173183" y="0"/>
                  </a:move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4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2" y="340180"/>
                  </a:lnTo>
                  <a:lnTo>
                    <a:pt x="260592" y="322722"/>
                  </a:lnTo>
                  <a:lnTo>
                    <a:pt x="295643" y="295643"/>
                  </a:lnTo>
                  <a:lnTo>
                    <a:pt x="322722" y="260593"/>
                  </a:lnTo>
                  <a:lnTo>
                    <a:pt x="340180" y="219223"/>
                  </a:lnTo>
                  <a:lnTo>
                    <a:pt x="346367" y="173183"/>
                  </a:lnTo>
                  <a:lnTo>
                    <a:pt x="340180" y="127144"/>
                  </a:lnTo>
                  <a:lnTo>
                    <a:pt x="322722" y="85774"/>
                  </a:lnTo>
                  <a:lnTo>
                    <a:pt x="295643" y="50723"/>
                  </a:lnTo>
                  <a:lnTo>
                    <a:pt x="260592" y="23644"/>
                  </a:lnTo>
                  <a:lnTo>
                    <a:pt x="219222" y="6186"/>
                  </a:lnTo>
                  <a:lnTo>
                    <a:pt x="17318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56099" y="1934579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346367" y="173183"/>
                  </a:moveTo>
                  <a:lnTo>
                    <a:pt x="340180" y="127144"/>
                  </a:lnTo>
                  <a:lnTo>
                    <a:pt x="322722" y="85774"/>
                  </a:lnTo>
                  <a:lnTo>
                    <a:pt x="295643" y="50723"/>
                  </a:lnTo>
                  <a:lnTo>
                    <a:pt x="260592" y="23644"/>
                  </a:lnTo>
                  <a:lnTo>
                    <a:pt x="219222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4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2" y="340180"/>
                  </a:lnTo>
                  <a:lnTo>
                    <a:pt x="260592" y="322722"/>
                  </a:lnTo>
                  <a:lnTo>
                    <a:pt x="295643" y="295643"/>
                  </a:lnTo>
                  <a:lnTo>
                    <a:pt x="322722" y="260593"/>
                  </a:lnTo>
                  <a:lnTo>
                    <a:pt x="340180" y="219223"/>
                  </a:lnTo>
                  <a:lnTo>
                    <a:pt x="346367" y="173183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14580" y="3963568"/>
            <a:ext cx="18892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3</a:t>
            </a:r>
            <a:endParaRPr sz="2200">
              <a:latin typeface="LM Roman 10"/>
              <a:cs typeface="LM Roman 10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81966" y="3033594"/>
            <a:ext cx="644866" cy="841835"/>
            <a:chOff x="2057991" y="1530841"/>
            <a:chExt cx="325120" cy="424815"/>
          </a:xfrm>
        </p:grpSpPr>
        <p:sp>
          <p:nvSpPr>
            <p:cNvPr id="19" name="object 19"/>
            <p:cNvSpPr/>
            <p:nvPr/>
          </p:nvSpPr>
          <p:spPr>
            <a:xfrm>
              <a:off x="2067298" y="1533381"/>
              <a:ext cx="313055" cy="417195"/>
            </a:xfrm>
            <a:custGeom>
              <a:avLst/>
              <a:gdLst/>
              <a:ahLst/>
              <a:cxnLst/>
              <a:rect l="l" t="t" r="r" b="b"/>
              <a:pathLst>
                <a:path w="313055" h="417194">
                  <a:moveTo>
                    <a:pt x="312755" y="0"/>
                  </a:moveTo>
                  <a:lnTo>
                    <a:pt x="0" y="417013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60213" y="1926102"/>
              <a:ext cx="32384" cy="27940"/>
            </a:xfrm>
            <a:custGeom>
              <a:avLst/>
              <a:gdLst/>
              <a:ahLst/>
              <a:cxnLst/>
              <a:rect l="l" t="t" r="r" b="b"/>
              <a:pathLst>
                <a:path w="32385" h="27939">
                  <a:moveTo>
                    <a:pt x="32389" y="24292"/>
                  </a:moveTo>
                  <a:lnTo>
                    <a:pt x="25659" y="22951"/>
                  </a:lnTo>
                  <a:lnTo>
                    <a:pt x="17269" y="23627"/>
                  </a:lnTo>
                  <a:lnTo>
                    <a:pt x="9544" y="25395"/>
                  </a:lnTo>
                  <a:lnTo>
                    <a:pt x="4807" y="27328"/>
                  </a:lnTo>
                  <a:lnTo>
                    <a:pt x="5337" y="22240"/>
                  </a:lnTo>
                  <a:lnTo>
                    <a:pt x="4870" y="14328"/>
                  </a:lnTo>
                  <a:lnTo>
                    <a:pt x="3170" y="6084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15438" y="3070216"/>
            <a:ext cx="168774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109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endParaRPr sz="2200">
              <a:latin typeface="Alfios"/>
              <a:cs typeface="Alfio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214824" y="4132331"/>
            <a:ext cx="1415683" cy="89343"/>
            <a:chOff x="2124974" y="2085296"/>
            <a:chExt cx="713740" cy="45085"/>
          </a:xfrm>
        </p:grpSpPr>
        <p:sp>
          <p:nvSpPr>
            <p:cNvPr id="23" name="object 23"/>
            <p:cNvSpPr/>
            <p:nvPr/>
          </p:nvSpPr>
          <p:spPr>
            <a:xfrm>
              <a:off x="2127514" y="2107763"/>
              <a:ext cx="705485" cy="0"/>
            </a:xfrm>
            <a:custGeom>
              <a:avLst/>
              <a:gdLst/>
              <a:ahLst/>
              <a:cxnLst/>
              <a:rect l="l" t="t" r="r" b="b"/>
              <a:pathLst>
                <a:path w="705485">
                  <a:moveTo>
                    <a:pt x="0" y="0"/>
                  </a:moveTo>
                  <a:lnTo>
                    <a:pt x="705050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7381" y="208751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719537" y="4164300"/>
            <a:ext cx="435788" cy="699991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a,</a:t>
            </a:r>
            <a:r>
              <a:rPr sz="2200" i="1" spc="-30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-109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01820" y="4025421"/>
            <a:ext cx="428021" cy="2763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844212" y="3936212"/>
            <a:ext cx="196483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endParaRPr sz="2200">
              <a:latin typeface="Alfios"/>
              <a:cs typeface="Alfio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291762" y="2876893"/>
            <a:ext cx="680132" cy="955087"/>
            <a:chOff x="2667930" y="1451765"/>
            <a:chExt cx="342900" cy="481965"/>
          </a:xfrm>
        </p:grpSpPr>
        <p:sp>
          <p:nvSpPr>
            <p:cNvPr id="29" name="object 29"/>
            <p:cNvSpPr/>
            <p:nvPr/>
          </p:nvSpPr>
          <p:spPr>
            <a:xfrm>
              <a:off x="2673638" y="1466568"/>
              <a:ext cx="334645" cy="464820"/>
            </a:xfrm>
            <a:custGeom>
              <a:avLst/>
              <a:gdLst/>
              <a:ahLst/>
              <a:cxnLst/>
              <a:rect l="l" t="t" r="r" b="b"/>
              <a:pathLst>
                <a:path w="334644" h="464819">
                  <a:moveTo>
                    <a:pt x="334326" y="464233"/>
                  </a:moveTo>
                  <a:lnTo>
                    <a:pt x="325837" y="408830"/>
                  </a:lnTo>
                  <a:lnTo>
                    <a:pt x="313740" y="356530"/>
                  </a:lnTo>
                  <a:lnTo>
                    <a:pt x="298061" y="307315"/>
                  </a:lnTo>
                  <a:lnTo>
                    <a:pt x="278825" y="261164"/>
                  </a:lnTo>
                  <a:lnTo>
                    <a:pt x="256059" y="218059"/>
                  </a:lnTo>
                  <a:lnTo>
                    <a:pt x="229789" y="177981"/>
                  </a:lnTo>
                  <a:lnTo>
                    <a:pt x="200038" y="140910"/>
                  </a:lnTo>
                  <a:lnTo>
                    <a:pt x="166835" y="106828"/>
                  </a:lnTo>
                  <a:lnTo>
                    <a:pt x="130203" y="75715"/>
                  </a:lnTo>
                  <a:lnTo>
                    <a:pt x="90170" y="47552"/>
                  </a:lnTo>
                  <a:lnTo>
                    <a:pt x="46760" y="22320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70152" y="1453987"/>
              <a:ext cx="26034" cy="37465"/>
            </a:xfrm>
            <a:custGeom>
              <a:avLst/>
              <a:gdLst/>
              <a:ahLst/>
              <a:cxnLst/>
              <a:rect l="l" t="t" r="r" b="b"/>
              <a:pathLst>
                <a:path w="26035" h="37465">
                  <a:moveTo>
                    <a:pt x="9416" y="37179"/>
                  </a:moveTo>
                  <a:lnTo>
                    <a:pt x="9141" y="30323"/>
                  </a:lnTo>
                  <a:lnTo>
                    <a:pt x="6518" y="22326"/>
                  </a:lnTo>
                  <a:lnTo>
                    <a:pt x="2989" y="15230"/>
                  </a:lnTo>
                  <a:lnTo>
                    <a:pt x="0" y="11079"/>
                  </a:lnTo>
                  <a:lnTo>
                    <a:pt x="5070" y="10401"/>
                  </a:lnTo>
                  <a:lnTo>
                    <a:pt x="12652" y="8093"/>
                  </a:lnTo>
                  <a:lnTo>
                    <a:pt x="20267" y="4508"/>
                  </a:lnTo>
                  <a:lnTo>
                    <a:pt x="25439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656810" y="2860877"/>
            <a:ext cx="196483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endParaRPr sz="2200">
              <a:latin typeface="Alfios"/>
              <a:cs typeface="Alfio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975571" y="3103174"/>
            <a:ext cx="685170" cy="950053"/>
            <a:chOff x="2508517" y="1565953"/>
            <a:chExt cx="345440" cy="479425"/>
          </a:xfrm>
        </p:grpSpPr>
        <p:sp>
          <p:nvSpPr>
            <p:cNvPr id="33" name="object 33"/>
            <p:cNvSpPr/>
            <p:nvPr/>
          </p:nvSpPr>
          <p:spPr>
            <a:xfrm>
              <a:off x="2511047" y="1568484"/>
              <a:ext cx="337820" cy="462280"/>
            </a:xfrm>
            <a:custGeom>
              <a:avLst/>
              <a:gdLst/>
              <a:ahLst/>
              <a:cxnLst/>
              <a:rect l="l" t="t" r="r" b="b"/>
              <a:pathLst>
                <a:path w="337819" h="462280">
                  <a:moveTo>
                    <a:pt x="0" y="0"/>
                  </a:moveTo>
                  <a:lnTo>
                    <a:pt x="8846" y="55350"/>
                  </a:lnTo>
                  <a:lnTo>
                    <a:pt x="21280" y="107572"/>
                  </a:lnTo>
                  <a:lnTo>
                    <a:pt x="37276" y="156686"/>
                  </a:lnTo>
                  <a:lnTo>
                    <a:pt x="56808" y="202711"/>
                  </a:lnTo>
                  <a:lnTo>
                    <a:pt x="79850" y="245668"/>
                  </a:lnTo>
                  <a:lnTo>
                    <a:pt x="106378" y="285574"/>
                  </a:lnTo>
                  <a:lnTo>
                    <a:pt x="136366" y="322451"/>
                  </a:lnTo>
                  <a:lnTo>
                    <a:pt x="169788" y="356317"/>
                  </a:lnTo>
                  <a:lnTo>
                    <a:pt x="206620" y="387191"/>
                  </a:lnTo>
                  <a:lnTo>
                    <a:pt x="246835" y="415095"/>
                  </a:lnTo>
                  <a:lnTo>
                    <a:pt x="290409" y="440046"/>
                  </a:lnTo>
                  <a:lnTo>
                    <a:pt x="337315" y="462065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6490" y="2005989"/>
              <a:ext cx="25400" cy="37465"/>
            </a:xfrm>
            <a:custGeom>
              <a:avLst/>
              <a:gdLst/>
              <a:ahLst/>
              <a:cxnLst/>
              <a:rect l="l" t="t" r="r" b="b"/>
              <a:pathLst>
                <a:path w="25400" h="37464">
                  <a:moveTo>
                    <a:pt x="15782" y="0"/>
                  </a:moveTo>
                  <a:lnTo>
                    <a:pt x="16101" y="6854"/>
                  </a:lnTo>
                  <a:lnTo>
                    <a:pt x="18777" y="14834"/>
                  </a:lnTo>
                  <a:lnTo>
                    <a:pt x="22351" y="21908"/>
                  </a:lnTo>
                  <a:lnTo>
                    <a:pt x="25368" y="26040"/>
                  </a:lnTo>
                  <a:lnTo>
                    <a:pt x="20301" y="26750"/>
                  </a:lnTo>
                  <a:lnTo>
                    <a:pt x="12735" y="29107"/>
                  </a:lnTo>
                  <a:lnTo>
                    <a:pt x="5142" y="32741"/>
                  </a:lnTo>
                  <a:lnTo>
                    <a:pt x="0" y="37284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114847" y="3590871"/>
            <a:ext cx="16247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40" dirty="0">
                <a:solidFill>
                  <a:srgbClr val="22373A"/>
                </a:solidFill>
                <a:latin typeface="Alfios"/>
                <a:cs typeface="Alfios"/>
              </a:rPr>
              <a:t>ϵ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4294967295"/>
          </p:nvPr>
        </p:nvSpPr>
        <p:spPr>
          <a:xfrm>
            <a:off x="8650197" y="6324499"/>
            <a:ext cx="365256" cy="344786"/>
          </a:xfrm>
          <a:prstGeom prst="rect">
            <a:avLst/>
          </a:prstGeom>
        </p:spPr>
        <p:txBody>
          <a:bodyPr vert="horz" wrap="square" lIns="0" tIns="55392" rIns="0" bIns="0" rtlCol="0">
            <a:spAutoFit/>
          </a:bodyPr>
          <a:lstStyle/>
          <a:p>
            <a:pPr marL="75537">
              <a:spcBef>
                <a:spcPts val="434"/>
              </a:spcBef>
            </a:pPr>
            <a:fld id="{81D60167-4931-47E6-BA6A-407CBD079E47}" type="slidenum">
              <a:rPr spc="-10" dirty="0"/>
              <a:pPr marL="75537">
                <a:spcBef>
                  <a:spcPts val="434"/>
                </a:spcBef>
              </a:pPr>
              <a:t>12</a:t>
            </a:fld>
            <a:endParaRPr spc="-10" dirty="0"/>
          </a:p>
        </p:txBody>
      </p:sp>
      <p:sp>
        <p:nvSpPr>
          <p:cNvPr id="37" name="object 2"/>
          <p:cNvSpPr txBox="1">
            <a:spLocks/>
          </p:cNvSpPr>
          <p:nvPr/>
        </p:nvSpPr>
        <p:spPr>
          <a:xfrm>
            <a:off x="576390" y="335840"/>
            <a:ext cx="7272210" cy="137837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5179">
              <a:spcBef>
                <a:spcPts val="188"/>
              </a:spcBef>
            </a:pPr>
            <a:r>
              <a:rPr lang="en-US" spc="-20" dirty="0"/>
              <a:t>Example: Convert from NFA to DFA</a:t>
            </a:r>
            <a:r>
              <a:rPr lang="en-US" spc="-1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275263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3511" y="151350"/>
            <a:ext cx="3194102" cy="393485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z="2400" b="1" spc="-20" dirty="0">
                <a:solidFill>
                  <a:srgbClr val="F9F9F9"/>
                </a:solidFill>
                <a:latin typeface="LM Sans 10"/>
                <a:cs typeface="LM Sans 10"/>
              </a:rPr>
              <a:t>Example: </a:t>
            </a:r>
            <a:r>
              <a:rPr sz="2400" b="1" spc="-79" dirty="0">
                <a:solidFill>
                  <a:srgbClr val="F9F9F9"/>
                </a:solidFill>
                <a:latin typeface="LM Sans 10"/>
                <a:cs typeface="LM Sans 10"/>
              </a:rPr>
              <a:t>NFA </a:t>
            </a:r>
            <a:r>
              <a:rPr sz="2400" b="1" spc="-10" dirty="0">
                <a:solidFill>
                  <a:srgbClr val="F9F9F9"/>
                </a:solidFill>
                <a:latin typeface="LM Sans 10"/>
                <a:cs typeface="LM Sans 10"/>
              </a:rPr>
              <a:t>to</a:t>
            </a:r>
            <a:r>
              <a:rPr sz="2400" b="1" spc="226" dirty="0">
                <a:solidFill>
                  <a:srgbClr val="F9F9F9"/>
                </a:solidFill>
                <a:latin typeface="LM Sans 10"/>
                <a:cs typeface="LM Sans 10"/>
              </a:rPr>
              <a:t> </a:t>
            </a:r>
            <a:r>
              <a:rPr sz="2400" b="1" spc="-79" dirty="0">
                <a:solidFill>
                  <a:srgbClr val="F9F9F9"/>
                </a:solidFill>
                <a:latin typeface="LM Sans 10"/>
                <a:cs typeface="LM Sans 10"/>
              </a:rPr>
              <a:t>DFA</a:t>
            </a:r>
            <a:endParaRPr sz="2400">
              <a:latin typeface="LM Sans 10"/>
              <a:cs typeface="LM Sans 1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78113" y="1806892"/>
            <a:ext cx="7820541" cy="33939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48728" y="2113846"/>
            <a:ext cx="18892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823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4294967295"/>
          </p:nvPr>
        </p:nvSpPr>
        <p:spPr>
          <a:xfrm>
            <a:off x="8650197" y="6324499"/>
            <a:ext cx="365256" cy="344786"/>
          </a:xfrm>
          <a:prstGeom prst="rect">
            <a:avLst/>
          </a:prstGeom>
        </p:spPr>
        <p:txBody>
          <a:bodyPr vert="horz" wrap="square" lIns="0" tIns="55392" rIns="0" bIns="0" rtlCol="0">
            <a:spAutoFit/>
          </a:bodyPr>
          <a:lstStyle/>
          <a:p>
            <a:pPr marL="75537">
              <a:spcBef>
                <a:spcPts val="434"/>
              </a:spcBef>
            </a:pPr>
            <a:fld id="{81D60167-4931-47E6-BA6A-407CBD079E47}" type="slidenum">
              <a:rPr spc="-10" dirty="0"/>
              <a:pPr marL="75537">
                <a:spcBef>
                  <a:spcPts val="434"/>
                </a:spcBef>
              </a:pPr>
              <a:t>13</a:t>
            </a:fld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6095622" y="2087169"/>
            <a:ext cx="46349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307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spc="-20" dirty="0">
                <a:solidFill>
                  <a:srgbClr val="22373A"/>
                </a:solidFill>
                <a:latin typeface="LM Roman 10"/>
                <a:cs typeface="LM Roman 10"/>
              </a:rPr>
              <a:t>2</a:t>
            </a:r>
            <a:r>
              <a:rPr sz="2200" i="1" spc="-307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1318" y="4227344"/>
            <a:ext cx="463496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307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3</a:t>
            </a:r>
            <a:r>
              <a:rPr sz="2200" i="1" spc="-307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3702" y="4227344"/>
            <a:ext cx="722955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5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spc="-59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2200" i="1" spc="-5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29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169" dirty="0">
                <a:solidFill>
                  <a:srgbClr val="22373A"/>
                </a:solidFill>
                <a:latin typeface="LM Roman 10"/>
                <a:cs typeface="LM Roman 10"/>
              </a:rPr>
              <a:t>3</a:t>
            </a:r>
            <a:r>
              <a:rPr sz="2200" i="1" spc="-16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78253" y="4227344"/>
            <a:ext cx="982413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5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spc="-59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2200" i="1" spc="-59" dirty="0">
                <a:solidFill>
                  <a:srgbClr val="22373A"/>
                </a:solidFill>
                <a:latin typeface="Alfios"/>
                <a:cs typeface="Alfios"/>
              </a:rPr>
              <a:t>, </a:t>
            </a:r>
            <a:r>
              <a:rPr sz="2200" spc="69" dirty="0">
                <a:solidFill>
                  <a:srgbClr val="22373A"/>
                </a:solidFill>
                <a:latin typeface="LM Roman 10"/>
                <a:cs typeface="LM Roman 10"/>
              </a:rPr>
              <a:t>2</a:t>
            </a: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446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159" dirty="0">
                <a:solidFill>
                  <a:srgbClr val="22373A"/>
                </a:solidFill>
                <a:latin typeface="LM Roman 10"/>
                <a:cs typeface="LM Roman 10"/>
              </a:rPr>
              <a:t>3</a:t>
            </a:r>
            <a:r>
              <a:rPr sz="2200" i="1" spc="-15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0439" y="2087169"/>
            <a:ext cx="435788" cy="699991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a,</a:t>
            </a:r>
            <a:r>
              <a:rPr sz="2200" i="1" spc="-30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-109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6158" y="1921998"/>
            <a:ext cx="196483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75453" y="1921998"/>
            <a:ext cx="168774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109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98330" y="3093370"/>
            <a:ext cx="196483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53483" y="2087169"/>
            <a:ext cx="463496" cy="1300155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algn="ctr">
              <a:spcBef>
                <a:spcPts val="178"/>
              </a:spcBef>
            </a:pPr>
            <a:r>
              <a:rPr sz="2200" i="1" spc="-317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spc="-1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2200" i="1" spc="-307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  <a:p>
            <a:pPr>
              <a:spcBef>
                <a:spcPts val="10"/>
              </a:spcBef>
            </a:pPr>
            <a:endParaRPr sz="3900">
              <a:latin typeface="DejaVu Sans"/>
              <a:cs typeface="DejaVu Sans"/>
            </a:endParaRPr>
          </a:p>
          <a:p>
            <a:pPr algn="ctr">
              <a:lnSpc>
                <a:spcPct val="100000"/>
              </a:lnSpc>
            </a:pPr>
            <a:r>
              <a:rPr sz="2200" i="1" spc="-109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75772" y="2872606"/>
            <a:ext cx="435788" cy="699991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109" dirty="0">
                <a:solidFill>
                  <a:srgbClr val="22373A"/>
                </a:solidFill>
                <a:latin typeface="Alfios"/>
                <a:cs typeface="Alfios"/>
              </a:rPr>
              <a:t>a,</a:t>
            </a:r>
            <a:r>
              <a:rPr sz="2200" i="1" spc="-30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i="1" spc="-109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02878" y="3168015"/>
            <a:ext cx="168774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109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57718" y="4373437"/>
            <a:ext cx="196483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27778" y="4227344"/>
            <a:ext cx="1360264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  <a:tabLst>
                <a:tab pos="662208" algn="l"/>
              </a:tabLst>
            </a:pPr>
            <a:r>
              <a:rPr sz="3300" i="1" spc="103" baseline="2525" dirty="0">
                <a:solidFill>
                  <a:srgbClr val="22373A"/>
                </a:solidFill>
                <a:latin typeface="Alfios"/>
                <a:cs typeface="Alfios"/>
              </a:rPr>
              <a:t>a	</a:t>
            </a:r>
            <a:r>
              <a:rPr sz="2200" i="1" spc="-5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spc="-59" dirty="0">
                <a:solidFill>
                  <a:srgbClr val="22373A"/>
                </a:solidFill>
                <a:latin typeface="LM Roman 10"/>
                <a:cs typeface="LM Roman 10"/>
              </a:rPr>
              <a:t>2</a:t>
            </a:r>
            <a:r>
              <a:rPr sz="2200" i="1" spc="-5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30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159" dirty="0">
                <a:solidFill>
                  <a:srgbClr val="22373A"/>
                </a:solidFill>
                <a:latin typeface="LM Roman 10"/>
                <a:cs typeface="LM Roman 10"/>
              </a:rPr>
              <a:t>3</a:t>
            </a:r>
            <a:r>
              <a:rPr sz="2200" i="1" spc="-15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12810" y="2951000"/>
            <a:ext cx="168774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109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36781" y="3611534"/>
            <a:ext cx="196483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45527" y="5182179"/>
            <a:ext cx="168774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109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08005" y="2087168"/>
            <a:ext cx="722955" cy="1033102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algn="ctr">
              <a:spcBef>
                <a:spcPts val="178"/>
              </a:spcBef>
            </a:pPr>
            <a:r>
              <a:rPr sz="2200" i="1" spc="-59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2200" spc="-59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2200" i="1" spc="-59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2200" i="1" spc="-297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2200" spc="-169" dirty="0">
                <a:solidFill>
                  <a:srgbClr val="22373A"/>
                </a:solidFill>
                <a:latin typeface="LM Roman 10"/>
                <a:cs typeface="LM Roman 10"/>
              </a:rPr>
              <a:t>2</a:t>
            </a:r>
            <a:r>
              <a:rPr sz="2200" i="1" spc="-169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2200">
              <a:latin typeface="DejaVu Sans"/>
              <a:cs typeface="DejaVu Sans"/>
            </a:endParaRPr>
          </a:p>
          <a:p>
            <a:pPr algn="ctr">
              <a:spcBef>
                <a:spcPts val="2528"/>
              </a:spcBef>
            </a:pPr>
            <a:r>
              <a:rPr sz="2200" i="1" spc="69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endParaRPr sz="2200">
              <a:latin typeface="Alfios"/>
              <a:cs typeface="Alfio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50435" y="4896534"/>
            <a:ext cx="168774" cy="361437"/>
          </a:xfrm>
          <a:prstGeom prst="rect">
            <a:avLst/>
          </a:prstGeom>
        </p:spPr>
        <p:txBody>
          <a:bodyPr vert="horz" wrap="square" lIns="0" tIns="22661" rIns="0" bIns="0" rtlCol="0">
            <a:spAutoFit/>
          </a:bodyPr>
          <a:lstStyle/>
          <a:p>
            <a:pPr marL="25179">
              <a:spcBef>
                <a:spcPts val="178"/>
              </a:spcBef>
            </a:pPr>
            <a:r>
              <a:rPr sz="2200" i="1" spc="-109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endParaRPr sz="2200">
              <a:latin typeface="Alfios"/>
              <a:cs typeface="Alfios"/>
            </a:endParaRPr>
          </a:p>
        </p:txBody>
      </p:sp>
    </p:spTree>
    <p:extLst>
      <p:ext uri="{BB962C8B-B14F-4D97-AF65-F5344CB8AC3E}">
        <p14:creationId xmlns:p14="http://schemas.microsoft.com/office/powerpoint/2010/main" val="2131089377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798</Words>
  <Application>Microsoft Office PowerPoint</Application>
  <PresentationFormat>On-screen Show (4:3)</PresentationFormat>
  <Paragraphs>137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Alfios</vt:lpstr>
      <vt:lpstr>Arial</vt:lpstr>
      <vt:lpstr>Arimo</vt:lpstr>
      <vt:lpstr>Calibri</vt:lpstr>
      <vt:lpstr>DejaVu Sans</vt:lpstr>
      <vt:lpstr>LM Mono 10</vt:lpstr>
      <vt:lpstr>LM Roman 10</vt:lpstr>
      <vt:lpstr>LM Roman 7</vt:lpstr>
      <vt:lpstr>LM Roman 8</vt:lpstr>
      <vt:lpstr>LM Sans 10</vt:lpstr>
      <vt:lpstr>LM Sans 8</vt:lpstr>
      <vt:lpstr>Noto Serif SemiBold</vt:lpstr>
      <vt:lpstr>Times New Roman</vt:lpstr>
      <vt:lpstr>Trebuchet MS</vt:lpstr>
      <vt:lpstr>Verdana</vt:lpstr>
      <vt:lpstr>Office Theme</vt:lpstr>
      <vt:lpstr>PowerPoint Presentation</vt:lpstr>
      <vt:lpstr>Nondeterminism</vt:lpstr>
      <vt:lpstr> Lets run 010110 on the NFA</vt:lpstr>
      <vt:lpstr>Nondeterministic Finite Automata</vt:lpstr>
      <vt:lpstr>Example NFA</vt:lpstr>
      <vt:lpstr>PowerPoint Presentation</vt:lpstr>
      <vt:lpstr>Difference between DFA and NFA</vt:lpstr>
      <vt:lpstr>Determinism and Nondeterminism</vt:lpstr>
      <vt:lpstr>Proof: assuming no ϵ transitions</vt:lpstr>
      <vt:lpstr>Proof with ϵ transitions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larkana computers</dc:creator>
  <cp:lastModifiedBy>asma larik</cp:lastModifiedBy>
  <cp:revision>19</cp:revision>
  <dcterms:created xsi:type="dcterms:W3CDTF">2022-08-28T08:05:57Z</dcterms:created>
  <dcterms:modified xsi:type="dcterms:W3CDTF">2024-09-04T17:16:37Z</dcterms:modified>
</cp:coreProperties>
</file>