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4"/>
  </p:sldMasterIdLst>
  <p:notesMasterIdLst>
    <p:notesMasterId r:id="rId15"/>
  </p:notesMasterIdLst>
  <p:sldIdLst>
    <p:sldId id="335" r:id="rId5"/>
    <p:sldId id="336" r:id="rId6"/>
    <p:sldId id="338" r:id="rId7"/>
    <p:sldId id="339" r:id="rId8"/>
    <p:sldId id="340" r:id="rId9"/>
    <p:sldId id="342" r:id="rId10"/>
    <p:sldId id="343" r:id="rId11"/>
    <p:sldId id="344" r:id="rId12"/>
    <p:sldId id="345" r:id="rId13"/>
    <p:sldId id="33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65" autoAdjust="0"/>
    <p:restoredTop sz="95501" autoAdjust="0"/>
  </p:normalViewPr>
  <p:slideViewPr>
    <p:cSldViewPr snapToGrid="0">
      <p:cViewPr varScale="1">
        <p:scale>
          <a:sx n="73" d="100"/>
          <a:sy n="73" d="100"/>
        </p:scale>
        <p:origin x="156" y="8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11/6/2022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7BC256A8-4DC7-4515-BE04-EAC98DE4FC58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11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027EF84B-6493-4BC0-99A1-399E4EA34928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90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4DBC8849-8B4C-4357-BC31-76551DE16F4E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355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D1C10D47-AFC1-4C31-B4A0-3CE97370BD53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895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63CB209B-8F61-4E97-AA0B-93AD26B11C31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771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55281669-8EB3-43D5-A47E-E042817B19E2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337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7EE07BAA-8682-4E4A-B8E4-94B51813C043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64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300DC4B7-ED49-45F5-8DFD-26CDCE4F82B0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062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BB2D2DA3-3DB4-4AE5-A147-E959EFDE5192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766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5B23-8821-4C8E-A4E8-29E3D9B1F768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8CD04-1748-411E-939A-DDE36A945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28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5B23-8821-4C8E-A4E8-29E3D9B1F768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8CD04-1748-411E-939A-DDE36A945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9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5B23-8821-4C8E-A4E8-29E3D9B1F768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8CD04-1748-411E-939A-DDE36A945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7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5B23-8821-4C8E-A4E8-29E3D9B1F768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8CD04-1748-411E-939A-DDE36A945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8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5B23-8821-4C8E-A4E8-29E3D9B1F768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8CD04-1748-411E-939A-DDE36A945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98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5B23-8821-4C8E-A4E8-29E3D9B1F768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8CD04-1748-411E-939A-DDE36A945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14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5B23-8821-4C8E-A4E8-29E3D9B1F768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8CD04-1748-411E-939A-DDE36A945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2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5B23-8821-4C8E-A4E8-29E3D9B1F768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8CD04-1748-411E-939A-DDE36A945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06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5B23-8821-4C8E-A4E8-29E3D9B1F768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8CD04-1748-411E-939A-DDE36A945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4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5B23-8821-4C8E-A4E8-29E3D9B1F768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8CD04-1748-411E-939A-DDE36A945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98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5B23-8821-4C8E-A4E8-29E3D9B1F768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8CD04-1748-411E-939A-DDE36A945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58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10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B5B23-8821-4C8E-A4E8-29E3D9B1F768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8CD04-1748-411E-939A-DDE36A945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51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65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Reducibility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34600" y="1131801"/>
                <a:ext cx="8112327" cy="512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bg1"/>
                    </a:solidFill>
                  </a:rPr>
                  <a:t>If we know that some problem (say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) is undecidable, </a:t>
                </a:r>
                <a:br>
                  <a:rPr lang="en-US" sz="2400" dirty="0">
                    <a:solidFill>
                      <a:schemeClr val="bg1"/>
                    </a:solidFill>
                  </a:rPr>
                </a:br>
                <a:r>
                  <a:rPr lang="en-US" sz="2400" dirty="0">
                    <a:solidFill>
                      <a:schemeClr val="bg1"/>
                    </a:solidFill>
                  </a:rPr>
                  <a:t>we can use that to show other problems are undecidable.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err="1">
                    <a:solidFill>
                      <a:schemeClr val="bg1"/>
                    </a:solidFill>
                  </a:rPr>
                  <a:t>Defn</a:t>
                </a:r>
                <a:r>
                  <a:rPr lang="en-US" sz="2400" dirty="0">
                    <a:solidFill>
                      <a:schemeClr val="bg1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halts on input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>
                    <a:solidFill>
                      <a:schemeClr val="bg1"/>
                    </a:solidFill>
                  </a:rPr>
                  <a:t>Recall Theorem</a:t>
                </a:r>
                <a:r>
                  <a:rPr lang="en-US" sz="2000" dirty="0">
                    <a:solidFill>
                      <a:schemeClr val="bg1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is undecidable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Proof by contradiction, showing that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: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1"/>
                    </a:solidFill>
                  </a:rPr>
                  <a:t>Assume that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is decidable and show that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is decidable (false!).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Let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decide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Construct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deciding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1.  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to test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halts.  If not, </a:t>
                </a:r>
                <a:r>
                  <a:rPr lang="en-US" sz="2000" i="1" dirty="0">
                    <a:solidFill>
                      <a:schemeClr val="bg1"/>
                    </a:solidFill>
                  </a:rPr>
                  <a:t>reject</a:t>
                </a:r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2.  Simulate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until it halts (as guaranteed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).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3.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has accepted then </a:t>
                </a:r>
                <a:r>
                  <a:rPr lang="en-US" sz="2000" i="1" dirty="0">
                    <a:solidFill>
                      <a:schemeClr val="bg1"/>
                    </a:solidFill>
                  </a:rPr>
                  <a:t>accept</a:t>
                </a:r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  <a:br>
                  <a:rPr lang="en-US" sz="2000" dirty="0">
                    <a:solidFill>
                      <a:schemeClr val="bg1"/>
                    </a:solidFill>
                  </a:rPr>
                </a:br>
                <a:r>
                  <a:rPr lang="en-US" sz="2000" dirty="0">
                    <a:solidFill>
                      <a:schemeClr val="bg1"/>
                    </a:solidFill>
                  </a:rPr>
                  <a:t>              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has rejected then </a:t>
                </a:r>
                <a:r>
                  <a:rPr lang="en-US" sz="2000" i="1" dirty="0">
                    <a:solidFill>
                      <a:schemeClr val="bg1"/>
                    </a:solidFill>
                  </a:rPr>
                  <a:t>reject</a:t>
                </a:r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1"/>
                    </a:solidFill>
                  </a:rPr>
                  <a:t>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 a contradiction.  Therefore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is undecidable. 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0" y="1131801"/>
                <a:ext cx="8112327" cy="5124480"/>
              </a:xfrm>
              <a:prstGeom prst="rect">
                <a:avLst/>
              </a:prstGeom>
              <a:blipFill>
                <a:blip r:embed="rId2"/>
                <a:stretch>
                  <a:fillRect l="-1202" t="-952" b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Isosceles Triangle 4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7FA875-03EE-2547-9F31-3D859D005648}"/>
              </a:ext>
            </a:extLst>
          </p:cNvPr>
          <p:cNvSpPr txBox="1"/>
          <p:nvPr/>
        </p:nvSpPr>
        <p:spPr>
          <a:xfrm>
            <a:off x="5597236" y="64839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814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Reducibility – Concept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34599" y="1131801"/>
                <a:ext cx="7278313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bg1"/>
                    </a:solidFill>
                  </a:rPr>
                  <a:t>If we have two languages (or problems)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, then </a:t>
                </a:r>
                <a:br>
                  <a:rPr lang="en-US" sz="24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means that we can use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to solve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Example 1:   </a:t>
                </a:r>
                <a:r>
                  <a:rPr lang="en-US" sz="2400" dirty="0">
                    <a:solidFill>
                      <a:schemeClr val="bg1"/>
                    </a:solidFill>
                  </a:rPr>
                  <a:t>Measuring the area of a rectangle </a:t>
                </a:r>
                <a:br>
                  <a:rPr lang="en-US" sz="2400" dirty="0">
                    <a:solidFill>
                      <a:schemeClr val="bg1"/>
                    </a:solidFill>
                  </a:rPr>
                </a:br>
                <a:r>
                  <a:rPr lang="en-US" sz="2400" dirty="0">
                    <a:solidFill>
                      <a:schemeClr val="bg1"/>
                    </a:solidFill>
                  </a:rPr>
                  <a:t>is reducible to measuring the lengths of its sides.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Example 2:</a:t>
                </a:r>
                <a:r>
                  <a:rPr lang="en-US" sz="2400" dirty="0">
                    <a:solidFill>
                      <a:schemeClr val="bg1"/>
                    </a:solidFill>
                  </a:rPr>
                  <a:t>   We showed that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NFA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is reducible 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Example 3: </a:t>
                </a:r>
                <a:r>
                  <a:rPr lang="en-US" sz="2400" dirty="0">
                    <a:solidFill>
                      <a:schemeClr val="bg1"/>
                    </a:solidFill>
                  </a:rPr>
                  <a:t> From Pset 2, </a:t>
                </a:r>
                <a:r>
                  <a:rPr lang="en-US" sz="2400" i="1" dirty="0">
                    <a:solidFill>
                      <a:schemeClr val="bg1"/>
                    </a:solidFill>
                  </a:rPr>
                  <a:t>PUSHER</a:t>
                </a:r>
                <a:r>
                  <a:rPr lang="en-US" sz="2400" dirty="0">
                    <a:solidFill>
                      <a:schemeClr val="bg1"/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bg1"/>
                        </a:solidFill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</a:t>
                </a:r>
                <a:br>
                  <a:rPr lang="en-US" sz="2400" dirty="0">
                    <a:solidFill>
                      <a:schemeClr val="bg1"/>
                    </a:solidFill>
                  </a:rPr>
                </a:br>
                <a:r>
                  <a:rPr lang="en-US" sz="2400" dirty="0">
                    <a:solidFill>
                      <a:schemeClr val="bg1"/>
                    </a:solidFill>
                  </a:rPr>
                  <a:t>(Idea- Convert push states to accept states.)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then solving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gives a solution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-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easy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easy.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-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hard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hard.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      </a:t>
                </a:r>
                <a:r>
                  <a:rPr lang="en-US" sz="2000" dirty="0">
                    <a:solidFill>
                      <a:schemeClr val="bg1"/>
                    </a:solidFill>
                  </a:rPr>
                  <a:t>this is the form we will use </a:t>
                </a:r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99" y="1131801"/>
                <a:ext cx="7278313" cy="4770537"/>
              </a:xfrm>
              <a:prstGeom prst="rect">
                <a:avLst/>
              </a:prstGeom>
              <a:blipFill>
                <a:blip r:embed="rId3"/>
                <a:stretch>
                  <a:fillRect l="-1340" t="-1023" b="-1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334598" y="5088175"/>
            <a:ext cx="3664525" cy="3431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1E0C1-95BD-5942-A257-CBD61A922D50}"/>
              </a:ext>
            </a:extLst>
          </p:cNvPr>
          <p:cNvSpPr txBox="1"/>
          <p:nvPr/>
        </p:nvSpPr>
        <p:spPr>
          <a:xfrm>
            <a:off x="5735782" y="64562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3018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15377" y="1093438"/>
                <a:ext cx="8797044" cy="4755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bg1"/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a TM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=∅ }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Theorem: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undecidable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Proof by contradiction.  Show that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1"/>
                    </a:solidFill>
                  </a:rPr>
                  <a:t>Assume that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is decidable and show that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is decidable (false!).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Let TM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decide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Construct TM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deciding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1.  Transform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to new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“On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                                                                 1. 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 </a:t>
                </a:r>
                <a:r>
                  <a:rPr lang="en-US" sz="2000" i="1" dirty="0">
                    <a:solidFill>
                      <a:schemeClr val="bg1"/>
                    </a:solidFill>
                  </a:rPr>
                  <a:t>reject</a:t>
                </a:r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                                                                 2.  else run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                                                                 3.  </a:t>
                </a:r>
                <a:r>
                  <a:rPr lang="en-US" sz="2000" i="1" dirty="0">
                    <a:solidFill>
                      <a:schemeClr val="bg1"/>
                    </a:solidFill>
                  </a:rPr>
                  <a:t>Accept</a:t>
                </a:r>
                <a:r>
                  <a:rPr lang="en-US" sz="2000" dirty="0">
                    <a:solidFill>
                      <a:schemeClr val="bg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accepts.”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2.  Use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to test whether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=∅</m:t>
                    </m:r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3.  If YES [so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rejects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] then </a:t>
                </a:r>
                <a:r>
                  <a:rPr lang="en-US" sz="2000" i="1" dirty="0">
                    <a:solidFill>
                      <a:schemeClr val="bg1"/>
                    </a:solidFill>
                  </a:rPr>
                  <a:t>reject</a:t>
                </a:r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  <a:br>
                  <a:rPr lang="en-US" sz="2000" dirty="0">
                    <a:solidFill>
                      <a:schemeClr val="bg1"/>
                    </a:solidFill>
                  </a:rPr>
                </a:br>
                <a:r>
                  <a:rPr lang="en-US" sz="2000" dirty="0">
                    <a:solidFill>
                      <a:schemeClr val="bg1"/>
                    </a:solidFill>
                  </a:rPr>
                  <a:t>                 If NO [so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] then </a:t>
                </a:r>
                <a:r>
                  <a:rPr lang="en-US" sz="2000" i="1" dirty="0">
                    <a:solidFill>
                      <a:schemeClr val="bg1"/>
                    </a:solidFill>
                  </a:rPr>
                  <a:t>accept</a:t>
                </a:r>
                <a:r>
                  <a:rPr lang="en-US" sz="2000" dirty="0">
                    <a:solidFill>
                      <a:schemeClr val="bg1"/>
                    </a:solidFill>
                  </a:rPr>
                  <a:t>.  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77" y="1093438"/>
                <a:ext cx="8797044" cy="4755148"/>
              </a:xfrm>
              <a:prstGeom prst="rect">
                <a:avLst/>
              </a:prstGeom>
              <a:blipFill>
                <a:blip r:embed="rId4"/>
                <a:stretch>
                  <a:fillRect l="-1109" t="-1026" b="-1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777537" y="3616155"/>
                <a:ext cx="4220375" cy="14713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works like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except that it </a:t>
                </a:r>
                <a:br>
                  <a:rPr lang="en-US" sz="2000" dirty="0"/>
                </a:br>
                <a:r>
                  <a:rPr lang="en-US" sz="2000" dirty="0"/>
                  <a:t>always rejects strings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So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sz="2000" b="0" i="0" dirty="0" smtClean="0"/>
                              <m:t> 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</a:rPr>
                              <m:t>accepts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∅     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if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</a:rPr>
                              <m:t>rejects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eqArr>
                      </m:e>
                    </m:d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537" y="3616155"/>
                <a:ext cx="4220375" cy="1471365"/>
              </a:xfrm>
              <a:prstGeom prst="rect">
                <a:avLst/>
              </a:prstGeom>
              <a:blipFill>
                <a:blip r:embed="rId5"/>
                <a:stretch>
                  <a:fillRect l="-1590" t="-2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82CF769-AA94-2E41-83A7-9479A34F1E89}"/>
              </a:ext>
            </a:extLst>
          </p:cNvPr>
          <p:cNvSpPr txBox="1"/>
          <p:nvPr/>
        </p:nvSpPr>
        <p:spPr>
          <a:xfrm>
            <a:off x="5763491" y="64839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5453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Mapping Reducibility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12177" y="1093438"/>
                <a:ext cx="8797044" cy="1800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400" b="1" dirty="0" smtClean="0">
                    <a:solidFill>
                      <a:schemeClr val="bg1"/>
                    </a:solidFill>
                  </a:rPr>
                  <a:t>Defn:  </a:t>
                </a:r>
                <a:r>
                  <a:rPr lang="en-US" sz="2400" dirty="0">
                    <a:solidFill>
                      <a:schemeClr val="bg1"/>
                    </a:solidFill>
                  </a:rPr>
                  <a:t>Function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</a:t>
                </a:r>
                <a:r>
                  <a:rPr lang="en-US" sz="2400" u="sng" dirty="0">
                    <a:solidFill>
                      <a:schemeClr val="bg1"/>
                    </a:solidFill>
                  </a:rPr>
                  <a:t>computable</a:t>
                </a:r>
                <a:r>
                  <a:rPr lang="en-US" sz="2400" dirty="0">
                    <a:solidFill>
                      <a:schemeClr val="bg1"/>
                    </a:solidFill>
                  </a:rPr>
                  <a:t> if there is a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br>
                  <a:rPr lang="en-US" sz="2400" dirty="0">
                    <a:solidFill>
                      <a:schemeClr val="bg1"/>
                    </a:solidFill>
                  </a:rPr>
                </a:br>
                <a:r>
                  <a:rPr lang="en-US" sz="2400" dirty="0">
                    <a:solidFill>
                      <a:schemeClr val="bg1"/>
                    </a:solidFill>
                  </a:rPr>
                  <a:t>where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on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halts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on its tape, for all strings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 err="1">
                    <a:solidFill>
                      <a:schemeClr val="bg1"/>
                    </a:solidFill>
                  </a:rPr>
                  <a:t>Defn</a:t>
                </a:r>
                <a:r>
                  <a:rPr lang="en-US" sz="2400" b="1" dirty="0">
                    <a:solidFill>
                      <a:schemeClr val="bg1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mapping-reducible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) if there is </a:t>
                </a:r>
                <a:br>
                  <a:rPr lang="en-US" sz="2400" dirty="0">
                    <a:solidFill>
                      <a:schemeClr val="bg1"/>
                    </a:solidFill>
                  </a:rPr>
                </a:br>
                <a:r>
                  <a:rPr lang="en-US" sz="2400" dirty="0">
                    <a:solidFill>
                      <a:schemeClr val="bg1"/>
                    </a:solidFill>
                  </a:rPr>
                  <a:t>a computable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iff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7" y="1093438"/>
                <a:ext cx="8797044" cy="1800493"/>
              </a:xfrm>
              <a:prstGeom prst="rect">
                <a:avLst/>
              </a:prstGeom>
              <a:blipFill>
                <a:blip r:embed="rId3"/>
                <a:stretch>
                  <a:fillRect l="-1040" t="-2703" b="-6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91676" y="3070163"/>
            <a:ext cx="1396313" cy="1193026"/>
            <a:chOff x="1729946" y="3731741"/>
            <a:chExt cx="1396313" cy="1025610"/>
          </a:xfrm>
        </p:grpSpPr>
        <p:sp>
          <p:nvSpPr>
            <p:cNvPr id="5" name="Rectangle 4"/>
            <p:cNvSpPr/>
            <p:nvPr/>
          </p:nvSpPr>
          <p:spPr>
            <a:xfrm>
              <a:off x="1729946" y="3731741"/>
              <a:ext cx="1396313" cy="1025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2119183" y="4099268"/>
              <a:ext cx="617838" cy="531341"/>
              <a:chOff x="2119183" y="4099268"/>
              <a:chExt cx="617838" cy="531341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119183" y="4099268"/>
                <a:ext cx="617838" cy="53134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/>
                  <p:cNvSpPr/>
                  <p:nvPr/>
                </p:nvSpPr>
                <p:spPr>
                  <a:xfrm>
                    <a:off x="2120511" y="4164883"/>
                    <a:ext cx="452175" cy="3968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Rectangle 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20511" y="4164883"/>
                    <a:ext cx="452175" cy="39688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5" name="Group 14"/>
          <p:cNvGrpSpPr/>
          <p:nvPr/>
        </p:nvGrpSpPr>
        <p:grpSpPr>
          <a:xfrm>
            <a:off x="4072429" y="3070163"/>
            <a:ext cx="1396313" cy="1193026"/>
            <a:chOff x="4510699" y="3731741"/>
            <a:chExt cx="1396313" cy="1025610"/>
          </a:xfrm>
        </p:grpSpPr>
        <p:sp>
          <p:nvSpPr>
            <p:cNvPr id="7" name="Rectangle 6"/>
            <p:cNvSpPr/>
            <p:nvPr/>
          </p:nvSpPr>
          <p:spPr>
            <a:xfrm>
              <a:off x="4510699" y="3731741"/>
              <a:ext cx="1396313" cy="1025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4899936" y="4099268"/>
              <a:ext cx="633794" cy="531341"/>
              <a:chOff x="2119183" y="4099268"/>
              <a:chExt cx="633794" cy="531341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2119183" y="4099268"/>
                <a:ext cx="617838" cy="53134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/>
                  <p:cNvSpPr/>
                  <p:nvPr/>
                </p:nvSpPr>
                <p:spPr>
                  <a:xfrm>
                    <a:off x="2289132" y="4159424"/>
                    <a:ext cx="463845" cy="3968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Rectangle 1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9132" y="4159424"/>
                    <a:ext cx="463845" cy="39688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6" name="Oval 15"/>
          <p:cNvSpPr/>
          <p:nvPr/>
        </p:nvSpPr>
        <p:spPr>
          <a:xfrm>
            <a:off x="2170361" y="387077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2170361" y="337151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112177" y="4416255"/>
                <a:ext cx="8797044" cy="1805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 smtClean="0">
                    <a:solidFill>
                      <a:schemeClr val="bg1"/>
                    </a:solidFill>
                  </a:rPr>
                  <a:t>Example: 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The computable reduction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) =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Because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iff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  <m:r>
                      <m:rPr>
                        <m:nor/>
                      </m:rPr>
                      <a:rPr lang="en-US" sz="2400" dirty="0">
                        <a:solidFill>
                          <a:schemeClr val="bg1"/>
                        </a:solidFill>
                      </a:rPr>
                      <m:t>  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              (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iff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) </a:t>
                </a: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7" y="4416255"/>
                <a:ext cx="8797044" cy="1805751"/>
              </a:xfrm>
              <a:prstGeom prst="rect">
                <a:avLst/>
              </a:prstGeom>
              <a:blipFill>
                <a:blip r:embed="rId6"/>
                <a:stretch>
                  <a:fillRect l="-1040" t="-337" b="-6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1884535" y="3088128"/>
                <a:ext cx="4142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535" y="3088128"/>
                <a:ext cx="41421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2241430" y="3088128"/>
            <a:ext cx="3074548" cy="1037728"/>
            <a:chOff x="2175328" y="3297448"/>
            <a:chExt cx="3074548" cy="1037728"/>
          </a:xfrm>
        </p:grpSpPr>
        <p:sp>
          <p:nvSpPr>
            <p:cNvPr id="20" name="Oval 19"/>
            <p:cNvSpPr/>
            <p:nvPr/>
          </p:nvSpPr>
          <p:spPr>
            <a:xfrm>
              <a:off x="4496541" y="408009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4496541" y="358083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2175328" y="3426501"/>
              <a:ext cx="2298700" cy="175651"/>
            </a:xfrm>
            <a:custGeom>
              <a:avLst/>
              <a:gdLst>
                <a:gd name="connsiteX0" fmla="*/ 0 w 2386013"/>
                <a:gd name="connsiteY0" fmla="*/ 273847 h 273847"/>
                <a:gd name="connsiteX1" fmla="*/ 1193007 w 2386013"/>
                <a:gd name="connsiteY1" fmla="*/ 3 h 273847"/>
                <a:gd name="connsiteX2" fmla="*/ 2386013 w 2386013"/>
                <a:gd name="connsiteY2" fmla="*/ 269084 h 273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6013" h="273847">
                  <a:moveTo>
                    <a:pt x="0" y="273847"/>
                  </a:moveTo>
                  <a:cubicBezTo>
                    <a:pt x="397669" y="137322"/>
                    <a:pt x="795338" y="797"/>
                    <a:pt x="1193007" y="3"/>
                  </a:cubicBezTo>
                  <a:cubicBezTo>
                    <a:pt x="1590676" y="-791"/>
                    <a:pt x="1988344" y="134146"/>
                    <a:pt x="2386013" y="269084"/>
                  </a:cubicBezTo>
                </a:path>
              </a:pathLst>
            </a:custGeom>
            <a:noFill/>
            <a:ln w="6350">
              <a:solidFill>
                <a:schemeClr val="accent1">
                  <a:lumMod val="60000"/>
                  <a:lumOff val="40000"/>
                </a:schemeClr>
              </a:solidFill>
              <a:tailEnd type="stealth"/>
            </a:ln>
          </p:spPr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2175328" y="3913133"/>
              <a:ext cx="2298700" cy="175651"/>
            </a:xfrm>
            <a:custGeom>
              <a:avLst/>
              <a:gdLst>
                <a:gd name="connsiteX0" fmla="*/ 0 w 2386013"/>
                <a:gd name="connsiteY0" fmla="*/ 273847 h 273847"/>
                <a:gd name="connsiteX1" fmla="*/ 1193007 w 2386013"/>
                <a:gd name="connsiteY1" fmla="*/ 3 h 273847"/>
                <a:gd name="connsiteX2" fmla="*/ 2386013 w 2386013"/>
                <a:gd name="connsiteY2" fmla="*/ 269084 h 273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6013" h="273847">
                  <a:moveTo>
                    <a:pt x="0" y="273847"/>
                  </a:moveTo>
                  <a:cubicBezTo>
                    <a:pt x="397669" y="137322"/>
                    <a:pt x="795338" y="797"/>
                    <a:pt x="1193007" y="3"/>
                  </a:cubicBezTo>
                  <a:cubicBezTo>
                    <a:pt x="1590676" y="-791"/>
                    <a:pt x="1988344" y="134146"/>
                    <a:pt x="2386013" y="269084"/>
                  </a:cubicBezTo>
                </a:path>
              </a:pathLst>
            </a:custGeom>
            <a:noFill/>
            <a:ln w="6350">
              <a:solidFill>
                <a:schemeClr val="accent1">
                  <a:lumMod val="60000"/>
                  <a:lumOff val="40000"/>
                </a:schemeClr>
              </a:solidFill>
              <a:tailEnd type="stealth"/>
            </a:ln>
          </p:spPr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3163483" y="3935066"/>
                  <a:ext cx="39094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sz="2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3483" y="3935066"/>
                  <a:ext cx="390941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4510699" y="3297448"/>
                  <a:ext cx="73917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699" y="3297448"/>
                  <a:ext cx="739177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4" name="Straight Connector 33"/>
          <p:cNvCxnSpPr/>
          <p:nvPr/>
        </p:nvCxnSpPr>
        <p:spPr>
          <a:xfrm>
            <a:off x="1013552" y="2445745"/>
            <a:ext cx="3470148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/>
              <p:cNvSpPr/>
              <p:nvPr/>
            </p:nvSpPr>
            <p:spPr>
              <a:xfrm>
                <a:off x="7668345" y="4898567"/>
                <a:ext cx="4621078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 smtClean="0">
                    <a:solidFill>
                      <a:schemeClr val="bg1"/>
                    </a:solidFill>
                  </a:rPr>
                  <a:t>Recall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“On input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                    1.  If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 </a:t>
                </a:r>
                <a:r>
                  <a:rPr lang="en-US" sz="2000" i="1" dirty="0">
                    <a:solidFill>
                      <a:schemeClr val="bg1"/>
                    </a:solidFill>
                  </a:rPr>
                  <a:t>reject</a:t>
                </a:r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                    2.  else run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                    3.  </a:t>
                </a:r>
                <a:r>
                  <a:rPr lang="en-US" sz="2000" i="1" dirty="0">
                    <a:solidFill>
                      <a:schemeClr val="bg1"/>
                    </a:solidFill>
                  </a:rPr>
                  <a:t>Accept</a:t>
                </a:r>
                <a:r>
                  <a:rPr lang="en-US" sz="2000" dirty="0">
                    <a:solidFill>
                      <a:schemeClr val="bg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accepts.”</a:t>
                </a:r>
              </a:p>
            </p:txBody>
          </p:sp>
        </mc:Choice>
        <mc:Fallback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45" y="4898567"/>
                <a:ext cx="4621078" cy="1323439"/>
              </a:xfrm>
              <a:prstGeom prst="rect">
                <a:avLst/>
              </a:prstGeom>
              <a:blipFill>
                <a:blip r:embed="rId10"/>
                <a:stretch>
                  <a:fillRect l="-1451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01750F2-00EB-D941-AA32-D35C51209F3C}"/>
              </a:ext>
            </a:extLst>
          </p:cNvPr>
          <p:cNvSpPr txBox="1"/>
          <p:nvPr/>
        </p:nvSpPr>
        <p:spPr>
          <a:xfrm>
            <a:off x="6289964" y="63869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5289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4" grpId="0" animBg="1"/>
      <p:bldP spid="16" grpId="0" animBg="1"/>
      <p:bldP spid="17" grpId="0" animBg="1"/>
      <p:bldP spid="28" grpId="0" uiExpand="1" build="p"/>
      <p:bldP spid="30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Mapping Reductions - properties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12177" y="1093438"/>
                <a:ext cx="8797044" cy="4693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 smtClean="0">
                    <a:solidFill>
                      <a:schemeClr val="bg1"/>
                    </a:solidFill>
                  </a:rPr>
                  <a:t>Theorem:  </a:t>
                </a:r>
                <a:r>
                  <a:rPr lang="en-US" sz="2400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decidable then so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Proof:  Say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decides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  Construct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deciding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: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“On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       1.  Compute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       2.  Run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to test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       3. 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halts then output same result.”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Corollary: </a:t>
                </a:r>
                <a:r>
                  <a:rPr lang="en-US" sz="2400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undecidable then so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Theorem:  </a:t>
                </a:r>
                <a:r>
                  <a:rPr lang="en-US" sz="2400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T-recognizable then so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/>
                </a:r>
                <a:br>
                  <a:rPr lang="en-US" sz="2400" dirty="0">
                    <a:solidFill>
                      <a:schemeClr val="bg1"/>
                    </a:solidFill>
                  </a:rPr>
                </a:br>
                <a:r>
                  <a:rPr lang="en-US" sz="2400" dirty="0">
                    <a:solidFill>
                      <a:schemeClr val="bg1"/>
                    </a:solidFill>
                  </a:rPr>
                  <a:t>Proof:  Same as above.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Corollary:  </a:t>
                </a:r>
                <a:r>
                  <a:rPr lang="en-US" sz="2400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T-unrecognizable then so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7" y="1093438"/>
                <a:ext cx="8797044" cy="4693593"/>
              </a:xfrm>
              <a:prstGeom prst="rect">
                <a:avLst/>
              </a:prstGeom>
              <a:blipFill>
                <a:blip r:embed="rId3"/>
                <a:stretch>
                  <a:fillRect l="-1040" t="-1039" b="-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4329628" y="1605596"/>
            <a:ext cx="3539915" cy="1025610"/>
            <a:chOff x="7394145" y="2692156"/>
            <a:chExt cx="4177066" cy="1025610"/>
          </a:xfrm>
        </p:grpSpPr>
        <p:grpSp>
          <p:nvGrpSpPr>
            <p:cNvPr id="10" name="Group 9"/>
            <p:cNvGrpSpPr/>
            <p:nvPr/>
          </p:nvGrpSpPr>
          <p:grpSpPr>
            <a:xfrm>
              <a:off x="7394145" y="2692156"/>
              <a:ext cx="1396313" cy="1025610"/>
              <a:chOff x="1729946" y="3731741"/>
              <a:chExt cx="1396313" cy="102561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1729946" y="3731741"/>
                <a:ext cx="1396313" cy="1025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2107713" y="4099268"/>
                <a:ext cx="629308" cy="531341"/>
                <a:chOff x="2107713" y="4099268"/>
                <a:chExt cx="629308" cy="531341"/>
              </a:xfrm>
            </p:grpSpPr>
            <p:sp>
              <p:nvSpPr>
                <p:cNvPr id="6" name="Oval 5"/>
                <p:cNvSpPr/>
                <p:nvPr/>
              </p:nvSpPr>
              <p:spPr>
                <a:xfrm>
                  <a:off x="2119183" y="4099268"/>
                  <a:ext cx="617838" cy="53134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Rectangle 7"/>
                    <p:cNvSpPr/>
                    <p:nvPr/>
                  </p:nvSpPr>
                  <p:spPr>
                    <a:xfrm>
                      <a:off x="2107713" y="4164883"/>
                      <a:ext cx="479994" cy="40011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" name="Rectangle 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07713" y="4164883"/>
                      <a:ext cx="479994" cy="4001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5" name="Group 14"/>
            <p:cNvGrpSpPr/>
            <p:nvPr/>
          </p:nvGrpSpPr>
          <p:grpSpPr>
            <a:xfrm>
              <a:off x="10174898" y="2692156"/>
              <a:ext cx="1396313" cy="1025610"/>
              <a:chOff x="4510699" y="3731741"/>
              <a:chExt cx="1396313" cy="102561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4510699" y="3731741"/>
                <a:ext cx="1396313" cy="1025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2" name="Group 11"/>
              <p:cNvGrpSpPr/>
              <p:nvPr/>
            </p:nvGrpSpPr>
            <p:grpSpPr>
              <a:xfrm>
                <a:off x="4899936" y="4099268"/>
                <a:ext cx="650235" cy="531341"/>
                <a:chOff x="2119183" y="4099268"/>
                <a:chExt cx="650235" cy="531341"/>
              </a:xfrm>
            </p:grpSpPr>
            <p:sp>
              <p:nvSpPr>
                <p:cNvPr id="13" name="Oval 12"/>
                <p:cNvSpPr/>
                <p:nvPr/>
              </p:nvSpPr>
              <p:spPr>
                <a:xfrm>
                  <a:off x="2119183" y="4099268"/>
                  <a:ext cx="617838" cy="53134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Rectangle 13"/>
                    <p:cNvSpPr/>
                    <p:nvPr/>
                  </p:nvSpPr>
                  <p:spPr>
                    <a:xfrm>
                      <a:off x="2276713" y="4164883"/>
                      <a:ext cx="492705" cy="40011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oMath>
                        </m:oMathPara>
                      </a14:m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Rectangle 1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76713" y="4164883"/>
                      <a:ext cx="492705" cy="40011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6" name="Oval 15"/>
            <p:cNvSpPr/>
            <p:nvPr/>
          </p:nvSpPr>
          <p:spPr>
            <a:xfrm>
              <a:off x="8272830" y="3325353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8272830" y="294674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10665112" y="3325353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10665112" y="294674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8343899" y="2792408"/>
              <a:ext cx="2298700" cy="175651"/>
            </a:xfrm>
            <a:custGeom>
              <a:avLst/>
              <a:gdLst>
                <a:gd name="connsiteX0" fmla="*/ 0 w 2386013"/>
                <a:gd name="connsiteY0" fmla="*/ 273847 h 273847"/>
                <a:gd name="connsiteX1" fmla="*/ 1193007 w 2386013"/>
                <a:gd name="connsiteY1" fmla="*/ 3 h 273847"/>
                <a:gd name="connsiteX2" fmla="*/ 2386013 w 2386013"/>
                <a:gd name="connsiteY2" fmla="*/ 269084 h 273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6013" h="273847">
                  <a:moveTo>
                    <a:pt x="0" y="273847"/>
                  </a:moveTo>
                  <a:cubicBezTo>
                    <a:pt x="397669" y="137322"/>
                    <a:pt x="795338" y="797"/>
                    <a:pt x="1193007" y="3"/>
                  </a:cubicBezTo>
                  <a:cubicBezTo>
                    <a:pt x="1590676" y="-791"/>
                    <a:pt x="1988344" y="134146"/>
                    <a:pt x="2386013" y="269084"/>
                  </a:cubicBezTo>
                </a:path>
              </a:pathLst>
            </a:custGeom>
            <a:noFill/>
            <a:ln w="6350">
              <a:solidFill>
                <a:schemeClr val="accent1">
                  <a:lumMod val="60000"/>
                  <a:lumOff val="40000"/>
                </a:schemeClr>
              </a:solidFill>
              <a:tailEnd type="stealth"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8343899" y="3158390"/>
              <a:ext cx="2298700" cy="175651"/>
            </a:xfrm>
            <a:custGeom>
              <a:avLst/>
              <a:gdLst>
                <a:gd name="connsiteX0" fmla="*/ 0 w 2386013"/>
                <a:gd name="connsiteY0" fmla="*/ 273847 h 273847"/>
                <a:gd name="connsiteX1" fmla="*/ 1193007 w 2386013"/>
                <a:gd name="connsiteY1" fmla="*/ 3 h 273847"/>
                <a:gd name="connsiteX2" fmla="*/ 2386013 w 2386013"/>
                <a:gd name="connsiteY2" fmla="*/ 269084 h 273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6013" h="273847">
                  <a:moveTo>
                    <a:pt x="0" y="273847"/>
                  </a:moveTo>
                  <a:cubicBezTo>
                    <a:pt x="397669" y="137322"/>
                    <a:pt x="795338" y="797"/>
                    <a:pt x="1193007" y="3"/>
                  </a:cubicBezTo>
                  <a:cubicBezTo>
                    <a:pt x="1590676" y="-791"/>
                    <a:pt x="1988344" y="134146"/>
                    <a:pt x="2386013" y="269084"/>
                  </a:cubicBezTo>
                </a:path>
              </a:pathLst>
            </a:custGeom>
            <a:noFill/>
            <a:ln w="6350">
              <a:solidFill>
                <a:schemeClr val="accent1">
                  <a:lumMod val="60000"/>
                  <a:lumOff val="40000"/>
                </a:schemeClr>
              </a:solidFill>
              <a:tailEnd type="stealth"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9274398" y="3140687"/>
                  <a:ext cx="43770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4398" y="3140687"/>
                  <a:ext cx="43770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CCC1813-52FD-DF44-85DC-EE640E79CA9F}"/>
              </a:ext>
            </a:extLst>
          </p:cNvPr>
          <p:cNvSpPr txBox="1"/>
          <p:nvPr/>
        </p:nvSpPr>
        <p:spPr>
          <a:xfrm>
            <a:off x="5555673" y="63869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5920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Mapping vs General Reducibility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12177" y="1093438"/>
                <a:ext cx="8954706" cy="4839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bg1"/>
                    </a:solidFill>
                  </a:rPr>
                  <a:t>Mapping Reducibility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:  Translate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-questions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-questions.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- A special type of reducibility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- Useful to prove T-unrecognizability</a:t>
                </a:r>
              </a:p>
              <a:p>
                <a:pPr>
                  <a:spcBef>
                    <a:spcPts val="36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(General) Reducibility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:  Use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solver to solve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 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- May be conceptually simpler  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- Useful to prove undecidability</a:t>
                </a:r>
              </a:p>
              <a:p>
                <a:pPr>
                  <a:spcBef>
                    <a:spcPts val="36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Noteworthy difference: 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reducible to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may not be mapping reducible to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  </a:t>
                </a:r>
                <a:br>
                  <a:rPr lang="en-US" sz="2400" dirty="0">
                    <a:solidFill>
                      <a:schemeClr val="bg1"/>
                    </a:solidFill>
                  </a:rPr>
                </a:br>
                <a:r>
                  <a:rPr lang="en-US" sz="2400" dirty="0">
                    <a:solidFill>
                      <a:schemeClr val="bg1"/>
                    </a:solidFill>
                  </a:rPr>
                  <a:t>  For example 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≰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a:rPr lang="en-US" sz="2400" i="1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7" y="1093438"/>
                <a:ext cx="8954706" cy="4839595"/>
              </a:xfrm>
              <a:prstGeom prst="rect">
                <a:avLst/>
              </a:prstGeom>
              <a:blipFill>
                <a:blip r:embed="rId3"/>
                <a:stretch>
                  <a:fillRect l="-1021" t="-1008" b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5089048" y="1675643"/>
            <a:ext cx="3581227" cy="858238"/>
            <a:chOff x="7116152" y="2663415"/>
            <a:chExt cx="4177066" cy="925358"/>
          </a:xfrm>
        </p:grpSpPr>
        <p:grpSp>
          <p:nvGrpSpPr>
            <p:cNvPr id="3" name="Group 2"/>
            <p:cNvGrpSpPr/>
            <p:nvPr/>
          </p:nvGrpSpPr>
          <p:grpSpPr>
            <a:xfrm>
              <a:off x="7116152" y="2663415"/>
              <a:ext cx="4177066" cy="925358"/>
              <a:chOff x="7394145" y="2792408"/>
              <a:chExt cx="4177066" cy="925358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7394145" y="2792408"/>
                <a:ext cx="1396313" cy="925358"/>
                <a:chOff x="1729946" y="3831993"/>
                <a:chExt cx="1396313" cy="925358"/>
              </a:xfrm>
            </p:grpSpPr>
            <p:sp>
              <p:nvSpPr>
                <p:cNvPr id="5" name="Rectangle 4"/>
                <p:cNvSpPr/>
                <p:nvPr/>
              </p:nvSpPr>
              <p:spPr>
                <a:xfrm>
                  <a:off x="1729946" y="3831993"/>
                  <a:ext cx="1396313" cy="92535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9" name="Group 8"/>
                <p:cNvGrpSpPr/>
                <p:nvPr/>
              </p:nvGrpSpPr>
              <p:grpSpPr>
                <a:xfrm>
                  <a:off x="2119183" y="4099268"/>
                  <a:ext cx="617838" cy="531341"/>
                  <a:chOff x="2119183" y="4099268"/>
                  <a:chExt cx="617838" cy="531341"/>
                </a:xfrm>
              </p:grpSpPr>
              <p:sp>
                <p:nvSpPr>
                  <p:cNvPr id="6" name="Oval 5"/>
                  <p:cNvSpPr/>
                  <p:nvPr/>
                </p:nvSpPr>
                <p:spPr>
                  <a:xfrm>
                    <a:off x="2119183" y="4099268"/>
                    <a:ext cx="617838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" name="Rectangle 7"/>
                      <p:cNvSpPr/>
                      <p:nvPr/>
                    </p:nvSpPr>
                    <p:spPr>
                      <a:xfrm>
                        <a:off x="2157536" y="4144813"/>
                        <a:ext cx="338714" cy="431401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US" sz="20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" name="Rectangle 7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157536" y="4144813"/>
                        <a:ext cx="338714" cy="431401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r="-1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15" name="Group 14"/>
              <p:cNvGrpSpPr/>
              <p:nvPr/>
            </p:nvGrpSpPr>
            <p:grpSpPr>
              <a:xfrm>
                <a:off x="10174898" y="2792408"/>
                <a:ext cx="1396313" cy="925358"/>
                <a:chOff x="4510699" y="3831993"/>
                <a:chExt cx="1396313" cy="925358"/>
              </a:xfrm>
            </p:grpSpPr>
            <p:sp>
              <p:nvSpPr>
                <p:cNvPr id="7" name="Rectangle 6"/>
                <p:cNvSpPr/>
                <p:nvPr/>
              </p:nvSpPr>
              <p:spPr>
                <a:xfrm>
                  <a:off x="4510699" y="3831993"/>
                  <a:ext cx="1396313" cy="92535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12" name="Group 11"/>
                <p:cNvGrpSpPr/>
                <p:nvPr/>
              </p:nvGrpSpPr>
              <p:grpSpPr>
                <a:xfrm>
                  <a:off x="4899936" y="4099268"/>
                  <a:ext cx="668648" cy="531341"/>
                  <a:chOff x="2119183" y="4099268"/>
                  <a:chExt cx="668648" cy="531341"/>
                </a:xfrm>
              </p:grpSpPr>
              <p:sp>
                <p:nvSpPr>
                  <p:cNvPr id="13" name="Oval 12"/>
                  <p:cNvSpPr/>
                  <p:nvPr/>
                </p:nvSpPr>
                <p:spPr>
                  <a:xfrm>
                    <a:off x="2119183" y="4099268"/>
                    <a:ext cx="617838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" name="Rectangle 13"/>
                      <p:cNvSpPr/>
                      <p:nvPr/>
                    </p:nvSpPr>
                    <p:spPr>
                      <a:xfrm>
                        <a:off x="2300809" y="4157926"/>
                        <a:ext cx="487022" cy="43140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m:oMathPara>
                        </a14:m>
                        <a:endParaRPr lang="en-US" sz="20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" name="Rectangle 13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300809" y="4157926"/>
                        <a:ext cx="487022" cy="431401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16" name="Oval 15"/>
              <p:cNvSpPr/>
              <p:nvPr/>
            </p:nvSpPr>
            <p:spPr>
              <a:xfrm>
                <a:off x="8272830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8272830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10665112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10665112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 25"/>
              <p:cNvSpPr/>
              <p:nvPr/>
            </p:nvSpPr>
            <p:spPr>
              <a:xfrm>
                <a:off x="8343899" y="2792408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 26"/>
              <p:cNvSpPr/>
              <p:nvPr/>
            </p:nvSpPr>
            <p:spPr>
              <a:xfrm>
                <a:off x="8343899" y="3158390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9019217" y="3075968"/>
                  <a:ext cx="432651" cy="3982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9217" y="3075968"/>
                  <a:ext cx="432651" cy="398216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5089048" y="3276199"/>
            <a:ext cx="1917680" cy="1145754"/>
            <a:chOff x="5089048" y="3276199"/>
            <a:chExt cx="1917680" cy="1145754"/>
          </a:xfrm>
        </p:grpSpPr>
        <p:sp>
          <p:nvSpPr>
            <p:cNvPr id="19" name="Rounded Rectangle 18"/>
            <p:cNvSpPr/>
            <p:nvPr/>
          </p:nvSpPr>
          <p:spPr>
            <a:xfrm>
              <a:off x="5089048" y="3276199"/>
              <a:ext cx="1917680" cy="114575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547957" y="3849076"/>
              <a:ext cx="1340767" cy="46270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5311008" y="3276199"/>
                  <a:ext cx="1044072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000" dirty="0">
                      <a:solidFill>
                        <a:schemeClr val="bg1"/>
                      </a:solidFill>
                    </a:rPr>
                    <a:t> solver</a:t>
                  </a:r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1008" y="3276199"/>
                  <a:ext cx="1044072" cy="400110"/>
                </a:xfrm>
                <a:prstGeom prst="rect">
                  <a:avLst/>
                </a:prstGeom>
                <a:blipFill>
                  <a:blip r:embed="rId7"/>
                  <a:stretch>
                    <a:fillRect t="-7576" r="-4651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5676578" y="3887364"/>
                  <a:ext cx="1044072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2000" dirty="0">
                      <a:solidFill>
                        <a:schemeClr val="bg1"/>
                      </a:solidFill>
                    </a:rPr>
                    <a:t> solver</a:t>
                  </a:r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6578" y="3887364"/>
                  <a:ext cx="1044072" cy="400110"/>
                </a:xfrm>
                <a:prstGeom prst="rect">
                  <a:avLst/>
                </a:prstGeom>
                <a:blipFill>
                  <a:blip r:embed="rId8"/>
                  <a:stretch>
                    <a:fillRect t="-9231" r="-5848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D44F17A-9A2D-634F-8820-BFEF9EE2D435}"/>
              </a:ext>
            </a:extLst>
          </p:cNvPr>
          <p:cNvSpPr txBox="1"/>
          <p:nvPr/>
        </p:nvSpPr>
        <p:spPr>
          <a:xfrm>
            <a:off x="5818909" y="63869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2267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Reducibility – Templates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12176" y="1093438"/>
                <a:ext cx="10729995" cy="2952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bg1"/>
                    </a:solidFill>
                  </a:rPr>
                  <a:t>To prove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undecidable: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- Show undecidable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  (often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a:rPr lang="en-US" sz="2400" i="1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)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- Template:  Assume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decides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 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                      Construct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deciding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  Contradiction.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To prove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T-unrecognizable: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- Show T-unrecognizable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mapping reducible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  (often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)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- Template:  give reduction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6" y="1093438"/>
                <a:ext cx="10729995" cy="2952027"/>
              </a:xfrm>
              <a:prstGeom prst="rect">
                <a:avLst/>
              </a:prstGeom>
              <a:blipFill>
                <a:blip r:embed="rId3"/>
                <a:stretch>
                  <a:fillRect l="-852" t="-1649" b="-3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15234-2C8B-594A-9268-44395DCDD00B}"/>
              </a:ext>
            </a:extLst>
          </p:cNvPr>
          <p:cNvSpPr txBox="1"/>
          <p:nvPr/>
        </p:nvSpPr>
        <p:spPr>
          <a:xfrm>
            <a:off x="5777345" y="6289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1939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>
                    <a:solidFill>
                      <a:schemeClr val="bg1"/>
                    </a:solidFill>
                  </a:rPr>
                  <a:t> is T-unrecognizable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12176" y="1093438"/>
                <a:ext cx="10729995" cy="3826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bg1"/>
                    </a:solidFill>
                  </a:rPr>
                  <a:t>Recall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a TM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=∅ }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T-unrecognizable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Proof:  Show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  <m:r>
                      <a:rPr lang="en-US" sz="2400" b="0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Reduction function: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Explanation: 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iff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                     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rejects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 iff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6" y="1093438"/>
                <a:ext cx="10729995" cy="3826560"/>
              </a:xfrm>
              <a:prstGeom prst="rect">
                <a:avLst/>
              </a:prstGeom>
              <a:blipFill>
                <a:blip r:embed="rId4"/>
                <a:stretch>
                  <a:fillRect l="-852" t="-1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5606626" y="2644843"/>
                <a:ext cx="4621078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 smtClean="0">
                    <a:solidFill>
                      <a:schemeClr val="bg1"/>
                    </a:solidFill>
                  </a:rPr>
                  <a:t>Recall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“On input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                    1.  If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 </a:t>
                </a:r>
                <a:r>
                  <a:rPr lang="en-US" sz="2000" i="1" dirty="0">
                    <a:solidFill>
                      <a:schemeClr val="bg1"/>
                    </a:solidFill>
                  </a:rPr>
                  <a:t>reject</a:t>
                </a:r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                    2.  else run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                               3.  </a:t>
                </a:r>
                <a:r>
                  <a:rPr lang="en-US" sz="2000" i="1" dirty="0">
                    <a:solidFill>
                      <a:schemeClr val="bg1"/>
                    </a:solidFill>
                  </a:rPr>
                  <a:t>Accept</a:t>
                </a:r>
                <a:r>
                  <a:rPr lang="en-US" sz="2000" dirty="0">
                    <a:solidFill>
                      <a:schemeClr val="bg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accepts.”</a:t>
                </a:r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626" y="2644843"/>
                <a:ext cx="4621078" cy="1323439"/>
              </a:xfrm>
              <a:prstGeom prst="rect">
                <a:avLst/>
              </a:prstGeom>
              <a:blipFill>
                <a:blip r:embed="rId5"/>
                <a:stretch>
                  <a:fillRect l="-1451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400709" y="4779223"/>
            <a:ext cx="5283996" cy="1233266"/>
            <a:chOff x="1105788" y="4822777"/>
            <a:chExt cx="5283996" cy="1233266"/>
          </a:xfrm>
        </p:grpSpPr>
        <p:grpSp>
          <p:nvGrpSpPr>
            <p:cNvPr id="24" name="Group 23"/>
            <p:cNvGrpSpPr/>
            <p:nvPr/>
          </p:nvGrpSpPr>
          <p:grpSpPr>
            <a:xfrm>
              <a:off x="1105788" y="4822777"/>
              <a:ext cx="5283996" cy="1233266"/>
              <a:chOff x="7394146" y="2792408"/>
              <a:chExt cx="4177065" cy="925358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7394146" y="2792408"/>
                <a:ext cx="1254992" cy="925358"/>
                <a:chOff x="1729947" y="3831993"/>
                <a:chExt cx="1254992" cy="925358"/>
              </a:xfrm>
            </p:grpSpPr>
            <p:sp>
              <p:nvSpPr>
                <p:cNvPr id="39" name="Rectangle 38"/>
                <p:cNvSpPr/>
                <p:nvPr/>
              </p:nvSpPr>
              <p:spPr>
                <a:xfrm>
                  <a:off x="1729947" y="3831993"/>
                  <a:ext cx="1254992" cy="92535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40" name="Group 39"/>
                <p:cNvGrpSpPr/>
                <p:nvPr/>
              </p:nvGrpSpPr>
              <p:grpSpPr>
                <a:xfrm>
                  <a:off x="1982202" y="4099268"/>
                  <a:ext cx="754819" cy="531341"/>
                  <a:chOff x="1982202" y="4099268"/>
                  <a:chExt cx="754819" cy="531341"/>
                </a:xfrm>
              </p:grpSpPr>
              <p:sp>
                <p:nvSpPr>
                  <p:cNvPr id="41" name="Oval 40"/>
                  <p:cNvSpPr/>
                  <p:nvPr/>
                </p:nvSpPr>
                <p:spPr>
                  <a:xfrm>
                    <a:off x="1982202" y="4099268"/>
                    <a:ext cx="754819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2" name="Rectangle 41"/>
                      <p:cNvSpPr/>
                      <p:nvPr/>
                    </p:nvSpPr>
                    <p:spPr>
                      <a:xfrm>
                        <a:off x="1982202" y="4203355"/>
                        <a:ext cx="509665" cy="327446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sz="20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aseline="-2500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TM</m:t>
                                  </m:r>
                                </m:e>
                              </m:bar>
                            </m:oMath>
                          </m:oMathPara>
                        </a14:m>
                        <a:endParaRPr lang="en-US" sz="20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2" name="Rectangle 41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82202" y="4203355"/>
                        <a:ext cx="509665" cy="327446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28" name="Group 27"/>
              <p:cNvGrpSpPr/>
              <p:nvPr/>
            </p:nvGrpSpPr>
            <p:grpSpPr>
              <a:xfrm>
                <a:off x="10337358" y="2792408"/>
                <a:ext cx="1233853" cy="925358"/>
                <a:chOff x="4673159" y="3831993"/>
                <a:chExt cx="1233853" cy="925358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4673159" y="3831993"/>
                  <a:ext cx="1233853" cy="92535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36" name="Group 35"/>
                <p:cNvGrpSpPr/>
                <p:nvPr/>
              </p:nvGrpSpPr>
              <p:grpSpPr>
                <a:xfrm>
                  <a:off x="4899935" y="4099268"/>
                  <a:ext cx="775962" cy="531341"/>
                  <a:chOff x="2119182" y="4099268"/>
                  <a:chExt cx="775962" cy="531341"/>
                </a:xfrm>
              </p:grpSpPr>
              <p:sp>
                <p:nvSpPr>
                  <p:cNvPr id="37" name="Oval 36"/>
                  <p:cNvSpPr/>
                  <p:nvPr/>
                </p:nvSpPr>
                <p:spPr>
                  <a:xfrm>
                    <a:off x="2119182" y="4099268"/>
                    <a:ext cx="775962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8" name="Rectangle 37"/>
                      <p:cNvSpPr/>
                      <p:nvPr/>
                    </p:nvSpPr>
                    <p:spPr>
                      <a:xfrm>
                        <a:off x="2457362" y="4188583"/>
                        <a:ext cx="352790" cy="300215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>
                          <a:spcBef>
                            <a:spcPts val="600"/>
                          </a:spcBef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m:rPr>
                                  <m:nor/>
                                </m:rPr>
                                <a:rPr lang="en-US" sz="2000" baseline="-2500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TM</m:t>
                              </m:r>
                            </m:oMath>
                          </m:oMathPara>
                        </a14:m>
                        <a:endParaRPr lang="en-US" sz="20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8" name="Rectangle 37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57362" y="4188583"/>
                        <a:ext cx="352790" cy="300215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r="-2465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29" name="Oval 28"/>
              <p:cNvSpPr/>
              <p:nvPr/>
            </p:nvSpPr>
            <p:spPr>
              <a:xfrm>
                <a:off x="8272830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8272830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10665112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10665112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8343899" y="2792408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8343899" y="3158390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3575690" y="5378857"/>
                  <a:ext cx="3709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5690" y="5378857"/>
                  <a:ext cx="370935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A9B084A-8AEF-494F-936F-EE2D3596684C}"/>
              </a:ext>
            </a:extLst>
          </p:cNvPr>
          <p:cNvSpPr txBox="1"/>
          <p:nvPr/>
        </p:nvSpPr>
        <p:spPr>
          <a:xfrm>
            <a:off x="6386945" y="63869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8692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44079" y="0"/>
                <a:ext cx="8446926" cy="780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4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𝐸𝑄</m:t>
                        </m:r>
                        <m:r>
                          <m:rPr>
                            <m:nor/>
                          </m:rPr>
                          <a:rPr lang="en-US" sz="40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4000" dirty="0">
                    <a:solidFill>
                      <a:schemeClr val="bg1"/>
                    </a:solidFill>
                  </a:rPr>
                  <a:t> are T-unrecognizable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079" y="0"/>
                <a:ext cx="8446926" cy="780470"/>
              </a:xfrm>
              <a:prstGeom prst="rect">
                <a:avLst/>
              </a:prstGeom>
              <a:blipFill>
                <a:blip r:embed="rId3"/>
                <a:stretch>
                  <a:fillRect t="-4688" b="-32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12177" y="1093438"/>
                <a:ext cx="8856946" cy="5445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are TMs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Theorem:  </a:t>
                </a:r>
                <a:r>
                  <a:rPr lang="en-US" sz="2400" dirty="0">
                    <a:solidFill>
                      <a:schemeClr val="bg1"/>
                    </a:solidFill>
                  </a:rPr>
                  <a:t>Both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𝐸𝑄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are T-unrecognizable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Proof: (1)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            (2)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𝐸𝑄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For any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“On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                                     1.  Ignore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                                     2.  Simulate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.”</a:t>
                </a:r>
              </a:p>
              <a:p>
                <a:pPr marL="457200" indent="-457200">
                  <a:spcBef>
                    <a:spcPts val="1200"/>
                  </a:spcBef>
                  <a:buFontTx/>
                  <a:buAutoNum type="arabicParenBoth"/>
                </a:pPr>
                <a:r>
                  <a:rPr lang="en-US" sz="2400" dirty="0">
                    <a:solidFill>
                      <a:schemeClr val="bg1"/>
                    </a:solidFill>
                  </a:rPr>
                  <a:t>Here we give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which maps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problems (of the form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) </a:t>
                </a:r>
                <a:br>
                  <a:rPr lang="en-US" sz="2400" dirty="0">
                    <a:solidFill>
                      <a:schemeClr val="bg1"/>
                    </a:solidFill>
                  </a:rPr>
                </a:br>
                <a:r>
                  <a:rPr lang="en-US" sz="2400" dirty="0">
                    <a:solidFill>
                      <a:schemeClr val="bg1"/>
                    </a:solidFill>
                  </a:rPr>
                  <a:t>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problems (of the form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).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=〈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schemeClr val="bg1"/>
                            </a:solidFill>
                          </a:rPr>
                          <m:t>reject</m:t>
                        </m:r>
                      </m:sub>
                    </m:sSub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schemeClr val="bg1"/>
                            </a:solidFill>
                          </a:rPr>
                          <m:t>reject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a TM that always rejects.</a:t>
                </a:r>
              </a:p>
              <a:p>
                <a:pPr lvl="0"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(2)  Similarly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=〈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schemeClr val="bg1"/>
                            </a:solidFill>
                          </a:rPr>
                          <m:t>accept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chemeClr val="bg1"/>
                            </a:solidFill>
                          </a:rPr>
                          <m:t> </m:t>
                        </m:r>
                      </m:sub>
                    </m:sSub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schemeClr val="bg1"/>
                            </a:solidFill>
                          </a:rPr>
                          <m:t>accept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chemeClr val="bg1"/>
                            </a:solidFill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always accepts.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7" y="1093438"/>
                <a:ext cx="8856946" cy="5445017"/>
              </a:xfrm>
              <a:prstGeom prst="rect">
                <a:avLst/>
              </a:prstGeom>
              <a:blipFill>
                <a:blip r:embed="rId4"/>
                <a:stretch>
                  <a:fillRect l="-1101" t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4912542" y="2946622"/>
                <a:ext cx="456817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acts on all inputs the way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acts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542" y="2946622"/>
                <a:ext cx="4568174" cy="400110"/>
              </a:xfrm>
              <a:prstGeom prst="rect">
                <a:avLst/>
              </a:prstGeom>
              <a:blipFill>
                <a:blip r:embed="rId5"/>
                <a:stretch>
                  <a:fillRect t="-7576" r="-534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F04CAF1-1A12-9A4A-9763-831CD5B13CC2}"/>
              </a:ext>
            </a:extLst>
          </p:cNvPr>
          <p:cNvSpPr txBox="1"/>
          <p:nvPr/>
        </p:nvSpPr>
        <p:spPr>
          <a:xfrm>
            <a:off x="5181600" y="64562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445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Reducibility 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34598" y="1131801"/>
                <a:ext cx="9632361" cy="2385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800" dirty="0" smtClean="0">
                    <a:solidFill>
                      <a:schemeClr val="bg1"/>
                    </a:solidFill>
                  </a:rPr>
                  <a:t>Why do we use the term “reduce”?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When we reduce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, we show how to solve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by using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br>
                  <a:rPr lang="en-US" sz="2400" dirty="0">
                    <a:solidFill>
                      <a:schemeClr val="bg1"/>
                    </a:solidFill>
                  </a:rPr>
                </a:br>
                <a:r>
                  <a:rPr lang="en-US" sz="2400" dirty="0">
                    <a:solidFill>
                      <a:schemeClr val="bg1"/>
                    </a:solidFill>
                  </a:rPr>
                  <a:t>and conclude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no harder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  (suggests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notation)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Possibility 1:  We bring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’s difficulty down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’s difficulty.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bg1"/>
                    </a:solidFill>
                  </a:rPr>
                  <a:t>Possibility 2:  We bring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’s difficulty up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’s difficulty.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98" y="1131801"/>
                <a:ext cx="9632361" cy="2385268"/>
              </a:xfrm>
              <a:prstGeom prst="rect">
                <a:avLst/>
              </a:prstGeom>
              <a:blipFill>
                <a:blip r:embed="rId3"/>
                <a:stretch>
                  <a:fillRect l="-1329" t="-2558" b="-4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4A4C7-FD0D-7243-9CCF-9B8B199536F9}"/>
              </a:ext>
            </a:extLst>
          </p:cNvPr>
          <p:cNvSpPr txBox="1"/>
          <p:nvPr/>
        </p:nvSpPr>
        <p:spPr>
          <a:xfrm>
            <a:off x="5638800" y="63038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3837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Created xmlns="ce0de229-b968-460b-bfa6-c309bf067a3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4D1872214E7E4AA66A0644C9DCCEFF" ma:contentTypeVersion="13" ma:contentTypeDescription="Create a new document." ma:contentTypeScope="" ma:versionID="a7594662c8e5fc21752806ac3520e701">
  <xsd:schema xmlns:xsd="http://www.w3.org/2001/XMLSchema" xmlns:xs="http://www.w3.org/2001/XMLSchema" xmlns:p="http://schemas.microsoft.com/office/2006/metadata/properties" xmlns:ns2="ce0de229-b968-460b-bfa6-c309bf067a33" xmlns:ns3="b2272a47-6a34-441e-975c-341e732a1f8b" targetNamespace="http://schemas.microsoft.com/office/2006/metadata/properties" ma:root="true" ma:fieldsID="90f7ced8e6f78dd6fdf52a8c3b233a3b" ns2:_="" ns3:_="">
    <xsd:import namespace="ce0de229-b968-460b-bfa6-c309bf067a33"/>
    <xsd:import namespace="b2272a47-6a34-441e-975c-341e732a1f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DateCreat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0de229-b968-460b-bfa6-c309bf067a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ateCreated" ma:index="20" nillable="true" ma:displayName="Date Created" ma:format="DateOnly" ma:internalName="DateCreated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272a47-6a34-441e-975c-341e732a1f8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5EF24C-BA90-476E-8DD3-7251252170A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052FD0-9361-4863-9C95-33299724FA59}">
  <ds:schemaRefs>
    <ds:schemaRef ds:uri="ce0de229-b968-460b-bfa6-c309bf067a33"/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b2272a47-6a34-441e-975c-341e732a1f8b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FD102B3-43F9-4631-A0F4-312785D05D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0de229-b968-460b-bfa6-c309bf067a33"/>
    <ds:schemaRef ds:uri="b2272a47-6a34-441e-975c-341e732a1f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28024</TotalTime>
  <Words>1631</Words>
  <Application>Microsoft Office PowerPoint</Application>
  <PresentationFormat>Widescreen</PresentationFormat>
  <Paragraphs>150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Massachusetts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18.404J F2020 Lecture 9: Reducibility</dc:title>
  <dc:subject/>
  <dc:creator>Michael Sipser</dc:creator>
  <cp:keywords/>
  <dc:description/>
  <cp:lastModifiedBy>Dell</cp:lastModifiedBy>
  <cp:revision>613</cp:revision>
  <dcterms:created xsi:type="dcterms:W3CDTF">2020-08-09T18:24:17Z</dcterms:created>
  <dcterms:modified xsi:type="dcterms:W3CDTF">2022-11-07T06:05:09Z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0x0101001F4D1872214E7E4AA66A0644C9DCCEFF</vt:lpwstr>
  </property>
</Properties>
</file>